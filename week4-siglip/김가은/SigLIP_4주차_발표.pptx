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66d7bb91-e077-53dc-009a-e27b82dc5770}">
          <p14:sldIdLst>
            <p14:sldId id="256"/>
            <p14:sldId id="257"/>
            <p14:sldId id="258"/>
          </p14:sldIdLst>
        </p14:section>
        <p14:section name="배경: 대조학습" id="{632925f8-90ee-9c1c-ae42-2ec9fe09836e}">
          <p14:sldIdLst>
            <p14:sldId id="259"/>
            <p14:sldId id="260"/>
            <p14:sldId id="261"/>
            <p14:sldId id="262"/>
          </p14:sldIdLst>
        </p14:section>
        <p14:section name="SigLIP 핵심" id="{8f9f5457-d901-7bb3-00d2-8e42b7b5303d}">
          <p14:sldIdLst>
            <p14:sldId id="263"/>
            <p14:sldId id="264"/>
            <p14:sldId id="265"/>
            <p14:sldId id="266"/>
            <p14:sldId id="267"/>
            <p14:sldId id="268"/>
            <p14:sldId id="269"/>
          </p14:sldIdLst>
        </p14:section>
        <p14:section name="검색에 적합한 이유" id="{13fa9c31-5883-bc09-8953-0edef20ce565}">
          <p14:sldIdLst>
            <p14:sldId id="270"/>
            <p14:sldId id="271"/>
          </p14:sldIdLst>
        </p14:section>
        <p14:section name="실습" id="{99141386-fccc-0b6b-c4db-66b7478c197e}">
          <p14:sldIdLst>
            <p14:sldId id="272"/>
            <p14:sldId id="273"/>
            <p14:sldId id="274"/>
            <p14:sldId id="275"/>
            <p14:sldId id="276"/>
          </p14:sldIdLst>
        </p14:section>
        <p14:section name="마무리" id="{44b2818d-b548-c220-111d-a09075de5dd9}">
          <p14:sldIdLst>
            <p14:sldId id="277"/>
            <p14:sldId id="278"/>
            <p14:sldId id="279"/>
          </p14:sldIdLst>
        </p14:section>
        <p14:section name="부록" id="{99e415ad-b092-9d9c-f13a-618b4b24bfbd}">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 = 0</c:v>
                </c:pt>
              </c:strCache>
            </c:strRef>
          </c:tx>
          <c:spPr>
            <a:solidFill>
              <a:srgbClr val="94A3B8"/>
            </a:solidFill>
            <a:ln w="38100" cap="flat">
              <a:solidFill>
                <a:srgbClr val="94A3B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4A3B8"/>
              </a:solidFill>
              <a:ln w="9525" cap="flat">
                <a:solidFill>
                  <a:srgbClr val="94A3B8"/>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Sheet1!$B$2:$B$22</c:f>
              <c:numCache>
                <c:formatCode>General</c:formatCode>
                <c:ptCount val="21"/>
                <c:pt idx="0">
                  <c:v>0</c:v>
                </c:pt>
                <c:pt idx="1">
                  <c:v>0</c:v>
                </c:pt>
                <c:pt idx="2">
                  <c:v>0</c:v>
                </c:pt>
                <c:pt idx="3">
                  <c:v>0.001</c:v>
                </c:pt>
                <c:pt idx="4">
                  <c:v>0.002</c:v>
                </c:pt>
                <c:pt idx="5">
                  <c:v>0.007</c:v>
                </c:pt>
                <c:pt idx="6">
                  <c:v>0.018</c:v>
                </c:pt>
                <c:pt idx="7">
                  <c:v>0.047</c:v>
                </c:pt>
                <c:pt idx="8">
                  <c:v>0.119</c:v>
                </c:pt>
                <c:pt idx="9">
                  <c:v>0.269</c:v>
                </c:pt>
                <c:pt idx="10">
                  <c:v>0.5</c:v>
                </c:pt>
                <c:pt idx="11">
                  <c:v>0.731</c:v>
                </c:pt>
                <c:pt idx="12">
                  <c:v>0.881</c:v>
                </c:pt>
                <c:pt idx="13">
                  <c:v>0.953</c:v>
                </c:pt>
                <c:pt idx="14">
                  <c:v>0.982</c:v>
                </c:pt>
                <c:pt idx="15">
                  <c:v>0.993</c:v>
                </c:pt>
                <c:pt idx="16">
                  <c:v>0.998</c:v>
                </c:pt>
                <c:pt idx="17">
                  <c:v>0.999</c:v>
                </c:pt>
                <c:pt idx="18">
                  <c:v>1</c:v>
                </c:pt>
                <c:pt idx="19">
                  <c:v>1</c:v>
                </c:pt>
                <c:pt idx="20">
                  <c:v>1</c:v>
                </c:pt>
              </c:numCache>
            </c:numRef>
          </c:val>
          <c:smooth val="0"/>
        </c:ser>
        <c:ser>
          <c:idx val="1"/>
          <c:order val="1"/>
          <c:tx>
            <c:strRef>
              <c:f>Sheet1!$C$1</c:f>
              <c:strCache>
                <c:ptCount val="1"/>
                <c:pt idx="0">
                  <c:v>b = −10 (SigLIP 초기값)</c:v>
                </c:pt>
              </c:strCache>
            </c:strRef>
          </c:tx>
          <c:spPr>
            <a:solidFill>
              <a:srgbClr val="4F46E5"/>
            </a:solidFill>
            <a:ln w="3810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F46E5"/>
              </a:solidFill>
              <a:ln w="9525" cap="flat">
                <a:solidFill>
                  <a:srgbClr val="4F46E5"/>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0.001</c:v>
                </c:pt>
                <c:pt idx="14">
                  <c:v>0.002</c:v>
                </c:pt>
                <c:pt idx="15">
                  <c:v>0.007</c:v>
                </c:pt>
                <c:pt idx="16">
                  <c:v>0.018</c:v>
                </c:pt>
                <c:pt idx="17">
                  <c:v>0.047</c:v>
                </c:pt>
                <c:pt idx="18">
                  <c:v>0.119</c:v>
                </c:pt>
                <c:pt idx="19">
                  <c:v>0.269</c:v>
                </c:pt>
                <c:pt idx="20">
                  <c:v>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4A5175"/>
                    </a:solidFill>
                    <a:latin typeface="+mn-lt"/>
                  </a:defRPr>
                </a:pPr>
                <a:r>
                  <a:rPr sz="1400" b="0" i="0" u="none" strike="noStrike">
                    <a:solidFill>
                      <a:srgbClr val="4A5175"/>
                    </a:solidFill>
                    <a:latin typeface="+mn-lt"/>
                  </a:rPr>
                  <a:t>코사인 유사도</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75"/>
                </a:solidFill>
                <a:latin typeface="+mn-lt"/>
              </a:defRPr>
            </a:pPr>
            <a:endParaRPr lang="en-US"/>
          </a:p>
        </c:txPr>
        <c:crossAx val="2094734552"/>
        <c:crosses val="autoZero"/>
        <c:auto val="1"/>
        <c:lblAlgn val="ctr"/>
        <c:noMultiLvlLbl val="1"/>
        <c:tickLblSkip val="5"/>
      </c:catAx>
      <c:valAx>
        <c:axId val="2094734552"/>
        <c:scaling>
          <c:orientation val="minMax"/>
          <c:max val="1"/>
          <c:min val="0"/>
        </c:scaling>
        <c:delete val="0"/>
        <c:axPos val="l"/>
        <c:majorGridlines>
          <c:spPr>
            <a:ln w="12700" cap="flat">
              <a:solidFill>
                <a:srgbClr val="F1F3F9"/>
              </a:solidFill>
              <a:prstDash val="solid"/>
              <a:round/>
            </a:ln>
          </c:spPr>
        </c:majorGridlines>
        <c:title>
          <c:tx>
            <c:rich>
              <a:bodyPr/>
              <a:lstStyle/>
              <a:p>
                <a:pPr>
                  <a:defRPr sz="1400" b="0" i="0" u="none" strike="noStrike">
                    <a:solidFill>
                      <a:srgbClr val="4A5175"/>
                    </a:solidFill>
                    <a:latin typeface="+mn-lt"/>
                  </a:defRPr>
                </a:pPr>
                <a:r>
                  <a:rPr sz="1400" b="0" i="0" u="none" strike="noStrike">
                    <a:solidFill>
                      <a:srgbClr val="4A5175"/>
                    </a:solidFill>
                    <a:latin typeface="+mn-lt"/>
                  </a:rPr>
                  <a:t>짝일 확률</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4A5175"/>
                </a:solidFill>
                <a:latin typeface="+mn-lt"/>
              </a:defRPr>
            </a:pPr>
            <a:endParaRPr lang="en-US"/>
          </a:p>
        </c:txPr>
        <c:crossAx val="2094734554"/>
        <c:crosses val="autoZero"/>
        <c:crossBetween val="between"/>
        <c:majorUnit val="0.5"/>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4주차 발표를 시작하겠습니다. 이번 주 주제는 SigLIP으로, 이미지와 텍스트를 같은 벡터 공간에 넣어주는 비전-언어 임베딩 모델입니다. 발표 내내 동그란 사진은 이미지, 주황색 말풍선은 텍스트를 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'밤에 발사되는 로켓'이라는 문장으로 사진 네 장 중 로켓 사진을 찾으려면 어떻게 해야 할까요? 사진 파일에는 '로켓'이라는 글자가 없습니다. 그래서 단어가 아니라 의미로 비교해야 하고, 이걸 가능하게 해주는 게 SigLIP 같은 비전-언어 임베딩 모델입니다.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RAG 파이프라인에서 임베딩 모델 칸은 텍스트 전용이었습니다. 이번 주는 그 칸을 이미지도 다루는 SigLIP으로 바꾸는 준비 단계입니다. 목표는 세 가지입니다. 구조와 학습 방식, 검색에 적합한 이유, 그리고 5주차에 그대로 이어 쓸 수 있는 임베딩 추출 코드입니다.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1주차 텍스트 임베딩에서 의미가 비슷한 문장은 가까운 벡터였죠. 여기서는 사진과 문장이 같은 지도 위에 놓입니다. 이 거리를 코사인 유사도로 재기 때문에 문장 하나로 가장 가까운 사진을 찾을 수 있습니다. 참고로 이런 임베딩형 모델(CLIP, SigLIP)과 달리 LLaVA, PaliGemma 같은 생성형 VLM은 사진을 보고 글로 답하는데, 생성형 VLM 다수가 이미지를 읽는 '눈'으로 SigLIP을 씁니다. (그림은 개념 설명용 배치입니다.)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재료는 웹에 있는 사진과 캡션 쌍입니다. 사람이 라벨을 달지 않고 원래 같이 있던 쌍을 그대로 씁니다. 배치 안에 사진 4장과 캡션 4개가 있으면 4x4 표가 생기고, 대각선은 진짜 짝, 나머지는 가짜 짝입니다. 진짜 짝은 유사도를 높이고 가짜 짝은 낮추도록 학습합니다. 가짜 짝의 수가 배치 크기의 제곱으로 늘어난다는 점은 뒤에서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CLIP의 학습 방식은 객관식 문제와 같습니다. 사진 하나를 주고 배치 안의 캡션 B개 중 정답을 고르게 합니다. Softmax를 쓰기 때문에 확률의 합이 항상 1이고 보기들이 확률을 나눠 가집니다. 실제 CLIP은 보기가 32,000개쯤 되는 큰 객관식이고, 이미지→텍스트, 텍스트→이미지 두 방향으로 이 문제를 풉니다. 막대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손실을 말로 풀면 '정답 점수를 배치 전체 점수의 합으로 나눈 값'입니다. 문제는 분모입니다. 칸 하나의 확률을 계산하려 해도 같은 줄의 모든 보기가 필요합니다. 그래서 GPU 여러 대로 학습할 때 모든 임베딩을 한곳에 모아야 하고, 보기를 충분히 주려면 배치가 아주 커야 하며, 메모리와 통신 비용이 커집니다. 정확한 수식은 L = −(1/2B) Σᵢ [log softmax(이미지→텍스트) + log softmax(텍스트→이미지)]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SigLIP은 Google DeepMind가 2023년 ICCV에 발표한 모델입니다. 아이디어는 하나, 객관식을 O/X 퀴즈로 바꾼 것입니다. 캡션 하나하나에 대해 '이 사진과 짝인가?'를 따로 판정하고 각각 0~1 확률을 냅니다. 나눠 가지지 않으니 합이 1일 필요가 없습니다. 모델 구조는 CLIP과 거의 같고 손실만 바꿨는데 효율과 성능이 좋아졌다는 게 논문의 메시지입니다. 막대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탑 두 개로 된 듀얼 인코더입니다. 사진은 ViT 이미지 인코더로, 문장은 Transformer 텍스트 인코더로 각각 벡터를 만들고, 같은 차원으로 투영해 L2 정규화한 뒤 유사도를 계산합니다. 여기에 온도 t와 바이어스 b를 적용해 Sigmoid로 짝일 확률을 냅니다. 두 탑이 분리되어 있어서 사진만 따로 미리 계산해 둘 수 있다는 점이 검색과 연결됩니다. 텍스트 인코더는 최대 64토큰을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Vision Transformer는 사진을 퍼즐 조각처럼 잘라서 읽습니다. 224x224 사진을 16x16 픽셀 조각으로 자르면 14x14, 196조각이 나옵니다. 조각 하나를 단어 하나처럼 토큰으로 보고 Transformer에 넣고, 마지막에 MAP(Multihead Attention Pooling)으로 하나의 벡터로 요약합니다. 모델 이름의 patch16, 224가 바로 이 숫자입니다. so400m은 계산 효율에 맞춰 모양을 최적화한 약 4억 파라미터 ViT입니다.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사진 i와 문장 j 쌍에 대해, 짝이면 확률을 1 쪽으로, 아니면 0 쪽으로 미는 로지스틱 회귀를 더한 것입니다. CLIP과 비교하면 분모에 배치 전체 합이 없다는 게 핵심 차이입니다. 예를 들어 점수가 T1 5.0, T2 4.8이면 Softmax는 0.55와 0.45로 나눠 갖지만 Sigmoid는 둘 다 0.99로 따로 판정합니다. 그래서 T2가 짝이 아니라면 T2를 직접 낮추는 신호가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배치가 32k면 진짜 짝 하나당 가짜 짝이 3만 2천 개입니다. 그냥 시작하면 가짜 짝들의 손실이 너무 커서 학습이 흔들립니다. 그래서 바이어스 b를 -10에서 시작합니다. 그래프를 보면 b가 0이면 유사도가 0만 넘어도 확률이 절반을 넘지만, b가 -10이면 유사도가 거의 1인 쌍만 확률이 올라갑니다. '처음엔 거의 다 짝이 아니다'에서 출발하는 셈입니다. 온도 t는 t' = log 10, 즉 t = 10에서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Sigmoid는 칸끼리 독립이라 큰 표를 한 번에 만들 필요가 없습니다. GPU 세 대라면 1단계에서 각자 자기 블록을 계산하고, 텍스트 벡터를 옆 GPU로 넘겨 다음 블록을 계산하고, 한 번 더 넘기면 표 전체를 계산한 셈입니다. 손실만 더하면 끝입니다. 그래서 GPU 한 대가 들고 있는 메모리가 전체 배치 제곱이 아니라 자기 몫 배치 제곱에 비례합니다. 논문은 이를 chunked 구현이라고 부르고, 이미지 인코더를 고정한 SigLiT로 TPUv4 4개, 2일 만에 ImageNet zero-shot 84.5%를 달성했으며, 배치를 100만까지 늘려 실험했습니다.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내용을 한 표로 정리했습니다. 위의 세 줄은 손실 함수 구조의 차이이고, 가운데 세 줄은 논문의 배치 크기 실험 결과입니다. 작은 배치에서는 Sigmoid가 확실히 좋고, 배치를 키우면 차이가 줄어 32k 근처에서 포화되며, 엉뚱한 캡션이 섞인 노이즈 데이터에서도 성능이 덜 떨어졌습니다. '무조건 큰 배치'가 답이 아니라는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검색에 적합한 첫 번째 이유는 듀얼 인코더 구조입니다. 사진 벡터는 미리 한 번만 계산해서 벡터DB에 넣어 둡니다. 질문이 들어오면 문장 하나만 인코딩하고 가장 가까운 사진 벡터를 찾습니다. smol-vision 노트북도 이 흐름을 오프라인 인덱싱과 온라인 추론으로 나눠 설명합니다. 3주차 용어로는 SigLIP이 bi-encoder입니다. 질문과 사진을 함께 넣는 cross-encoder는 정확하지만 질문마다 모든 사진을 다시 계산해야 해서 재정렬 단계에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이유는 점수 해석입니다. SigLIP 점수는 쌍마다 독립된 '짝일 확률'이라 0.5 이상만 보여주자는 식의 임계값 필터링이 자연스럽습니다. Softmax 확률은 후보 집합에 따라 값이 달라져 기준을 잡기 어렵습니다. 순위만 필요하면 코사인 유사도만으로 충분합니다. 이 밖에 같은 공간이라 이미지→텍스트, 이미지→이미지 검색도 되고, base부터 다국어까지 공개 체크포인트가 다양하다는 것도 장점입니다. 그래프 값은 개념 설명용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주 실습 자료 네 가지입니다. 메인은 Niels Rogge의 'Inference with (multilingual) SigLIP' Colab 노트북으로, 이미지와 텍스트의 유사도를 계산하고 다국어 모델도 다룹니다. 공식 코드는 Transformers 문서의 get_image_features와 get_text_features 예제입니다. smol-vision의 이미지 검색 노트북은 MetaCLIP2로 되어 있는데 모델만 SigLIP으로 바꾸면 5주차 과제가 됩니다. big_vision 데모는 논문 저자들의 JAX 코드라 참고만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Transformers 공식 문서의 SiglipModel 예제입니다. get_image_features는 사진 벡터를, get_text_features는 문장 벡터를 돌려줍니다. 텍스트에는 꼭 padding='max_length'를 넣습니다. 공식 get_text_features 예제는 tokenizer를 쓰는데, 여기서는 processor 하나로 통일했습니다. 주의할 점: 최신 transformers 5.x에서는 get_image_features가 텐서가 아니라 출력 객체를 돌려주고, 임베딩은 .pooler_output에 들어 있습니다. 4.x에서는 바로 텐서입니다. getattr 한 줄을 넣으면 두 버전 모두에서 동작합니다. 이 동작은 transformers 5.18에서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메인 노트북의 코드입니다. 고양이 두 마리 COCO 사진에 캡션 세 개를 넣고 짝일 확률을 계산합니다. CLIP 코드 습관대로 쓰면 틀리는 곳이 두 군데입니다. 텍스트는 padding='max_length'로 넣어야 하고, 확률은 softmax가 아니라 sigmoid로 계산합니다. 노트북 실행 결과 정답 캡션이 40.5%로 나오는데, 노트북 설명대로 SigLIP 확률은 쌍마다 독립적으로 해석해야 하고 CLIP보다 값이 평평합니다. 그래서 절대값보다 다른 캡션과의 비교로 읽는 게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메인 노트북의 다국어 예제를 한국어로 바꿔 봤습니다. Google이 공개한 다국어 체크포인트 siglip-base-patch16-256-multilingual, 논문에서 mSigLIP이라고 부르는 모델은 영어로 거르지 않은 WebLI 데이터로 학습했고 텍스트 어휘가 25만 토큰입니다. 주의할 점이 하나 있습니다. 노트북의 다국어 셀은 설명에는 multilingual 체크포인트를 소개하지만 코드에서는 so400m 영어 모델을 다시 불러옵니다. 그대로 실행하면 다국어 모델이 아니니 체크포인트 이름을 바꿔서 실행하세요. 한국어 결과는 각자 돌려보고 세션에서 비교해 봅시다.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5주차로 이어지는 코드입니다. smol-vision의 이미지 검색 노트북은 MetaCLIP2를 쓰는데, 같은 구조에서 모델만 SigLIP으로 바꿨습니다. 바꾼 곳은 네 군데입니다. 차원을 768로, 텍스트에 padding='max_length'를 추가, 인덱스를 IndexFlatIP로 해서 정규화한 벡터의 내적이 코사인 유사도가 되게 했고, transformers 5.x 대응으로 pooler_output을 꺼냅니다. 원본은 IndexFlatL2를 쓰는데, 정규화한 벡터에서는 L2 거리와 코사인 순위가 같으므로 어느 쪽이든 결과 순서는 같습니다. 이 인덱스가 그대로 5주차 검색 데모의 출발점입니다. 이 흐름은 작은 테스트 모델로 transformers 5.18 + faiss-cpu에서 실행해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줄로 정리하면 이렇습니다. SigLIP은 CLIP 구조에서 객관식을 O/X 퀴즈로, Softmax를 Sigmoid로 바꾼 모델이고, 그래서 배치 전체를 모을 필요가 사라져 효율과 성능이 좋아졌으며, 듀얼 인코더 구조라 사진을 미리 인덱싱하는 대규모 검색에 적합합니다.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후 함께 이야기해 볼 질문입니다. 1번과 2번은 각자 실습한 결과를 비교하면서 이야기하면 좋겠습니다. 둘 다 5주차 검색 데모를 만들 때 바로 부딪힐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발표와 실습에 사용한 자료입니다. 실습 코드는 위 네 자료에서 가져왔고, 슬라이드에 출처를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대비용 부록입니다. 하나 더: 캡션을 만들어 텍스트로 검색하는 방식과 비교하면, 캡션 생성 단계에서 정보가 빠지고 비용이 크지만 SigLIP은 사진 자체를 임베딩해 캡션에 없는 색·구도·분위기도 반영합니다. 6주차에 둘을 결합하는 것도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640080" y="63550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DRAG 4주차 · SigLIP</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4.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3.jp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colab.research.google.com/github/NielsRogge/Transformers-Tutorials/blob/master/SigLIP/Inference_with_(multilingual)_SigLIP%2C_a_better_CLIP_model.ipynb" TargetMode="External"/><Relationship Id="rId4" Type="http://schemas.openxmlformats.org/officeDocument/2006/relationships/hyperlink" Target="https://huggingface.co/docs/transformers/model_doc/siglip" TargetMode="External"/><Relationship Id="rId6" Type="http://schemas.openxmlformats.org/officeDocument/2006/relationships/hyperlink" Target="https://github.com/merveenoyan/smol-vision/blob/main/Image_Search_with_MetaCLIP2.ipynb" TargetMode="External"/><Relationship Id="rId8" Type="http://schemas.openxmlformats.org/officeDocument/2006/relationships/hyperlink" Target="https://colab.research.google.com/github/google-research/big_vision/blob/main/big_vision/configs/proj/image_text/SigLIP_demo.ipynb"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image" Target="../media/image-17-3.png"/><Relationship Id="rId7" Type="http://schemas.openxmlformats.org/officeDocument/2006/relationships/image" Target="../media/image-17-4.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huggingface.co/docs/transformers/model_doc/siglip" TargetMode="External"/><Relationship Id="rId2" Type="http://schemas.openxmlformats.org/officeDocument/2006/relationships/image" Target="../media/image-18-1.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github.com/merveenoyan/smol-vision/blob/main/Image_Search_with_MetaCLIP2.ipynb" TargetMode="Externa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hyperlink" Target="https://huggingface.co/docs/transformers/model_doc/siglip" TargetMode="External"/><Relationship Id="rId3" Type="http://schemas.openxmlformats.org/officeDocument/2006/relationships/hyperlink" Target="https://github.com/merveenoyan/smol-vision/blob/main/Image_Search_with_MetaCLIP2.ipynb" TargetMode="External"/><Relationship Id="rId4" Type="http://schemas.openxmlformats.org/officeDocument/2006/relationships/hyperlink" Target="https://colab.research.google.com/github/google-research/big_vision/blob/main/big_vision/configs/proj/image_text/SigLIP_demo.ipynb" TargetMode="External"/><Relationship Id="rId5" Type="http://schemas.openxmlformats.org/officeDocument/2006/relationships/hyperlink" Target="https://huggingface.co/blog/vlms" TargetMode="External"/><Relationship Id="rId6" Type="http://schemas.openxmlformats.org/officeDocument/2006/relationships/hyperlink" Target="https://arxiv.org/abs/2303.15343" TargetMode="External"/><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4.xml"/><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indent="0" marL="0">
              <a:buNone/>
            </a:pPr>
            <a:r>
              <a:rPr lang="en-US" sz="5400" b="1" dirty="0">
                <a:solidFill>
                  <a:schemeClr val="bg1"/>
                </a:solidFill>
              </a:rPr>
              <a:t>SigLIP</a:t>
            </a: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lIns="0" tIns="0" rIns="0" bIns="0" rtlCol="0" anchor="t"/>
          <a:lstStyle/>
          <a:p>
            <a:pPr indent="0" marL="0">
              <a:buNone/>
            </a:pPr>
            <a:r>
              <a:rPr lang="en-US" sz="2400" dirty="0">
                <a:solidFill>
                  <a:schemeClr val="bg1"/>
                </a:solidFill>
              </a:rPr>
              <a:t>Sigmoid Loss로 학습하는</a:t>
            </a:r>
            <a:endParaRPr lang="en-US" sz="2000" dirty="0"/>
          </a:p>
          <a:p>
            <a:pPr indent="0" marL="0">
              <a:buNone/>
            </a:pPr>
            <a:r>
              <a:rPr lang="en-US" sz="2400" dirty="0">
                <a:solidFill>
                  <a:schemeClr val="bg1"/>
                </a:solidFill>
              </a:rPr>
              <a:t>비전-언어 임베딩</a:t>
            </a:r>
            <a:endParaRPr lang="en-US" sz="2000" dirty="0"/>
          </a:p>
          <a:p>
            <a:pPr indent="0" marL="0">
              <a:buNone/>
            </a:pPr>
            <a:r>
              <a:rPr lang="en-US" sz="1000" dirty="0">
                <a:solidFill>
                  <a:schemeClr val="accent6"/>
                </a:solidFill>
              </a:rPr>
              <a:t> </a:t>
            </a:r>
            <a:endParaRPr lang="en-US" sz="2000" dirty="0"/>
          </a:p>
          <a:p>
            <a:pPr indent="0" marL="0">
              <a:buNone/>
            </a:pPr>
            <a:r>
              <a:rPr lang="en-US" sz="1800" dirty="0">
                <a:solidFill>
                  <a:schemeClr val="accent6"/>
                </a:solidFill>
              </a:rPr>
              <a:t>DRAG 4주차 · 눈으로 찾는 RAG</a:t>
            </a:r>
            <a:endParaRPr lang="en-US" sz="2000" dirty="0"/>
          </a:p>
          <a:p>
            <a:pPr indent="0" marL="0">
              <a:buNone/>
            </a:pPr>
            <a:r>
              <a:rPr lang="en-US" sz="1800" dirty="0">
                <a:solidFill>
                  <a:schemeClr val="accent6"/>
                </a:solidFill>
              </a:rPr>
              <a:t>발표자: 김가은</a:t>
            </a:r>
            <a:endParaRPr lang="en-US" sz="2000" dirty="0"/>
          </a:p>
        </p:txBody>
      </p:sp>
      <p:pic>
        <p:nvPicPr>
          <p:cNvPr id="4" name="photo-cat-1" descr="고양이 사진">    </p:cNvPr>
          <p:cNvPicPr>
            <a:picLocks noChangeAspect="1"/>
          </p:cNvPicPr>
          <p:nvPr/>
        </p:nvPicPr>
        <p:blipFill>
          <a:blip r:embed="rId1"/>
          <a:stretch>
            <a:fillRect/>
          </a:stretch>
        </p:blipFill>
        <p:spPr>
          <a:xfrm>
            <a:off x="7589520" y="1097280"/>
            <a:ext cx="1737360" cy="1737360"/>
          </a:xfrm>
          <a:prstGeom prst="ellipse">
            <a:avLst/>
          </a:prstGeom>
        </p:spPr>
      </p:pic>
      <p:sp>
        <p:nvSpPr>
          <p:cNvPr id="5" name="pill-2"/>
          <p:cNvSpPr/>
          <p:nvPr/>
        </p:nvSpPr>
        <p:spPr>
          <a:xfrm>
            <a:off x="7543800" y="2926080"/>
            <a:ext cx="1828800" cy="384048"/>
          </a:xfrm>
          <a:prstGeom prst="roundRect">
            <a:avLst>
              <a:gd name="adj" fmla="val 50000"/>
            </a:avLst>
          </a:prstGeom>
          <a:solidFill>
            <a:schemeClr val="accent2"/>
          </a:solidFill>
          <a:ln/>
        </p:spPr>
      </p:sp>
      <p:sp>
        <p:nvSpPr>
          <p:cNvPr id="6" name="text-3"/>
          <p:cNvSpPr txBox="1"/>
          <p:nvPr/>
        </p:nvSpPr>
        <p:spPr>
          <a:xfrm>
            <a:off x="754380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pic>
        <p:nvPicPr>
          <p:cNvPr id="7" name="photo-coffee-4" descr="커피 사진">    </p:cNvPr>
          <p:cNvPicPr>
            <a:picLocks noChangeAspect="1"/>
          </p:cNvPicPr>
          <p:nvPr/>
        </p:nvPicPr>
        <p:blipFill>
          <a:blip r:embed="rId2"/>
          <a:stretch>
            <a:fillRect/>
          </a:stretch>
        </p:blipFill>
        <p:spPr>
          <a:xfrm>
            <a:off x="9601200" y="1097280"/>
            <a:ext cx="1737360" cy="1737360"/>
          </a:xfrm>
          <a:prstGeom prst="ellipse">
            <a:avLst/>
          </a:prstGeom>
        </p:spPr>
      </p:pic>
      <p:sp>
        <p:nvSpPr>
          <p:cNvPr id="8" name="pill-5"/>
          <p:cNvSpPr/>
          <p:nvPr/>
        </p:nvSpPr>
        <p:spPr>
          <a:xfrm>
            <a:off x="9555480" y="2926080"/>
            <a:ext cx="1828800" cy="384048"/>
          </a:xfrm>
          <a:prstGeom prst="roundRect">
            <a:avLst>
              <a:gd name="adj" fmla="val 50000"/>
            </a:avLst>
          </a:prstGeom>
          <a:solidFill>
            <a:schemeClr val="accent2"/>
          </a:solidFill>
          <a:ln/>
        </p:spPr>
      </p:sp>
      <p:sp>
        <p:nvSpPr>
          <p:cNvPr id="9" name="text-6"/>
          <p:cNvSpPr txBox="1"/>
          <p:nvPr/>
        </p:nvSpPr>
        <p:spPr>
          <a:xfrm>
            <a:off x="955548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cup of coffee</a:t>
            </a:r>
            <a:endParaRPr lang="en-US" sz="1200" dirty="0"/>
          </a:p>
        </p:txBody>
      </p:sp>
      <p:pic>
        <p:nvPicPr>
          <p:cNvPr id="10" name="photo-rocket-7" descr="로켓 사진">    </p:cNvPr>
          <p:cNvPicPr>
            <a:picLocks noChangeAspect="1"/>
          </p:cNvPicPr>
          <p:nvPr/>
        </p:nvPicPr>
        <p:blipFill>
          <a:blip r:embed="rId3"/>
          <a:stretch>
            <a:fillRect/>
          </a:stretch>
        </p:blipFill>
        <p:spPr>
          <a:xfrm>
            <a:off x="7589520" y="3520440"/>
            <a:ext cx="1737360" cy="1737360"/>
          </a:xfrm>
          <a:prstGeom prst="ellipse">
            <a:avLst/>
          </a:prstGeom>
        </p:spPr>
      </p:pic>
      <p:sp>
        <p:nvSpPr>
          <p:cNvPr id="11" name="pill-8"/>
          <p:cNvSpPr/>
          <p:nvPr/>
        </p:nvSpPr>
        <p:spPr>
          <a:xfrm>
            <a:off x="7543800" y="5349240"/>
            <a:ext cx="1828800" cy="384048"/>
          </a:xfrm>
          <a:prstGeom prst="roundRect">
            <a:avLst>
              <a:gd name="adj" fmla="val 50000"/>
            </a:avLst>
          </a:prstGeom>
          <a:solidFill>
            <a:schemeClr val="accent2"/>
          </a:solidFill>
          <a:ln/>
        </p:spPr>
      </p:sp>
      <p:sp>
        <p:nvSpPr>
          <p:cNvPr id="12" name="text-9"/>
          <p:cNvSpPr txBox="1"/>
          <p:nvPr/>
        </p:nvSpPr>
        <p:spPr>
          <a:xfrm>
            <a:off x="754380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rocket at night</a:t>
            </a:r>
            <a:endParaRPr lang="en-US" sz="1200" dirty="0"/>
          </a:p>
        </p:txBody>
      </p:sp>
      <p:pic>
        <p:nvPicPr>
          <p:cNvPr id="13" name="photo-astronaut-10" descr="우주비행사 사진">    </p:cNvPr>
          <p:cNvPicPr>
            <a:picLocks noChangeAspect="1"/>
          </p:cNvPicPr>
          <p:nvPr/>
        </p:nvPicPr>
        <p:blipFill>
          <a:blip r:embed="rId4"/>
          <a:stretch>
            <a:fillRect/>
          </a:stretch>
        </p:blipFill>
        <p:spPr>
          <a:xfrm>
            <a:off x="9601200" y="3520440"/>
            <a:ext cx="1737360" cy="1737360"/>
          </a:xfrm>
          <a:prstGeom prst="ellipse">
            <a:avLst/>
          </a:prstGeom>
        </p:spPr>
      </p:pic>
      <p:sp>
        <p:nvSpPr>
          <p:cNvPr id="14" name="pill-11"/>
          <p:cNvSpPr/>
          <p:nvPr/>
        </p:nvSpPr>
        <p:spPr>
          <a:xfrm>
            <a:off x="9555480" y="5349240"/>
            <a:ext cx="1828800" cy="384048"/>
          </a:xfrm>
          <a:prstGeom prst="roundRect">
            <a:avLst>
              <a:gd name="adj" fmla="val 50000"/>
            </a:avLst>
          </a:prstGeom>
          <a:solidFill>
            <a:schemeClr val="accent2"/>
          </a:solidFill>
          <a:ln/>
        </p:spPr>
      </p:sp>
      <p:sp>
        <p:nvSpPr>
          <p:cNvPr id="15" name="text-12"/>
          <p:cNvSpPr txBox="1"/>
          <p:nvPr/>
        </p:nvSpPr>
        <p:spPr>
          <a:xfrm>
            <a:off x="955548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an astronaut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오늘의 질문: 글로 사진을 찾을 수 있을까?</a:t>
            </a:r>
            <a:endParaRPr lang="en-US" sz="3000" dirty="0"/>
          </a:p>
        </p:txBody>
      </p:sp>
      <p:sp>
        <p:nvSpPr>
          <p:cNvPr id="3" name="pill-13"/>
          <p:cNvSpPr/>
          <p:nvPr/>
        </p:nvSpPr>
        <p:spPr>
          <a:xfrm>
            <a:off x="822960" y="1828800"/>
            <a:ext cx="3657600" cy="731520"/>
          </a:xfrm>
          <a:prstGeom prst="roundRect">
            <a:avLst>
              <a:gd name="adj" fmla="val 50000"/>
            </a:avLst>
          </a:prstGeom>
          <a:solidFill>
            <a:schemeClr val="accent2"/>
          </a:solidFill>
          <a:ln/>
        </p:spPr>
      </p:sp>
      <p:sp>
        <p:nvSpPr>
          <p:cNvPr id="4" name="text-14"/>
          <p:cNvSpPr txBox="1"/>
          <p:nvPr/>
        </p:nvSpPr>
        <p:spPr>
          <a:xfrm>
            <a:off x="822960" y="1828800"/>
            <a:ext cx="3657600" cy="731520"/>
          </a:xfrm>
          <a:prstGeom prst="rect">
            <a:avLst/>
          </a:prstGeom>
          <a:noFill/>
          <a:ln/>
        </p:spPr>
        <p:txBody>
          <a:bodyPr wrap="square" lIns="0" tIns="0" rIns="0" bIns="0" rtlCol="0" anchor="ctr"/>
          <a:lstStyle/>
          <a:p>
            <a:pPr algn="ctr" indent="0" marL="0">
              <a:buNone/>
            </a:pPr>
            <a:r>
              <a:rPr lang="en-US" sz="2200" b="1" dirty="0">
                <a:solidFill>
                  <a:schemeClr val="bg1"/>
                </a:solidFill>
              </a:rPr>
              <a:t>“밤에 발사되는 로켓”</a:t>
            </a:r>
            <a:endParaRPr lang="en-US" sz="2200" dirty="0"/>
          </a:p>
        </p:txBody>
      </p:sp>
      <p:sp>
        <p:nvSpPr>
          <p:cNvPr id="5" name="text-15"/>
          <p:cNvSpPr txBox="1"/>
          <p:nvPr/>
        </p:nvSpPr>
        <p:spPr>
          <a:xfrm>
            <a:off x="822960" y="2651760"/>
            <a:ext cx="3657600" cy="365760"/>
          </a:xfrm>
          <a:prstGeom prst="rect">
            <a:avLst/>
          </a:prstGeom>
          <a:noFill/>
          <a:ln/>
        </p:spPr>
        <p:txBody>
          <a:bodyPr wrap="square" lIns="0" tIns="0" rIns="0" bIns="0" rtlCol="0" anchor="t"/>
          <a:lstStyle/>
          <a:p>
            <a:pPr algn="ctr" indent="0" marL="0">
              <a:buNone/>
            </a:pPr>
            <a:r>
              <a:rPr lang="en-US" sz="1600" dirty="0">
                <a:solidFill>
                  <a:schemeClr val="accent2"/>
                </a:solidFill>
              </a:rPr>
              <a:t>텍스트 질문</a:t>
            </a:r>
            <a:endParaRPr lang="en-US" sz="1600" dirty="0"/>
          </a:p>
        </p:txBody>
      </p:sp>
      <p:sp>
        <p:nvSpPr>
          <p:cNvPr id="6" name="arrow-16"/>
          <p:cNvSpPr/>
          <p:nvPr/>
        </p:nvSpPr>
        <p:spPr>
          <a:xfrm>
            <a:off x="4754880" y="2194560"/>
            <a:ext cx="1097280" cy="0"/>
          </a:xfrm>
          <a:prstGeom prst="line">
            <a:avLst/>
          </a:prstGeom>
          <a:noFill/>
          <a:ln w="31750">
            <a:solidFill>
              <a:schemeClr val="accent3"/>
            </a:solidFill>
            <a:prstDash val="solid"/>
            <a:tailEnd type="triangle"/>
          </a:ln>
        </p:spPr>
      </p:sp>
      <p:sp>
        <p:nvSpPr>
          <p:cNvPr id="7" name="text-17"/>
          <p:cNvSpPr txBox="1"/>
          <p:nvPr/>
        </p:nvSpPr>
        <p:spPr>
          <a:xfrm>
            <a:off x="4754880" y="1554480"/>
            <a:ext cx="1097280" cy="548640"/>
          </a:xfrm>
          <a:prstGeom prst="rect">
            <a:avLst/>
          </a:prstGeom>
          <a:noFill/>
          <a:ln/>
        </p:spPr>
        <p:txBody>
          <a:bodyPr wrap="square" lIns="0" tIns="0" rIns="0" bIns="0" rtlCol="0" anchor="t"/>
          <a:lstStyle/>
          <a:p>
            <a:pPr algn="ctr" indent="0" marL="0">
              <a:buNone/>
            </a:pPr>
            <a:r>
              <a:rPr lang="en-US" sz="2800" b="1" dirty="0">
                <a:solidFill>
                  <a:schemeClr val="accent3"/>
                </a:solidFill>
              </a:rPr>
              <a:t>?</a:t>
            </a:r>
            <a:endParaRPr lang="en-US" sz="2800" dirty="0"/>
          </a:p>
        </p:txBody>
      </p:sp>
      <p:pic>
        <p:nvPicPr>
          <p:cNvPr id="8" name="photo-cat-18" descr="고양이 사진">    </p:cNvPr>
          <p:cNvPicPr>
            <a:picLocks noChangeAspect="1"/>
          </p:cNvPicPr>
          <p:nvPr/>
        </p:nvPicPr>
        <p:blipFill>
          <a:blip r:embed="rId1"/>
          <a:stretch>
            <a:fillRect/>
          </a:stretch>
        </p:blipFill>
        <p:spPr>
          <a:xfrm>
            <a:off x="6217920" y="1417320"/>
            <a:ext cx="1828800" cy="1828800"/>
          </a:xfrm>
          <a:prstGeom prst="rect">
            <a:avLst/>
          </a:prstGeom>
        </p:spPr>
      </p:pic>
      <p:pic>
        <p:nvPicPr>
          <p:cNvPr id="9" name="photo-coffee-19" descr="커피 사진">    </p:cNvPr>
          <p:cNvPicPr>
            <a:picLocks noChangeAspect="1"/>
          </p:cNvPicPr>
          <p:nvPr/>
        </p:nvPicPr>
        <p:blipFill>
          <a:blip r:embed="rId2"/>
          <a:stretch>
            <a:fillRect/>
          </a:stretch>
        </p:blipFill>
        <p:spPr>
          <a:xfrm>
            <a:off x="8732520" y="1417320"/>
            <a:ext cx="1828800" cy="1828800"/>
          </a:xfrm>
          <a:prstGeom prst="rect">
            <a:avLst/>
          </a:prstGeom>
        </p:spPr>
      </p:pic>
      <p:pic>
        <p:nvPicPr>
          <p:cNvPr id="10" name="photo-rocket-20" descr="로켓 사진">    </p:cNvPr>
          <p:cNvPicPr>
            <a:picLocks noChangeAspect="1"/>
          </p:cNvPicPr>
          <p:nvPr/>
        </p:nvPicPr>
        <p:blipFill>
          <a:blip r:embed="rId3"/>
          <a:stretch>
            <a:fillRect/>
          </a:stretch>
        </p:blipFill>
        <p:spPr>
          <a:xfrm>
            <a:off x="6217920" y="3566160"/>
            <a:ext cx="1828800" cy="1828800"/>
          </a:xfrm>
          <a:prstGeom prst="rect">
            <a:avLst/>
          </a:prstGeom>
        </p:spPr>
      </p:pic>
      <p:sp>
        <p:nvSpPr>
          <p:cNvPr id="11" name="hit"/>
          <p:cNvSpPr/>
          <p:nvPr/>
        </p:nvSpPr>
        <p:spPr>
          <a:xfrm>
            <a:off x="6163056" y="3511296"/>
            <a:ext cx="1938528" cy="1938528"/>
          </a:xfrm>
          <a:prstGeom prst="rect">
            <a:avLst/>
          </a:prstGeom>
          <a:solidFill>
            <a:schemeClr val="accent3">
              <a:alpha val="0"/>
            </a:schemeClr>
          </a:solidFill>
          <a:ln w="63500">
            <a:solidFill>
              <a:schemeClr val="accent3"/>
            </a:solidFill>
            <a:prstDash val="solid"/>
          </a:ln>
        </p:spPr>
      </p:sp>
      <p:sp>
        <p:nvSpPr>
          <p:cNvPr id="12" name="circle-21"/>
          <p:cNvSpPr/>
          <p:nvPr/>
        </p:nvSpPr>
        <p:spPr>
          <a:xfrm>
            <a:off x="7726680" y="3337560"/>
            <a:ext cx="548640" cy="548640"/>
          </a:xfrm>
          <a:prstGeom prst="ellipse">
            <a:avLst/>
          </a:prstGeom>
          <a:solidFill>
            <a:schemeClr val="accent3"/>
          </a:solidFill>
          <a:ln/>
        </p:spPr>
      </p:sp>
      <p:pic>
        <p:nvPicPr>
          <p:cNvPr id="13" name="icon-FaCheck-22" descr="FaCheck">    </p:cNvPr>
          <p:cNvPicPr>
            <a:picLocks noChangeAspect="1"/>
          </p:cNvPicPr>
          <p:nvPr/>
        </p:nvPicPr>
        <p:blipFill>
          <a:blip r:embed="rId4"/>
          <a:stretch>
            <a:fillRect/>
          </a:stretch>
        </p:blipFill>
        <p:spPr>
          <a:xfrm>
            <a:off x="7869326" y="3480206"/>
            <a:ext cx="263347" cy="263347"/>
          </a:xfrm>
          <a:prstGeom prst="rect">
            <a:avLst/>
          </a:prstGeom>
        </p:spPr>
      </p:pic>
      <p:pic>
        <p:nvPicPr>
          <p:cNvPr id="14" name="photo-astronaut-23" descr="우주비행사 사진">    </p:cNvPr>
          <p:cNvPicPr>
            <a:picLocks noChangeAspect="1"/>
          </p:cNvPicPr>
          <p:nvPr/>
        </p:nvPicPr>
        <p:blipFill>
          <a:blip r:embed="rId5"/>
          <a:stretch>
            <a:fillRect/>
          </a:stretch>
        </p:blipFill>
        <p:spPr>
          <a:xfrm>
            <a:off x="8732520" y="3566160"/>
            <a:ext cx="1828800" cy="1828800"/>
          </a:xfrm>
          <a:prstGeom prst="rect">
            <a:avLst/>
          </a:prstGeom>
        </p:spPr>
      </p:pic>
      <p:sp>
        <p:nvSpPr>
          <p:cNvPr id="15" name="card-24"/>
          <p:cNvSpPr/>
          <p:nvPr/>
        </p:nvSpPr>
        <p:spPr>
          <a:xfrm>
            <a:off x="822960" y="3840480"/>
            <a:ext cx="4480560" cy="1737360"/>
          </a:xfrm>
          <a:prstGeom prst="roundRect">
            <a:avLst>
              <a:gd name="adj" fmla="val 7368"/>
            </a:avLst>
          </a:prstGeom>
          <a:solidFill>
            <a:schemeClr val="accent3">
              <a:alpha val="10000"/>
            </a:schemeClr>
          </a:solidFill>
          <a:ln/>
        </p:spPr>
      </p:sp>
      <p:sp>
        <p:nvSpPr>
          <p:cNvPr id="16" name="text-25"/>
          <p:cNvSpPr txBox="1"/>
          <p:nvPr/>
        </p:nvSpPr>
        <p:spPr>
          <a:xfrm>
            <a:off x="1097280" y="3840480"/>
            <a:ext cx="4023360" cy="1737360"/>
          </a:xfrm>
          <a:prstGeom prst="rect">
            <a:avLst/>
          </a:prstGeom>
          <a:noFill/>
          <a:ln/>
        </p:spPr>
        <p:txBody>
          <a:bodyPr wrap="square" lIns="0" tIns="0" rIns="0" bIns="0" rtlCol="0" anchor="ctr"/>
          <a:lstStyle/>
          <a:p>
            <a:pPr indent="0" marL="0">
              <a:buNone/>
            </a:pPr>
            <a:r>
              <a:rPr lang="en-US" sz="2000" b="1" dirty="0">
                <a:solidFill>
                  <a:schemeClr val="accent3"/>
                </a:solidFill>
              </a:rPr>
              <a:t>단어가 아닌 ‘의미’로</a:t>
            </a:r>
            <a:endParaRPr lang="en-US" sz="2000" dirty="0"/>
          </a:p>
          <a:p>
            <a:pPr indent="0" marL="0">
              <a:buNone/>
            </a:pPr>
            <a:r>
              <a:rPr lang="en-US" sz="1700" dirty="0">
                <a:solidFill>
                  <a:schemeClr val="tx1"/>
                </a:solidFill>
              </a:rPr>
              <a:t>사진에 글자가 없어도 찾아야 함</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이번 주의 위치와 목표</a:t>
            </a:r>
            <a:endParaRPr lang="en-US" sz="3000" dirty="0"/>
          </a:p>
        </p:txBody>
      </p:sp>
      <p:sp>
        <p:nvSpPr>
          <p:cNvPr id="3" name="card-26"/>
          <p:cNvSpPr/>
          <p:nvPr/>
        </p:nvSpPr>
        <p:spPr>
          <a:xfrm>
            <a:off x="640080" y="1371600"/>
            <a:ext cx="3383280" cy="1280160"/>
          </a:xfrm>
          <a:prstGeom prst="roundRect">
            <a:avLst>
              <a:gd name="adj" fmla="val 10000"/>
            </a:avLst>
          </a:prstGeom>
          <a:solidFill>
            <a:schemeClr val="bg2"/>
          </a:solidFill>
          <a:ln/>
        </p:spPr>
      </p:sp>
      <p:sp>
        <p:nvSpPr>
          <p:cNvPr id="4" name="text-27"/>
          <p:cNvSpPr txBox="1"/>
          <p:nvPr/>
        </p:nvSpPr>
        <p:spPr>
          <a:xfrm>
            <a:off x="914400" y="1481328"/>
            <a:ext cx="2834640" cy="411480"/>
          </a:xfrm>
          <a:prstGeom prst="rect">
            <a:avLst/>
          </a:prstGeom>
          <a:noFill/>
          <a:ln/>
        </p:spPr>
        <p:txBody>
          <a:bodyPr wrap="square" lIns="0" tIns="0" rIns="0" bIns="0" rtlCol="0" anchor="t"/>
          <a:lstStyle/>
          <a:p>
            <a:pPr indent="0" marL="0">
              <a:buNone/>
            </a:pPr>
            <a:r>
              <a:rPr lang="en-US" sz="1600" b="1" dirty="0">
                <a:solidFill>
                  <a:schemeClr val="accent6"/>
                </a:solidFill>
              </a:rPr>
              <a:t>1~3주차</a:t>
            </a:r>
            <a:endParaRPr lang="en-US" sz="1600" dirty="0"/>
          </a:p>
        </p:txBody>
      </p:sp>
      <p:sp>
        <p:nvSpPr>
          <p:cNvPr id="5" name="text-28"/>
          <p:cNvSpPr txBox="1"/>
          <p:nvPr/>
        </p:nvSpPr>
        <p:spPr>
          <a:xfrm>
            <a:off x="91440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텍스트 RAG</a:t>
            </a:r>
            <a:endParaRPr lang="en-US" sz="2200" dirty="0"/>
          </a:p>
        </p:txBody>
      </p:sp>
      <p:sp>
        <p:nvSpPr>
          <p:cNvPr id="6" name="arrow-29"/>
          <p:cNvSpPr/>
          <p:nvPr/>
        </p:nvSpPr>
        <p:spPr>
          <a:xfrm>
            <a:off x="4069080" y="2011680"/>
            <a:ext cx="274320" cy="0"/>
          </a:xfrm>
          <a:prstGeom prst="line">
            <a:avLst/>
          </a:prstGeom>
          <a:noFill/>
          <a:ln w="31750">
            <a:solidFill>
              <a:schemeClr val="accent6"/>
            </a:solidFill>
            <a:prstDash val="solid"/>
            <a:tailEnd type="triangle"/>
          </a:ln>
        </p:spPr>
      </p:sp>
      <p:sp>
        <p:nvSpPr>
          <p:cNvPr id="7" name="card-30"/>
          <p:cNvSpPr/>
          <p:nvPr/>
        </p:nvSpPr>
        <p:spPr>
          <a:xfrm>
            <a:off x="4389120" y="1371600"/>
            <a:ext cx="3383280" cy="1280160"/>
          </a:xfrm>
          <a:prstGeom prst="roundRect">
            <a:avLst>
              <a:gd name="adj" fmla="val 10000"/>
            </a:avLst>
          </a:prstGeom>
          <a:solidFill>
            <a:schemeClr val="accent3">
              <a:alpha val="10000"/>
            </a:schemeClr>
          </a:solidFill>
          <a:ln w="25400">
            <a:solidFill>
              <a:schemeClr val="accent3"/>
            </a:solidFill>
            <a:prstDash val="solid"/>
          </a:ln>
        </p:spPr>
      </p:sp>
      <p:sp>
        <p:nvSpPr>
          <p:cNvPr id="8" name="text-31"/>
          <p:cNvSpPr txBox="1"/>
          <p:nvPr/>
        </p:nvSpPr>
        <p:spPr>
          <a:xfrm>
            <a:off x="4663440" y="1481328"/>
            <a:ext cx="2834640" cy="411480"/>
          </a:xfrm>
          <a:prstGeom prst="rect">
            <a:avLst/>
          </a:prstGeom>
          <a:noFill/>
          <a:ln/>
        </p:spPr>
        <p:txBody>
          <a:bodyPr wrap="square" lIns="0" tIns="0" rIns="0" bIns="0" rtlCol="0" anchor="t"/>
          <a:lstStyle/>
          <a:p>
            <a:pPr indent="0" marL="0">
              <a:buNone/>
            </a:pPr>
            <a:r>
              <a:rPr lang="en-US" sz="1600" b="1" dirty="0">
                <a:solidFill>
                  <a:schemeClr val="accent3"/>
                </a:solidFill>
              </a:rPr>
              <a:t>4주차 · 오늘</a:t>
            </a:r>
            <a:endParaRPr lang="en-US" sz="1600" dirty="0"/>
          </a:p>
        </p:txBody>
      </p:sp>
      <p:sp>
        <p:nvSpPr>
          <p:cNvPr id="9" name="text-32"/>
          <p:cNvSpPr txBox="1"/>
          <p:nvPr/>
        </p:nvSpPr>
        <p:spPr>
          <a:xfrm>
            <a:off x="466344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SigLIP 이해</a:t>
            </a:r>
            <a:endParaRPr lang="en-US" sz="2200" dirty="0"/>
          </a:p>
        </p:txBody>
      </p:sp>
      <p:sp>
        <p:nvSpPr>
          <p:cNvPr id="10" name="arrow-33"/>
          <p:cNvSpPr/>
          <p:nvPr/>
        </p:nvSpPr>
        <p:spPr>
          <a:xfrm>
            <a:off x="7818120" y="2011680"/>
            <a:ext cx="274320" cy="0"/>
          </a:xfrm>
          <a:prstGeom prst="line">
            <a:avLst/>
          </a:prstGeom>
          <a:noFill/>
          <a:ln w="31750">
            <a:solidFill>
              <a:schemeClr val="accent6"/>
            </a:solidFill>
            <a:prstDash val="solid"/>
            <a:tailEnd type="triangle"/>
          </a:ln>
        </p:spPr>
      </p:sp>
      <p:sp>
        <p:nvSpPr>
          <p:cNvPr id="11" name="card-34"/>
          <p:cNvSpPr/>
          <p:nvPr/>
        </p:nvSpPr>
        <p:spPr>
          <a:xfrm>
            <a:off x="8138160" y="1371600"/>
            <a:ext cx="3383280" cy="1280160"/>
          </a:xfrm>
          <a:prstGeom prst="roundRect">
            <a:avLst>
              <a:gd name="adj" fmla="val 10000"/>
            </a:avLst>
          </a:prstGeom>
          <a:solidFill>
            <a:schemeClr val="bg2"/>
          </a:solidFill>
          <a:ln/>
        </p:spPr>
      </p:sp>
      <p:sp>
        <p:nvSpPr>
          <p:cNvPr id="12" name="text-35"/>
          <p:cNvSpPr txBox="1"/>
          <p:nvPr/>
        </p:nvSpPr>
        <p:spPr>
          <a:xfrm>
            <a:off x="8412480" y="1481328"/>
            <a:ext cx="2834640" cy="411480"/>
          </a:xfrm>
          <a:prstGeom prst="rect">
            <a:avLst/>
          </a:prstGeom>
          <a:noFill/>
          <a:ln/>
        </p:spPr>
        <p:txBody>
          <a:bodyPr wrap="square" lIns="0" tIns="0" rIns="0" bIns="0" rtlCol="0" anchor="t"/>
          <a:lstStyle/>
          <a:p>
            <a:pPr indent="0" marL="0">
              <a:buNone/>
            </a:pPr>
            <a:r>
              <a:rPr lang="en-US" sz="1600" b="1" dirty="0">
                <a:solidFill>
                  <a:schemeClr val="accent1"/>
                </a:solidFill>
              </a:rPr>
              <a:t>5주차</a:t>
            </a:r>
            <a:endParaRPr lang="en-US" sz="1600" dirty="0"/>
          </a:p>
        </p:txBody>
      </p:sp>
      <p:sp>
        <p:nvSpPr>
          <p:cNvPr id="13" name="text-36"/>
          <p:cNvSpPr txBox="1"/>
          <p:nvPr/>
        </p:nvSpPr>
        <p:spPr>
          <a:xfrm>
            <a:off x="841248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텍스트→이미지 검색</a:t>
            </a:r>
            <a:endParaRPr lang="en-US" sz="2200" dirty="0"/>
          </a:p>
        </p:txBody>
      </p:sp>
      <p:sp>
        <p:nvSpPr>
          <p:cNvPr id="14" name="card-37"/>
          <p:cNvSpPr/>
          <p:nvPr/>
        </p:nvSpPr>
        <p:spPr>
          <a:xfrm>
            <a:off x="640080" y="3017520"/>
            <a:ext cx="3383280" cy="2926080"/>
          </a:xfrm>
          <a:prstGeom prst="roundRect">
            <a:avLst>
              <a:gd name="adj" fmla="val 4375"/>
            </a:avLst>
          </a:prstGeom>
          <a:solidFill>
            <a:schemeClr val="bg2"/>
          </a:solidFill>
          <a:ln/>
        </p:spPr>
      </p:sp>
      <p:sp>
        <p:nvSpPr>
          <p:cNvPr id="15" name="circle-38"/>
          <p:cNvSpPr/>
          <p:nvPr/>
        </p:nvSpPr>
        <p:spPr>
          <a:xfrm>
            <a:off x="914400" y="3291840"/>
            <a:ext cx="868680" cy="868680"/>
          </a:xfrm>
          <a:prstGeom prst="ellipse">
            <a:avLst/>
          </a:prstGeom>
          <a:solidFill>
            <a:schemeClr val="accent3"/>
          </a:solidFill>
          <a:ln/>
        </p:spPr>
      </p:sp>
      <p:pic>
        <p:nvPicPr>
          <p:cNvPr id="16" name="icon-FaToggleOn-39" descr="FaToggleOn">    </p:cNvPr>
          <p:cNvPicPr>
            <a:picLocks noChangeAspect="1"/>
          </p:cNvPicPr>
          <p:nvPr/>
        </p:nvPicPr>
        <p:blipFill>
          <a:blip r:embed="rId1"/>
          <a:stretch>
            <a:fillRect/>
          </a:stretch>
        </p:blipFill>
        <p:spPr>
          <a:xfrm>
            <a:off x="1140257" y="3517697"/>
            <a:ext cx="416966" cy="416966"/>
          </a:xfrm>
          <a:prstGeom prst="rect">
            <a:avLst/>
          </a:prstGeom>
        </p:spPr>
      </p:pic>
      <p:sp>
        <p:nvSpPr>
          <p:cNvPr id="17" name="text-40"/>
          <p:cNvSpPr txBox="1"/>
          <p:nvPr/>
        </p:nvSpPr>
        <p:spPr>
          <a:xfrm>
            <a:off x="91440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구조와 학습 방식</a:t>
            </a:r>
            <a:endParaRPr lang="en-US" sz="2100" dirty="0"/>
          </a:p>
        </p:txBody>
      </p:sp>
      <p:sp>
        <p:nvSpPr>
          <p:cNvPr id="18" name="text-41"/>
          <p:cNvSpPr txBox="1"/>
          <p:nvPr/>
        </p:nvSpPr>
        <p:spPr>
          <a:xfrm>
            <a:off x="91440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CLIP의 Softmax vs SigLIP의 Sigmoid</a:t>
            </a:r>
            <a:endParaRPr lang="en-US" sz="1600" dirty="0"/>
          </a:p>
        </p:txBody>
      </p:sp>
      <p:sp>
        <p:nvSpPr>
          <p:cNvPr id="19" name="card-42"/>
          <p:cNvSpPr/>
          <p:nvPr/>
        </p:nvSpPr>
        <p:spPr>
          <a:xfrm>
            <a:off x="4389120" y="3017520"/>
            <a:ext cx="3383280" cy="2926080"/>
          </a:xfrm>
          <a:prstGeom prst="roundRect">
            <a:avLst>
              <a:gd name="adj" fmla="val 4375"/>
            </a:avLst>
          </a:prstGeom>
          <a:solidFill>
            <a:schemeClr val="bg2"/>
          </a:solidFill>
          <a:ln/>
        </p:spPr>
      </p:sp>
      <p:sp>
        <p:nvSpPr>
          <p:cNvPr id="20" name="circle-43"/>
          <p:cNvSpPr/>
          <p:nvPr/>
        </p:nvSpPr>
        <p:spPr>
          <a:xfrm>
            <a:off x="4663440" y="3291840"/>
            <a:ext cx="868680" cy="868680"/>
          </a:xfrm>
          <a:prstGeom prst="ellipse">
            <a:avLst/>
          </a:prstGeom>
          <a:solidFill>
            <a:schemeClr val="accent3"/>
          </a:solidFill>
          <a:ln/>
        </p:spPr>
      </p:sp>
      <p:pic>
        <p:nvPicPr>
          <p:cNvPr id="21" name="icon-FaSearch-44" descr="FaSearch">    </p:cNvPr>
          <p:cNvPicPr>
            <a:picLocks noChangeAspect="1"/>
          </p:cNvPicPr>
          <p:nvPr/>
        </p:nvPicPr>
        <p:blipFill>
          <a:blip r:embed="rId2"/>
          <a:stretch>
            <a:fillRect/>
          </a:stretch>
        </p:blipFill>
        <p:spPr>
          <a:xfrm>
            <a:off x="4889297" y="3517697"/>
            <a:ext cx="416966" cy="416966"/>
          </a:xfrm>
          <a:prstGeom prst="rect">
            <a:avLst/>
          </a:prstGeom>
        </p:spPr>
      </p:pic>
      <p:sp>
        <p:nvSpPr>
          <p:cNvPr id="22" name="text-45"/>
          <p:cNvSpPr txBox="1"/>
          <p:nvPr/>
        </p:nvSpPr>
        <p:spPr>
          <a:xfrm>
            <a:off x="466344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검색에 적합한 이유</a:t>
            </a:r>
            <a:endParaRPr lang="en-US" sz="2100" dirty="0"/>
          </a:p>
        </p:txBody>
      </p:sp>
      <p:sp>
        <p:nvSpPr>
          <p:cNvPr id="23" name="text-46"/>
          <p:cNvSpPr txBox="1"/>
          <p:nvPr/>
        </p:nvSpPr>
        <p:spPr>
          <a:xfrm>
            <a:off x="466344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왜 5주차에 SigLIP을 쓰는가</a:t>
            </a:r>
            <a:endParaRPr lang="en-US" sz="1600" dirty="0"/>
          </a:p>
        </p:txBody>
      </p:sp>
      <p:sp>
        <p:nvSpPr>
          <p:cNvPr id="24" name="card-47"/>
          <p:cNvSpPr/>
          <p:nvPr/>
        </p:nvSpPr>
        <p:spPr>
          <a:xfrm>
            <a:off x="8138160" y="3017520"/>
            <a:ext cx="3383280" cy="2926080"/>
          </a:xfrm>
          <a:prstGeom prst="roundRect">
            <a:avLst>
              <a:gd name="adj" fmla="val 4375"/>
            </a:avLst>
          </a:prstGeom>
          <a:solidFill>
            <a:schemeClr val="bg2"/>
          </a:solidFill>
          <a:ln/>
        </p:spPr>
      </p:sp>
      <p:sp>
        <p:nvSpPr>
          <p:cNvPr id="25" name="circle-48"/>
          <p:cNvSpPr/>
          <p:nvPr/>
        </p:nvSpPr>
        <p:spPr>
          <a:xfrm>
            <a:off x="8412480" y="3291840"/>
            <a:ext cx="868680" cy="868680"/>
          </a:xfrm>
          <a:prstGeom prst="ellipse">
            <a:avLst/>
          </a:prstGeom>
          <a:solidFill>
            <a:schemeClr val="accent1"/>
          </a:solidFill>
          <a:ln/>
        </p:spPr>
      </p:sp>
      <p:pic>
        <p:nvPicPr>
          <p:cNvPr id="26" name="icon-FaCode-49" descr="FaCode">    </p:cNvPr>
          <p:cNvPicPr>
            <a:picLocks noChangeAspect="1"/>
          </p:cNvPicPr>
          <p:nvPr/>
        </p:nvPicPr>
        <p:blipFill>
          <a:blip r:embed="rId3"/>
          <a:stretch>
            <a:fillRect/>
          </a:stretch>
        </p:blipFill>
        <p:spPr>
          <a:xfrm>
            <a:off x="8638337" y="3517697"/>
            <a:ext cx="416966" cy="416966"/>
          </a:xfrm>
          <a:prstGeom prst="rect">
            <a:avLst/>
          </a:prstGeom>
        </p:spPr>
      </p:pic>
      <p:sp>
        <p:nvSpPr>
          <p:cNvPr id="27" name="text-50"/>
          <p:cNvSpPr txBox="1"/>
          <p:nvPr/>
        </p:nvSpPr>
        <p:spPr>
          <a:xfrm>
            <a:off x="841248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임베딩 추출 실습</a:t>
            </a:r>
            <a:endParaRPr lang="en-US" sz="2100" dirty="0"/>
          </a:p>
        </p:txBody>
      </p:sp>
      <p:sp>
        <p:nvSpPr>
          <p:cNvPr id="28" name="text-51"/>
          <p:cNvSpPr txBox="1"/>
          <p:nvPr/>
        </p:nvSpPr>
        <p:spPr>
          <a:xfrm>
            <a:off x="841248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5주차 코드로 그대로 이어 쓰기</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공동 임베딩 공간: 사진과 문장이 한 지도 위에</a:t>
            </a:r>
            <a:endParaRPr lang="en-US" sz="3000" dirty="0"/>
          </a:p>
        </p:txBody>
      </p:sp>
      <p:sp>
        <p:nvSpPr>
          <p:cNvPr id="3" name="card-52"/>
          <p:cNvSpPr/>
          <p:nvPr/>
        </p:nvSpPr>
        <p:spPr>
          <a:xfrm>
            <a:off x="640080" y="1371600"/>
            <a:ext cx="6949440" cy="4663440"/>
          </a:xfrm>
          <a:prstGeom prst="roundRect">
            <a:avLst>
              <a:gd name="adj" fmla="val 2745"/>
            </a:avLst>
          </a:prstGeom>
          <a:solidFill>
            <a:schemeClr val="bg2"/>
          </a:solidFill>
          <a:ln/>
        </p:spPr>
      </p:sp>
      <p:sp>
        <p:nvSpPr>
          <p:cNvPr id="4" name="axis-x"/>
          <p:cNvSpPr/>
          <p:nvPr/>
        </p:nvSpPr>
        <p:spPr>
          <a:xfrm>
            <a:off x="914400" y="5760720"/>
            <a:ext cx="6400800" cy="0"/>
          </a:xfrm>
          <a:prstGeom prst="line">
            <a:avLst/>
          </a:prstGeom>
          <a:noFill/>
          <a:ln w="12700">
            <a:solidFill>
              <a:schemeClr val="accent6"/>
            </a:solidFill>
            <a:prstDash val="dash"/>
          </a:ln>
        </p:spPr>
      </p:sp>
      <p:sp>
        <p:nvSpPr>
          <p:cNvPr id="5" name="axis-y"/>
          <p:cNvSpPr/>
          <p:nvPr/>
        </p:nvSpPr>
        <p:spPr>
          <a:xfrm>
            <a:off x="914400" y="1645920"/>
            <a:ext cx="0" cy="4114800"/>
          </a:xfrm>
          <a:prstGeom prst="line">
            <a:avLst/>
          </a:prstGeom>
          <a:noFill/>
          <a:ln w="12700">
            <a:solidFill>
              <a:schemeClr val="accent6"/>
            </a:solidFill>
            <a:prstDash val="dash"/>
          </a:ln>
        </p:spPr>
      </p:sp>
      <p:pic>
        <p:nvPicPr>
          <p:cNvPr id="6" name="photo-cat-53" descr="고양이 사진">    </p:cNvPr>
          <p:cNvPicPr>
            <a:picLocks noChangeAspect="1"/>
          </p:cNvPicPr>
          <p:nvPr/>
        </p:nvPicPr>
        <p:blipFill>
          <a:blip r:embed="rId1"/>
          <a:stretch>
            <a:fillRect/>
          </a:stretch>
        </p:blipFill>
        <p:spPr>
          <a:xfrm>
            <a:off x="1280160" y="1783080"/>
            <a:ext cx="1051560" cy="1051560"/>
          </a:xfrm>
          <a:prstGeom prst="ellipse">
            <a:avLst/>
          </a:prstGeom>
        </p:spPr>
      </p:pic>
      <p:sp>
        <p:nvSpPr>
          <p:cNvPr id="7" name="pill-54"/>
          <p:cNvSpPr/>
          <p:nvPr/>
        </p:nvSpPr>
        <p:spPr>
          <a:xfrm>
            <a:off x="2103120" y="2834640"/>
            <a:ext cx="2011680" cy="384048"/>
          </a:xfrm>
          <a:prstGeom prst="roundRect">
            <a:avLst>
              <a:gd name="adj" fmla="val 50000"/>
            </a:avLst>
          </a:prstGeom>
          <a:solidFill>
            <a:schemeClr val="accent2"/>
          </a:solidFill>
          <a:ln/>
        </p:spPr>
      </p:sp>
      <p:sp>
        <p:nvSpPr>
          <p:cNvPr id="8" name="text-55"/>
          <p:cNvSpPr txBox="1"/>
          <p:nvPr/>
        </p:nvSpPr>
        <p:spPr>
          <a:xfrm>
            <a:off x="2103120" y="28346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photo of a cat</a:t>
            </a:r>
            <a:endParaRPr lang="en-US" sz="1300" dirty="0"/>
          </a:p>
        </p:txBody>
      </p:sp>
      <p:pic>
        <p:nvPicPr>
          <p:cNvPr id="9" name="photo-coffee-56" descr="커피 사진">    </p:cNvPr>
          <p:cNvPicPr>
            <a:picLocks noChangeAspect="1"/>
          </p:cNvPicPr>
          <p:nvPr/>
        </p:nvPicPr>
        <p:blipFill>
          <a:blip r:embed="rId2"/>
          <a:stretch>
            <a:fillRect/>
          </a:stretch>
        </p:blipFill>
        <p:spPr>
          <a:xfrm>
            <a:off x="4480560" y="2011680"/>
            <a:ext cx="1051560" cy="1051560"/>
          </a:xfrm>
          <a:prstGeom prst="ellipse">
            <a:avLst/>
          </a:prstGeom>
        </p:spPr>
      </p:pic>
      <p:sp>
        <p:nvSpPr>
          <p:cNvPr id="10" name="pill-57"/>
          <p:cNvSpPr/>
          <p:nvPr/>
        </p:nvSpPr>
        <p:spPr>
          <a:xfrm>
            <a:off x="5303520" y="3063240"/>
            <a:ext cx="2011680" cy="384048"/>
          </a:xfrm>
          <a:prstGeom prst="roundRect">
            <a:avLst>
              <a:gd name="adj" fmla="val 50000"/>
            </a:avLst>
          </a:prstGeom>
          <a:solidFill>
            <a:schemeClr val="accent2"/>
          </a:solidFill>
          <a:ln/>
        </p:spPr>
      </p:sp>
      <p:sp>
        <p:nvSpPr>
          <p:cNvPr id="11" name="text-58"/>
          <p:cNvSpPr txBox="1"/>
          <p:nvPr/>
        </p:nvSpPr>
        <p:spPr>
          <a:xfrm>
            <a:off x="5303520" y="30632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cup of coffee</a:t>
            </a:r>
            <a:endParaRPr lang="en-US" sz="1300" dirty="0"/>
          </a:p>
        </p:txBody>
      </p:sp>
      <p:pic>
        <p:nvPicPr>
          <p:cNvPr id="12" name="photo-rocket-59" descr="로켓 사진">    </p:cNvPr>
          <p:cNvPicPr>
            <a:picLocks noChangeAspect="1"/>
          </p:cNvPicPr>
          <p:nvPr/>
        </p:nvPicPr>
        <p:blipFill>
          <a:blip r:embed="rId3"/>
          <a:stretch>
            <a:fillRect/>
          </a:stretch>
        </p:blipFill>
        <p:spPr>
          <a:xfrm>
            <a:off x="1463040" y="4160520"/>
            <a:ext cx="1051560" cy="1051560"/>
          </a:xfrm>
          <a:prstGeom prst="ellipse">
            <a:avLst/>
          </a:prstGeom>
        </p:spPr>
      </p:pic>
      <p:sp>
        <p:nvSpPr>
          <p:cNvPr id="13" name="pill-60"/>
          <p:cNvSpPr/>
          <p:nvPr/>
        </p:nvSpPr>
        <p:spPr>
          <a:xfrm>
            <a:off x="2286000" y="5212080"/>
            <a:ext cx="2011680" cy="384048"/>
          </a:xfrm>
          <a:prstGeom prst="roundRect">
            <a:avLst>
              <a:gd name="adj" fmla="val 50000"/>
            </a:avLst>
          </a:prstGeom>
          <a:solidFill>
            <a:schemeClr val="accent2"/>
          </a:solidFill>
          <a:ln/>
        </p:spPr>
      </p:sp>
      <p:sp>
        <p:nvSpPr>
          <p:cNvPr id="14" name="text-61"/>
          <p:cNvSpPr txBox="1"/>
          <p:nvPr/>
        </p:nvSpPr>
        <p:spPr>
          <a:xfrm>
            <a:off x="2286000" y="521208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rocket at night</a:t>
            </a:r>
            <a:endParaRPr lang="en-US" sz="1300" dirty="0"/>
          </a:p>
        </p:txBody>
      </p:sp>
      <p:pic>
        <p:nvPicPr>
          <p:cNvPr id="15" name="photo-astronaut-62" descr="우주비행사 사진">    </p:cNvPr>
          <p:cNvPicPr>
            <a:picLocks noChangeAspect="1"/>
          </p:cNvPicPr>
          <p:nvPr/>
        </p:nvPicPr>
        <p:blipFill>
          <a:blip r:embed="rId4"/>
          <a:stretch>
            <a:fillRect/>
          </a:stretch>
        </p:blipFill>
        <p:spPr>
          <a:xfrm>
            <a:off x="4572000" y="4206240"/>
            <a:ext cx="1051560" cy="1051560"/>
          </a:xfrm>
          <a:prstGeom prst="ellipse">
            <a:avLst/>
          </a:prstGeom>
        </p:spPr>
      </p:pic>
      <p:sp>
        <p:nvSpPr>
          <p:cNvPr id="16" name="pill-63"/>
          <p:cNvSpPr/>
          <p:nvPr/>
        </p:nvSpPr>
        <p:spPr>
          <a:xfrm>
            <a:off x="5394960" y="5257800"/>
            <a:ext cx="2011680" cy="384048"/>
          </a:xfrm>
          <a:prstGeom prst="roundRect">
            <a:avLst>
              <a:gd name="adj" fmla="val 50000"/>
            </a:avLst>
          </a:prstGeom>
          <a:solidFill>
            <a:schemeClr val="accent2"/>
          </a:solidFill>
          <a:ln/>
        </p:spPr>
      </p:sp>
      <p:sp>
        <p:nvSpPr>
          <p:cNvPr id="17" name="text-64"/>
          <p:cNvSpPr txBox="1"/>
          <p:nvPr/>
        </p:nvSpPr>
        <p:spPr>
          <a:xfrm>
            <a:off x="5394960" y="525780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an astronaut</a:t>
            </a:r>
            <a:endParaRPr lang="en-US" sz="1300" dirty="0"/>
          </a:p>
        </p:txBody>
      </p:sp>
      <p:sp>
        <p:nvSpPr>
          <p:cNvPr id="18" name="text-65"/>
          <p:cNvSpPr txBox="1"/>
          <p:nvPr/>
        </p:nvSpPr>
        <p:spPr>
          <a:xfrm>
            <a:off x="7955280" y="1554480"/>
            <a:ext cx="3657600" cy="548640"/>
          </a:xfrm>
          <a:prstGeom prst="rect">
            <a:avLst/>
          </a:prstGeom>
          <a:noFill/>
          <a:ln/>
        </p:spPr>
        <p:txBody>
          <a:bodyPr wrap="square" lIns="0" tIns="0" rIns="0" bIns="0" rtlCol="0" anchor="t"/>
          <a:lstStyle/>
          <a:p>
            <a:pPr indent="0" marL="0">
              <a:buNone/>
            </a:pPr>
            <a:r>
              <a:rPr lang="en-US" sz="2400" b="1" dirty="0">
                <a:solidFill>
                  <a:schemeClr val="accent3"/>
                </a:solidFill>
              </a:rPr>
              <a:t>의미가 같으면 가깝게</a:t>
            </a:r>
            <a:endParaRPr lang="en-US" sz="2400" dirty="0"/>
          </a:p>
        </p:txBody>
      </p:sp>
      <p:sp>
        <p:nvSpPr>
          <p:cNvPr id="19" name="text-66"/>
          <p:cNvSpPr txBox="1"/>
          <p:nvPr/>
        </p:nvSpPr>
        <p:spPr>
          <a:xfrm>
            <a:off x="7955280" y="21031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photo of a cat”</a:t>
            </a:r>
            <a:endParaRPr lang="en-US" sz="1700" dirty="0"/>
          </a:p>
        </p:txBody>
      </p:sp>
      <p:sp>
        <p:nvSpPr>
          <p:cNvPr id="20" name="text-67"/>
          <p:cNvSpPr txBox="1"/>
          <p:nvPr/>
        </p:nvSpPr>
        <p:spPr>
          <a:xfrm>
            <a:off x="7955280" y="2926080"/>
            <a:ext cx="3657600" cy="548640"/>
          </a:xfrm>
          <a:prstGeom prst="rect">
            <a:avLst/>
          </a:prstGeom>
          <a:noFill/>
          <a:ln/>
        </p:spPr>
        <p:txBody>
          <a:bodyPr wrap="square" lIns="0" tIns="0" rIns="0" bIns="0" rtlCol="0" anchor="t"/>
          <a:lstStyle/>
          <a:p>
            <a:pPr indent="0" marL="0">
              <a:buNone/>
            </a:pPr>
            <a:r>
              <a:rPr lang="en-US" sz="2400" b="1" dirty="0">
                <a:solidFill>
                  <a:schemeClr val="accent4"/>
                </a:solidFill>
              </a:rPr>
              <a:t>의미가 다르면 멀게</a:t>
            </a:r>
            <a:endParaRPr lang="en-US" sz="2400" dirty="0"/>
          </a:p>
        </p:txBody>
      </p:sp>
      <p:sp>
        <p:nvSpPr>
          <p:cNvPr id="21" name="text-68"/>
          <p:cNvSpPr txBox="1"/>
          <p:nvPr/>
        </p:nvSpPr>
        <p:spPr>
          <a:xfrm>
            <a:off x="7955280" y="34747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rocket at night”</a:t>
            </a:r>
            <a:endParaRPr lang="en-US" sz="1700" dirty="0"/>
          </a:p>
        </p:txBody>
      </p:sp>
      <p:sp>
        <p:nvSpPr>
          <p:cNvPr id="22" name="card-69"/>
          <p:cNvSpPr/>
          <p:nvPr/>
        </p:nvSpPr>
        <p:spPr>
          <a:xfrm>
            <a:off x="7955280" y="4297680"/>
            <a:ext cx="3566160" cy="1463040"/>
          </a:xfrm>
          <a:prstGeom prst="roundRect">
            <a:avLst>
              <a:gd name="adj" fmla="val 8750"/>
            </a:avLst>
          </a:prstGeom>
          <a:solidFill>
            <a:schemeClr val="accent3">
              <a:alpha val="10000"/>
            </a:schemeClr>
          </a:solidFill>
          <a:ln/>
        </p:spPr>
      </p:sp>
      <p:sp>
        <p:nvSpPr>
          <p:cNvPr id="23" name="text-70"/>
          <p:cNvSpPr txBox="1"/>
          <p:nvPr/>
        </p:nvSpPr>
        <p:spPr>
          <a:xfrm>
            <a:off x="8183880" y="4297680"/>
            <a:ext cx="3200400" cy="1463040"/>
          </a:xfrm>
          <a:prstGeom prst="rect">
            <a:avLst/>
          </a:prstGeom>
          <a:noFill/>
          <a:ln/>
        </p:spPr>
        <p:txBody>
          <a:bodyPr wrap="square" lIns="0" tIns="0" rIns="0" bIns="0" rtlCol="0" anchor="ctr"/>
          <a:lstStyle/>
          <a:p>
            <a:pPr indent="0" marL="0">
              <a:buNone/>
            </a:pPr>
            <a:r>
              <a:rPr lang="en-US" sz="1800" b="1" dirty="0">
                <a:solidFill>
                  <a:schemeClr val="tx1"/>
                </a:solidFill>
              </a:rPr>
              <a:t>거리 = 코사인 유사도</a:t>
            </a:r>
            <a:endParaRPr lang="en-US" sz="1800" dirty="0"/>
          </a:p>
          <a:p>
            <a:pPr indent="0" marL="0">
              <a:buNone/>
            </a:pPr>
            <a:r>
              <a:rPr lang="en-US" sz="1500" dirty="0">
                <a:solidFill>
                  <a:schemeClr val="tx2"/>
                </a:solidFill>
              </a:rPr>
              <a:t>(L2 정규화한 벡터의 내적)</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대조학습: 배치 안에서 짝 맞추기</a:t>
            </a:r>
            <a:endParaRPr lang="en-US" sz="3000" dirty="0"/>
          </a:p>
        </p:txBody>
      </p:sp>
      <p:sp>
        <p:nvSpPr>
          <p:cNvPr id="3" name="text-71"/>
          <p:cNvSpPr txBox="1"/>
          <p:nvPr/>
        </p:nvSpPr>
        <p:spPr>
          <a:xfrm>
            <a:off x="640080" y="1234440"/>
            <a:ext cx="10881360" cy="411480"/>
          </a:xfrm>
          <a:prstGeom prst="rect">
            <a:avLst/>
          </a:prstGeom>
          <a:noFill/>
          <a:ln/>
        </p:spPr>
        <p:txBody>
          <a:bodyPr wrap="square" lIns="0" tIns="0" rIns="0" bIns="0" rtlCol="0" anchor="t"/>
          <a:lstStyle/>
          <a:p>
            <a:pPr indent="0" marL="0">
              <a:buNone/>
            </a:pPr>
            <a:r>
              <a:rPr lang="en-US" sz="1700" dirty="0">
                <a:solidFill>
                  <a:schemeClr val="tx2"/>
                </a:solidFill>
              </a:rPr>
              <a:t>웹에서 모은 (이미지, 캡션) 쌍 수억 개를 라벨링 없이 그대로 사용</a:t>
            </a:r>
            <a:endParaRPr lang="en-US" sz="1700" dirty="0"/>
          </a:p>
        </p:txBody>
      </p:sp>
      <p:sp>
        <p:nvSpPr>
          <p:cNvPr id="4" name="pill-72"/>
          <p:cNvSpPr/>
          <p:nvPr/>
        </p:nvSpPr>
        <p:spPr>
          <a:xfrm>
            <a:off x="2167128" y="1828800"/>
            <a:ext cx="832104" cy="384048"/>
          </a:xfrm>
          <a:prstGeom prst="roundRect">
            <a:avLst>
              <a:gd name="adj" fmla="val 50000"/>
            </a:avLst>
          </a:prstGeom>
          <a:solidFill>
            <a:schemeClr val="accent2"/>
          </a:solidFill>
          <a:ln/>
        </p:spPr>
      </p:sp>
      <p:sp>
        <p:nvSpPr>
          <p:cNvPr id="5" name="text-73"/>
          <p:cNvSpPr txBox="1"/>
          <p:nvPr/>
        </p:nvSpPr>
        <p:spPr>
          <a:xfrm>
            <a:off x="216712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cat</a:t>
            </a:r>
            <a:endParaRPr lang="en-US" sz="1200" dirty="0"/>
          </a:p>
        </p:txBody>
      </p:sp>
      <p:sp>
        <p:nvSpPr>
          <p:cNvPr id="6" name="pill-74"/>
          <p:cNvSpPr/>
          <p:nvPr/>
        </p:nvSpPr>
        <p:spPr>
          <a:xfrm>
            <a:off x="3035808" y="1828800"/>
            <a:ext cx="832104" cy="384048"/>
          </a:xfrm>
          <a:prstGeom prst="roundRect">
            <a:avLst>
              <a:gd name="adj" fmla="val 50000"/>
            </a:avLst>
          </a:prstGeom>
          <a:solidFill>
            <a:schemeClr val="accent2"/>
          </a:solidFill>
          <a:ln/>
        </p:spPr>
      </p:sp>
      <p:sp>
        <p:nvSpPr>
          <p:cNvPr id="7" name="text-75"/>
          <p:cNvSpPr txBox="1"/>
          <p:nvPr/>
        </p:nvSpPr>
        <p:spPr>
          <a:xfrm>
            <a:off x="303580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coffee</a:t>
            </a:r>
            <a:endParaRPr lang="en-US" sz="1200" dirty="0"/>
          </a:p>
        </p:txBody>
      </p:sp>
      <p:sp>
        <p:nvSpPr>
          <p:cNvPr id="8" name="pill-76"/>
          <p:cNvSpPr/>
          <p:nvPr/>
        </p:nvSpPr>
        <p:spPr>
          <a:xfrm>
            <a:off x="3904488" y="1828800"/>
            <a:ext cx="832104" cy="384048"/>
          </a:xfrm>
          <a:prstGeom prst="roundRect">
            <a:avLst>
              <a:gd name="adj" fmla="val 50000"/>
            </a:avLst>
          </a:prstGeom>
          <a:solidFill>
            <a:schemeClr val="accent2"/>
          </a:solidFill>
          <a:ln/>
        </p:spPr>
      </p:sp>
      <p:sp>
        <p:nvSpPr>
          <p:cNvPr id="9" name="text-77"/>
          <p:cNvSpPr txBox="1"/>
          <p:nvPr/>
        </p:nvSpPr>
        <p:spPr>
          <a:xfrm>
            <a:off x="390448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rocket</a:t>
            </a:r>
            <a:endParaRPr lang="en-US" sz="1200" dirty="0"/>
          </a:p>
        </p:txBody>
      </p:sp>
      <p:sp>
        <p:nvSpPr>
          <p:cNvPr id="10" name="pill-78"/>
          <p:cNvSpPr/>
          <p:nvPr/>
        </p:nvSpPr>
        <p:spPr>
          <a:xfrm>
            <a:off x="4773168" y="1828800"/>
            <a:ext cx="832104" cy="384048"/>
          </a:xfrm>
          <a:prstGeom prst="roundRect">
            <a:avLst>
              <a:gd name="adj" fmla="val 50000"/>
            </a:avLst>
          </a:prstGeom>
          <a:solidFill>
            <a:schemeClr val="accent2"/>
          </a:solidFill>
          <a:ln/>
        </p:spPr>
      </p:sp>
      <p:sp>
        <p:nvSpPr>
          <p:cNvPr id="11" name="text-79"/>
          <p:cNvSpPr txBox="1"/>
          <p:nvPr/>
        </p:nvSpPr>
        <p:spPr>
          <a:xfrm>
            <a:off x="4773168" y="1828800"/>
            <a:ext cx="832104" cy="384048"/>
          </a:xfrm>
          <a:prstGeom prst="rect">
            <a:avLst/>
          </a:prstGeom>
          <a:noFill/>
          <a:ln/>
        </p:spPr>
        <p:txBody>
          <a:bodyPr wrap="square" lIns="0" tIns="0" rIns="0" bIns="0" rtlCol="0" anchor="ctr"/>
          <a:lstStyle/>
          <a:p>
            <a:pPr algn="ctr" indent="0" marL="0">
              <a:buNone/>
            </a:pPr>
            <a:r>
              <a:rPr lang="en-US" sz="1000" b="1" dirty="0">
                <a:solidFill>
                  <a:schemeClr val="bg1"/>
                </a:solidFill>
              </a:rPr>
              <a:t>astronaut</a:t>
            </a:r>
            <a:endParaRPr lang="en-US" sz="1000" dirty="0"/>
          </a:p>
        </p:txBody>
      </p:sp>
      <p:pic>
        <p:nvPicPr>
          <p:cNvPr id="12" name="photo-cat-80" descr="고양이 사진">    </p:cNvPr>
          <p:cNvPicPr>
            <a:picLocks noChangeAspect="1"/>
          </p:cNvPicPr>
          <p:nvPr/>
        </p:nvPicPr>
        <p:blipFill>
          <a:blip r:embed="rId1"/>
          <a:stretch>
            <a:fillRect/>
          </a:stretch>
        </p:blipFill>
        <p:spPr>
          <a:xfrm>
            <a:off x="1188720" y="2395728"/>
            <a:ext cx="731520" cy="731520"/>
          </a:xfrm>
          <a:prstGeom prst="ellipse">
            <a:avLst/>
          </a:prstGeom>
        </p:spPr>
      </p:pic>
      <p:pic>
        <p:nvPicPr>
          <p:cNvPr id="13" name="photo-coffee-81" descr="커피 사진">    </p:cNvPr>
          <p:cNvPicPr>
            <a:picLocks noChangeAspect="1"/>
          </p:cNvPicPr>
          <p:nvPr/>
        </p:nvPicPr>
        <p:blipFill>
          <a:blip r:embed="rId2"/>
          <a:stretch>
            <a:fillRect/>
          </a:stretch>
        </p:blipFill>
        <p:spPr>
          <a:xfrm>
            <a:off x="1188720" y="3264408"/>
            <a:ext cx="731520" cy="731520"/>
          </a:xfrm>
          <a:prstGeom prst="ellipse">
            <a:avLst/>
          </a:prstGeom>
        </p:spPr>
      </p:pic>
      <p:pic>
        <p:nvPicPr>
          <p:cNvPr id="14" name="photo-rocket-82" descr="로켓 사진">    </p:cNvPr>
          <p:cNvPicPr>
            <a:picLocks noChangeAspect="1"/>
          </p:cNvPicPr>
          <p:nvPr/>
        </p:nvPicPr>
        <p:blipFill>
          <a:blip r:embed="rId3"/>
          <a:stretch>
            <a:fillRect/>
          </a:stretch>
        </p:blipFill>
        <p:spPr>
          <a:xfrm>
            <a:off x="1188720" y="4133088"/>
            <a:ext cx="731520" cy="731520"/>
          </a:xfrm>
          <a:prstGeom prst="ellipse">
            <a:avLst/>
          </a:prstGeom>
        </p:spPr>
      </p:pic>
      <p:pic>
        <p:nvPicPr>
          <p:cNvPr id="15" name="photo-astronaut-83" descr="우주비행사 사진">    </p:cNvPr>
          <p:cNvPicPr>
            <a:picLocks noChangeAspect="1"/>
          </p:cNvPicPr>
          <p:nvPr/>
        </p:nvPicPr>
        <p:blipFill>
          <a:blip r:embed="rId4"/>
          <a:stretch>
            <a:fillRect/>
          </a:stretch>
        </p:blipFill>
        <p:spPr>
          <a:xfrm>
            <a:off x="1188720" y="5001768"/>
            <a:ext cx="731520" cy="731520"/>
          </a:xfrm>
          <a:prstGeom prst="ellipse">
            <a:avLst/>
          </a:prstGeom>
        </p:spPr>
      </p:pic>
      <p:sp>
        <p:nvSpPr>
          <p:cNvPr id="16" name="cell-84"/>
          <p:cNvSpPr/>
          <p:nvPr/>
        </p:nvSpPr>
        <p:spPr>
          <a:xfrm>
            <a:off x="2148840" y="2331720"/>
            <a:ext cx="868680" cy="868680"/>
          </a:xfrm>
          <a:prstGeom prst="rect">
            <a:avLst/>
          </a:prstGeom>
          <a:solidFill>
            <a:schemeClr val="accent5"/>
          </a:solidFill>
          <a:ln w="25400">
            <a:solidFill>
              <a:schemeClr val="bg1"/>
            </a:solidFill>
            <a:prstDash val="solid"/>
          </a:ln>
        </p:spPr>
      </p:sp>
      <p:sp>
        <p:nvSpPr>
          <p:cNvPr id="17" name="text-85"/>
          <p:cNvSpPr txBox="1"/>
          <p:nvPr/>
        </p:nvSpPr>
        <p:spPr>
          <a:xfrm>
            <a:off x="2148840" y="23317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18" name="cell-86"/>
          <p:cNvSpPr/>
          <p:nvPr/>
        </p:nvSpPr>
        <p:spPr>
          <a:xfrm>
            <a:off x="3017520" y="2331720"/>
            <a:ext cx="868680" cy="868680"/>
          </a:xfrm>
          <a:prstGeom prst="rect">
            <a:avLst/>
          </a:prstGeom>
          <a:solidFill>
            <a:schemeClr val="accent4">
              <a:alpha val="15000"/>
            </a:schemeClr>
          </a:solidFill>
          <a:ln w="25400">
            <a:solidFill>
              <a:schemeClr val="bg1"/>
            </a:solidFill>
            <a:prstDash val="solid"/>
          </a:ln>
        </p:spPr>
      </p:sp>
      <p:sp>
        <p:nvSpPr>
          <p:cNvPr id="19" name="text-87"/>
          <p:cNvSpPr txBox="1"/>
          <p:nvPr/>
        </p:nvSpPr>
        <p:spPr>
          <a:xfrm>
            <a:off x="301752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0" name="cell-88"/>
          <p:cNvSpPr/>
          <p:nvPr/>
        </p:nvSpPr>
        <p:spPr>
          <a:xfrm>
            <a:off x="3886200" y="2331720"/>
            <a:ext cx="868680" cy="868680"/>
          </a:xfrm>
          <a:prstGeom prst="rect">
            <a:avLst/>
          </a:prstGeom>
          <a:solidFill>
            <a:schemeClr val="accent4">
              <a:alpha val="15000"/>
            </a:schemeClr>
          </a:solidFill>
          <a:ln w="25400">
            <a:solidFill>
              <a:schemeClr val="bg1"/>
            </a:solidFill>
            <a:prstDash val="solid"/>
          </a:ln>
        </p:spPr>
      </p:sp>
      <p:sp>
        <p:nvSpPr>
          <p:cNvPr id="21" name="text-89"/>
          <p:cNvSpPr txBox="1"/>
          <p:nvPr/>
        </p:nvSpPr>
        <p:spPr>
          <a:xfrm>
            <a:off x="388620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2" name="cell-90"/>
          <p:cNvSpPr/>
          <p:nvPr/>
        </p:nvSpPr>
        <p:spPr>
          <a:xfrm>
            <a:off x="4754880" y="2331720"/>
            <a:ext cx="868680" cy="868680"/>
          </a:xfrm>
          <a:prstGeom prst="rect">
            <a:avLst/>
          </a:prstGeom>
          <a:solidFill>
            <a:schemeClr val="accent4">
              <a:alpha val="15000"/>
            </a:schemeClr>
          </a:solidFill>
          <a:ln w="25400">
            <a:solidFill>
              <a:schemeClr val="bg1"/>
            </a:solidFill>
            <a:prstDash val="solid"/>
          </a:ln>
        </p:spPr>
      </p:sp>
      <p:sp>
        <p:nvSpPr>
          <p:cNvPr id="23" name="text-91"/>
          <p:cNvSpPr txBox="1"/>
          <p:nvPr/>
        </p:nvSpPr>
        <p:spPr>
          <a:xfrm>
            <a:off x="475488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4" name="cell-92"/>
          <p:cNvSpPr/>
          <p:nvPr/>
        </p:nvSpPr>
        <p:spPr>
          <a:xfrm>
            <a:off x="2148840" y="3200400"/>
            <a:ext cx="868680" cy="868680"/>
          </a:xfrm>
          <a:prstGeom prst="rect">
            <a:avLst/>
          </a:prstGeom>
          <a:solidFill>
            <a:schemeClr val="accent4">
              <a:alpha val="15000"/>
            </a:schemeClr>
          </a:solidFill>
          <a:ln w="25400">
            <a:solidFill>
              <a:schemeClr val="bg1"/>
            </a:solidFill>
            <a:prstDash val="solid"/>
          </a:ln>
        </p:spPr>
      </p:sp>
      <p:sp>
        <p:nvSpPr>
          <p:cNvPr id="25" name="text-93"/>
          <p:cNvSpPr txBox="1"/>
          <p:nvPr/>
        </p:nvSpPr>
        <p:spPr>
          <a:xfrm>
            <a:off x="214884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6" name="cell-94"/>
          <p:cNvSpPr/>
          <p:nvPr/>
        </p:nvSpPr>
        <p:spPr>
          <a:xfrm>
            <a:off x="3017520" y="3200400"/>
            <a:ext cx="868680" cy="868680"/>
          </a:xfrm>
          <a:prstGeom prst="rect">
            <a:avLst/>
          </a:prstGeom>
          <a:solidFill>
            <a:schemeClr val="accent5"/>
          </a:solidFill>
          <a:ln w="25400">
            <a:solidFill>
              <a:schemeClr val="bg1"/>
            </a:solidFill>
            <a:prstDash val="solid"/>
          </a:ln>
        </p:spPr>
      </p:sp>
      <p:sp>
        <p:nvSpPr>
          <p:cNvPr id="27" name="text-95"/>
          <p:cNvSpPr txBox="1"/>
          <p:nvPr/>
        </p:nvSpPr>
        <p:spPr>
          <a:xfrm>
            <a:off x="3017520" y="320040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28" name="cell-96"/>
          <p:cNvSpPr/>
          <p:nvPr/>
        </p:nvSpPr>
        <p:spPr>
          <a:xfrm>
            <a:off x="3886200" y="3200400"/>
            <a:ext cx="868680" cy="868680"/>
          </a:xfrm>
          <a:prstGeom prst="rect">
            <a:avLst/>
          </a:prstGeom>
          <a:solidFill>
            <a:schemeClr val="accent4">
              <a:alpha val="15000"/>
            </a:schemeClr>
          </a:solidFill>
          <a:ln w="25400">
            <a:solidFill>
              <a:schemeClr val="bg1"/>
            </a:solidFill>
            <a:prstDash val="solid"/>
          </a:ln>
        </p:spPr>
      </p:sp>
      <p:sp>
        <p:nvSpPr>
          <p:cNvPr id="29" name="text-97"/>
          <p:cNvSpPr txBox="1"/>
          <p:nvPr/>
        </p:nvSpPr>
        <p:spPr>
          <a:xfrm>
            <a:off x="388620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0" name="cell-98"/>
          <p:cNvSpPr/>
          <p:nvPr/>
        </p:nvSpPr>
        <p:spPr>
          <a:xfrm>
            <a:off x="4754880" y="3200400"/>
            <a:ext cx="868680" cy="868680"/>
          </a:xfrm>
          <a:prstGeom prst="rect">
            <a:avLst/>
          </a:prstGeom>
          <a:solidFill>
            <a:schemeClr val="accent4">
              <a:alpha val="15000"/>
            </a:schemeClr>
          </a:solidFill>
          <a:ln w="25400">
            <a:solidFill>
              <a:schemeClr val="bg1"/>
            </a:solidFill>
            <a:prstDash val="solid"/>
          </a:ln>
        </p:spPr>
      </p:sp>
      <p:sp>
        <p:nvSpPr>
          <p:cNvPr id="31" name="text-99"/>
          <p:cNvSpPr txBox="1"/>
          <p:nvPr/>
        </p:nvSpPr>
        <p:spPr>
          <a:xfrm>
            <a:off x="475488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2" name="cell-100"/>
          <p:cNvSpPr/>
          <p:nvPr/>
        </p:nvSpPr>
        <p:spPr>
          <a:xfrm>
            <a:off x="2148840" y="4069080"/>
            <a:ext cx="868680" cy="868680"/>
          </a:xfrm>
          <a:prstGeom prst="rect">
            <a:avLst/>
          </a:prstGeom>
          <a:solidFill>
            <a:schemeClr val="accent4">
              <a:alpha val="15000"/>
            </a:schemeClr>
          </a:solidFill>
          <a:ln w="25400">
            <a:solidFill>
              <a:schemeClr val="bg1"/>
            </a:solidFill>
            <a:prstDash val="solid"/>
          </a:ln>
        </p:spPr>
      </p:sp>
      <p:sp>
        <p:nvSpPr>
          <p:cNvPr id="33" name="text-101"/>
          <p:cNvSpPr txBox="1"/>
          <p:nvPr/>
        </p:nvSpPr>
        <p:spPr>
          <a:xfrm>
            <a:off x="214884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4" name="cell-102"/>
          <p:cNvSpPr/>
          <p:nvPr/>
        </p:nvSpPr>
        <p:spPr>
          <a:xfrm>
            <a:off x="3017520" y="4069080"/>
            <a:ext cx="868680" cy="868680"/>
          </a:xfrm>
          <a:prstGeom prst="rect">
            <a:avLst/>
          </a:prstGeom>
          <a:solidFill>
            <a:schemeClr val="accent4">
              <a:alpha val="15000"/>
            </a:schemeClr>
          </a:solidFill>
          <a:ln w="25400">
            <a:solidFill>
              <a:schemeClr val="bg1"/>
            </a:solidFill>
            <a:prstDash val="solid"/>
          </a:ln>
        </p:spPr>
      </p:sp>
      <p:sp>
        <p:nvSpPr>
          <p:cNvPr id="35" name="text-103"/>
          <p:cNvSpPr txBox="1"/>
          <p:nvPr/>
        </p:nvSpPr>
        <p:spPr>
          <a:xfrm>
            <a:off x="301752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6" name="cell-104"/>
          <p:cNvSpPr/>
          <p:nvPr/>
        </p:nvSpPr>
        <p:spPr>
          <a:xfrm>
            <a:off x="3886200" y="4069080"/>
            <a:ext cx="868680" cy="868680"/>
          </a:xfrm>
          <a:prstGeom prst="rect">
            <a:avLst/>
          </a:prstGeom>
          <a:solidFill>
            <a:schemeClr val="accent5"/>
          </a:solidFill>
          <a:ln w="25400">
            <a:solidFill>
              <a:schemeClr val="bg1"/>
            </a:solidFill>
            <a:prstDash val="solid"/>
          </a:ln>
        </p:spPr>
      </p:sp>
      <p:sp>
        <p:nvSpPr>
          <p:cNvPr id="37" name="text-105"/>
          <p:cNvSpPr txBox="1"/>
          <p:nvPr/>
        </p:nvSpPr>
        <p:spPr>
          <a:xfrm>
            <a:off x="3886200" y="406908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38" name="cell-106"/>
          <p:cNvSpPr/>
          <p:nvPr/>
        </p:nvSpPr>
        <p:spPr>
          <a:xfrm>
            <a:off x="4754880" y="4069080"/>
            <a:ext cx="868680" cy="868680"/>
          </a:xfrm>
          <a:prstGeom prst="rect">
            <a:avLst/>
          </a:prstGeom>
          <a:solidFill>
            <a:schemeClr val="accent4">
              <a:alpha val="15000"/>
            </a:schemeClr>
          </a:solidFill>
          <a:ln w="25400">
            <a:solidFill>
              <a:schemeClr val="bg1"/>
            </a:solidFill>
            <a:prstDash val="solid"/>
          </a:ln>
        </p:spPr>
      </p:sp>
      <p:sp>
        <p:nvSpPr>
          <p:cNvPr id="39" name="text-107"/>
          <p:cNvSpPr txBox="1"/>
          <p:nvPr/>
        </p:nvSpPr>
        <p:spPr>
          <a:xfrm>
            <a:off x="475488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0" name="cell-108"/>
          <p:cNvSpPr/>
          <p:nvPr/>
        </p:nvSpPr>
        <p:spPr>
          <a:xfrm>
            <a:off x="2148840" y="4937760"/>
            <a:ext cx="868680" cy="868680"/>
          </a:xfrm>
          <a:prstGeom prst="rect">
            <a:avLst/>
          </a:prstGeom>
          <a:solidFill>
            <a:schemeClr val="accent4">
              <a:alpha val="15000"/>
            </a:schemeClr>
          </a:solidFill>
          <a:ln w="25400">
            <a:solidFill>
              <a:schemeClr val="bg1"/>
            </a:solidFill>
            <a:prstDash val="solid"/>
          </a:ln>
        </p:spPr>
      </p:sp>
      <p:sp>
        <p:nvSpPr>
          <p:cNvPr id="41" name="text-109"/>
          <p:cNvSpPr txBox="1"/>
          <p:nvPr/>
        </p:nvSpPr>
        <p:spPr>
          <a:xfrm>
            <a:off x="214884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2" name="cell-110"/>
          <p:cNvSpPr/>
          <p:nvPr/>
        </p:nvSpPr>
        <p:spPr>
          <a:xfrm>
            <a:off x="3017520" y="4937760"/>
            <a:ext cx="868680" cy="868680"/>
          </a:xfrm>
          <a:prstGeom prst="rect">
            <a:avLst/>
          </a:prstGeom>
          <a:solidFill>
            <a:schemeClr val="accent4">
              <a:alpha val="15000"/>
            </a:schemeClr>
          </a:solidFill>
          <a:ln w="25400">
            <a:solidFill>
              <a:schemeClr val="bg1"/>
            </a:solidFill>
            <a:prstDash val="solid"/>
          </a:ln>
        </p:spPr>
      </p:sp>
      <p:sp>
        <p:nvSpPr>
          <p:cNvPr id="43" name="text-111"/>
          <p:cNvSpPr txBox="1"/>
          <p:nvPr/>
        </p:nvSpPr>
        <p:spPr>
          <a:xfrm>
            <a:off x="301752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4" name="cell-112"/>
          <p:cNvSpPr/>
          <p:nvPr/>
        </p:nvSpPr>
        <p:spPr>
          <a:xfrm>
            <a:off x="3886200" y="4937760"/>
            <a:ext cx="868680" cy="868680"/>
          </a:xfrm>
          <a:prstGeom prst="rect">
            <a:avLst/>
          </a:prstGeom>
          <a:solidFill>
            <a:schemeClr val="accent4">
              <a:alpha val="15000"/>
            </a:schemeClr>
          </a:solidFill>
          <a:ln w="25400">
            <a:solidFill>
              <a:schemeClr val="bg1"/>
            </a:solidFill>
            <a:prstDash val="solid"/>
          </a:ln>
        </p:spPr>
      </p:sp>
      <p:sp>
        <p:nvSpPr>
          <p:cNvPr id="45" name="text-113"/>
          <p:cNvSpPr txBox="1"/>
          <p:nvPr/>
        </p:nvSpPr>
        <p:spPr>
          <a:xfrm>
            <a:off x="388620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6" name="cell-114"/>
          <p:cNvSpPr/>
          <p:nvPr/>
        </p:nvSpPr>
        <p:spPr>
          <a:xfrm>
            <a:off x="4754880" y="4937760"/>
            <a:ext cx="868680" cy="868680"/>
          </a:xfrm>
          <a:prstGeom prst="rect">
            <a:avLst/>
          </a:prstGeom>
          <a:solidFill>
            <a:schemeClr val="accent5"/>
          </a:solidFill>
          <a:ln w="25400">
            <a:solidFill>
              <a:schemeClr val="bg1"/>
            </a:solidFill>
            <a:prstDash val="solid"/>
          </a:ln>
        </p:spPr>
      </p:sp>
      <p:sp>
        <p:nvSpPr>
          <p:cNvPr id="47" name="text-115"/>
          <p:cNvSpPr txBox="1"/>
          <p:nvPr/>
        </p:nvSpPr>
        <p:spPr>
          <a:xfrm>
            <a:off x="4754880" y="493776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48" name="circle-116"/>
          <p:cNvSpPr/>
          <p:nvPr/>
        </p:nvSpPr>
        <p:spPr>
          <a:xfrm>
            <a:off x="6400800" y="1874520"/>
            <a:ext cx="731520" cy="731520"/>
          </a:xfrm>
          <a:prstGeom prst="ellipse">
            <a:avLst/>
          </a:prstGeom>
          <a:solidFill>
            <a:schemeClr val="accent5"/>
          </a:solidFill>
          <a:ln/>
        </p:spPr>
      </p:sp>
      <p:pic>
        <p:nvPicPr>
          <p:cNvPr id="49" name="icon-FaCheck-117" descr="FaCheck">    </p:cNvPr>
          <p:cNvPicPr>
            <a:picLocks noChangeAspect="1"/>
          </p:cNvPicPr>
          <p:nvPr/>
        </p:nvPicPr>
        <p:blipFill>
          <a:blip r:embed="rId5"/>
          <a:stretch>
            <a:fillRect/>
          </a:stretch>
        </p:blipFill>
        <p:spPr>
          <a:xfrm>
            <a:off x="6590995" y="2064715"/>
            <a:ext cx="351130" cy="351130"/>
          </a:xfrm>
          <a:prstGeom prst="rect">
            <a:avLst/>
          </a:prstGeom>
        </p:spPr>
      </p:pic>
      <p:sp>
        <p:nvSpPr>
          <p:cNvPr id="50" name="text-118"/>
          <p:cNvSpPr txBox="1"/>
          <p:nvPr/>
        </p:nvSpPr>
        <p:spPr>
          <a:xfrm>
            <a:off x="7360920" y="1828800"/>
            <a:ext cx="4206240" cy="457200"/>
          </a:xfrm>
          <a:prstGeom prst="rect">
            <a:avLst/>
          </a:prstGeom>
          <a:noFill/>
          <a:ln/>
        </p:spPr>
        <p:txBody>
          <a:bodyPr wrap="square" lIns="0" tIns="0" rIns="0" bIns="0" rtlCol="0" anchor="t"/>
          <a:lstStyle/>
          <a:p>
            <a:pPr indent="0" marL="0">
              <a:buNone/>
            </a:pPr>
            <a:r>
              <a:rPr lang="en-US" sz="2200" b="1" dirty="0">
                <a:solidFill>
                  <a:schemeClr val="accent5"/>
                </a:solidFill>
              </a:rPr>
              <a:t>Positive (대각선)</a:t>
            </a:r>
            <a:endParaRPr lang="en-US" sz="2200" dirty="0"/>
          </a:p>
        </p:txBody>
      </p:sp>
      <p:sp>
        <p:nvSpPr>
          <p:cNvPr id="51" name="text-119"/>
          <p:cNvSpPr txBox="1"/>
          <p:nvPr/>
        </p:nvSpPr>
        <p:spPr>
          <a:xfrm>
            <a:off x="7360920" y="2286000"/>
            <a:ext cx="4206240" cy="457200"/>
          </a:xfrm>
          <a:prstGeom prst="rect">
            <a:avLst/>
          </a:prstGeom>
          <a:noFill/>
          <a:ln/>
        </p:spPr>
        <p:txBody>
          <a:bodyPr wrap="square" lIns="0" tIns="0" rIns="0" bIns="0" rtlCol="0" anchor="t"/>
          <a:lstStyle/>
          <a:p>
            <a:pPr indent="0" marL="0">
              <a:buNone/>
            </a:pPr>
            <a:r>
              <a:rPr lang="en-US" sz="1800" dirty="0">
                <a:solidFill>
                  <a:schemeClr val="tx2"/>
                </a:solidFill>
              </a:rPr>
              <a:t>진짜 짝 → 유사도 ↑</a:t>
            </a:r>
            <a:endParaRPr lang="en-US" sz="1800" dirty="0"/>
          </a:p>
        </p:txBody>
      </p:sp>
      <p:sp>
        <p:nvSpPr>
          <p:cNvPr id="52" name="circle-120"/>
          <p:cNvSpPr/>
          <p:nvPr/>
        </p:nvSpPr>
        <p:spPr>
          <a:xfrm>
            <a:off x="6400800" y="3154680"/>
            <a:ext cx="731520" cy="731520"/>
          </a:xfrm>
          <a:prstGeom prst="ellipse">
            <a:avLst/>
          </a:prstGeom>
          <a:solidFill>
            <a:schemeClr val="accent4"/>
          </a:solidFill>
          <a:ln/>
        </p:spPr>
      </p:sp>
      <p:pic>
        <p:nvPicPr>
          <p:cNvPr id="53" name="icon-FaTimes-121" descr="FaTimes">    </p:cNvPr>
          <p:cNvPicPr>
            <a:picLocks noChangeAspect="1"/>
          </p:cNvPicPr>
          <p:nvPr/>
        </p:nvPicPr>
        <p:blipFill>
          <a:blip r:embed="rId6"/>
          <a:stretch>
            <a:fillRect/>
          </a:stretch>
        </p:blipFill>
        <p:spPr>
          <a:xfrm>
            <a:off x="6590995" y="3344875"/>
            <a:ext cx="351130" cy="351130"/>
          </a:xfrm>
          <a:prstGeom prst="rect">
            <a:avLst/>
          </a:prstGeom>
        </p:spPr>
      </p:pic>
      <p:sp>
        <p:nvSpPr>
          <p:cNvPr id="54" name="text-122"/>
          <p:cNvSpPr txBox="1"/>
          <p:nvPr/>
        </p:nvSpPr>
        <p:spPr>
          <a:xfrm>
            <a:off x="7360920" y="3108960"/>
            <a:ext cx="4206240" cy="457200"/>
          </a:xfrm>
          <a:prstGeom prst="rect">
            <a:avLst/>
          </a:prstGeom>
          <a:noFill/>
          <a:ln/>
        </p:spPr>
        <p:txBody>
          <a:bodyPr wrap="square" lIns="0" tIns="0" rIns="0" bIns="0" rtlCol="0" anchor="t"/>
          <a:lstStyle/>
          <a:p>
            <a:pPr indent="0" marL="0">
              <a:buNone/>
            </a:pPr>
            <a:r>
              <a:rPr lang="en-US" sz="2200" b="1" dirty="0">
                <a:solidFill>
                  <a:schemeClr val="accent4"/>
                </a:solidFill>
              </a:rPr>
              <a:t>Negative (나머지)</a:t>
            </a:r>
            <a:endParaRPr lang="en-US" sz="2200" dirty="0"/>
          </a:p>
        </p:txBody>
      </p:sp>
      <p:sp>
        <p:nvSpPr>
          <p:cNvPr id="55" name="text-123"/>
          <p:cNvSpPr txBox="1"/>
          <p:nvPr/>
        </p:nvSpPr>
        <p:spPr>
          <a:xfrm>
            <a:off x="7360920" y="3566160"/>
            <a:ext cx="4206240" cy="457200"/>
          </a:xfrm>
          <a:prstGeom prst="rect">
            <a:avLst/>
          </a:prstGeom>
          <a:noFill/>
          <a:ln/>
        </p:spPr>
        <p:txBody>
          <a:bodyPr wrap="square" lIns="0" tIns="0" rIns="0" bIns="0" rtlCol="0" anchor="t"/>
          <a:lstStyle/>
          <a:p>
            <a:pPr indent="0" marL="0">
              <a:buNone/>
            </a:pPr>
            <a:r>
              <a:rPr lang="en-US" sz="1800" dirty="0">
                <a:solidFill>
                  <a:schemeClr val="tx2"/>
                </a:solidFill>
              </a:rPr>
              <a:t>가짜 짝 → 유사도 ↓</a:t>
            </a:r>
            <a:endParaRPr lang="en-US" sz="1800" dirty="0"/>
          </a:p>
        </p:txBody>
      </p:sp>
      <p:sp>
        <p:nvSpPr>
          <p:cNvPr id="56" name="card-124"/>
          <p:cNvSpPr/>
          <p:nvPr/>
        </p:nvSpPr>
        <p:spPr>
          <a:xfrm>
            <a:off x="6400800" y="4434840"/>
            <a:ext cx="5120640" cy="1371600"/>
          </a:xfrm>
          <a:prstGeom prst="roundRect">
            <a:avLst>
              <a:gd name="adj" fmla="val 9333"/>
            </a:avLst>
          </a:prstGeom>
          <a:solidFill>
            <a:schemeClr val="bg2"/>
          </a:solidFill>
          <a:ln/>
        </p:spPr>
      </p:sp>
      <p:sp>
        <p:nvSpPr>
          <p:cNvPr id="57" name="text-125"/>
          <p:cNvSpPr txBox="1"/>
          <p:nvPr/>
        </p:nvSpPr>
        <p:spPr>
          <a:xfrm>
            <a:off x="6675120" y="4434840"/>
            <a:ext cx="4663440" cy="1371600"/>
          </a:xfrm>
          <a:prstGeom prst="rect">
            <a:avLst/>
          </a:prstGeom>
          <a:noFill/>
          <a:ln/>
        </p:spPr>
        <p:txBody>
          <a:bodyPr wrap="square" lIns="0" tIns="0" rIns="0" bIns="0" rtlCol="0" anchor="ctr"/>
          <a:lstStyle/>
          <a:p>
            <a:pPr indent="0" marL="0">
              <a:buNone/>
            </a:pPr>
            <a:r>
              <a:rPr lang="en-US" sz="1600" dirty="0">
                <a:solidFill>
                  <a:schemeClr val="tx2"/>
                </a:solidFill>
              </a:rPr>
              <a:t>배치 크기 B일 때</a:t>
            </a:r>
            <a:endParaRPr lang="en-US" sz="2000" dirty="0"/>
          </a:p>
          <a:p>
            <a:pPr indent="0" marL="0">
              <a:buNone/>
            </a:pPr>
            <a:r>
              <a:rPr lang="en-US" sz="2200" b="1" dirty="0">
                <a:solidFill>
                  <a:schemeClr val="tx1"/>
                </a:solidFill>
              </a:rPr>
              <a:t>짝 B개  vs  가짜 짝 B² − B개</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CLIP의 방식 = 객관식 문제 (Softmax)</a:t>
            </a:r>
            <a:endParaRPr lang="en-US" sz="3000" dirty="0"/>
          </a:p>
        </p:txBody>
      </p:sp>
      <p:pic>
        <p:nvPicPr>
          <p:cNvPr id="3" name="photo-cat-126" descr="고양이 사진">    </p:cNvPr>
          <p:cNvPicPr>
            <a:picLocks noChangeAspect="1"/>
          </p:cNvPicPr>
          <p:nvPr/>
        </p:nvPicPr>
        <p:blipFill>
          <a:blip r:embed="rId1"/>
          <a:stretch>
            <a:fillRect/>
          </a:stretch>
        </p:blipFill>
        <p:spPr>
          <a:xfrm>
            <a:off x="822960" y="1645920"/>
            <a:ext cx="2377440" cy="2377440"/>
          </a:xfrm>
          <a:prstGeom prst="ellipse">
            <a:avLst/>
          </a:prstGeom>
        </p:spPr>
      </p:pic>
      <p:sp>
        <p:nvSpPr>
          <p:cNvPr id="4" name="text-127"/>
          <p:cNvSpPr txBox="1"/>
          <p:nvPr/>
        </p:nvSpPr>
        <p:spPr>
          <a:xfrm>
            <a:off x="640080" y="420624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이 사진의 캡션은?</a:t>
            </a:r>
            <a:endParaRPr lang="en-US" sz="2000" dirty="0"/>
          </a:p>
        </p:txBody>
      </p:sp>
      <p:sp>
        <p:nvSpPr>
          <p:cNvPr id="5" name="text-128"/>
          <p:cNvSpPr txBox="1"/>
          <p:nvPr/>
        </p:nvSpPr>
        <p:spPr>
          <a:xfrm>
            <a:off x="3840480" y="1554480"/>
            <a:ext cx="2926080" cy="548640"/>
          </a:xfrm>
          <a:prstGeom prst="rect">
            <a:avLst/>
          </a:prstGeom>
          <a:noFill/>
          <a:ln/>
        </p:spPr>
        <p:txBody>
          <a:bodyPr wrap="square" lIns="0" tIns="0" rIns="0" bIns="0" rtlCol="0" anchor="ctr"/>
          <a:lstStyle/>
          <a:p>
            <a:pPr indent="0" marL="0">
              <a:buNone/>
            </a:pPr>
            <a:r>
              <a:rPr lang="en-US" sz="1800" b="1" dirty="0">
                <a:solidFill>
                  <a:schemeClr val="tx1"/>
                </a:solidFill>
              </a:rPr>
              <a:t>① a photo of a cat</a:t>
            </a:r>
            <a:endParaRPr lang="en-US" sz="1800" dirty="0"/>
          </a:p>
        </p:txBody>
      </p:sp>
      <p:sp>
        <p:nvSpPr>
          <p:cNvPr id="6" name="bar-bg-129"/>
          <p:cNvSpPr/>
          <p:nvPr/>
        </p:nvSpPr>
        <p:spPr>
          <a:xfrm>
            <a:off x="6858000" y="1664208"/>
            <a:ext cx="3657600" cy="329184"/>
          </a:xfrm>
          <a:prstGeom prst="rect">
            <a:avLst/>
          </a:prstGeom>
          <a:solidFill>
            <a:schemeClr val="bg2"/>
          </a:solidFill>
          <a:ln/>
        </p:spPr>
      </p:sp>
      <p:sp>
        <p:nvSpPr>
          <p:cNvPr id="7" name="bar-130"/>
          <p:cNvSpPr/>
          <p:nvPr/>
        </p:nvSpPr>
        <p:spPr>
          <a:xfrm>
            <a:off x="6858000" y="1664208"/>
            <a:ext cx="3108960" cy="329184"/>
          </a:xfrm>
          <a:prstGeom prst="rect">
            <a:avLst/>
          </a:prstGeom>
          <a:solidFill>
            <a:schemeClr val="accent3"/>
          </a:solidFill>
          <a:ln/>
        </p:spPr>
      </p:sp>
      <p:sp>
        <p:nvSpPr>
          <p:cNvPr id="8" name="text-131"/>
          <p:cNvSpPr txBox="1"/>
          <p:nvPr/>
        </p:nvSpPr>
        <p:spPr>
          <a:xfrm>
            <a:off x="10652760" y="1554480"/>
            <a:ext cx="822960" cy="548640"/>
          </a:xfrm>
          <a:prstGeom prst="rect">
            <a:avLst/>
          </a:prstGeom>
          <a:noFill/>
          <a:ln/>
        </p:spPr>
        <p:txBody>
          <a:bodyPr wrap="square" lIns="0" tIns="0" rIns="0" bIns="0" rtlCol="0" anchor="ctr"/>
          <a:lstStyle/>
          <a:p>
            <a:pPr indent="0" marL="0">
              <a:buNone/>
            </a:pPr>
            <a:r>
              <a:rPr lang="en-US" sz="1800" b="1" dirty="0">
                <a:solidFill>
                  <a:schemeClr val="accent3"/>
                </a:solidFill>
              </a:rPr>
              <a:t>0.85</a:t>
            </a:r>
            <a:endParaRPr lang="en-US" sz="1800" dirty="0"/>
          </a:p>
        </p:txBody>
      </p:sp>
      <p:sp>
        <p:nvSpPr>
          <p:cNvPr id="9" name="text-132"/>
          <p:cNvSpPr txBox="1"/>
          <p:nvPr/>
        </p:nvSpPr>
        <p:spPr>
          <a:xfrm>
            <a:off x="3840480" y="233172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② a cup of coffee</a:t>
            </a:r>
            <a:endParaRPr lang="en-US" sz="1800" dirty="0"/>
          </a:p>
        </p:txBody>
      </p:sp>
      <p:sp>
        <p:nvSpPr>
          <p:cNvPr id="10" name="bar-bg-133"/>
          <p:cNvSpPr/>
          <p:nvPr/>
        </p:nvSpPr>
        <p:spPr>
          <a:xfrm>
            <a:off x="6858000" y="2441448"/>
            <a:ext cx="3657600" cy="329184"/>
          </a:xfrm>
          <a:prstGeom prst="rect">
            <a:avLst/>
          </a:prstGeom>
          <a:solidFill>
            <a:schemeClr val="bg2"/>
          </a:solidFill>
          <a:ln/>
        </p:spPr>
      </p:sp>
      <p:sp>
        <p:nvSpPr>
          <p:cNvPr id="11" name="bar-134"/>
          <p:cNvSpPr/>
          <p:nvPr/>
        </p:nvSpPr>
        <p:spPr>
          <a:xfrm>
            <a:off x="6858000" y="2441448"/>
            <a:ext cx="292608" cy="329184"/>
          </a:xfrm>
          <a:prstGeom prst="rect">
            <a:avLst/>
          </a:prstGeom>
          <a:solidFill>
            <a:schemeClr val="accent6"/>
          </a:solidFill>
          <a:ln/>
        </p:spPr>
      </p:sp>
      <p:sp>
        <p:nvSpPr>
          <p:cNvPr id="12" name="text-135"/>
          <p:cNvSpPr txBox="1"/>
          <p:nvPr/>
        </p:nvSpPr>
        <p:spPr>
          <a:xfrm>
            <a:off x="10652760" y="23317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0.08</a:t>
            </a:r>
            <a:endParaRPr lang="en-US" sz="1800" dirty="0"/>
          </a:p>
        </p:txBody>
      </p:sp>
      <p:sp>
        <p:nvSpPr>
          <p:cNvPr id="13" name="text-136"/>
          <p:cNvSpPr txBox="1"/>
          <p:nvPr/>
        </p:nvSpPr>
        <p:spPr>
          <a:xfrm>
            <a:off x="3840480" y="310896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③ a rocket at night</a:t>
            </a:r>
            <a:endParaRPr lang="en-US" sz="1800" dirty="0"/>
          </a:p>
        </p:txBody>
      </p:sp>
      <p:sp>
        <p:nvSpPr>
          <p:cNvPr id="14" name="bar-bg-137"/>
          <p:cNvSpPr/>
          <p:nvPr/>
        </p:nvSpPr>
        <p:spPr>
          <a:xfrm>
            <a:off x="6858000" y="3218688"/>
            <a:ext cx="3657600" cy="329184"/>
          </a:xfrm>
          <a:prstGeom prst="rect">
            <a:avLst/>
          </a:prstGeom>
          <a:solidFill>
            <a:schemeClr val="bg2"/>
          </a:solidFill>
          <a:ln/>
        </p:spPr>
      </p:sp>
      <p:sp>
        <p:nvSpPr>
          <p:cNvPr id="15" name="bar-138"/>
          <p:cNvSpPr/>
          <p:nvPr/>
        </p:nvSpPr>
        <p:spPr>
          <a:xfrm>
            <a:off x="6858000" y="3218688"/>
            <a:ext cx="146304" cy="329184"/>
          </a:xfrm>
          <a:prstGeom prst="rect">
            <a:avLst/>
          </a:prstGeom>
          <a:solidFill>
            <a:schemeClr val="accent6"/>
          </a:solidFill>
          <a:ln/>
        </p:spPr>
      </p:sp>
      <p:sp>
        <p:nvSpPr>
          <p:cNvPr id="16" name="text-139"/>
          <p:cNvSpPr txBox="1"/>
          <p:nvPr/>
        </p:nvSpPr>
        <p:spPr>
          <a:xfrm>
            <a:off x="10652760" y="310896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0.04</a:t>
            </a:r>
            <a:endParaRPr lang="en-US" sz="1800" dirty="0"/>
          </a:p>
        </p:txBody>
      </p:sp>
      <p:sp>
        <p:nvSpPr>
          <p:cNvPr id="17" name="text-140"/>
          <p:cNvSpPr txBox="1"/>
          <p:nvPr/>
        </p:nvSpPr>
        <p:spPr>
          <a:xfrm>
            <a:off x="3840480" y="388620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④ an astronaut</a:t>
            </a:r>
            <a:endParaRPr lang="en-US" sz="1800" dirty="0"/>
          </a:p>
        </p:txBody>
      </p:sp>
      <p:sp>
        <p:nvSpPr>
          <p:cNvPr id="18" name="bar-bg-141"/>
          <p:cNvSpPr/>
          <p:nvPr/>
        </p:nvSpPr>
        <p:spPr>
          <a:xfrm>
            <a:off x="6858000" y="3995928"/>
            <a:ext cx="3657600" cy="329184"/>
          </a:xfrm>
          <a:prstGeom prst="rect">
            <a:avLst/>
          </a:prstGeom>
          <a:solidFill>
            <a:schemeClr val="bg2"/>
          </a:solidFill>
          <a:ln/>
        </p:spPr>
      </p:sp>
      <p:sp>
        <p:nvSpPr>
          <p:cNvPr id="19" name="bar-142"/>
          <p:cNvSpPr/>
          <p:nvPr/>
        </p:nvSpPr>
        <p:spPr>
          <a:xfrm>
            <a:off x="6858000" y="3995928"/>
            <a:ext cx="109728" cy="329184"/>
          </a:xfrm>
          <a:prstGeom prst="rect">
            <a:avLst/>
          </a:prstGeom>
          <a:solidFill>
            <a:schemeClr val="accent6"/>
          </a:solidFill>
          <a:ln/>
        </p:spPr>
      </p:sp>
      <p:sp>
        <p:nvSpPr>
          <p:cNvPr id="20" name="text-143"/>
          <p:cNvSpPr txBox="1"/>
          <p:nvPr/>
        </p:nvSpPr>
        <p:spPr>
          <a:xfrm>
            <a:off x="10652760" y="38862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21" name="text-144"/>
          <p:cNvSpPr txBox="1"/>
          <p:nvPr/>
        </p:nvSpPr>
        <p:spPr>
          <a:xfrm>
            <a:off x="8778240" y="4709160"/>
            <a:ext cx="2697480" cy="457200"/>
          </a:xfrm>
          <a:prstGeom prst="rect">
            <a:avLst/>
          </a:prstGeom>
          <a:noFill/>
          <a:ln/>
        </p:spPr>
        <p:txBody>
          <a:bodyPr wrap="square" lIns="0" tIns="0" rIns="0" bIns="0" rtlCol="0" anchor="t"/>
          <a:lstStyle/>
          <a:p>
            <a:pPr algn="r" indent="0" marL="0">
              <a:buNone/>
            </a:pPr>
            <a:r>
              <a:rPr lang="en-US" sz="2000" b="1" dirty="0">
                <a:solidFill>
                  <a:schemeClr val="accent3"/>
                </a:solidFill>
              </a:rPr>
              <a:t>합계 = 1.00</a:t>
            </a:r>
            <a:endParaRPr lang="en-US" sz="2000" dirty="0"/>
          </a:p>
        </p:txBody>
      </p:sp>
      <p:sp>
        <p:nvSpPr>
          <p:cNvPr id="22" name="card-145"/>
          <p:cNvSpPr/>
          <p:nvPr/>
        </p:nvSpPr>
        <p:spPr>
          <a:xfrm>
            <a:off x="3840480" y="5349240"/>
            <a:ext cx="7680960" cy="731520"/>
          </a:xfrm>
          <a:prstGeom prst="roundRect">
            <a:avLst>
              <a:gd name="adj" fmla="val 17500"/>
            </a:avLst>
          </a:prstGeom>
          <a:solidFill>
            <a:schemeClr val="bg2"/>
          </a:solidFill>
          <a:ln/>
        </p:spPr>
      </p:sp>
      <p:sp>
        <p:nvSpPr>
          <p:cNvPr id="23" name="text-146"/>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700" dirty="0">
                <a:solidFill>
                  <a:schemeClr val="tx1"/>
                </a:solidFill>
              </a:rPr>
              <a:t>보기 B개 중 정답 1개 고르기 → 확률을 서로 나눠 가짐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객관식 방식의 약점</a:t>
            </a:r>
            <a:endParaRPr lang="en-US" sz="3000" dirty="0"/>
          </a:p>
        </p:txBody>
      </p:sp>
      <p:sp>
        <p:nvSpPr>
          <p:cNvPr id="3" name="card-147"/>
          <p:cNvSpPr/>
          <p:nvPr/>
        </p:nvSpPr>
        <p:spPr>
          <a:xfrm>
            <a:off x="640080" y="1325880"/>
            <a:ext cx="10881360" cy="1143000"/>
          </a:xfrm>
          <a:prstGeom prst="roundRect">
            <a:avLst>
              <a:gd name="adj" fmla="val 11200"/>
            </a:avLst>
          </a:prstGeom>
          <a:solidFill>
            <a:schemeClr val="tx1"/>
          </a:solidFill>
          <a:ln/>
        </p:spPr>
      </p:sp>
      <p:sp>
        <p:nvSpPr>
          <p:cNvPr id="4" name="text-148"/>
          <p:cNvSpPr txBox="1"/>
          <p:nvPr/>
        </p:nvSpPr>
        <p:spPr>
          <a:xfrm>
            <a:off x="914400" y="1325880"/>
            <a:ext cx="10424160" cy="1143000"/>
          </a:xfrm>
          <a:prstGeom prst="rect">
            <a:avLst/>
          </a:prstGeom>
          <a:noFill/>
          <a:ln/>
        </p:spPr>
        <p:txBody>
          <a:bodyPr wrap="square" lIns="0" tIns="0" rIns="0" bIns="0" rtlCol="0" anchor="ctr"/>
          <a:lstStyle/>
          <a:p>
            <a:pPr indent="0" marL="0">
              <a:buNone/>
            </a:pPr>
            <a:r>
              <a:rPr lang="en-US" sz="2400" dirty="0">
                <a:solidFill>
                  <a:schemeClr val="bg1"/>
                </a:solidFill>
              </a:rPr>
              <a:t>손실 = − log ( 정답 점수 ÷ </a:t>
            </a:r>
            <a:r>
              <a:rPr lang="en-US" sz="2400" b="1" dirty="0">
                <a:solidFill>
                  <a:srgbClr val="FBBF24"/>
                </a:solidFill>
              </a:rPr>
              <a:t>배치 전체 점수의 합</a:t>
            </a:r>
            <a:r>
              <a:rPr lang="en-US" sz="2400" dirty="0">
                <a:solidFill>
                  <a:schemeClr val="bg1"/>
                </a:solidFill>
              </a:rPr>
              <a:t> )</a:t>
            </a:r>
            <a:r>
              <a:rPr lang="en-US" sz="1800" dirty="0">
                <a:solidFill>
                  <a:schemeClr val="accent6"/>
                </a:solidFill>
              </a:rPr>
              <a:t>     ← 분모에 배치 전체가 필요</a:t>
            </a:r>
            <a:endParaRPr lang="en-US" sz="2400" dirty="0"/>
          </a:p>
        </p:txBody>
      </p:sp>
      <p:sp>
        <p:nvSpPr>
          <p:cNvPr id="5" name="card-149"/>
          <p:cNvSpPr/>
          <p:nvPr/>
        </p:nvSpPr>
        <p:spPr>
          <a:xfrm>
            <a:off x="640080" y="2788920"/>
            <a:ext cx="3474720" cy="3108960"/>
          </a:xfrm>
          <a:prstGeom prst="roundRect">
            <a:avLst>
              <a:gd name="adj" fmla="val 4118"/>
            </a:avLst>
          </a:prstGeom>
          <a:solidFill>
            <a:schemeClr val="accent4">
              <a:alpha val="7000"/>
            </a:schemeClr>
          </a:solidFill>
          <a:ln/>
        </p:spPr>
      </p:sp>
      <p:sp>
        <p:nvSpPr>
          <p:cNvPr id="6" name="circle-150"/>
          <p:cNvSpPr/>
          <p:nvPr/>
        </p:nvSpPr>
        <p:spPr>
          <a:xfrm>
            <a:off x="960120" y="3063240"/>
            <a:ext cx="868680" cy="868680"/>
          </a:xfrm>
          <a:prstGeom prst="ellipse">
            <a:avLst/>
          </a:prstGeom>
          <a:solidFill>
            <a:schemeClr val="accent4"/>
          </a:solidFill>
          <a:ln/>
        </p:spPr>
      </p:sp>
      <p:pic>
        <p:nvPicPr>
          <p:cNvPr id="7" name="icon-FaNetworkWired-151" descr="FaNetworkWired">    </p:cNvPr>
          <p:cNvPicPr>
            <a:picLocks noChangeAspect="1"/>
          </p:cNvPicPr>
          <p:nvPr/>
        </p:nvPicPr>
        <p:blipFill>
          <a:blip r:embed="rId1"/>
          <a:stretch>
            <a:fillRect/>
          </a:stretch>
        </p:blipFill>
        <p:spPr>
          <a:xfrm>
            <a:off x="1185977" y="3289097"/>
            <a:ext cx="416966" cy="416966"/>
          </a:xfrm>
          <a:prstGeom prst="rect">
            <a:avLst/>
          </a:prstGeom>
        </p:spPr>
      </p:pic>
      <p:sp>
        <p:nvSpPr>
          <p:cNvPr id="8" name="text-152"/>
          <p:cNvSpPr txBox="1"/>
          <p:nvPr/>
        </p:nvSpPr>
        <p:spPr>
          <a:xfrm>
            <a:off x="96012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전부 모아야 함</a:t>
            </a:r>
            <a:endParaRPr lang="en-US" sz="2200" dirty="0"/>
          </a:p>
        </p:txBody>
      </p:sp>
      <p:sp>
        <p:nvSpPr>
          <p:cNvPr id="9" name="text-153"/>
          <p:cNvSpPr txBox="1"/>
          <p:nvPr/>
        </p:nvSpPr>
        <p:spPr>
          <a:xfrm>
            <a:off x="96012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여러 GPU에 흩어진 임베딩을 한곳에 모아 B×B 표 전체 계산</a:t>
            </a:r>
            <a:endParaRPr lang="en-US" sz="1700" dirty="0"/>
          </a:p>
        </p:txBody>
      </p:sp>
      <p:sp>
        <p:nvSpPr>
          <p:cNvPr id="10" name="card-154"/>
          <p:cNvSpPr/>
          <p:nvPr/>
        </p:nvSpPr>
        <p:spPr>
          <a:xfrm>
            <a:off x="4343400" y="2788920"/>
            <a:ext cx="3474720" cy="3108960"/>
          </a:xfrm>
          <a:prstGeom prst="roundRect">
            <a:avLst>
              <a:gd name="adj" fmla="val 4118"/>
            </a:avLst>
          </a:prstGeom>
          <a:solidFill>
            <a:schemeClr val="accent4">
              <a:alpha val="7000"/>
            </a:schemeClr>
          </a:solidFill>
          <a:ln/>
        </p:spPr>
      </p:sp>
      <p:sp>
        <p:nvSpPr>
          <p:cNvPr id="11" name="circle-155"/>
          <p:cNvSpPr/>
          <p:nvPr/>
        </p:nvSpPr>
        <p:spPr>
          <a:xfrm>
            <a:off x="4663440" y="3063240"/>
            <a:ext cx="868680" cy="868680"/>
          </a:xfrm>
          <a:prstGeom prst="ellipse">
            <a:avLst/>
          </a:prstGeom>
          <a:solidFill>
            <a:schemeClr val="accent4"/>
          </a:solidFill>
          <a:ln/>
        </p:spPr>
      </p:sp>
      <p:pic>
        <p:nvPicPr>
          <p:cNvPr id="12" name="icon-FaExpandArrowsAlt-156" descr="FaExpandArrowsAlt">    </p:cNvPr>
          <p:cNvPicPr>
            <a:picLocks noChangeAspect="1"/>
          </p:cNvPicPr>
          <p:nvPr/>
        </p:nvPicPr>
        <p:blipFill>
          <a:blip r:embed="rId2"/>
          <a:stretch>
            <a:fillRect/>
          </a:stretch>
        </p:blipFill>
        <p:spPr>
          <a:xfrm>
            <a:off x="4889297" y="3289097"/>
            <a:ext cx="416966" cy="416966"/>
          </a:xfrm>
          <a:prstGeom prst="rect">
            <a:avLst/>
          </a:prstGeom>
        </p:spPr>
      </p:pic>
      <p:sp>
        <p:nvSpPr>
          <p:cNvPr id="13" name="text-157"/>
          <p:cNvSpPr txBox="1"/>
          <p:nvPr/>
        </p:nvSpPr>
        <p:spPr>
          <a:xfrm>
            <a:off x="466344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큰 배치가 필요</a:t>
            </a:r>
            <a:endParaRPr lang="en-US" sz="2200" dirty="0"/>
          </a:p>
        </p:txBody>
      </p:sp>
      <p:sp>
        <p:nvSpPr>
          <p:cNvPr id="14" name="text-158"/>
          <p:cNvSpPr txBox="1"/>
          <p:nvPr/>
        </p:nvSpPr>
        <p:spPr>
          <a:xfrm>
            <a:off x="466344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보기가 많아야 잘 배움 (CLIP은 32k)</a:t>
            </a:r>
            <a:endParaRPr lang="en-US" sz="1700" dirty="0"/>
          </a:p>
        </p:txBody>
      </p:sp>
      <p:sp>
        <p:nvSpPr>
          <p:cNvPr id="15" name="card-159"/>
          <p:cNvSpPr/>
          <p:nvPr/>
        </p:nvSpPr>
        <p:spPr>
          <a:xfrm>
            <a:off x="8046720" y="2788920"/>
            <a:ext cx="3474720" cy="3108960"/>
          </a:xfrm>
          <a:prstGeom prst="roundRect">
            <a:avLst>
              <a:gd name="adj" fmla="val 4118"/>
            </a:avLst>
          </a:prstGeom>
          <a:solidFill>
            <a:schemeClr val="accent4">
              <a:alpha val="7000"/>
            </a:schemeClr>
          </a:solidFill>
          <a:ln/>
        </p:spPr>
      </p:sp>
      <p:sp>
        <p:nvSpPr>
          <p:cNvPr id="16" name="circle-160"/>
          <p:cNvSpPr/>
          <p:nvPr/>
        </p:nvSpPr>
        <p:spPr>
          <a:xfrm>
            <a:off x="8366760" y="3063240"/>
            <a:ext cx="868680" cy="868680"/>
          </a:xfrm>
          <a:prstGeom prst="ellipse">
            <a:avLst/>
          </a:prstGeom>
          <a:solidFill>
            <a:schemeClr val="accent4"/>
          </a:solidFill>
          <a:ln/>
        </p:spPr>
      </p:sp>
      <p:pic>
        <p:nvPicPr>
          <p:cNvPr id="17" name="icon-FaCalculator-161" descr="FaCalculator">    </p:cNvPr>
          <p:cNvPicPr>
            <a:picLocks noChangeAspect="1"/>
          </p:cNvPicPr>
          <p:nvPr/>
        </p:nvPicPr>
        <p:blipFill>
          <a:blip r:embed="rId3"/>
          <a:stretch>
            <a:fillRect/>
          </a:stretch>
        </p:blipFill>
        <p:spPr>
          <a:xfrm>
            <a:off x="8592617" y="3289097"/>
            <a:ext cx="416966" cy="416966"/>
          </a:xfrm>
          <a:prstGeom prst="rect">
            <a:avLst/>
          </a:prstGeom>
        </p:spPr>
      </p:pic>
      <p:sp>
        <p:nvSpPr>
          <p:cNvPr id="18" name="text-162"/>
          <p:cNvSpPr txBox="1"/>
          <p:nvPr/>
        </p:nvSpPr>
        <p:spPr>
          <a:xfrm>
            <a:off x="836676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계산이 무거움</a:t>
            </a:r>
            <a:endParaRPr lang="en-US" sz="2200" dirty="0"/>
          </a:p>
        </p:txBody>
      </p:sp>
      <p:sp>
        <p:nvSpPr>
          <p:cNvPr id="19" name="text-163"/>
          <p:cNvSpPr txBox="1"/>
          <p:nvPr/>
        </p:nvSpPr>
        <p:spPr>
          <a:xfrm>
            <a:off x="836676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메모리·통신 부담, 수치 안정화 처리도 추가</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 O/X 퀴즈: 쌍마다 따로 판정 (Sigmoid)</a:t>
            </a:r>
            <a:endParaRPr lang="en-US" sz="3000" dirty="0"/>
          </a:p>
        </p:txBody>
      </p:sp>
      <p:sp>
        <p:nvSpPr>
          <p:cNvPr id="3" name="text-164"/>
          <p:cNvSpPr txBox="1"/>
          <p:nvPr/>
        </p:nvSpPr>
        <p:spPr>
          <a:xfrm>
            <a:off x="640080" y="1188720"/>
            <a:ext cx="10881360" cy="365760"/>
          </a:xfrm>
          <a:prstGeom prst="rect">
            <a:avLst/>
          </a:prstGeom>
          <a:noFill/>
          <a:ln/>
        </p:spPr>
        <p:txBody>
          <a:bodyPr wrap="square" lIns="0" tIns="0" rIns="0" bIns="0" rtlCol="0" anchor="t"/>
          <a:lstStyle/>
          <a:p>
            <a:pPr indent="0" marL="0">
              <a:buNone/>
            </a:pPr>
            <a:r>
              <a:rPr lang="en-US" sz="1400" i="1" dirty="0">
                <a:solidFill>
                  <a:schemeClr val="tx2"/>
                </a:solidFill>
              </a:rPr>
              <a:t>Sigmoid Loss for Language Image Pre-Training · Zhai et al. · Google DeepMind · ICCV 2023</a:t>
            </a:r>
            <a:endParaRPr lang="en-US" sz="1400" dirty="0"/>
          </a:p>
        </p:txBody>
      </p:sp>
      <p:pic>
        <p:nvPicPr>
          <p:cNvPr id="4" name="photo-cat-165" descr="고양이 사진">    </p:cNvPr>
          <p:cNvPicPr>
            <a:picLocks noChangeAspect="1"/>
          </p:cNvPicPr>
          <p:nvPr/>
        </p:nvPicPr>
        <p:blipFill>
          <a:blip r:embed="rId1"/>
          <a:stretch>
            <a:fillRect/>
          </a:stretch>
        </p:blipFill>
        <p:spPr>
          <a:xfrm>
            <a:off x="822960" y="1828800"/>
            <a:ext cx="2377440" cy="2377440"/>
          </a:xfrm>
          <a:prstGeom prst="ellipse">
            <a:avLst/>
          </a:prstGeom>
        </p:spPr>
      </p:pic>
      <p:sp>
        <p:nvSpPr>
          <p:cNvPr id="5" name="text-166"/>
          <p:cNvSpPr txBox="1"/>
          <p:nvPr/>
        </p:nvSpPr>
        <p:spPr>
          <a:xfrm>
            <a:off x="640080" y="434340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각 캡션과 짝인가?</a:t>
            </a:r>
            <a:endParaRPr lang="en-US" sz="2000" dirty="0"/>
          </a:p>
        </p:txBody>
      </p:sp>
      <p:sp>
        <p:nvSpPr>
          <p:cNvPr id="6" name="circle-167"/>
          <p:cNvSpPr/>
          <p:nvPr/>
        </p:nvSpPr>
        <p:spPr>
          <a:xfrm>
            <a:off x="3840480" y="1828800"/>
            <a:ext cx="457200" cy="457200"/>
          </a:xfrm>
          <a:prstGeom prst="ellipse">
            <a:avLst/>
          </a:prstGeom>
          <a:solidFill>
            <a:schemeClr val="accent5"/>
          </a:solidFill>
          <a:ln/>
        </p:spPr>
      </p:sp>
      <p:pic>
        <p:nvPicPr>
          <p:cNvPr id="7" name="icon-FaCheck-168" descr="FaCheck">    </p:cNvPr>
          <p:cNvPicPr>
            <a:picLocks noChangeAspect="1"/>
          </p:cNvPicPr>
          <p:nvPr/>
        </p:nvPicPr>
        <p:blipFill>
          <a:blip r:embed="rId2"/>
          <a:stretch>
            <a:fillRect/>
          </a:stretch>
        </p:blipFill>
        <p:spPr>
          <a:xfrm>
            <a:off x="3959352" y="1947672"/>
            <a:ext cx="219456" cy="219456"/>
          </a:xfrm>
          <a:prstGeom prst="rect">
            <a:avLst/>
          </a:prstGeom>
        </p:spPr>
      </p:pic>
      <p:sp>
        <p:nvSpPr>
          <p:cNvPr id="8" name="text-169"/>
          <p:cNvSpPr txBox="1"/>
          <p:nvPr/>
        </p:nvSpPr>
        <p:spPr>
          <a:xfrm>
            <a:off x="4434840" y="1783080"/>
            <a:ext cx="2377440" cy="548640"/>
          </a:xfrm>
          <a:prstGeom prst="rect">
            <a:avLst/>
          </a:prstGeom>
          <a:noFill/>
          <a:ln/>
        </p:spPr>
        <p:txBody>
          <a:bodyPr wrap="square" lIns="0" tIns="0" rIns="0" bIns="0" rtlCol="0" anchor="ctr"/>
          <a:lstStyle/>
          <a:p>
            <a:pPr indent="0" marL="0">
              <a:buNone/>
            </a:pPr>
            <a:r>
              <a:rPr lang="en-US" sz="1800" b="1" dirty="0">
                <a:solidFill>
                  <a:schemeClr val="tx1"/>
                </a:solidFill>
              </a:rPr>
              <a:t>a photo of a cat</a:t>
            </a:r>
            <a:endParaRPr lang="en-US" sz="1800" dirty="0"/>
          </a:p>
        </p:txBody>
      </p:sp>
      <p:sp>
        <p:nvSpPr>
          <p:cNvPr id="9" name="bar-bg-170"/>
          <p:cNvSpPr/>
          <p:nvPr/>
        </p:nvSpPr>
        <p:spPr>
          <a:xfrm>
            <a:off x="6858000" y="1892808"/>
            <a:ext cx="3657600" cy="329184"/>
          </a:xfrm>
          <a:prstGeom prst="rect">
            <a:avLst/>
          </a:prstGeom>
          <a:solidFill>
            <a:schemeClr val="bg2"/>
          </a:solidFill>
          <a:ln/>
        </p:spPr>
      </p:sp>
      <p:sp>
        <p:nvSpPr>
          <p:cNvPr id="10" name="bar-171"/>
          <p:cNvSpPr/>
          <p:nvPr/>
        </p:nvSpPr>
        <p:spPr>
          <a:xfrm>
            <a:off x="6858000" y="1892808"/>
            <a:ext cx="3547872" cy="329184"/>
          </a:xfrm>
          <a:prstGeom prst="rect">
            <a:avLst/>
          </a:prstGeom>
          <a:solidFill>
            <a:schemeClr val="accent5"/>
          </a:solidFill>
          <a:ln/>
        </p:spPr>
      </p:sp>
      <p:sp>
        <p:nvSpPr>
          <p:cNvPr id="11" name="text-172"/>
          <p:cNvSpPr txBox="1"/>
          <p:nvPr/>
        </p:nvSpPr>
        <p:spPr>
          <a:xfrm>
            <a:off x="10652760" y="1783080"/>
            <a:ext cx="822960" cy="548640"/>
          </a:xfrm>
          <a:prstGeom prst="rect">
            <a:avLst/>
          </a:prstGeom>
          <a:noFill/>
          <a:ln/>
        </p:spPr>
        <p:txBody>
          <a:bodyPr wrap="square" lIns="0" tIns="0" rIns="0" bIns="0" rtlCol="0" anchor="ctr"/>
          <a:lstStyle/>
          <a:p>
            <a:pPr indent="0" marL="0">
              <a:buNone/>
            </a:pPr>
            <a:r>
              <a:rPr lang="en-US" sz="1800" b="1" dirty="0">
                <a:solidFill>
                  <a:schemeClr val="accent5"/>
                </a:solidFill>
              </a:rPr>
              <a:t>0.97</a:t>
            </a:r>
            <a:endParaRPr lang="en-US" sz="1800" dirty="0"/>
          </a:p>
        </p:txBody>
      </p:sp>
      <p:sp>
        <p:nvSpPr>
          <p:cNvPr id="12" name="circle-173"/>
          <p:cNvSpPr/>
          <p:nvPr/>
        </p:nvSpPr>
        <p:spPr>
          <a:xfrm>
            <a:off x="3840480" y="2560320"/>
            <a:ext cx="457200" cy="457200"/>
          </a:xfrm>
          <a:prstGeom prst="ellipse">
            <a:avLst/>
          </a:prstGeom>
          <a:solidFill>
            <a:schemeClr val="accent4"/>
          </a:solidFill>
          <a:ln/>
        </p:spPr>
      </p:sp>
      <p:pic>
        <p:nvPicPr>
          <p:cNvPr id="13" name="icon-FaTimes-174" descr="FaTimes">    </p:cNvPr>
          <p:cNvPicPr>
            <a:picLocks noChangeAspect="1"/>
          </p:cNvPicPr>
          <p:nvPr/>
        </p:nvPicPr>
        <p:blipFill>
          <a:blip r:embed="rId3"/>
          <a:stretch>
            <a:fillRect/>
          </a:stretch>
        </p:blipFill>
        <p:spPr>
          <a:xfrm>
            <a:off x="3959352" y="2679192"/>
            <a:ext cx="219456" cy="219456"/>
          </a:xfrm>
          <a:prstGeom prst="rect">
            <a:avLst/>
          </a:prstGeom>
        </p:spPr>
      </p:pic>
      <p:sp>
        <p:nvSpPr>
          <p:cNvPr id="14" name="text-175"/>
          <p:cNvSpPr txBox="1"/>
          <p:nvPr/>
        </p:nvSpPr>
        <p:spPr>
          <a:xfrm>
            <a:off x="4434840" y="251460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cup of coffee</a:t>
            </a:r>
            <a:endParaRPr lang="en-US" sz="1800" dirty="0"/>
          </a:p>
        </p:txBody>
      </p:sp>
      <p:sp>
        <p:nvSpPr>
          <p:cNvPr id="15" name="bar-bg-176"/>
          <p:cNvSpPr/>
          <p:nvPr/>
        </p:nvSpPr>
        <p:spPr>
          <a:xfrm>
            <a:off x="6858000" y="2624328"/>
            <a:ext cx="3657600" cy="329184"/>
          </a:xfrm>
          <a:prstGeom prst="rect">
            <a:avLst/>
          </a:prstGeom>
          <a:solidFill>
            <a:schemeClr val="bg2"/>
          </a:solidFill>
          <a:ln/>
        </p:spPr>
      </p:sp>
      <p:sp>
        <p:nvSpPr>
          <p:cNvPr id="16" name="bar-177"/>
          <p:cNvSpPr/>
          <p:nvPr/>
        </p:nvSpPr>
        <p:spPr>
          <a:xfrm>
            <a:off x="6858000" y="2624328"/>
            <a:ext cx="73152" cy="329184"/>
          </a:xfrm>
          <a:prstGeom prst="rect">
            <a:avLst/>
          </a:prstGeom>
          <a:solidFill>
            <a:schemeClr val="accent4"/>
          </a:solidFill>
          <a:ln/>
        </p:spPr>
      </p:sp>
      <p:sp>
        <p:nvSpPr>
          <p:cNvPr id="17" name="text-178"/>
          <p:cNvSpPr txBox="1"/>
          <p:nvPr/>
        </p:nvSpPr>
        <p:spPr>
          <a:xfrm>
            <a:off x="10652760" y="25146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0.02</a:t>
            </a:r>
            <a:endParaRPr lang="en-US" sz="1800" dirty="0"/>
          </a:p>
        </p:txBody>
      </p:sp>
      <p:sp>
        <p:nvSpPr>
          <p:cNvPr id="18" name="circle-179"/>
          <p:cNvSpPr/>
          <p:nvPr/>
        </p:nvSpPr>
        <p:spPr>
          <a:xfrm>
            <a:off x="3840480" y="3291840"/>
            <a:ext cx="457200" cy="457200"/>
          </a:xfrm>
          <a:prstGeom prst="ellipse">
            <a:avLst/>
          </a:prstGeom>
          <a:solidFill>
            <a:schemeClr val="accent4"/>
          </a:solidFill>
          <a:ln/>
        </p:spPr>
      </p:sp>
      <p:pic>
        <p:nvPicPr>
          <p:cNvPr id="19" name="icon-FaTimes-180" descr="FaTimes">    </p:cNvPr>
          <p:cNvPicPr>
            <a:picLocks noChangeAspect="1"/>
          </p:cNvPicPr>
          <p:nvPr/>
        </p:nvPicPr>
        <p:blipFill>
          <a:blip r:embed="rId4"/>
          <a:stretch>
            <a:fillRect/>
          </a:stretch>
        </p:blipFill>
        <p:spPr>
          <a:xfrm>
            <a:off x="3959352" y="3410712"/>
            <a:ext cx="219456" cy="219456"/>
          </a:xfrm>
          <a:prstGeom prst="rect">
            <a:avLst/>
          </a:prstGeom>
        </p:spPr>
      </p:pic>
      <p:sp>
        <p:nvSpPr>
          <p:cNvPr id="20" name="text-181"/>
          <p:cNvSpPr txBox="1"/>
          <p:nvPr/>
        </p:nvSpPr>
        <p:spPr>
          <a:xfrm>
            <a:off x="4434840" y="324612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rocket at night</a:t>
            </a:r>
            <a:endParaRPr lang="en-US" sz="1800" dirty="0"/>
          </a:p>
        </p:txBody>
      </p:sp>
      <p:sp>
        <p:nvSpPr>
          <p:cNvPr id="21" name="bar-bg-182"/>
          <p:cNvSpPr/>
          <p:nvPr/>
        </p:nvSpPr>
        <p:spPr>
          <a:xfrm>
            <a:off x="6858000" y="3355848"/>
            <a:ext cx="3657600" cy="329184"/>
          </a:xfrm>
          <a:prstGeom prst="rect">
            <a:avLst/>
          </a:prstGeom>
          <a:solidFill>
            <a:schemeClr val="bg2"/>
          </a:solidFill>
          <a:ln/>
        </p:spPr>
      </p:sp>
      <p:sp>
        <p:nvSpPr>
          <p:cNvPr id="22" name="bar-183"/>
          <p:cNvSpPr/>
          <p:nvPr/>
        </p:nvSpPr>
        <p:spPr>
          <a:xfrm>
            <a:off x="6858000" y="3355848"/>
            <a:ext cx="36576" cy="329184"/>
          </a:xfrm>
          <a:prstGeom prst="rect">
            <a:avLst/>
          </a:prstGeom>
          <a:solidFill>
            <a:schemeClr val="accent4"/>
          </a:solidFill>
          <a:ln/>
        </p:spPr>
      </p:sp>
      <p:sp>
        <p:nvSpPr>
          <p:cNvPr id="23" name="text-184"/>
          <p:cNvSpPr txBox="1"/>
          <p:nvPr/>
        </p:nvSpPr>
        <p:spPr>
          <a:xfrm>
            <a:off x="10652760" y="32461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0.01</a:t>
            </a:r>
            <a:endParaRPr lang="en-US" sz="1800" dirty="0"/>
          </a:p>
        </p:txBody>
      </p:sp>
      <p:sp>
        <p:nvSpPr>
          <p:cNvPr id="24" name="circle-185"/>
          <p:cNvSpPr/>
          <p:nvPr/>
        </p:nvSpPr>
        <p:spPr>
          <a:xfrm>
            <a:off x="3840480" y="4023360"/>
            <a:ext cx="457200" cy="457200"/>
          </a:xfrm>
          <a:prstGeom prst="ellipse">
            <a:avLst/>
          </a:prstGeom>
          <a:solidFill>
            <a:schemeClr val="accent4"/>
          </a:solidFill>
          <a:ln/>
        </p:spPr>
      </p:sp>
      <p:pic>
        <p:nvPicPr>
          <p:cNvPr id="25" name="icon-FaTimes-186" descr="FaTimes">    </p:cNvPr>
          <p:cNvPicPr>
            <a:picLocks noChangeAspect="1"/>
          </p:cNvPicPr>
          <p:nvPr/>
        </p:nvPicPr>
        <p:blipFill>
          <a:blip r:embed="rId5"/>
          <a:stretch>
            <a:fillRect/>
          </a:stretch>
        </p:blipFill>
        <p:spPr>
          <a:xfrm>
            <a:off x="3959352" y="4142232"/>
            <a:ext cx="219456" cy="219456"/>
          </a:xfrm>
          <a:prstGeom prst="rect">
            <a:avLst/>
          </a:prstGeom>
        </p:spPr>
      </p:pic>
      <p:sp>
        <p:nvSpPr>
          <p:cNvPr id="26" name="text-187"/>
          <p:cNvSpPr txBox="1"/>
          <p:nvPr/>
        </p:nvSpPr>
        <p:spPr>
          <a:xfrm>
            <a:off x="4434840" y="3977640"/>
            <a:ext cx="2377440" cy="548640"/>
          </a:xfrm>
          <a:prstGeom prst="rect">
            <a:avLst/>
          </a:prstGeom>
          <a:noFill/>
          <a:ln/>
        </p:spPr>
        <p:txBody>
          <a:bodyPr wrap="square" lIns="0" tIns="0" rIns="0" bIns="0" rtlCol="0" anchor="ctr"/>
          <a:lstStyle/>
          <a:p>
            <a:pPr indent="0" marL="0">
              <a:buNone/>
            </a:pPr>
            <a:r>
              <a:rPr lang="en-US" sz="1800" dirty="0">
                <a:solidFill>
                  <a:schemeClr val="tx1"/>
                </a:solidFill>
              </a:rPr>
              <a:t>an astronaut</a:t>
            </a:r>
            <a:endParaRPr lang="en-US" sz="1800" dirty="0"/>
          </a:p>
        </p:txBody>
      </p:sp>
      <p:sp>
        <p:nvSpPr>
          <p:cNvPr id="27" name="bar-bg-188"/>
          <p:cNvSpPr/>
          <p:nvPr/>
        </p:nvSpPr>
        <p:spPr>
          <a:xfrm>
            <a:off x="6858000" y="4087368"/>
            <a:ext cx="3657600" cy="329184"/>
          </a:xfrm>
          <a:prstGeom prst="rect">
            <a:avLst/>
          </a:prstGeom>
          <a:solidFill>
            <a:schemeClr val="bg2"/>
          </a:solidFill>
          <a:ln/>
        </p:spPr>
      </p:sp>
      <p:sp>
        <p:nvSpPr>
          <p:cNvPr id="28" name="bar-189"/>
          <p:cNvSpPr/>
          <p:nvPr/>
        </p:nvSpPr>
        <p:spPr>
          <a:xfrm>
            <a:off x="6858000" y="4087368"/>
            <a:ext cx="109728" cy="329184"/>
          </a:xfrm>
          <a:prstGeom prst="rect">
            <a:avLst/>
          </a:prstGeom>
          <a:solidFill>
            <a:schemeClr val="accent4"/>
          </a:solidFill>
          <a:ln/>
        </p:spPr>
      </p:sp>
      <p:sp>
        <p:nvSpPr>
          <p:cNvPr id="29" name="text-190"/>
          <p:cNvSpPr txBox="1"/>
          <p:nvPr/>
        </p:nvSpPr>
        <p:spPr>
          <a:xfrm>
            <a:off x="10652760" y="397764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30" name="text-191"/>
          <p:cNvSpPr txBox="1"/>
          <p:nvPr/>
        </p:nvSpPr>
        <p:spPr>
          <a:xfrm>
            <a:off x="7863840" y="4754880"/>
            <a:ext cx="3611880" cy="457200"/>
          </a:xfrm>
          <a:prstGeom prst="rect">
            <a:avLst/>
          </a:prstGeom>
          <a:noFill/>
          <a:ln/>
        </p:spPr>
        <p:txBody>
          <a:bodyPr wrap="square" lIns="0" tIns="0" rIns="0" bIns="0" rtlCol="0" anchor="t"/>
          <a:lstStyle/>
          <a:p>
            <a:pPr algn="r" indent="0" marL="0">
              <a:buNone/>
            </a:pPr>
            <a:r>
              <a:rPr lang="en-US" sz="2000" b="1" dirty="0">
                <a:solidFill>
                  <a:schemeClr val="accent3"/>
                </a:solidFill>
              </a:rPr>
              <a:t>합이 1일 필요 없음</a:t>
            </a:r>
            <a:endParaRPr lang="en-US" sz="2000" dirty="0"/>
          </a:p>
        </p:txBody>
      </p:sp>
      <p:sp>
        <p:nvSpPr>
          <p:cNvPr id="31" name="card-192"/>
          <p:cNvSpPr/>
          <p:nvPr/>
        </p:nvSpPr>
        <p:spPr>
          <a:xfrm>
            <a:off x="3840480" y="5349240"/>
            <a:ext cx="7680960" cy="731520"/>
          </a:xfrm>
          <a:prstGeom prst="roundRect">
            <a:avLst>
              <a:gd name="adj" fmla="val 17500"/>
            </a:avLst>
          </a:prstGeom>
          <a:solidFill>
            <a:schemeClr val="accent3">
              <a:alpha val="10000"/>
            </a:schemeClr>
          </a:solidFill>
          <a:ln/>
        </p:spPr>
      </p:sp>
      <p:sp>
        <p:nvSpPr>
          <p:cNvPr id="32" name="text-193"/>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700" b="1" dirty="0">
                <a:solidFill>
                  <a:schemeClr val="tx1"/>
                </a:solidFill>
              </a:rPr>
              <a:t>구조는 CLIP과 거의 같고 손실 함수만 바꿈 → 칸마다 독립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구조: 두 개의 탑 (듀얼 인코더)</a:t>
            </a:r>
            <a:endParaRPr lang="en-US" sz="3000" dirty="0"/>
          </a:p>
        </p:txBody>
      </p:sp>
      <p:pic>
        <p:nvPicPr>
          <p:cNvPr id="3" name="photo-cat-194" descr="고양이 사진">    </p:cNvPr>
          <p:cNvPicPr>
            <a:picLocks noChangeAspect="1"/>
          </p:cNvPicPr>
          <p:nvPr/>
        </p:nvPicPr>
        <p:blipFill>
          <a:blip r:embed="rId1"/>
          <a:stretch>
            <a:fillRect/>
          </a:stretch>
        </p:blipFill>
        <p:spPr>
          <a:xfrm>
            <a:off x="731520" y="1417320"/>
            <a:ext cx="1188720" cy="1188720"/>
          </a:xfrm>
          <a:prstGeom prst="ellipse">
            <a:avLst/>
          </a:prstGeom>
        </p:spPr>
      </p:pic>
      <p:sp>
        <p:nvSpPr>
          <p:cNvPr id="4" name="arrow-195"/>
          <p:cNvSpPr/>
          <p:nvPr/>
        </p:nvSpPr>
        <p:spPr>
          <a:xfrm>
            <a:off x="2011680" y="2011680"/>
            <a:ext cx="457200" cy="0"/>
          </a:xfrm>
          <a:prstGeom prst="line">
            <a:avLst/>
          </a:prstGeom>
          <a:noFill/>
          <a:ln w="31750">
            <a:solidFill>
              <a:schemeClr val="accent1"/>
            </a:solidFill>
            <a:prstDash val="solid"/>
            <a:tailEnd type="triangle"/>
          </a:ln>
        </p:spPr>
      </p:sp>
      <p:sp>
        <p:nvSpPr>
          <p:cNvPr id="5" name="box-196"/>
          <p:cNvSpPr/>
          <p:nvPr/>
        </p:nvSpPr>
        <p:spPr>
          <a:xfrm>
            <a:off x="2560320" y="1508760"/>
            <a:ext cx="2377440" cy="1005840"/>
          </a:xfrm>
          <a:prstGeom prst="roundRect">
            <a:avLst>
              <a:gd name="adj" fmla="val 9091"/>
            </a:avLst>
          </a:prstGeom>
          <a:solidFill>
            <a:schemeClr val="accent1"/>
          </a:solidFill>
          <a:ln/>
        </p:spPr>
      </p:sp>
      <p:sp>
        <p:nvSpPr>
          <p:cNvPr id="6" name="text-197"/>
          <p:cNvSpPr txBox="1"/>
          <p:nvPr/>
        </p:nvSpPr>
        <p:spPr>
          <a:xfrm>
            <a:off x="2560320" y="15087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a:p>
            <a:pPr algn="ctr" indent="0" marL="0">
              <a:buNone/>
            </a:pPr>
            <a:r>
              <a:rPr lang="en-US" sz="1700" b="1" dirty="0">
                <a:solidFill>
                  <a:schemeClr val="bg1"/>
                </a:solidFill>
              </a:rPr>
              <a:t>(ViT)</a:t>
            </a:r>
            <a:endParaRPr lang="en-US" sz="1700" dirty="0"/>
          </a:p>
        </p:txBody>
      </p:sp>
      <p:sp>
        <p:nvSpPr>
          <p:cNvPr id="7" name="arrow-198"/>
          <p:cNvSpPr/>
          <p:nvPr/>
        </p:nvSpPr>
        <p:spPr>
          <a:xfrm>
            <a:off x="5029200" y="2011680"/>
            <a:ext cx="457200" cy="0"/>
          </a:xfrm>
          <a:prstGeom prst="line">
            <a:avLst/>
          </a:prstGeom>
          <a:noFill/>
          <a:ln w="31750">
            <a:solidFill>
              <a:schemeClr val="accent1"/>
            </a:solidFill>
            <a:prstDash val="solid"/>
            <a:tailEnd type="triangle"/>
          </a:ln>
        </p:spPr>
      </p:sp>
      <p:sp>
        <p:nvSpPr>
          <p:cNvPr id="8" name="box-199"/>
          <p:cNvSpPr/>
          <p:nvPr/>
        </p:nvSpPr>
        <p:spPr>
          <a:xfrm>
            <a:off x="5577840" y="1645920"/>
            <a:ext cx="2103120" cy="731520"/>
          </a:xfrm>
          <a:prstGeom prst="roundRect">
            <a:avLst>
              <a:gd name="adj" fmla="val 12500"/>
            </a:avLst>
          </a:prstGeom>
          <a:solidFill>
            <a:schemeClr val="accent1"/>
          </a:solidFill>
          <a:ln/>
        </p:spPr>
      </p:sp>
      <p:sp>
        <p:nvSpPr>
          <p:cNvPr id="9" name="text-200"/>
          <p:cNvSpPr txBox="1"/>
          <p:nvPr/>
        </p:nvSpPr>
        <p:spPr>
          <a:xfrm>
            <a:off x="5577840" y="16459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이미지 벡터 x</a:t>
            </a:r>
            <a:endParaRPr lang="en-US" sz="1600" dirty="0"/>
          </a:p>
        </p:txBody>
      </p:sp>
      <p:sp>
        <p:nvSpPr>
          <p:cNvPr id="10" name="pill-201"/>
          <p:cNvSpPr/>
          <p:nvPr/>
        </p:nvSpPr>
        <p:spPr>
          <a:xfrm>
            <a:off x="502920" y="3337560"/>
            <a:ext cx="1645920" cy="548640"/>
          </a:xfrm>
          <a:prstGeom prst="roundRect">
            <a:avLst>
              <a:gd name="adj" fmla="val 50000"/>
            </a:avLst>
          </a:prstGeom>
          <a:solidFill>
            <a:schemeClr val="accent2"/>
          </a:solidFill>
          <a:ln/>
        </p:spPr>
      </p:sp>
      <p:sp>
        <p:nvSpPr>
          <p:cNvPr id="11" name="text-202"/>
          <p:cNvSpPr txBox="1"/>
          <p:nvPr/>
        </p:nvSpPr>
        <p:spPr>
          <a:xfrm>
            <a:off x="502920" y="3337560"/>
            <a:ext cx="1645920" cy="548640"/>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sp>
        <p:nvSpPr>
          <p:cNvPr id="12" name="arrow-203"/>
          <p:cNvSpPr/>
          <p:nvPr/>
        </p:nvSpPr>
        <p:spPr>
          <a:xfrm>
            <a:off x="2194560" y="3611880"/>
            <a:ext cx="274320" cy="0"/>
          </a:xfrm>
          <a:prstGeom prst="line">
            <a:avLst/>
          </a:prstGeom>
          <a:noFill/>
          <a:ln w="31750">
            <a:solidFill>
              <a:schemeClr val="accent2"/>
            </a:solidFill>
            <a:prstDash val="solid"/>
            <a:tailEnd type="triangle"/>
          </a:ln>
        </p:spPr>
      </p:sp>
      <p:sp>
        <p:nvSpPr>
          <p:cNvPr id="13" name="box-204"/>
          <p:cNvSpPr/>
          <p:nvPr/>
        </p:nvSpPr>
        <p:spPr>
          <a:xfrm>
            <a:off x="2560320" y="3108960"/>
            <a:ext cx="2377440" cy="1005840"/>
          </a:xfrm>
          <a:prstGeom prst="roundRect">
            <a:avLst>
              <a:gd name="adj" fmla="val 9091"/>
            </a:avLst>
          </a:prstGeom>
          <a:solidFill>
            <a:schemeClr val="accent2"/>
          </a:solidFill>
          <a:ln/>
        </p:spPr>
      </p:sp>
      <p:sp>
        <p:nvSpPr>
          <p:cNvPr id="14" name="text-205"/>
          <p:cNvSpPr txBox="1"/>
          <p:nvPr/>
        </p:nvSpPr>
        <p:spPr>
          <a:xfrm>
            <a:off x="2560320" y="31089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a:p>
            <a:pPr algn="ctr" indent="0" marL="0">
              <a:buNone/>
            </a:pPr>
            <a:r>
              <a:rPr lang="en-US" sz="1700" b="1" dirty="0">
                <a:solidFill>
                  <a:schemeClr val="bg1"/>
                </a:solidFill>
              </a:rPr>
              <a:t>(Transformer)</a:t>
            </a:r>
            <a:endParaRPr lang="en-US" sz="1700" dirty="0"/>
          </a:p>
        </p:txBody>
      </p:sp>
      <p:sp>
        <p:nvSpPr>
          <p:cNvPr id="15" name="arrow-206"/>
          <p:cNvSpPr/>
          <p:nvPr/>
        </p:nvSpPr>
        <p:spPr>
          <a:xfrm>
            <a:off x="5029200" y="3611880"/>
            <a:ext cx="457200" cy="0"/>
          </a:xfrm>
          <a:prstGeom prst="line">
            <a:avLst/>
          </a:prstGeom>
          <a:noFill/>
          <a:ln w="31750">
            <a:solidFill>
              <a:schemeClr val="accent2"/>
            </a:solidFill>
            <a:prstDash val="solid"/>
            <a:tailEnd type="triangle"/>
          </a:ln>
        </p:spPr>
      </p:sp>
      <p:sp>
        <p:nvSpPr>
          <p:cNvPr id="16" name="box-207"/>
          <p:cNvSpPr/>
          <p:nvPr/>
        </p:nvSpPr>
        <p:spPr>
          <a:xfrm>
            <a:off x="5577840" y="3246120"/>
            <a:ext cx="2103120" cy="731520"/>
          </a:xfrm>
          <a:prstGeom prst="roundRect">
            <a:avLst>
              <a:gd name="adj" fmla="val 12500"/>
            </a:avLst>
          </a:prstGeom>
          <a:solidFill>
            <a:schemeClr val="accent2"/>
          </a:solidFill>
          <a:ln/>
        </p:spPr>
      </p:sp>
      <p:sp>
        <p:nvSpPr>
          <p:cNvPr id="17" name="text-208"/>
          <p:cNvSpPr txBox="1"/>
          <p:nvPr/>
        </p:nvSpPr>
        <p:spPr>
          <a:xfrm>
            <a:off x="5577840" y="32461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텍스트 벡터 y</a:t>
            </a:r>
            <a:endParaRPr lang="en-US" sz="1600" dirty="0"/>
          </a:p>
        </p:txBody>
      </p:sp>
      <p:sp>
        <p:nvSpPr>
          <p:cNvPr id="18" name="join-a"/>
          <p:cNvSpPr/>
          <p:nvPr/>
        </p:nvSpPr>
        <p:spPr>
          <a:xfrm>
            <a:off x="7726680" y="2011680"/>
            <a:ext cx="502920" cy="777240"/>
          </a:xfrm>
          <a:prstGeom prst="line">
            <a:avLst/>
          </a:prstGeom>
          <a:noFill/>
          <a:ln w="31750">
            <a:solidFill>
              <a:schemeClr val="accent6"/>
            </a:solidFill>
            <a:prstDash val="solid"/>
          </a:ln>
        </p:spPr>
      </p:sp>
      <p:sp>
        <p:nvSpPr>
          <p:cNvPr id="19" name="join-b"/>
          <p:cNvSpPr/>
          <p:nvPr/>
        </p:nvSpPr>
        <p:spPr>
          <a:xfrm flipV="1">
            <a:off x="7726680" y="2788920"/>
            <a:ext cx="502920" cy="822960"/>
          </a:xfrm>
          <a:prstGeom prst="line">
            <a:avLst/>
          </a:prstGeom>
          <a:noFill/>
          <a:ln w="31750">
            <a:solidFill>
              <a:schemeClr val="accent6"/>
            </a:solidFill>
            <a:prstDash val="solid"/>
          </a:ln>
        </p:spPr>
      </p:sp>
      <p:sp>
        <p:nvSpPr>
          <p:cNvPr id="20" name="box-209"/>
          <p:cNvSpPr/>
          <p:nvPr/>
        </p:nvSpPr>
        <p:spPr>
          <a:xfrm>
            <a:off x="8229600" y="2148840"/>
            <a:ext cx="2011680" cy="1280160"/>
          </a:xfrm>
          <a:prstGeom prst="roundRect">
            <a:avLst>
              <a:gd name="adj" fmla="val 7143"/>
            </a:avLst>
          </a:prstGeom>
          <a:solidFill>
            <a:schemeClr val="accent3"/>
          </a:solidFill>
          <a:ln/>
        </p:spPr>
      </p:sp>
      <p:sp>
        <p:nvSpPr>
          <p:cNvPr id="21" name="text-210"/>
          <p:cNvSpPr txBox="1"/>
          <p:nvPr/>
        </p:nvSpPr>
        <p:spPr>
          <a:xfrm>
            <a:off x="8229600" y="2148840"/>
            <a:ext cx="2011680" cy="1280160"/>
          </a:xfrm>
          <a:prstGeom prst="rect">
            <a:avLst/>
          </a:prstGeom>
          <a:noFill/>
          <a:ln/>
        </p:spPr>
        <p:txBody>
          <a:bodyPr wrap="square" lIns="0" tIns="0" rIns="0" bIns="0" rtlCol="0" anchor="ctr"/>
          <a:lstStyle/>
          <a:p>
            <a:pPr algn="ctr" indent="0" marL="0">
              <a:buNone/>
            </a:pPr>
            <a:r>
              <a:rPr lang="en-US" sz="1600" b="1" dirty="0">
                <a:solidFill>
                  <a:schemeClr val="bg1"/>
                </a:solidFill>
              </a:rPr>
              <a:t>유사도</a:t>
            </a:r>
            <a:endParaRPr lang="en-US" sz="1600" dirty="0"/>
          </a:p>
          <a:p>
            <a:pPr algn="ctr" indent="0" marL="0">
              <a:buNone/>
            </a:pPr>
            <a:r>
              <a:rPr lang="en-US" sz="1600" b="1" dirty="0">
                <a:solidFill>
                  <a:schemeClr val="bg1"/>
                </a:solidFill>
              </a:rPr>
              <a:t>t·x·y + b</a:t>
            </a:r>
            <a:endParaRPr lang="en-US" sz="1600" dirty="0"/>
          </a:p>
          <a:p>
            <a:pPr algn="ctr" indent="0" marL="0">
              <a:buNone/>
            </a:pPr>
            <a:r>
              <a:rPr lang="en-US" sz="1600" b="1" dirty="0">
                <a:solidFill>
                  <a:schemeClr val="bg1"/>
                </a:solidFill>
              </a:rPr>
              <a:t>→ Sigmoid</a:t>
            </a:r>
            <a:endParaRPr lang="en-US" sz="1600" dirty="0"/>
          </a:p>
        </p:txBody>
      </p:sp>
      <p:sp>
        <p:nvSpPr>
          <p:cNvPr id="22" name="card-211"/>
          <p:cNvSpPr/>
          <p:nvPr/>
        </p:nvSpPr>
        <p:spPr>
          <a:xfrm>
            <a:off x="640080" y="4526280"/>
            <a:ext cx="5349240" cy="1463040"/>
          </a:xfrm>
          <a:prstGeom prst="roundRect">
            <a:avLst>
              <a:gd name="adj" fmla="val 8750"/>
            </a:avLst>
          </a:prstGeom>
          <a:solidFill>
            <a:schemeClr val="bg2"/>
          </a:solidFill>
          <a:ln/>
        </p:spPr>
      </p:sp>
      <p:sp>
        <p:nvSpPr>
          <p:cNvPr id="23" name="circle-212"/>
          <p:cNvSpPr/>
          <p:nvPr/>
        </p:nvSpPr>
        <p:spPr>
          <a:xfrm>
            <a:off x="914400" y="4846320"/>
            <a:ext cx="777240" cy="777240"/>
          </a:xfrm>
          <a:prstGeom prst="ellipse">
            <a:avLst/>
          </a:prstGeom>
          <a:solidFill>
            <a:schemeClr val="accent3"/>
          </a:solidFill>
          <a:ln/>
        </p:spPr>
      </p:sp>
      <p:pic>
        <p:nvPicPr>
          <p:cNvPr id="24" name="icon-FaPuzzlePiece-213" descr="FaPuzzlePiece">    </p:cNvPr>
          <p:cNvPicPr>
            <a:picLocks noChangeAspect="1"/>
          </p:cNvPicPr>
          <p:nvPr/>
        </p:nvPicPr>
        <p:blipFill>
          <a:blip r:embed="rId2"/>
          <a:stretch>
            <a:fillRect/>
          </a:stretch>
        </p:blipFill>
        <p:spPr>
          <a:xfrm>
            <a:off x="1116482" y="5048402"/>
            <a:ext cx="373075" cy="373075"/>
          </a:xfrm>
          <a:prstGeom prst="rect">
            <a:avLst/>
          </a:prstGeom>
        </p:spPr>
      </p:pic>
      <p:sp>
        <p:nvSpPr>
          <p:cNvPr id="25" name="text-214"/>
          <p:cNvSpPr txBox="1"/>
          <p:nvPr/>
        </p:nvSpPr>
        <p:spPr>
          <a:xfrm>
            <a:off x="192024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두 인코더가 완전히 분리</a:t>
            </a:r>
            <a:endParaRPr lang="en-US" sz="2000" dirty="0"/>
          </a:p>
        </p:txBody>
      </p:sp>
      <p:sp>
        <p:nvSpPr>
          <p:cNvPr id="26" name="text-215"/>
          <p:cNvSpPr txBox="1"/>
          <p:nvPr/>
        </p:nvSpPr>
        <p:spPr>
          <a:xfrm>
            <a:off x="192024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사진과 문장을 따로 계산 → 검색에서 중요</a:t>
            </a:r>
            <a:endParaRPr lang="en-US" sz="1600" dirty="0"/>
          </a:p>
        </p:txBody>
      </p:sp>
      <p:sp>
        <p:nvSpPr>
          <p:cNvPr id="27" name="card-216"/>
          <p:cNvSpPr/>
          <p:nvPr/>
        </p:nvSpPr>
        <p:spPr>
          <a:xfrm>
            <a:off x="6172200" y="4526280"/>
            <a:ext cx="5349240" cy="1463040"/>
          </a:xfrm>
          <a:prstGeom prst="roundRect">
            <a:avLst>
              <a:gd name="adj" fmla="val 8750"/>
            </a:avLst>
          </a:prstGeom>
          <a:solidFill>
            <a:schemeClr val="bg2"/>
          </a:solidFill>
          <a:ln/>
        </p:spPr>
      </p:sp>
      <p:sp>
        <p:nvSpPr>
          <p:cNvPr id="28" name="circle-217"/>
          <p:cNvSpPr/>
          <p:nvPr/>
        </p:nvSpPr>
        <p:spPr>
          <a:xfrm>
            <a:off x="6446520" y="4846320"/>
            <a:ext cx="777240" cy="777240"/>
          </a:xfrm>
          <a:prstGeom prst="ellipse">
            <a:avLst/>
          </a:prstGeom>
          <a:solidFill>
            <a:schemeClr val="accent3"/>
          </a:solidFill>
          <a:ln/>
        </p:spPr>
      </p:sp>
      <p:pic>
        <p:nvPicPr>
          <p:cNvPr id="29" name="icon-FaRuler-218" descr="FaRuler">    </p:cNvPr>
          <p:cNvPicPr>
            <a:picLocks noChangeAspect="1"/>
          </p:cNvPicPr>
          <p:nvPr/>
        </p:nvPicPr>
        <p:blipFill>
          <a:blip r:embed="rId3"/>
          <a:stretch>
            <a:fillRect/>
          </a:stretch>
        </p:blipFill>
        <p:spPr>
          <a:xfrm>
            <a:off x="6648602" y="5048402"/>
            <a:ext cx="373075" cy="373075"/>
          </a:xfrm>
          <a:prstGeom prst="rect">
            <a:avLst/>
          </a:prstGeom>
        </p:spPr>
      </p:pic>
      <p:sp>
        <p:nvSpPr>
          <p:cNvPr id="30" name="text-219"/>
          <p:cNvSpPr txBox="1"/>
          <p:nvPr/>
        </p:nvSpPr>
        <p:spPr>
          <a:xfrm>
            <a:off x="745236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같은 차원으로 맞춘 뒤 정규화</a:t>
            </a:r>
            <a:endParaRPr lang="en-US" sz="2000" dirty="0"/>
          </a:p>
        </p:txBody>
      </p:sp>
      <p:sp>
        <p:nvSpPr>
          <p:cNvPr id="31" name="text-220"/>
          <p:cNvSpPr txBox="1"/>
          <p:nvPr/>
        </p:nvSpPr>
        <p:spPr>
          <a:xfrm>
            <a:off x="745236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투영(projection) 후 L2 정규화</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이미지 인코더(ViT)는 사진을 퍼즐 조각으로 읽는다</a:t>
            </a:r>
            <a:endParaRPr lang="en-US" sz="3000" dirty="0"/>
          </a:p>
        </p:txBody>
      </p:sp>
      <p:pic>
        <p:nvPicPr>
          <p:cNvPr id="3" name="cat-patches" descr="16x16 패치 격자로 나눈 고양이 사진">    </p:cNvPr>
          <p:cNvPicPr>
            <a:picLocks noChangeAspect="1"/>
          </p:cNvPicPr>
          <p:nvPr/>
        </p:nvPicPr>
        <p:blipFill>
          <a:blip r:embed="rId1"/>
          <a:stretch>
            <a:fillRect/>
          </a:stretch>
        </p:blipFill>
        <p:spPr>
          <a:xfrm>
            <a:off x="731520" y="1371600"/>
            <a:ext cx="4480560" cy="4480560"/>
          </a:xfrm>
          <a:prstGeom prst="rect">
            <a:avLst/>
          </a:prstGeom>
        </p:spPr>
      </p:pic>
      <p:sp>
        <p:nvSpPr>
          <p:cNvPr id="4" name="arrow-221"/>
          <p:cNvSpPr/>
          <p:nvPr/>
        </p:nvSpPr>
        <p:spPr>
          <a:xfrm>
            <a:off x="5440680" y="3611880"/>
            <a:ext cx="640080" cy="0"/>
          </a:xfrm>
          <a:prstGeom prst="line">
            <a:avLst/>
          </a:prstGeom>
          <a:noFill/>
          <a:ln w="31750">
            <a:solidFill>
              <a:schemeClr val="accent1"/>
            </a:solidFill>
            <a:prstDash val="solid"/>
            <a:tailEnd type="triangle"/>
          </a:ln>
        </p:spPr>
      </p:sp>
      <p:sp>
        <p:nvSpPr>
          <p:cNvPr id="5" name="text-222"/>
          <p:cNvSpPr txBox="1"/>
          <p:nvPr/>
        </p:nvSpPr>
        <p:spPr>
          <a:xfrm>
            <a:off x="6400800" y="1417320"/>
            <a:ext cx="5120640" cy="502920"/>
          </a:xfrm>
          <a:prstGeom prst="rect">
            <a:avLst/>
          </a:prstGeom>
          <a:noFill/>
          <a:ln/>
        </p:spPr>
        <p:txBody>
          <a:bodyPr wrap="square" lIns="0" tIns="0" rIns="0" bIns="0" rtlCol="0" anchor="t"/>
          <a:lstStyle/>
          <a:p>
            <a:pPr indent="0" marL="0">
              <a:buNone/>
            </a:pPr>
            <a:r>
              <a:rPr lang="en-US" sz="2400" b="1" dirty="0">
                <a:solidFill>
                  <a:schemeClr val="tx1"/>
                </a:solidFill>
              </a:rPr>
              <a:t>224 × 224 사진</a:t>
            </a:r>
            <a:endParaRPr lang="en-US" sz="2400" dirty="0"/>
          </a:p>
        </p:txBody>
      </p:sp>
      <p:sp>
        <p:nvSpPr>
          <p:cNvPr id="6" name="text-223"/>
          <p:cNvSpPr txBox="1"/>
          <p:nvPr/>
        </p:nvSpPr>
        <p:spPr>
          <a:xfrm>
            <a:off x="6400800" y="1920240"/>
            <a:ext cx="5120640" cy="822960"/>
          </a:xfrm>
          <a:prstGeom prst="rect">
            <a:avLst/>
          </a:prstGeom>
          <a:noFill/>
          <a:ln/>
        </p:spPr>
        <p:txBody>
          <a:bodyPr wrap="square" lIns="0" tIns="0" rIns="0" bIns="0" rtlCol="0" anchor="t"/>
          <a:lstStyle/>
          <a:p>
            <a:pPr indent="0" marL="0">
              <a:buNone/>
            </a:pPr>
            <a:r>
              <a:rPr lang="en-US" sz="1800" dirty="0">
                <a:solidFill>
                  <a:schemeClr val="tx2"/>
                </a:solidFill>
              </a:rPr>
              <a:t>→ 16×16 조각으로 자르면 14×14 = 196조각</a:t>
            </a:r>
            <a:endParaRPr lang="en-US" sz="1800" dirty="0"/>
          </a:p>
        </p:txBody>
      </p:sp>
      <p:pic>
        <p:nvPicPr>
          <p:cNvPr id="7" name="patch-224" descr="이미지 패치">    </p:cNvPr>
          <p:cNvPicPr>
            <a:picLocks noChangeAspect="1"/>
          </p:cNvPicPr>
          <p:nvPr/>
        </p:nvPicPr>
        <p:blipFill>
          <a:blip r:embed="rId2"/>
          <a:stretch>
            <a:fillRect/>
          </a:stretch>
        </p:blipFill>
        <p:spPr>
          <a:xfrm>
            <a:off x="6400800" y="3063240"/>
            <a:ext cx="685800" cy="685800"/>
          </a:xfrm>
          <a:prstGeom prst="rect">
            <a:avLst/>
          </a:prstGeom>
        </p:spPr>
      </p:pic>
      <p:pic>
        <p:nvPicPr>
          <p:cNvPr id="8" name="patch-225" descr="이미지 패치">    </p:cNvPr>
          <p:cNvPicPr>
            <a:picLocks noChangeAspect="1"/>
          </p:cNvPicPr>
          <p:nvPr/>
        </p:nvPicPr>
        <p:blipFill>
          <a:blip r:embed="rId3"/>
          <a:stretch>
            <a:fillRect/>
          </a:stretch>
        </p:blipFill>
        <p:spPr>
          <a:xfrm>
            <a:off x="7242048" y="3063240"/>
            <a:ext cx="685800" cy="685800"/>
          </a:xfrm>
          <a:prstGeom prst="rect">
            <a:avLst/>
          </a:prstGeom>
        </p:spPr>
      </p:pic>
      <p:pic>
        <p:nvPicPr>
          <p:cNvPr id="9" name="patch-226" descr="이미지 패치">    </p:cNvPr>
          <p:cNvPicPr>
            <a:picLocks noChangeAspect="1"/>
          </p:cNvPicPr>
          <p:nvPr/>
        </p:nvPicPr>
        <p:blipFill>
          <a:blip r:embed="rId4"/>
          <a:stretch>
            <a:fillRect/>
          </a:stretch>
        </p:blipFill>
        <p:spPr>
          <a:xfrm>
            <a:off x="8083296" y="3063240"/>
            <a:ext cx="685800" cy="685800"/>
          </a:xfrm>
          <a:prstGeom prst="rect">
            <a:avLst/>
          </a:prstGeom>
        </p:spPr>
      </p:pic>
      <p:pic>
        <p:nvPicPr>
          <p:cNvPr id="10" name="patch-227" descr="이미지 패치">    </p:cNvPr>
          <p:cNvPicPr>
            <a:picLocks noChangeAspect="1"/>
          </p:cNvPicPr>
          <p:nvPr/>
        </p:nvPicPr>
        <p:blipFill>
          <a:blip r:embed="rId5"/>
          <a:stretch>
            <a:fillRect/>
          </a:stretch>
        </p:blipFill>
        <p:spPr>
          <a:xfrm>
            <a:off x="8924544" y="3063240"/>
            <a:ext cx="685800" cy="685800"/>
          </a:xfrm>
          <a:prstGeom prst="rect">
            <a:avLst/>
          </a:prstGeom>
        </p:spPr>
      </p:pic>
      <p:pic>
        <p:nvPicPr>
          <p:cNvPr id="11" name="patch-228" descr="이미지 패치">    </p:cNvPr>
          <p:cNvPicPr>
            <a:picLocks noChangeAspect="1"/>
          </p:cNvPicPr>
          <p:nvPr/>
        </p:nvPicPr>
        <p:blipFill>
          <a:blip r:embed="rId6"/>
          <a:stretch>
            <a:fillRect/>
          </a:stretch>
        </p:blipFill>
        <p:spPr>
          <a:xfrm>
            <a:off x="9765792" y="3063240"/>
            <a:ext cx="685800" cy="685800"/>
          </a:xfrm>
          <a:prstGeom prst="rect">
            <a:avLst/>
          </a:prstGeom>
        </p:spPr>
      </p:pic>
      <p:sp>
        <p:nvSpPr>
          <p:cNvPr id="12" name="text-229"/>
          <p:cNvSpPr txBox="1"/>
          <p:nvPr/>
        </p:nvSpPr>
        <p:spPr>
          <a:xfrm>
            <a:off x="10561320" y="3063240"/>
            <a:ext cx="411480" cy="685800"/>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pic>
        <p:nvPicPr>
          <p:cNvPr id="13" name="patch-230" descr="이미지 패치">    </p:cNvPr>
          <p:cNvPicPr>
            <a:picLocks noChangeAspect="1"/>
          </p:cNvPicPr>
          <p:nvPr/>
        </p:nvPicPr>
        <p:blipFill>
          <a:blip r:embed="rId7"/>
          <a:stretch>
            <a:fillRect/>
          </a:stretch>
        </p:blipFill>
        <p:spPr>
          <a:xfrm>
            <a:off x="11018520" y="3063240"/>
            <a:ext cx="685800" cy="685800"/>
          </a:xfrm>
          <a:prstGeom prst="rect">
            <a:avLst/>
          </a:prstGeom>
        </p:spPr>
      </p:pic>
      <p:sp>
        <p:nvSpPr>
          <p:cNvPr id="14" name="text-231"/>
          <p:cNvSpPr txBox="1"/>
          <p:nvPr/>
        </p:nvSpPr>
        <p:spPr>
          <a:xfrm>
            <a:off x="6400800" y="3931920"/>
            <a:ext cx="5120640" cy="502920"/>
          </a:xfrm>
          <a:prstGeom prst="rect">
            <a:avLst/>
          </a:prstGeom>
          <a:noFill/>
          <a:ln/>
        </p:spPr>
        <p:txBody>
          <a:bodyPr wrap="square" lIns="0" tIns="0" rIns="0" bIns="0" rtlCol="0" anchor="t"/>
          <a:lstStyle/>
          <a:p>
            <a:pPr indent="0" marL="0">
              <a:buNone/>
            </a:pPr>
            <a:r>
              <a:rPr lang="en-US" sz="2200" b="1" dirty="0">
                <a:solidFill>
                  <a:schemeClr val="accent1"/>
                </a:solidFill>
              </a:rPr>
              <a:t>조각 1개 = 토큰 1개</a:t>
            </a:r>
            <a:endParaRPr lang="en-US" sz="2200" dirty="0"/>
          </a:p>
        </p:txBody>
      </p:sp>
      <p:sp>
        <p:nvSpPr>
          <p:cNvPr id="15" name="text-232"/>
          <p:cNvSpPr txBox="1"/>
          <p:nvPr/>
        </p:nvSpPr>
        <p:spPr>
          <a:xfrm>
            <a:off x="6400800" y="4480560"/>
            <a:ext cx="5120640" cy="914400"/>
          </a:xfrm>
          <a:prstGeom prst="rect">
            <a:avLst/>
          </a:prstGeom>
          <a:noFill/>
          <a:ln/>
        </p:spPr>
        <p:txBody>
          <a:bodyPr wrap="square" lIns="0" tIns="0" rIns="0" bIns="0" rtlCol="0" anchor="t"/>
          <a:lstStyle/>
          <a:p>
            <a:pPr indent="0" marL="0">
              <a:buNone/>
            </a:pPr>
            <a:r>
              <a:rPr lang="en-US" sz="1700" dirty="0">
                <a:solidFill>
                  <a:schemeClr val="tx2"/>
                </a:solidFill>
              </a:rPr>
              <a:t>단어처럼 Transformer에 넣고, 마지막에 하나의 벡터로 요약 (MAP 풀링)</a:t>
            </a:r>
            <a:endParaRPr lang="en-US" sz="1700" dirty="0"/>
          </a:p>
        </p:txBody>
      </p:sp>
      <p:sp>
        <p:nvSpPr>
          <p:cNvPr id="16" name="text-233"/>
          <p:cNvSpPr txBox="1"/>
          <p:nvPr/>
        </p:nvSpPr>
        <p:spPr>
          <a:xfrm>
            <a:off x="6400800" y="5394960"/>
            <a:ext cx="5120640" cy="640080"/>
          </a:xfrm>
          <a:prstGeom prst="rect">
            <a:avLst/>
          </a:prstGeom>
          <a:noFill/>
          <a:ln/>
        </p:spPr>
        <p:txBody>
          <a:bodyPr wrap="square" lIns="0" tIns="0" rIns="0" bIns="0" rtlCol="0" anchor="t"/>
          <a:lstStyle/>
          <a:p>
            <a:pPr indent="0" marL="0">
              <a:buNone/>
            </a:pPr>
            <a:r>
              <a:rPr lang="en-US" sz="1400" b="1" dirty="0">
                <a:solidFill>
                  <a:schemeClr val="accent3"/>
                </a:solidFill>
              </a:rPr>
              <a:t>모델 이름 읽기: siglip-base-patch16-224 = 크기 base · 조각 16 · 해상도 224</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Sigmoid Loss 한 줄 수식</a:t>
            </a:r>
            <a:endParaRPr lang="en-US" sz="3000" dirty="0"/>
          </a:p>
        </p:txBody>
      </p:sp>
      <p:sp>
        <p:nvSpPr>
          <p:cNvPr id="3" name="card-234"/>
          <p:cNvSpPr/>
          <p:nvPr/>
        </p:nvSpPr>
        <p:spPr>
          <a:xfrm>
            <a:off x="640080" y="1371600"/>
            <a:ext cx="10881360" cy="1325880"/>
          </a:xfrm>
          <a:prstGeom prst="roundRect">
            <a:avLst>
              <a:gd name="adj" fmla="val 9655"/>
            </a:avLst>
          </a:prstGeom>
          <a:solidFill>
            <a:schemeClr val="tx1"/>
          </a:solidFill>
          <a:ln/>
        </p:spPr>
      </p:sp>
      <p:sp>
        <p:nvSpPr>
          <p:cNvPr id="4" name="text-235"/>
          <p:cNvSpPr txBox="1"/>
          <p:nvPr/>
        </p:nvSpPr>
        <p:spPr>
          <a:xfrm>
            <a:off x="914400" y="1371600"/>
            <a:ext cx="10332720" cy="1325880"/>
          </a:xfrm>
          <a:prstGeom prst="rect">
            <a:avLst/>
          </a:prstGeom>
          <a:noFill/>
          <a:ln/>
        </p:spPr>
        <p:txBody>
          <a:bodyPr wrap="square" lIns="0" tIns="0" rIns="0" bIns="0" rtlCol="0" anchor="ctr"/>
          <a:lstStyle/>
          <a:p>
            <a:pPr algn="ctr" indent="0" marL="0">
              <a:buNone/>
            </a:pPr>
            <a:r>
              <a:rPr lang="en-US" sz="3000" dirty="0">
                <a:solidFill>
                  <a:schemeClr val="bg1"/>
                </a:solidFill>
                <a:latin typeface="Cambria Math" pitchFamily="34" charset="0"/>
                <a:ea typeface="Cambria Math" pitchFamily="34" charset="-122"/>
                <a:cs typeface="Cambria Math" pitchFamily="34" charset="-120"/>
              </a:rPr>
              <a:t>L = −(1/|B|) Σᵢ Σⱼ log σ( zᵢⱼ · ( t·xᵢ·yⱼ + b ) )</a:t>
            </a:r>
            <a:endParaRPr lang="en-US" sz="3000" dirty="0"/>
          </a:p>
        </p:txBody>
      </p:sp>
      <p:sp>
        <p:nvSpPr>
          <p:cNvPr id="5" name="card-236"/>
          <p:cNvSpPr/>
          <p:nvPr/>
        </p:nvSpPr>
        <p:spPr>
          <a:xfrm>
            <a:off x="640080" y="3017520"/>
            <a:ext cx="5349240" cy="1188720"/>
          </a:xfrm>
          <a:prstGeom prst="roundRect">
            <a:avLst>
              <a:gd name="adj" fmla="val 10769"/>
            </a:avLst>
          </a:prstGeom>
          <a:solidFill>
            <a:schemeClr val="bg2"/>
          </a:solidFill>
          <a:ln/>
        </p:spPr>
      </p:sp>
      <p:sp>
        <p:nvSpPr>
          <p:cNvPr id="6" name="text-237"/>
          <p:cNvSpPr txBox="1"/>
          <p:nvPr/>
        </p:nvSpPr>
        <p:spPr>
          <a:xfrm>
            <a:off x="914400" y="3017520"/>
            <a:ext cx="1188720" cy="1188720"/>
          </a:xfrm>
          <a:prstGeom prst="rect">
            <a:avLst/>
          </a:prstGeom>
          <a:noFill/>
          <a:ln/>
        </p:spPr>
        <p:txBody>
          <a:bodyPr wrap="square" lIns="0" tIns="0" rIns="0" bIns="0" rtlCol="0" anchor="ctr"/>
          <a:lstStyle/>
          <a:p>
            <a:pPr indent="0" marL="0">
              <a:buNone/>
            </a:pPr>
            <a:r>
              <a:rPr lang="en-US" sz="2400" b="1" dirty="0">
                <a:solidFill>
                  <a:schemeClr val="accent1"/>
                </a:solidFill>
                <a:latin typeface="Cambria Math" pitchFamily="34" charset="0"/>
                <a:ea typeface="Cambria Math" pitchFamily="34" charset="-122"/>
                <a:cs typeface="Cambria Math" pitchFamily="34" charset="-120"/>
              </a:rPr>
              <a:t>xᵢ·yⱼ</a:t>
            </a:r>
            <a:endParaRPr lang="en-US" sz="2400" dirty="0"/>
          </a:p>
        </p:txBody>
      </p:sp>
      <p:sp>
        <p:nvSpPr>
          <p:cNvPr id="7" name="text-238"/>
          <p:cNvSpPr txBox="1"/>
          <p:nvPr/>
        </p:nvSpPr>
        <p:spPr>
          <a:xfrm>
            <a:off x="210312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사진 i와 문장 j의 유사도</a:t>
            </a:r>
            <a:endParaRPr lang="en-US" sz="1800" dirty="0"/>
          </a:p>
        </p:txBody>
      </p:sp>
      <p:sp>
        <p:nvSpPr>
          <p:cNvPr id="8" name="card-239"/>
          <p:cNvSpPr/>
          <p:nvPr/>
        </p:nvSpPr>
        <p:spPr>
          <a:xfrm>
            <a:off x="6172200" y="3017520"/>
            <a:ext cx="5349240" cy="1188720"/>
          </a:xfrm>
          <a:prstGeom prst="roundRect">
            <a:avLst>
              <a:gd name="adj" fmla="val 10769"/>
            </a:avLst>
          </a:prstGeom>
          <a:solidFill>
            <a:schemeClr val="bg2"/>
          </a:solidFill>
          <a:ln/>
        </p:spPr>
      </p:sp>
      <p:sp>
        <p:nvSpPr>
          <p:cNvPr id="9" name="text-240"/>
          <p:cNvSpPr txBox="1"/>
          <p:nvPr/>
        </p:nvSpPr>
        <p:spPr>
          <a:xfrm>
            <a:off x="6446520" y="3017520"/>
            <a:ext cx="1188720" cy="1188720"/>
          </a:xfrm>
          <a:prstGeom prst="rect">
            <a:avLst/>
          </a:prstGeom>
          <a:noFill/>
          <a:ln/>
        </p:spPr>
        <p:txBody>
          <a:bodyPr wrap="square" lIns="0" tIns="0" rIns="0" bIns="0" rtlCol="0" anchor="ctr"/>
          <a:lstStyle/>
          <a:p>
            <a:pPr indent="0" marL="0">
              <a:buNone/>
            </a:pPr>
            <a:r>
              <a:rPr lang="en-US" sz="2400" b="1" dirty="0">
                <a:solidFill>
                  <a:schemeClr val="accent5"/>
                </a:solidFill>
                <a:latin typeface="Cambria Math" pitchFamily="34" charset="0"/>
                <a:ea typeface="Cambria Math" pitchFamily="34" charset="-122"/>
                <a:cs typeface="Cambria Math" pitchFamily="34" charset="-120"/>
              </a:rPr>
              <a:t>zᵢⱼ</a:t>
            </a:r>
            <a:endParaRPr lang="en-US" sz="2400" dirty="0"/>
          </a:p>
        </p:txBody>
      </p:sp>
      <p:sp>
        <p:nvSpPr>
          <p:cNvPr id="10" name="text-241"/>
          <p:cNvSpPr txBox="1"/>
          <p:nvPr/>
        </p:nvSpPr>
        <p:spPr>
          <a:xfrm>
            <a:off x="763524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O/X 정답: 짝이면 +1, 아니면 −1</a:t>
            </a:r>
            <a:endParaRPr lang="en-US" sz="1800" dirty="0"/>
          </a:p>
        </p:txBody>
      </p:sp>
      <p:sp>
        <p:nvSpPr>
          <p:cNvPr id="11" name="card-242"/>
          <p:cNvSpPr/>
          <p:nvPr/>
        </p:nvSpPr>
        <p:spPr>
          <a:xfrm>
            <a:off x="640080" y="4434840"/>
            <a:ext cx="5349240" cy="1188720"/>
          </a:xfrm>
          <a:prstGeom prst="roundRect">
            <a:avLst>
              <a:gd name="adj" fmla="val 10769"/>
            </a:avLst>
          </a:prstGeom>
          <a:solidFill>
            <a:schemeClr val="bg2"/>
          </a:solidFill>
          <a:ln/>
        </p:spPr>
      </p:sp>
      <p:sp>
        <p:nvSpPr>
          <p:cNvPr id="12" name="text-243"/>
          <p:cNvSpPr txBox="1"/>
          <p:nvPr/>
        </p:nvSpPr>
        <p:spPr>
          <a:xfrm>
            <a:off x="914400" y="4434840"/>
            <a:ext cx="1188720" cy="1188720"/>
          </a:xfrm>
          <a:prstGeom prst="rect">
            <a:avLst/>
          </a:prstGeom>
          <a:noFill/>
          <a:ln/>
        </p:spPr>
        <p:txBody>
          <a:bodyPr wrap="square" lIns="0" tIns="0" rIns="0" bIns="0" rtlCol="0" anchor="ctr"/>
          <a:lstStyle/>
          <a:p>
            <a:pPr indent="0" marL="0">
              <a:buNone/>
            </a:pPr>
            <a:r>
              <a:rPr lang="en-US" sz="2400" b="1" dirty="0">
                <a:solidFill>
                  <a:schemeClr val="accent3"/>
                </a:solidFill>
                <a:latin typeface="Cambria Math" pitchFamily="34" charset="0"/>
                <a:ea typeface="Cambria Math" pitchFamily="34" charset="-122"/>
                <a:cs typeface="Cambria Math" pitchFamily="34" charset="-120"/>
              </a:rPr>
              <a:t>σ</a:t>
            </a:r>
            <a:endParaRPr lang="en-US" sz="2400" dirty="0"/>
          </a:p>
        </p:txBody>
      </p:sp>
      <p:sp>
        <p:nvSpPr>
          <p:cNvPr id="13" name="text-244"/>
          <p:cNvSpPr txBox="1"/>
          <p:nvPr/>
        </p:nvSpPr>
        <p:spPr>
          <a:xfrm>
            <a:off x="210312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시그모이드 → 0~1 ‘짝일 확률’</a:t>
            </a:r>
            <a:endParaRPr lang="en-US" sz="1800" dirty="0"/>
          </a:p>
        </p:txBody>
      </p:sp>
      <p:sp>
        <p:nvSpPr>
          <p:cNvPr id="14" name="card-245"/>
          <p:cNvSpPr/>
          <p:nvPr/>
        </p:nvSpPr>
        <p:spPr>
          <a:xfrm>
            <a:off x="6172200" y="4434840"/>
            <a:ext cx="5349240" cy="1188720"/>
          </a:xfrm>
          <a:prstGeom prst="roundRect">
            <a:avLst>
              <a:gd name="adj" fmla="val 10769"/>
            </a:avLst>
          </a:prstGeom>
          <a:solidFill>
            <a:schemeClr val="bg2"/>
          </a:solidFill>
          <a:ln/>
        </p:spPr>
      </p:sp>
      <p:sp>
        <p:nvSpPr>
          <p:cNvPr id="15" name="text-246"/>
          <p:cNvSpPr txBox="1"/>
          <p:nvPr/>
        </p:nvSpPr>
        <p:spPr>
          <a:xfrm>
            <a:off x="6446520" y="4434840"/>
            <a:ext cx="1188720" cy="1188720"/>
          </a:xfrm>
          <a:prstGeom prst="rect">
            <a:avLst/>
          </a:prstGeom>
          <a:noFill/>
          <a:ln/>
        </p:spPr>
        <p:txBody>
          <a:bodyPr wrap="square" lIns="0" tIns="0" rIns="0" bIns="0" rtlCol="0" anchor="ctr"/>
          <a:lstStyle/>
          <a:p>
            <a:pPr indent="0" marL="0">
              <a:buNone/>
            </a:pPr>
            <a:r>
              <a:rPr lang="en-US" sz="2400" b="1" dirty="0">
                <a:solidFill>
                  <a:schemeClr val="accent2"/>
                </a:solidFill>
                <a:latin typeface="Cambria Math" pitchFamily="34" charset="0"/>
                <a:ea typeface="Cambria Math" pitchFamily="34" charset="-122"/>
                <a:cs typeface="Cambria Math" pitchFamily="34" charset="-120"/>
              </a:rPr>
              <a:t>t, b</a:t>
            </a:r>
            <a:endParaRPr lang="en-US" sz="2400" dirty="0"/>
          </a:p>
        </p:txBody>
      </p:sp>
      <p:sp>
        <p:nvSpPr>
          <p:cNvPr id="16" name="text-247"/>
          <p:cNvSpPr txBox="1"/>
          <p:nvPr/>
        </p:nvSpPr>
        <p:spPr>
          <a:xfrm>
            <a:off x="763524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온도·바이어스 (학습되는 숫자)</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왜 바이어스 b가 필요할까?</a:t>
            </a:r>
            <a:endParaRPr lang="en-US" sz="3000" dirty="0"/>
          </a:p>
        </p:txBody>
      </p:sp>
      <p:sp>
        <p:nvSpPr>
          <p:cNvPr id="3" name="card-248"/>
          <p:cNvSpPr/>
          <p:nvPr/>
        </p:nvSpPr>
        <p:spPr>
          <a:xfrm>
            <a:off x="640080" y="1371600"/>
            <a:ext cx="4206240" cy="2377440"/>
          </a:xfrm>
          <a:prstGeom prst="roundRect">
            <a:avLst>
              <a:gd name="adj" fmla="val 5385"/>
            </a:avLst>
          </a:prstGeom>
          <a:solidFill>
            <a:schemeClr val="accent4">
              <a:alpha val="8000"/>
            </a:schemeClr>
          </a:solidFill>
          <a:ln/>
        </p:spPr>
      </p:sp>
      <p:sp>
        <p:nvSpPr>
          <p:cNvPr id="4" name="text-249"/>
          <p:cNvSpPr txBox="1"/>
          <p:nvPr/>
        </p:nvSpPr>
        <p:spPr>
          <a:xfrm>
            <a:off x="868680" y="1554480"/>
            <a:ext cx="3840480" cy="868680"/>
          </a:xfrm>
          <a:prstGeom prst="rect">
            <a:avLst/>
          </a:prstGeom>
          <a:noFill/>
          <a:ln/>
        </p:spPr>
        <p:txBody>
          <a:bodyPr wrap="square" lIns="0" tIns="0" rIns="0" bIns="0" rtlCol="0" anchor="t"/>
          <a:lstStyle/>
          <a:p>
            <a:pPr indent="0" marL="0">
              <a:buNone/>
            </a:pPr>
            <a:r>
              <a:rPr lang="en-US" sz="4400" b="1" dirty="0">
                <a:solidFill>
                  <a:schemeClr val="accent4"/>
                </a:solidFill>
              </a:rPr>
              <a:t>1 : 32,000</a:t>
            </a:r>
            <a:endParaRPr lang="en-US" sz="4400" dirty="0"/>
          </a:p>
        </p:txBody>
      </p:sp>
      <p:sp>
        <p:nvSpPr>
          <p:cNvPr id="5" name="text-250"/>
          <p:cNvSpPr txBox="1"/>
          <p:nvPr/>
        </p:nvSpPr>
        <p:spPr>
          <a:xfrm>
            <a:off x="868680" y="2514600"/>
            <a:ext cx="3749040" cy="1005840"/>
          </a:xfrm>
          <a:prstGeom prst="rect">
            <a:avLst/>
          </a:prstGeom>
          <a:noFill/>
          <a:ln/>
        </p:spPr>
        <p:txBody>
          <a:bodyPr wrap="square" lIns="0" tIns="0" rIns="0" bIns="0" rtlCol="0" anchor="t"/>
          <a:lstStyle/>
          <a:p>
            <a:pPr indent="0" marL="0">
              <a:buNone/>
            </a:pPr>
            <a:r>
              <a:rPr lang="en-US" sz="1700" dirty="0">
                <a:solidFill>
                  <a:schemeClr val="tx1"/>
                </a:solidFill>
              </a:rPr>
              <a:t>배치 32k일 때 진짜 짝 1개당 가짜 짝의 수</a:t>
            </a:r>
            <a:endParaRPr lang="en-US" sz="1700" dirty="0"/>
          </a:p>
        </p:txBody>
      </p:sp>
      <p:sp>
        <p:nvSpPr>
          <p:cNvPr id="6" name="text-251"/>
          <p:cNvSpPr txBox="1"/>
          <p:nvPr/>
        </p:nvSpPr>
        <p:spPr>
          <a:xfrm>
            <a:off x="640080" y="4069080"/>
            <a:ext cx="4389120" cy="2103120"/>
          </a:xfrm>
          <a:prstGeom prst="rect">
            <a:avLst/>
          </a:prstGeom>
          <a:noFill/>
          <a:ln/>
        </p:spPr>
        <p:txBody>
          <a:bodyPr wrap="square" lIns="0" tIns="0" rIns="0" bIns="0" rtlCol="0" anchor="t"/>
          <a:lstStyle/>
          <a:p>
            <a:pPr marL="279400" indent="-279400">
              <a:spcAft>
                <a:spcPts val="1200"/>
              </a:spcAft>
              <a:buSzPct val="100000"/>
              <a:buChar char="•"/>
            </a:pPr>
            <a:r>
              <a:rPr lang="en-US" sz="1700" b="1" dirty="0">
                <a:solidFill>
                  <a:schemeClr val="accent4"/>
                </a:solidFill>
              </a:rPr>
              <a:t>문제  </a:t>
            </a:r>
            <a:r>
              <a:rPr lang="en-US" sz="1700" dirty="0">
                <a:solidFill>
                  <a:schemeClr val="tx1"/>
                </a:solidFill>
              </a:rPr>
              <a:t>가짜 짝이 압도적 → 초반 손실 폭주</a:t>
            </a:r>
            <a:endParaRPr lang="en-US" sz="1700" dirty="0"/>
          </a:p>
          <a:p>
            <a:pPr marL="279400" indent="-279400">
              <a:spcAft>
                <a:spcPts val="1200"/>
              </a:spcAft>
              <a:buSzPct val="100000"/>
              <a:buChar char="•"/>
            </a:pPr>
            <a:r>
              <a:rPr lang="en-US" sz="1700" b="1" dirty="0">
                <a:solidFill>
                  <a:schemeClr val="accent3"/>
                </a:solidFill>
              </a:rPr>
              <a:t>해결  </a:t>
            </a:r>
            <a:r>
              <a:rPr lang="en-US" sz="1700" dirty="0">
                <a:solidFill>
                  <a:schemeClr val="tx1"/>
                </a:solidFill>
              </a:rPr>
              <a:t>b = −10에서 출발</a:t>
            </a:r>
            <a:endParaRPr lang="en-US" sz="1700" dirty="0"/>
          </a:p>
          <a:p>
            <a:pPr marL="279400" indent="-279400">
              <a:spcAft>
                <a:spcPts val="1200"/>
              </a:spcAft>
              <a:buSzPct val="100000"/>
              <a:buChar char="•"/>
            </a:pPr>
            <a:r>
              <a:rPr lang="en-US" sz="1700" b="1" dirty="0">
                <a:solidFill>
                  <a:schemeClr val="accent5"/>
                </a:solidFill>
              </a:rPr>
              <a:t>덤  </a:t>
            </a:r>
            <a:r>
              <a:rPr lang="en-US" sz="1700" dirty="0">
                <a:solidFill>
                  <a:schemeClr val="tx1"/>
                </a:solidFill>
              </a:rPr>
              <a:t>출력이 ‘짝일 확률’처럼 보정됨</a:t>
            </a:r>
            <a:endParaRPr lang="en-US" sz="1700" dirty="0"/>
          </a:p>
        </p:txBody>
      </p:sp>
      <p:graphicFrame>
        <p:nvGraphicFramePr>
          <p:cNvPr id="7" name="chart-bias" descr=""/>
          <p:cNvGraphicFramePr/>
          <p:nvPr/>
        </p:nvGraphicFramePr>
        <p:xfrm>
          <a:off x="5303520" y="1371600"/>
          <a:ext cx="6217920" cy="4206240"/>
        </p:xfrm>
        <a:graphic xmlns:a="http://schemas.openxmlformats.org/drawingml/2006/main">
          <a:graphicData uri="http://schemas.openxmlformats.org/drawingml/2006/chart">
            <c:chart xmlns:c="http://schemas.openxmlformats.org/drawingml/2006/chart" r:id="rId1"/>
          </a:graphicData>
        </a:graphic>
      </p:graphicFrame>
      <p:sp>
        <p:nvSpPr>
          <p:cNvPr id="8" name="text-252"/>
          <p:cNvSpPr txBox="1"/>
          <p:nvPr/>
        </p:nvSpPr>
        <p:spPr>
          <a:xfrm>
            <a:off x="5303520" y="5623560"/>
            <a:ext cx="6217920" cy="548640"/>
          </a:xfrm>
          <a:prstGeom prst="rect">
            <a:avLst/>
          </a:prstGeom>
          <a:noFill/>
          <a:ln/>
        </p:spPr>
        <p:txBody>
          <a:bodyPr wrap="square" lIns="0" tIns="0" rIns="0" bIns="0" rtlCol="0" anchor="t"/>
          <a:lstStyle/>
          <a:p>
            <a:pPr indent="0" marL="0">
              <a:buNone/>
            </a:pPr>
            <a:r>
              <a:rPr lang="en-US" sz="1300" dirty="0">
                <a:solidFill>
                  <a:schemeClr val="tx2"/>
                </a:solidFill>
              </a:rPr>
              <a:t>온도 t = 10(초기값)일 때. b = −10이면 유사도가 1에 가까운 쌍만 확률이 올라감</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장점: 큰 표를 한 번에 만들 필요가 없다</a:t>
            </a:r>
            <a:endParaRPr lang="en-US" sz="3000" dirty="0"/>
          </a:p>
        </p:txBody>
      </p:sp>
      <p:sp>
        <p:nvSpPr>
          <p:cNvPr id="3" name="text-253"/>
          <p:cNvSpPr txBox="1"/>
          <p:nvPr/>
        </p:nvSpPr>
        <p:spPr>
          <a:xfrm>
            <a:off x="548640" y="201168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1</a:t>
            </a:r>
            <a:endParaRPr lang="en-US" sz="1500" dirty="0"/>
          </a:p>
        </p:txBody>
      </p:sp>
      <p:sp>
        <p:nvSpPr>
          <p:cNvPr id="4" name="pill-254"/>
          <p:cNvSpPr/>
          <p:nvPr/>
        </p:nvSpPr>
        <p:spPr>
          <a:xfrm>
            <a:off x="1645920" y="1463040"/>
            <a:ext cx="685800" cy="365760"/>
          </a:xfrm>
          <a:prstGeom prst="roundRect">
            <a:avLst>
              <a:gd name="adj" fmla="val 50000"/>
            </a:avLst>
          </a:prstGeom>
          <a:solidFill>
            <a:schemeClr val="accent2"/>
          </a:solidFill>
          <a:ln/>
        </p:spPr>
      </p:sp>
      <p:sp>
        <p:nvSpPr>
          <p:cNvPr id="5" name="text-255"/>
          <p:cNvSpPr txBox="1"/>
          <p:nvPr/>
        </p:nvSpPr>
        <p:spPr>
          <a:xfrm>
            <a:off x="164592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T1</a:t>
            </a:r>
            <a:endParaRPr lang="en-US" sz="1300" dirty="0"/>
          </a:p>
        </p:txBody>
      </p:sp>
      <p:sp>
        <p:nvSpPr>
          <p:cNvPr id="6" name="text-256"/>
          <p:cNvSpPr txBox="1"/>
          <p:nvPr/>
        </p:nvSpPr>
        <p:spPr>
          <a:xfrm>
            <a:off x="548640" y="306324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2</a:t>
            </a:r>
            <a:endParaRPr lang="en-US" sz="1500" dirty="0"/>
          </a:p>
        </p:txBody>
      </p:sp>
      <p:sp>
        <p:nvSpPr>
          <p:cNvPr id="7" name="pill-257"/>
          <p:cNvSpPr/>
          <p:nvPr/>
        </p:nvSpPr>
        <p:spPr>
          <a:xfrm>
            <a:off x="2697480" y="1463040"/>
            <a:ext cx="685800" cy="365760"/>
          </a:xfrm>
          <a:prstGeom prst="roundRect">
            <a:avLst>
              <a:gd name="adj" fmla="val 50000"/>
            </a:avLst>
          </a:prstGeom>
          <a:solidFill>
            <a:schemeClr val="accent2"/>
          </a:solidFill>
          <a:ln/>
        </p:spPr>
      </p:sp>
      <p:sp>
        <p:nvSpPr>
          <p:cNvPr id="8" name="text-258"/>
          <p:cNvSpPr txBox="1"/>
          <p:nvPr/>
        </p:nvSpPr>
        <p:spPr>
          <a:xfrm>
            <a:off x="269748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T2</a:t>
            </a:r>
            <a:endParaRPr lang="en-US" sz="1300" dirty="0"/>
          </a:p>
        </p:txBody>
      </p:sp>
      <p:sp>
        <p:nvSpPr>
          <p:cNvPr id="9" name="text-259"/>
          <p:cNvSpPr txBox="1"/>
          <p:nvPr/>
        </p:nvSpPr>
        <p:spPr>
          <a:xfrm>
            <a:off x="548640" y="411480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3</a:t>
            </a:r>
            <a:endParaRPr lang="en-US" sz="1500" dirty="0"/>
          </a:p>
        </p:txBody>
      </p:sp>
      <p:sp>
        <p:nvSpPr>
          <p:cNvPr id="10" name="pill-260"/>
          <p:cNvSpPr/>
          <p:nvPr/>
        </p:nvSpPr>
        <p:spPr>
          <a:xfrm>
            <a:off x="3749040" y="1463040"/>
            <a:ext cx="685800" cy="365760"/>
          </a:xfrm>
          <a:prstGeom prst="roundRect">
            <a:avLst>
              <a:gd name="adj" fmla="val 50000"/>
            </a:avLst>
          </a:prstGeom>
          <a:solidFill>
            <a:schemeClr val="accent2"/>
          </a:solidFill>
          <a:ln/>
        </p:spPr>
      </p:sp>
      <p:sp>
        <p:nvSpPr>
          <p:cNvPr id="11" name="text-261"/>
          <p:cNvSpPr txBox="1"/>
          <p:nvPr/>
        </p:nvSpPr>
        <p:spPr>
          <a:xfrm>
            <a:off x="374904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T3</a:t>
            </a:r>
            <a:endParaRPr lang="en-US" sz="1300" dirty="0"/>
          </a:p>
        </p:txBody>
      </p:sp>
      <p:sp>
        <p:nvSpPr>
          <p:cNvPr id="12" name="chunk-262"/>
          <p:cNvSpPr/>
          <p:nvPr/>
        </p:nvSpPr>
        <p:spPr>
          <a:xfrm>
            <a:off x="1463040" y="2011680"/>
            <a:ext cx="1051560" cy="1051560"/>
          </a:xfrm>
          <a:prstGeom prst="rect">
            <a:avLst/>
          </a:prstGeom>
          <a:solidFill>
            <a:schemeClr val="accent3"/>
          </a:solidFill>
          <a:ln w="38100">
            <a:solidFill>
              <a:schemeClr val="bg1"/>
            </a:solidFill>
            <a:prstDash val="solid"/>
          </a:ln>
        </p:spPr>
      </p:sp>
      <p:sp>
        <p:nvSpPr>
          <p:cNvPr id="13" name="text-263"/>
          <p:cNvSpPr txBox="1"/>
          <p:nvPr/>
        </p:nvSpPr>
        <p:spPr>
          <a:xfrm>
            <a:off x="146304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chunk-264"/>
          <p:cNvSpPr/>
          <p:nvPr/>
        </p:nvSpPr>
        <p:spPr>
          <a:xfrm>
            <a:off x="2514600" y="2011680"/>
            <a:ext cx="1051560" cy="1051560"/>
          </a:xfrm>
          <a:prstGeom prst="rect">
            <a:avLst/>
          </a:prstGeom>
          <a:solidFill>
            <a:schemeClr val="accent1"/>
          </a:solidFill>
          <a:ln w="38100">
            <a:solidFill>
              <a:schemeClr val="bg1"/>
            </a:solidFill>
            <a:prstDash val="solid"/>
          </a:ln>
        </p:spPr>
      </p:sp>
      <p:sp>
        <p:nvSpPr>
          <p:cNvPr id="15" name="text-265"/>
          <p:cNvSpPr txBox="1"/>
          <p:nvPr/>
        </p:nvSpPr>
        <p:spPr>
          <a:xfrm>
            <a:off x="251460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6" name="chunk-266"/>
          <p:cNvSpPr/>
          <p:nvPr/>
        </p:nvSpPr>
        <p:spPr>
          <a:xfrm>
            <a:off x="3566160" y="2011680"/>
            <a:ext cx="1051560" cy="1051560"/>
          </a:xfrm>
          <a:prstGeom prst="rect">
            <a:avLst/>
          </a:prstGeom>
          <a:solidFill>
            <a:schemeClr val="accent2"/>
          </a:solidFill>
          <a:ln w="38100">
            <a:solidFill>
              <a:schemeClr val="bg1"/>
            </a:solidFill>
            <a:prstDash val="solid"/>
          </a:ln>
        </p:spPr>
      </p:sp>
      <p:sp>
        <p:nvSpPr>
          <p:cNvPr id="17" name="text-267"/>
          <p:cNvSpPr txBox="1"/>
          <p:nvPr/>
        </p:nvSpPr>
        <p:spPr>
          <a:xfrm>
            <a:off x="356616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chunk-268"/>
          <p:cNvSpPr/>
          <p:nvPr/>
        </p:nvSpPr>
        <p:spPr>
          <a:xfrm>
            <a:off x="1463040" y="3063240"/>
            <a:ext cx="1051560" cy="1051560"/>
          </a:xfrm>
          <a:prstGeom prst="rect">
            <a:avLst/>
          </a:prstGeom>
          <a:solidFill>
            <a:schemeClr val="accent2"/>
          </a:solidFill>
          <a:ln w="38100">
            <a:solidFill>
              <a:schemeClr val="bg1"/>
            </a:solidFill>
            <a:prstDash val="solid"/>
          </a:ln>
        </p:spPr>
      </p:sp>
      <p:sp>
        <p:nvSpPr>
          <p:cNvPr id="19" name="text-269"/>
          <p:cNvSpPr txBox="1"/>
          <p:nvPr/>
        </p:nvSpPr>
        <p:spPr>
          <a:xfrm>
            <a:off x="146304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chunk-270"/>
          <p:cNvSpPr/>
          <p:nvPr/>
        </p:nvSpPr>
        <p:spPr>
          <a:xfrm>
            <a:off x="2514600" y="3063240"/>
            <a:ext cx="1051560" cy="1051560"/>
          </a:xfrm>
          <a:prstGeom prst="rect">
            <a:avLst/>
          </a:prstGeom>
          <a:solidFill>
            <a:schemeClr val="accent3"/>
          </a:solidFill>
          <a:ln w="38100">
            <a:solidFill>
              <a:schemeClr val="bg1"/>
            </a:solidFill>
            <a:prstDash val="solid"/>
          </a:ln>
        </p:spPr>
      </p:sp>
      <p:sp>
        <p:nvSpPr>
          <p:cNvPr id="21" name="text-271"/>
          <p:cNvSpPr txBox="1"/>
          <p:nvPr/>
        </p:nvSpPr>
        <p:spPr>
          <a:xfrm>
            <a:off x="251460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2" name="chunk-272"/>
          <p:cNvSpPr/>
          <p:nvPr/>
        </p:nvSpPr>
        <p:spPr>
          <a:xfrm>
            <a:off x="3566160" y="3063240"/>
            <a:ext cx="1051560" cy="1051560"/>
          </a:xfrm>
          <a:prstGeom prst="rect">
            <a:avLst/>
          </a:prstGeom>
          <a:solidFill>
            <a:schemeClr val="accent1"/>
          </a:solidFill>
          <a:ln w="38100">
            <a:solidFill>
              <a:schemeClr val="bg1"/>
            </a:solidFill>
            <a:prstDash val="solid"/>
          </a:ln>
        </p:spPr>
      </p:sp>
      <p:sp>
        <p:nvSpPr>
          <p:cNvPr id="23" name="text-273"/>
          <p:cNvSpPr txBox="1"/>
          <p:nvPr/>
        </p:nvSpPr>
        <p:spPr>
          <a:xfrm>
            <a:off x="356616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4" name="chunk-274"/>
          <p:cNvSpPr/>
          <p:nvPr/>
        </p:nvSpPr>
        <p:spPr>
          <a:xfrm>
            <a:off x="1463040" y="4114800"/>
            <a:ext cx="1051560" cy="1051560"/>
          </a:xfrm>
          <a:prstGeom prst="rect">
            <a:avLst/>
          </a:prstGeom>
          <a:solidFill>
            <a:schemeClr val="accent1"/>
          </a:solidFill>
          <a:ln w="38100">
            <a:solidFill>
              <a:schemeClr val="bg1"/>
            </a:solidFill>
            <a:prstDash val="solid"/>
          </a:ln>
        </p:spPr>
      </p:sp>
      <p:sp>
        <p:nvSpPr>
          <p:cNvPr id="25" name="text-275"/>
          <p:cNvSpPr txBox="1"/>
          <p:nvPr/>
        </p:nvSpPr>
        <p:spPr>
          <a:xfrm>
            <a:off x="146304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6" name="chunk-276"/>
          <p:cNvSpPr/>
          <p:nvPr/>
        </p:nvSpPr>
        <p:spPr>
          <a:xfrm>
            <a:off x="2514600" y="4114800"/>
            <a:ext cx="1051560" cy="1051560"/>
          </a:xfrm>
          <a:prstGeom prst="rect">
            <a:avLst/>
          </a:prstGeom>
          <a:solidFill>
            <a:schemeClr val="accent2"/>
          </a:solidFill>
          <a:ln w="38100">
            <a:solidFill>
              <a:schemeClr val="bg1"/>
            </a:solidFill>
            <a:prstDash val="solid"/>
          </a:ln>
        </p:spPr>
      </p:sp>
      <p:sp>
        <p:nvSpPr>
          <p:cNvPr id="27" name="text-277"/>
          <p:cNvSpPr txBox="1"/>
          <p:nvPr/>
        </p:nvSpPr>
        <p:spPr>
          <a:xfrm>
            <a:off x="251460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8" name="chunk-278"/>
          <p:cNvSpPr/>
          <p:nvPr/>
        </p:nvSpPr>
        <p:spPr>
          <a:xfrm>
            <a:off x="3566160" y="4114800"/>
            <a:ext cx="1051560" cy="1051560"/>
          </a:xfrm>
          <a:prstGeom prst="rect">
            <a:avLst/>
          </a:prstGeom>
          <a:solidFill>
            <a:schemeClr val="accent3"/>
          </a:solidFill>
          <a:ln w="38100">
            <a:solidFill>
              <a:schemeClr val="bg1"/>
            </a:solidFill>
            <a:prstDash val="solid"/>
          </a:ln>
        </p:spPr>
      </p:sp>
      <p:sp>
        <p:nvSpPr>
          <p:cNvPr id="29" name="text-279"/>
          <p:cNvSpPr txBox="1"/>
          <p:nvPr/>
        </p:nvSpPr>
        <p:spPr>
          <a:xfrm>
            <a:off x="356616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30" name="text-280"/>
          <p:cNvSpPr txBox="1"/>
          <p:nvPr/>
        </p:nvSpPr>
        <p:spPr>
          <a:xfrm>
            <a:off x="548640" y="5349240"/>
            <a:ext cx="4572000" cy="457200"/>
          </a:xfrm>
          <a:prstGeom prst="rect">
            <a:avLst/>
          </a:prstGeom>
          <a:noFill/>
          <a:ln/>
        </p:spPr>
        <p:txBody>
          <a:bodyPr wrap="square" lIns="0" tIns="0" rIns="0" bIns="0" rtlCol="0" anchor="t"/>
          <a:lstStyle/>
          <a:p>
            <a:pPr indent="0" marL="0">
              <a:buNone/>
            </a:pPr>
            <a:r>
              <a:rPr lang="en-US" sz="1300" dirty="0">
                <a:solidFill>
                  <a:schemeClr val="tx2"/>
                </a:solidFill>
              </a:rPr>
              <a:t>같은 숫자 = 같은 단계에 계산하는 블록</a:t>
            </a:r>
            <a:endParaRPr lang="en-US" sz="1300" dirty="0"/>
          </a:p>
        </p:txBody>
      </p:sp>
      <p:sp>
        <p:nvSpPr>
          <p:cNvPr id="31" name="circle-281"/>
          <p:cNvSpPr/>
          <p:nvPr/>
        </p:nvSpPr>
        <p:spPr>
          <a:xfrm>
            <a:off x="5486400" y="1463040"/>
            <a:ext cx="502920" cy="502920"/>
          </a:xfrm>
          <a:prstGeom prst="ellipse">
            <a:avLst/>
          </a:prstGeom>
          <a:solidFill>
            <a:schemeClr val="accent3"/>
          </a:solidFill>
          <a:ln/>
        </p:spPr>
      </p:sp>
      <p:sp>
        <p:nvSpPr>
          <p:cNvPr id="32" name="text-282"/>
          <p:cNvSpPr txBox="1"/>
          <p:nvPr/>
        </p:nvSpPr>
        <p:spPr>
          <a:xfrm>
            <a:off x="5486400" y="14630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33" name="text-283"/>
          <p:cNvSpPr txBox="1"/>
          <p:nvPr/>
        </p:nvSpPr>
        <p:spPr>
          <a:xfrm>
            <a:off x="6172200" y="1463040"/>
            <a:ext cx="5303520" cy="502920"/>
          </a:xfrm>
          <a:prstGeom prst="rect">
            <a:avLst/>
          </a:prstGeom>
          <a:noFill/>
          <a:ln/>
        </p:spPr>
        <p:txBody>
          <a:bodyPr wrap="square" lIns="0" tIns="0" rIns="0" bIns="0" rtlCol="0" anchor="ctr"/>
          <a:lstStyle/>
          <a:p>
            <a:pPr indent="0" marL="0">
              <a:buNone/>
            </a:pPr>
            <a:r>
              <a:rPr lang="en-US" sz="1900" dirty="0">
                <a:solidFill>
                  <a:schemeClr val="tx1"/>
                </a:solidFill>
              </a:rPr>
              <a:t>각 GPU가 자기 블록만 계산</a:t>
            </a:r>
            <a:endParaRPr lang="en-US" sz="1900" dirty="0"/>
          </a:p>
        </p:txBody>
      </p:sp>
      <p:sp>
        <p:nvSpPr>
          <p:cNvPr id="34" name="circle-284"/>
          <p:cNvSpPr/>
          <p:nvPr/>
        </p:nvSpPr>
        <p:spPr>
          <a:xfrm>
            <a:off x="5486400" y="2240280"/>
            <a:ext cx="502920" cy="502920"/>
          </a:xfrm>
          <a:prstGeom prst="ellipse">
            <a:avLst/>
          </a:prstGeom>
          <a:solidFill>
            <a:schemeClr val="accent1"/>
          </a:solidFill>
          <a:ln/>
        </p:spPr>
      </p:sp>
      <p:sp>
        <p:nvSpPr>
          <p:cNvPr id="35" name="text-285"/>
          <p:cNvSpPr txBox="1"/>
          <p:nvPr/>
        </p:nvSpPr>
        <p:spPr>
          <a:xfrm>
            <a:off x="5486400" y="22402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36" name="text-286"/>
          <p:cNvSpPr txBox="1"/>
          <p:nvPr/>
        </p:nvSpPr>
        <p:spPr>
          <a:xfrm>
            <a:off x="6172200" y="2240280"/>
            <a:ext cx="5303520" cy="502920"/>
          </a:xfrm>
          <a:prstGeom prst="rect">
            <a:avLst/>
          </a:prstGeom>
          <a:noFill/>
          <a:ln/>
        </p:spPr>
        <p:txBody>
          <a:bodyPr wrap="square" lIns="0" tIns="0" rIns="0" bIns="0" rtlCol="0" anchor="ctr"/>
          <a:lstStyle/>
          <a:p>
            <a:pPr indent="0" marL="0">
              <a:buNone/>
            </a:pPr>
            <a:r>
              <a:rPr lang="en-US" sz="1900" dirty="0">
                <a:solidFill>
                  <a:schemeClr val="tx1"/>
                </a:solidFill>
              </a:rPr>
              <a:t>텍스트 벡터를 옆 GPU로 넘김</a:t>
            </a:r>
            <a:endParaRPr lang="en-US" sz="1900" dirty="0"/>
          </a:p>
        </p:txBody>
      </p:sp>
      <p:sp>
        <p:nvSpPr>
          <p:cNvPr id="37" name="circle-287"/>
          <p:cNvSpPr/>
          <p:nvPr/>
        </p:nvSpPr>
        <p:spPr>
          <a:xfrm>
            <a:off x="5486400" y="3017520"/>
            <a:ext cx="502920" cy="502920"/>
          </a:xfrm>
          <a:prstGeom prst="ellipse">
            <a:avLst/>
          </a:prstGeom>
          <a:solidFill>
            <a:schemeClr val="accent2"/>
          </a:solidFill>
          <a:ln/>
        </p:spPr>
      </p:sp>
      <p:sp>
        <p:nvSpPr>
          <p:cNvPr id="38" name="text-288"/>
          <p:cNvSpPr txBox="1"/>
          <p:nvPr/>
        </p:nvSpPr>
        <p:spPr>
          <a:xfrm>
            <a:off x="5486400" y="30175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9" name="text-289"/>
          <p:cNvSpPr txBox="1"/>
          <p:nvPr/>
        </p:nvSpPr>
        <p:spPr>
          <a:xfrm>
            <a:off x="6172200" y="3017520"/>
            <a:ext cx="5303520" cy="502920"/>
          </a:xfrm>
          <a:prstGeom prst="rect">
            <a:avLst/>
          </a:prstGeom>
          <a:noFill/>
          <a:ln/>
        </p:spPr>
        <p:txBody>
          <a:bodyPr wrap="square" lIns="0" tIns="0" rIns="0" bIns="0" rtlCol="0" anchor="ctr"/>
          <a:lstStyle/>
          <a:p>
            <a:pPr indent="0" marL="0">
              <a:buNone/>
            </a:pPr>
            <a:r>
              <a:rPr lang="en-US" sz="1900" dirty="0">
                <a:solidFill>
                  <a:schemeClr val="tx1"/>
                </a:solidFill>
              </a:rPr>
              <a:t>한 번 더 넘기고 손실만 합산</a:t>
            </a:r>
            <a:endParaRPr lang="en-US" sz="1900" dirty="0"/>
          </a:p>
        </p:txBody>
      </p:sp>
      <p:sp>
        <p:nvSpPr>
          <p:cNvPr id="40" name="card-290"/>
          <p:cNvSpPr/>
          <p:nvPr/>
        </p:nvSpPr>
        <p:spPr>
          <a:xfrm>
            <a:off x="5486400" y="3977640"/>
            <a:ext cx="6035040" cy="2011680"/>
          </a:xfrm>
          <a:prstGeom prst="roundRect">
            <a:avLst>
              <a:gd name="adj" fmla="val 6364"/>
            </a:avLst>
          </a:prstGeom>
          <a:solidFill>
            <a:schemeClr val="tx1"/>
          </a:solidFill>
          <a:ln/>
        </p:spPr>
      </p:sp>
      <p:sp>
        <p:nvSpPr>
          <p:cNvPr id="41" name="text-291"/>
          <p:cNvSpPr txBox="1"/>
          <p:nvPr/>
        </p:nvSpPr>
        <p:spPr>
          <a:xfrm>
            <a:off x="5760720" y="4114800"/>
            <a:ext cx="5486400" cy="365760"/>
          </a:xfrm>
          <a:prstGeom prst="rect">
            <a:avLst/>
          </a:prstGeom>
          <a:noFill/>
          <a:ln/>
        </p:spPr>
        <p:txBody>
          <a:bodyPr wrap="square" lIns="0" tIns="0" rIns="0" bIns="0" rtlCol="0" anchor="t"/>
          <a:lstStyle/>
          <a:p>
            <a:pPr indent="0" marL="0">
              <a:buNone/>
            </a:pPr>
            <a:r>
              <a:rPr lang="en-US" sz="1400" dirty="0">
                <a:solidFill>
                  <a:schemeClr val="accent6"/>
                </a:solidFill>
              </a:rPr>
              <a:t>논문 사례 (SigLiT: 이미지 인코더 고정)</a:t>
            </a:r>
            <a:endParaRPr lang="en-US" sz="1400" dirty="0"/>
          </a:p>
        </p:txBody>
      </p:sp>
      <p:sp>
        <p:nvSpPr>
          <p:cNvPr id="42" name="text-292"/>
          <p:cNvSpPr txBox="1"/>
          <p:nvPr/>
        </p:nvSpPr>
        <p:spPr>
          <a:xfrm>
            <a:off x="576072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84.5%</a:t>
            </a:r>
            <a:endParaRPr lang="en-US" sz="3200" dirty="0"/>
          </a:p>
        </p:txBody>
      </p:sp>
      <p:sp>
        <p:nvSpPr>
          <p:cNvPr id="43" name="text-293"/>
          <p:cNvSpPr txBox="1"/>
          <p:nvPr/>
        </p:nvSpPr>
        <p:spPr>
          <a:xfrm>
            <a:off x="576072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ImageNet zero-shot</a:t>
            </a:r>
            <a:endParaRPr lang="en-US" sz="1300" dirty="0"/>
          </a:p>
        </p:txBody>
      </p:sp>
      <p:sp>
        <p:nvSpPr>
          <p:cNvPr id="44" name="text-294"/>
          <p:cNvSpPr txBox="1"/>
          <p:nvPr/>
        </p:nvSpPr>
        <p:spPr>
          <a:xfrm>
            <a:off x="768096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2일</a:t>
            </a:r>
            <a:endParaRPr lang="en-US" sz="3200" dirty="0"/>
          </a:p>
        </p:txBody>
      </p:sp>
      <p:sp>
        <p:nvSpPr>
          <p:cNvPr id="45" name="text-295"/>
          <p:cNvSpPr txBox="1"/>
          <p:nvPr/>
        </p:nvSpPr>
        <p:spPr>
          <a:xfrm>
            <a:off x="768096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TPUv4 4개</a:t>
            </a:r>
            <a:endParaRPr lang="en-US" sz="1300" dirty="0"/>
          </a:p>
        </p:txBody>
      </p:sp>
      <p:sp>
        <p:nvSpPr>
          <p:cNvPr id="46" name="text-296"/>
          <p:cNvSpPr txBox="1"/>
          <p:nvPr/>
        </p:nvSpPr>
        <p:spPr>
          <a:xfrm>
            <a:off x="960120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1M</a:t>
            </a:r>
            <a:endParaRPr lang="en-US" sz="3200" dirty="0"/>
          </a:p>
        </p:txBody>
      </p:sp>
      <p:sp>
        <p:nvSpPr>
          <p:cNvPr id="47" name="text-297"/>
          <p:cNvSpPr txBox="1"/>
          <p:nvPr/>
        </p:nvSpPr>
        <p:spPr>
          <a:xfrm>
            <a:off x="960120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최대 배치 실험</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한눈에 비교: CLIP vs SigLIP</a:t>
            </a:r>
            <a:endParaRPr lang="en-US" sz="3000" dirty="0"/>
          </a:p>
        </p:txBody>
      </p:sp>
      <p:graphicFrame>
        <p:nvGraphicFramePr>
          <p:cNvPr id="15" name="compare-table"/>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2743200"/>
                <a:gridCol w="4069080"/>
                <a:gridCol w="4069080"/>
              </a:tblGrid>
              <a:tr h="585216">
                <a:tc>
                  <a:txBody>
                    <a:bodyPr/>
                    <a:lstStyle/>
                    <a:p>
                      <a:pPr indent="0" marL="0">
                        <a:buNone/>
                      </a:pP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CLIP (Softmax)</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6"/>
                    </a:solidFill>
                  </a:tcPr>
                </a:tc>
                <a:tc>
                  <a:txBody>
                    <a:bodyPr/>
                    <a:lstStyle/>
                    <a:p>
                      <a:pPr indent="0" marL="0">
                        <a:buNone/>
                      </a:pPr>
                      <a:r>
                        <a:rPr lang="en-US" sz="1700" b="1" dirty="0">
                          <a:solidFill>
                            <a:schemeClr val="bg1"/>
                          </a:solidFill>
                        </a:rPr>
                        <a:t>SigLIP (Sigmoid)</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3"/>
                    </a:solidFill>
                  </a:tcPr>
                </a:tc>
              </a:tr>
              <a:tr h="585216">
                <a:tc>
                  <a:txBody>
                    <a:bodyPr/>
                    <a:lstStyle/>
                    <a:p>
                      <a:pPr indent="0" marL="0">
                        <a:buNone/>
                      </a:pPr>
                      <a:r>
                        <a:rPr lang="en-US" sz="1700" b="1" dirty="0">
                          <a:solidFill>
                            <a:schemeClr val="tx2"/>
                          </a:solidFill>
                        </a:rPr>
                        <a:t>비유</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객관식</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O/X 퀴즈</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정규화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배치 전체 필요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불필요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메모리</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전체 B×B 표</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GPU별 블록</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작은 배치 (4k~16k)</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약함</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확실히 강함</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큰 배치</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32k 근처에서 둘 다 포화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1M까지 늘려도 이득 거의 없음</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노이즈 섞인 캡션</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성능 저하 큼</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덜 떨어짐</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출력</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상대 확률 (합 = 1)</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쌍별 절대 확률</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① 사진은 미리, 질문만 그때그때</a:t>
            </a:r>
            <a:endParaRPr lang="en-US" sz="3000" dirty="0"/>
          </a:p>
        </p:txBody>
      </p:sp>
      <p:sp>
        <p:nvSpPr>
          <p:cNvPr id="3" name="card-298"/>
          <p:cNvSpPr/>
          <p:nvPr/>
        </p:nvSpPr>
        <p:spPr>
          <a:xfrm>
            <a:off x="640080" y="1371600"/>
            <a:ext cx="10881360" cy="2011680"/>
          </a:xfrm>
          <a:prstGeom prst="roundRect">
            <a:avLst>
              <a:gd name="adj" fmla="val 6364"/>
            </a:avLst>
          </a:prstGeom>
          <a:solidFill>
            <a:schemeClr val="accent1">
              <a:alpha val="8000"/>
            </a:schemeClr>
          </a:solidFill>
          <a:ln/>
        </p:spPr>
      </p:sp>
      <p:sp>
        <p:nvSpPr>
          <p:cNvPr id="4" name="text-299"/>
          <p:cNvSpPr txBox="1"/>
          <p:nvPr/>
        </p:nvSpPr>
        <p:spPr>
          <a:xfrm>
            <a:off x="914400" y="1463040"/>
            <a:ext cx="4572000" cy="457200"/>
          </a:xfrm>
          <a:prstGeom prst="rect">
            <a:avLst/>
          </a:prstGeom>
          <a:noFill/>
          <a:ln/>
        </p:spPr>
        <p:txBody>
          <a:bodyPr wrap="square" lIns="0" tIns="0" rIns="0" bIns="0" rtlCol="0" anchor="t"/>
          <a:lstStyle/>
          <a:p>
            <a:pPr indent="0" marL="0">
              <a:buNone/>
            </a:pPr>
            <a:r>
              <a:rPr lang="en-US" sz="1800" b="1" dirty="0">
                <a:solidFill>
                  <a:schemeClr val="accent1"/>
                </a:solidFill>
              </a:rPr>
              <a:t>오프라인 인덱싱 (한 번만)</a:t>
            </a:r>
            <a:endParaRPr lang="en-US" sz="1800" dirty="0"/>
          </a:p>
        </p:txBody>
      </p:sp>
      <p:pic>
        <p:nvPicPr>
          <p:cNvPr id="5" name="photo-cat-300" descr="고양이 사진">    </p:cNvPr>
          <p:cNvPicPr>
            <a:picLocks noChangeAspect="1"/>
          </p:cNvPicPr>
          <p:nvPr/>
        </p:nvPicPr>
        <p:blipFill>
          <a:blip r:embed="rId1"/>
          <a:stretch>
            <a:fillRect/>
          </a:stretch>
        </p:blipFill>
        <p:spPr>
          <a:xfrm>
            <a:off x="914400" y="2103120"/>
            <a:ext cx="594360" cy="594360"/>
          </a:xfrm>
          <a:prstGeom prst="ellipse">
            <a:avLst/>
          </a:prstGeom>
        </p:spPr>
      </p:pic>
      <p:pic>
        <p:nvPicPr>
          <p:cNvPr id="6" name="photo-coffee-301" descr="커피 사진">    </p:cNvPr>
          <p:cNvPicPr>
            <a:picLocks noChangeAspect="1"/>
          </p:cNvPicPr>
          <p:nvPr/>
        </p:nvPicPr>
        <p:blipFill>
          <a:blip r:embed="rId2"/>
          <a:stretch>
            <a:fillRect/>
          </a:stretch>
        </p:blipFill>
        <p:spPr>
          <a:xfrm>
            <a:off x="1572768" y="2103120"/>
            <a:ext cx="594360" cy="594360"/>
          </a:xfrm>
          <a:prstGeom prst="ellipse">
            <a:avLst/>
          </a:prstGeom>
        </p:spPr>
      </p:pic>
      <p:pic>
        <p:nvPicPr>
          <p:cNvPr id="7" name="photo-rocket-302" descr="로켓 사진">    </p:cNvPr>
          <p:cNvPicPr>
            <a:picLocks noChangeAspect="1"/>
          </p:cNvPicPr>
          <p:nvPr/>
        </p:nvPicPr>
        <p:blipFill>
          <a:blip r:embed="rId3"/>
          <a:stretch>
            <a:fillRect/>
          </a:stretch>
        </p:blipFill>
        <p:spPr>
          <a:xfrm>
            <a:off x="2231136" y="2103120"/>
            <a:ext cx="594360" cy="594360"/>
          </a:xfrm>
          <a:prstGeom prst="ellipse">
            <a:avLst/>
          </a:prstGeom>
        </p:spPr>
      </p:pic>
      <p:pic>
        <p:nvPicPr>
          <p:cNvPr id="8" name="photo-astronaut-303" descr="우주비행사 사진">    </p:cNvPr>
          <p:cNvPicPr>
            <a:picLocks noChangeAspect="1"/>
          </p:cNvPicPr>
          <p:nvPr/>
        </p:nvPicPr>
        <p:blipFill>
          <a:blip r:embed="rId4"/>
          <a:stretch>
            <a:fillRect/>
          </a:stretch>
        </p:blipFill>
        <p:spPr>
          <a:xfrm>
            <a:off x="2889504" y="2103120"/>
            <a:ext cx="594360" cy="594360"/>
          </a:xfrm>
          <a:prstGeom prst="ellipse">
            <a:avLst/>
          </a:prstGeom>
        </p:spPr>
      </p:pic>
      <p:sp>
        <p:nvSpPr>
          <p:cNvPr id="9" name="arrow-304"/>
          <p:cNvSpPr/>
          <p:nvPr/>
        </p:nvSpPr>
        <p:spPr>
          <a:xfrm>
            <a:off x="3611880" y="2395728"/>
            <a:ext cx="548640" cy="0"/>
          </a:xfrm>
          <a:prstGeom prst="line">
            <a:avLst/>
          </a:prstGeom>
          <a:noFill/>
          <a:ln w="31750">
            <a:solidFill>
              <a:schemeClr val="accent1"/>
            </a:solidFill>
            <a:prstDash val="solid"/>
            <a:tailEnd type="triangle"/>
          </a:ln>
        </p:spPr>
      </p:sp>
      <p:sp>
        <p:nvSpPr>
          <p:cNvPr id="10" name="box-305"/>
          <p:cNvSpPr/>
          <p:nvPr/>
        </p:nvSpPr>
        <p:spPr>
          <a:xfrm>
            <a:off x="4297680" y="2011680"/>
            <a:ext cx="2194560" cy="777240"/>
          </a:xfrm>
          <a:prstGeom prst="roundRect">
            <a:avLst>
              <a:gd name="adj" fmla="val 11765"/>
            </a:avLst>
          </a:prstGeom>
          <a:solidFill>
            <a:schemeClr val="accent1"/>
          </a:solidFill>
          <a:ln/>
        </p:spPr>
      </p:sp>
      <p:sp>
        <p:nvSpPr>
          <p:cNvPr id="11" name="text-306"/>
          <p:cNvSpPr txBox="1"/>
          <p:nvPr/>
        </p:nvSpPr>
        <p:spPr>
          <a:xfrm>
            <a:off x="4297680" y="2011680"/>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p:txBody>
      </p:sp>
      <p:sp>
        <p:nvSpPr>
          <p:cNvPr id="12" name="arrow-307"/>
          <p:cNvSpPr/>
          <p:nvPr/>
        </p:nvSpPr>
        <p:spPr>
          <a:xfrm>
            <a:off x="6629400" y="2395728"/>
            <a:ext cx="548640" cy="0"/>
          </a:xfrm>
          <a:prstGeom prst="line">
            <a:avLst/>
          </a:prstGeom>
          <a:noFill/>
          <a:ln w="31750">
            <a:solidFill>
              <a:schemeClr val="accent1"/>
            </a:solidFill>
            <a:prstDash val="solid"/>
            <a:tailEnd type="triangle"/>
          </a:ln>
        </p:spPr>
      </p:sp>
      <p:sp>
        <p:nvSpPr>
          <p:cNvPr id="13" name="circle-308"/>
          <p:cNvSpPr/>
          <p:nvPr/>
        </p:nvSpPr>
        <p:spPr>
          <a:xfrm>
            <a:off x="7360920" y="1874520"/>
            <a:ext cx="1051560" cy="1051560"/>
          </a:xfrm>
          <a:prstGeom prst="ellipse">
            <a:avLst/>
          </a:prstGeom>
          <a:solidFill>
            <a:schemeClr val="tx2"/>
          </a:solidFill>
          <a:ln/>
        </p:spPr>
      </p:sp>
      <p:pic>
        <p:nvPicPr>
          <p:cNvPr id="14" name="icon-FaDatabase-309" descr="FaDatabase">    </p:cNvPr>
          <p:cNvPicPr>
            <a:picLocks noChangeAspect="1"/>
          </p:cNvPicPr>
          <p:nvPr/>
        </p:nvPicPr>
        <p:blipFill>
          <a:blip r:embed="rId5"/>
          <a:stretch>
            <a:fillRect/>
          </a:stretch>
        </p:blipFill>
        <p:spPr>
          <a:xfrm>
            <a:off x="7634326" y="2147926"/>
            <a:ext cx="504749" cy="504749"/>
          </a:xfrm>
          <a:prstGeom prst="rect">
            <a:avLst/>
          </a:prstGeom>
        </p:spPr>
      </p:pic>
      <p:sp>
        <p:nvSpPr>
          <p:cNvPr id="15" name="text-310"/>
          <p:cNvSpPr txBox="1"/>
          <p:nvPr/>
        </p:nvSpPr>
        <p:spPr>
          <a:xfrm>
            <a:off x="8595360" y="1874520"/>
            <a:ext cx="2743200" cy="1051560"/>
          </a:xfrm>
          <a:prstGeom prst="rect">
            <a:avLst/>
          </a:prstGeom>
          <a:noFill/>
          <a:ln/>
        </p:spPr>
        <p:txBody>
          <a:bodyPr wrap="square" lIns="0" tIns="0" rIns="0" bIns="0" rtlCol="0" anchor="ctr"/>
          <a:lstStyle/>
          <a:p>
            <a:pPr indent="0" marL="0">
              <a:buNone/>
            </a:pPr>
            <a:r>
              <a:rPr lang="en-US" sz="1700" b="1" dirty="0">
                <a:solidFill>
                  <a:schemeClr val="tx1"/>
                </a:solidFill>
              </a:rPr>
              <a:t>벡터DB</a:t>
            </a:r>
            <a:endParaRPr lang="en-US" sz="1700" dirty="0"/>
          </a:p>
          <a:p>
            <a:pPr indent="0" marL="0">
              <a:buNone/>
            </a:pPr>
            <a:r>
              <a:rPr lang="en-US" sz="1700" b="1" dirty="0">
                <a:solidFill>
                  <a:schemeClr val="tx1"/>
                </a:solidFill>
              </a:rPr>
              <a:t>(FAISS / Chroma)</a:t>
            </a:r>
            <a:endParaRPr lang="en-US" sz="1700" dirty="0"/>
          </a:p>
        </p:txBody>
      </p:sp>
      <p:sp>
        <p:nvSpPr>
          <p:cNvPr id="16" name="card-311"/>
          <p:cNvSpPr/>
          <p:nvPr/>
        </p:nvSpPr>
        <p:spPr>
          <a:xfrm>
            <a:off x="640080" y="3566160"/>
            <a:ext cx="10881360" cy="2011680"/>
          </a:xfrm>
          <a:prstGeom prst="roundRect">
            <a:avLst>
              <a:gd name="adj" fmla="val 6364"/>
            </a:avLst>
          </a:prstGeom>
          <a:solidFill>
            <a:schemeClr val="accent2">
              <a:alpha val="8000"/>
            </a:schemeClr>
          </a:solidFill>
          <a:ln/>
        </p:spPr>
      </p:sp>
      <p:sp>
        <p:nvSpPr>
          <p:cNvPr id="17" name="text-312"/>
          <p:cNvSpPr txBox="1"/>
          <p:nvPr/>
        </p:nvSpPr>
        <p:spPr>
          <a:xfrm>
            <a:off x="914400" y="3657600"/>
            <a:ext cx="4572000" cy="457200"/>
          </a:xfrm>
          <a:prstGeom prst="rect">
            <a:avLst/>
          </a:prstGeom>
          <a:noFill/>
          <a:ln/>
        </p:spPr>
        <p:txBody>
          <a:bodyPr wrap="square" lIns="0" tIns="0" rIns="0" bIns="0" rtlCol="0" anchor="t"/>
          <a:lstStyle/>
          <a:p>
            <a:pPr indent="0" marL="0">
              <a:buNone/>
            </a:pPr>
            <a:r>
              <a:rPr lang="en-US" sz="1800" b="1" dirty="0">
                <a:solidFill>
                  <a:schemeClr val="accent2"/>
                </a:solidFill>
              </a:rPr>
              <a:t>온라인 검색 (질문마다)</a:t>
            </a:r>
            <a:endParaRPr lang="en-US" sz="1800" dirty="0"/>
          </a:p>
        </p:txBody>
      </p:sp>
      <p:sp>
        <p:nvSpPr>
          <p:cNvPr id="18" name="pill-313"/>
          <p:cNvSpPr/>
          <p:nvPr/>
        </p:nvSpPr>
        <p:spPr>
          <a:xfrm>
            <a:off x="914400" y="4343400"/>
            <a:ext cx="2560320" cy="548640"/>
          </a:xfrm>
          <a:prstGeom prst="roundRect">
            <a:avLst>
              <a:gd name="adj" fmla="val 50000"/>
            </a:avLst>
          </a:prstGeom>
          <a:solidFill>
            <a:schemeClr val="accent2"/>
          </a:solidFill>
          <a:ln/>
        </p:spPr>
      </p:sp>
      <p:sp>
        <p:nvSpPr>
          <p:cNvPr id="19" name="text-314"/>
          <p:cNvSpPr txBox="1"/>
          <p:nvPr/>
        </p:nvSpPr>
        <p:spPr>
          <a:xfrm>
            <a:off x="914400" y="4343400"/>
            <a:ext cx="2560320" cy="548640"/>
          </a:xfrm>
          <a:prstGeom prst="rect">
            <a:avLst/>
          </a:prstGeom>
          <a:noFill/>
          <a:ln/>
        </p:spPr>
        <p:txBody>
          <a:bodyPr wrap="square" lIns="0" tIns="0" rIns="0" bIns="0" rtlCol="0" anchor="ctr"/>
          <a:lstStyle/>
          <a:p>
            <a:pPr algn="ctr" indent="0" marL="0">
              <a:buNone/>
            </a:pPr>
            <a:r>
              <a:rPr lang="en-US" sz="1500" b="1" dirty="0">
                <a:solidFill>
                  <a:schemeClr val="bg1"/>
                </a:solidFill>
              </a:rPr>
              <a:t>“밤에 발사되는 로켓”</a:t>
            </a:r>
            <a:endParaRPr lang="en-US" sz="1500" dirty="0"/>
          </a:p>
        </p:txBody>
      </p:sp>
      <p:sp>
        <p:nvSpPr>
          <p:cNvPr id="20" name="arrow-315"/>
          <p:cNvSpPr/>
          <p:nvPr/>
        </p:nvSpPr>
        <p:spPr>
          <a:xfrm>
            <a:off x="3611880" y="4617720"/>
            <a:ext cx="548640" cy="0"/>
          </a:xfrm>
          <a:prstGeom prst="line">
            <a:avLst/>
          </a:prstGeom>
          <a:noFill/>
          <a:ln w="31750">
            <a:solidFill>
              <a:schemeClr val="accent2"/>
            </a:solidFill>
            <a:prstDash val="solid"/>
            <a:tailEnd type="triangle"/>
          </a:ln>
        </p:spPr>
      </p:sp>
      <p:sp>
        <p:nvSpPr>
          <p:cNvPr id="21" name="box-316"/>
          <p:cNvSpPr/>
          <p:nvPr/>
        </p:nvSpPr>
        <p:spPr>
          <a:xfrm>
            <a:off x="4297680" y="4224528"/>
            <a:ext cx="2194560" cy="777240"/>
          </a:xfrm>
          <a:prstGeom prst="roundRect">
            <a:avLst>
              <a:gd name="adj" fmla="val 11765"/>
            </a:avLst>
          </a:prstGeom>
          <a:solidFill>
            <a:schemeClr val="accent2"/>
          </a:solidFill>
          <a:ln/>
        </p:spPr>
      </p:sp>
      <p:sp>
        <p:nvSpPr>
          <p:cNvPr id="22" name="text-317"/>
          <p:cNvSpPr txBox="1"/>
          <p:nvPr/>
        </p:nvSpPr>
        <p:spPr>
          <a:xfrm>
            <a:off x="4297680" y="4224528"/>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p:txBody>
      </p:sp>
      <p:sp>
        <p:nvSpPr>
          <p:cNvPr id="23" name="arrow-318"/>
          <p:cNvSpPr/>
          <p:nvPr/>
        </p:nvSpPr>
        <p:spPr>
          <a:xfrm>
            <a:off x="6629400" y="4617720"/>
            <a:ext cx="548640" cy="0"/>
          </a:xfrm>
          <a:prstGeom prst="line">
            <a:avLst/>
          </a:prstGeom>
          <a:noFill/>
          <a:ln w="31750">
            <a:solidFill>
              <a:schemeClr val="accent2"/>
            </a:solidFill>
            <a:prstDash val="solid"/>
            <a:tailEnd type="triangle"/>
          </a:ln>
        </p:spPr>
      </p:sp>
      <p:sp>
        <p:nvSpPr>
          <p:cNvPr id="24" name="circle-319"/>
          <p:cNvSpPr/>
          <p:nvPr/>
        </p:nvSpPr>
        <p:spPr>
          <a:xfrm>
            <a:off x="7360920" y="4087368"/>
            <a:ext cx="1051560" cy="1051560"/>
          </a:xfrm>
          <a:prstGeom prst="ellipse">
            <a:avLst/>
          </a:prstGeom>
          <a:solidFill>
            <a:schemeClr val="accent3"/>
          </a:solidFill>
          <a:ln/>
        </p:spPr>
      </p:sp>
      <p:pic>
        <p:nvPicPr>
          <p:cNvPr id="25" name="icon-FaSearch-320" descr="FaSearch">    </p:cNvPr>
          <p:cNvPicPr>
            <a:picLocks noChangeAspect="1"/>
          </p:cNvPicPr>
          <p:nvPr/>
        </p:nvPicPr>
        <p:blipFill>
          <a:blip r:embed="rId6"/>
          <a:stretch>
            <a:fillRect/>
          </a:stretch>
        </p:blipFill>
        <p:spPr>
          <a:xfrm>
            <a:off x="7634326" y="4360774"/>
            <a:ext cx="504749" cy="504749"/>
          </a:xfrm>
          <a:prstGeom prst="rect">
            <a:avLst/>
          </a:prstGeom>
        </p:spPr>
      </p:pic>
      <p:sp>
        <p:nvSpPr>
          <p:cNvPr id="26" name="arrow-321"/>
          <p:cNvSpPr/>
          <p:nvPr/>
        </p:nvSpPr>
        <p:spPr>
          <a:xfrm>
            <a:off x="8549640" y="4617720"/>
            <a:ext cx="457200" cy="0"/>
          </a:xfrm>
          <a:prstGeom prst="line">
            <a:avLst/>
          </a:prstGeom>
          <a:noFill/>
          <a:ln w="31750">
            <a:solidFill>
              <a:schemeClr val="accent3"/>
            </a:solidFill>
            <a:prstDash val="solid"/>
            <a:tailEnd type="triangle"/>
          </a:ln>
        </p:spPr>
      </p:sp>
      <p:pic>
        <p:nvPicPr>
          <p:cNvPr id="27" name="photo-rocket-322" descr="검색 결과 로켓 사진">    </p:cNvPr>
          <p:cNvPicPr>
            <a:picLocks noChangeAspect="1"/>
          </p:cNvPicPr>
          <p:nvPr/>
        </p:nvPicPr>
        <p:blipFill>
          <a:blip r:embed="rId7"/>
          <a:stretch>
            <a:fillRect/>
          </a:stretch>
        </p:blipFill>
        <p:spPr>
          <a:xfrm>
            <a:off x="9189720" y="3931920"/>
            <a:ext cx="1371600" cy="1371600"/>
          </a:xfrm>
          <a:prstGeom prst="rect">
            <a:avLst/>
          </a:prstGeom>
        </p:spPr>
      </p:pic>
      <p:sp>
        <p:nvSpPr>
          <p:cNvPr id="28" name="text-323"/>
          <p:cNvSpPr txBox="1"/>
          <p:nvPr/>
        </p:nvSpPr>
        <p:spPr>
          <a:xfrm>
            <a:off x="640080" y="5715000"/>
            <a:ext cx="10881360" cy="457200"/>
          </a:xfrm>
          <a:prstGeom prst="rect">
            <a:avLst/>
          </a:prstGeom>
          <a:noFill/>
          <a:ln/>
        </p:spPr>
        <p:txBody>
          <a:bodyPr wrap="square" lIns="0" tIns="0" rIns="0" bIns="0" rtlCol="0" anchor="t"/>
          <a:lstStyle/>
          <a:p>
            <a:pPr indent="0" marL="0">
              <a:buNone/>
            </a:pPr>
            <a:r>
              <a:rPr lang="en-US" sz="1500" dirty="0">
                <a:solidFill>
                  <a:schemeClr val="tx2"/>
                </a:solidFill>
              </a:rPr>
              <a:t>3주차 용어로: SigLIP은 Bi-encoder (질문·사진을 따로 인코딩 → 빠름). Cross-encoder는 재정렬용</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② 점수를 ‘확률’로 읽을 수 있다</a:t>
            </a:r>
            <a:endParaRPr lang="en-US" sz="3000" dirty="0"/>
          </a:p>
        </p:txBody>
      </p:sp>
      <p:sp>
        <p:nvSpPr>
          <p:cNvPr id="3" name="pill-324"/>
          <p:cNvSpPr/>
          <p:nvPr/>
        </p:nvSpPr>
        <p:spPr>
          <a:xfrm>
            <a:off x="640080" y="1417320"/>
            <a:ext cx="3291840" cy="548640"/>
          </a:xfrm>
          <a:prstGeom prst="roundRect">
            <a:avLst>
              <a:gd name="adj" fmla="val 50000"/>
            </a:avLst>
          </a:prstGeom>
          <a:solidFill>
            <a:schemeClr val="accent2"/>
          </a:solidFill>
          <a:ln/>
        </p:spPr>
      </p:sp>
      <p:sp>
        <p:nvSpPr>
          <p:cNvPr id="4" name="text-325"/>
          <p:cNvSpPr txBox="1"/>
          <p:nvPr/>
        </p:nvSpPr>
        <p:spPr>
          <a:xfrm>
            <a:off x="640080" y="1417320"/>
            <a:ext cx="3291840" cy="548640"/>
          </a:xfrm>
          <a:prstGeom prst="rect">
            <a:avLst/>
          </a:prstGeom>
          <a:noFill/>
          <a:ln/>
        </p:spPr>
        <p:txBody>
          <a:bodyPr wrap="square" lIns="0" tIns="0" rIns="0" bIns="0" rtlCol="0" anchor="ctr"/>
          <a:lstStyle/>
          <a:p>
            <a:pPr algn="ctr" indent="0" marL="0">
              <a:buNone/>
            </a:pPr>
            <a:r>
              <a:rPr lang="en-US" sz="1700" b="1" dirty="0">
                <a:solidFill>
                  <a:schemeClr val="bg1"/>
                </a:solidFill>
              </a:rPr>
              <a:t>“a photo of a cat”</a:t>
            </a:r>
            <a:endParaRPr lang="en-US" sz="1700" dirty="0"/>
          </a:p>
        </p:txBody>
      </p:sp>
      <p:sp>
        <p:nvSpPr>
          <p:cNvPr id="5" name="score-326"/>
          <p:cNvSpPr/>
          <p:nvPr/>
        </p:nvSpPr>
        <p:spPr>
          <a:xfrm>
            <a:off x="1325880" y="2702966"/>
            <a:ext cx="1097280" cy="2417674"/>
          </a:xfrm>
          <a:prstGeom prst="rect">
            <a:avLst/>
          </a:prstGeom>
          <a:solidFill>
            <a:schemeClr val="accent5"/>
          </a:solidFill>
          <a:ln/>
        </p:spPr>
      </p:sp>
      <p:sp>
        <p:nvSpPr>
          <p:cNvPr id="6" name="text-327"/>
          <p:cNvSpPr txBox="1"/>
          <p:nvPr/>
        </p:nvSpPr>
        <p:spPr>
          <a:xfrm>
            <a:off x="1097280" y="2245766"/>
            <a:ext cx="1554480" cy="411480"/>
          </a:xfrm>
          <a:prstGeom prst="rect">
            <a:avLst/>
          </a:prstGeom>
          <a:noFill/>
          <a:ln/>
        </p:spPr>
        <p:txBody>
          <a:bodyPr wrap="square" lIns="0" tIns="0" rIns="0" bIns="0" rtlCol="0" anchor="t"/>
          <a:lstStyle/>
          <a:p>
            <a:pPr algn="ctr" indent="0" marL="0">
              <a:buNone/>
            </a:pPr>
            <a:r>
              <a:rPr lang="en-US" sz="1800" b="1" dirty="0">
                <a:solidFill>
                  <a:schemeClr val="accent5"/>
                </a:solidFill>
              </a:rPr>
              <a:t>0.93</a:t>
            </a:r>
            <a:endParaRPr lang="en-US" sz="1800" dirty="0"/>
          </a:p>
        </p:txBody>
      </p:sp>
      <p:pic>
        <p:nvPicPr>
          <p:cNvPr id="7" name="photo-cat-328" descr="고양이 사진">    </p:cNvPr>
          <p:cNvPicPr>
            <a:picLocks noChangeAspect="1"/>
          </p:cNvPicPr>
          <p:nvPr/>
        </p:nvPicPr>
        <p:blipFill>
          <a:blip r:embed="rId1"/>
          <a:stretch>
            <a:fillRect/>
          </a:stretch>
        </p:blipFill>
        <p:spPr>
          <a:xfrm>
            <a:off x="1371600" y="5257800"/>
            <a:ext cx="1005840" cy="1005840"/>
          </a:xfrm>
          <a:prstGeom prst="ellipse">
            <a:avLst/>
          </a:prstGeom>
        </p:spPr>
      </p:pic>
      <p:sp>
        <p:nvSpPr>
          <p:cNvPr id="8" name="score-329"/>
          <p:cNvSpPr/>
          <p:nvPr/>
        </p:nvSpPr>
        <p:spPr>
          <a:xfrm>
            <a:off x="4069080" y="5007254"/>
            <a:ext cx="1097280" cy="113386"/>
          </a:xfrm>
          <a:prstGeom prst="rect">
            <a:avLst/>
          </a:prstGeom>
          <a:solidFill>
            <a:schemeClr val="accent6"/>
          </a:solidFill>
          <a:ln/>
        </p:spPr>
      </p:sp>
      <p:sp>
        <p:nvSpPr>
          <p:cNvPr id="9" name="text-330"/>
          <p:cNvSpPr txBox="1"/>
          <p:nvPr/>
        </p:nvSpPr>
        <p:spPr>
          <a:xfrm>
            <a:off x="3840480" y="4550054"/>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0.03</a:t>
            </a:r>
            <a:endParaRPr lang="en-US" sz="1800" dirty="0"/>
          </a:p>
        </p:txBody>
      </p:sp>
      <p:pic>
        <p:nvPicPr>
          <p:cNvPr id="10" name="photo-coffee-331" descr="커피 사진">    </p:cNvPr>
          <p:cNvPicPr>
            <a:picLocks noChangeAspect="1"/>
          </p:cNvPicPr>
          <p:nvPr/>
        </p:nvPicPr>
        <p:blipFill>
          <a:blip r:embed="rId2"/>
          <a:stretch>
            <a:fillRect/>
          </a:stretch>
        </p:blipFill>
        <p:spPr>
          <a:xfrm>
            <a:off x="4114800" y="5257800"/>
            <a:ext cx="1005840" cy="1005840"/>
          </a:xfrm>
          <a:prstGeom prst="ellipse">
            <a:avLst/>
          </a:prstGeom>
        </p:spPr>
      </p:pic>
      <p:sp>
        <p:nvSpPr>
          <p:cNvPr id="11" name="score-332"/>
          <p:cNvSpPr/>
          <p:nvPr/>
        </p:nvSpPr>
        <p:spPr>
          <a:xfrm>
            <a:off x="6812280" y="5058461"/>
            <a:ext cx="1097280" cy="62179"/>
          </a:xfrm>
          <a:prstGeom prst="rect">
            <a:avLst/>
          </a:prstGeom>
          <a:solidFill>
            <a:schemeClr val="accent6"/>
          </a:solidFill>
          <a:ln/>
        </p:spPr>
      </p:sp>
      <p:sp>
        <p:nvSpPr>
          <p:cNvPr id="12" name="text-333"/>
          <p:cNvSpPr txBox="1"/>
          <p:nvPr/>
        </p:nvSpPr>
        <p:spPr>
          <a:xfrm>
            <a:off x="6583680" y="4601261"/>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0.01</a:t>
            </a:r>
            <a:endParaRPr lang="en-US" sz="1800" dirty="0"/>
          </a:p>
        </p:txBody>
      </p:sp>
      <p:pic>
        <p:nvPicPr>
          <p:cNvPr id="13" name="photo-rocket-334" descr="로켓 사진">    </p:cNvPr>
          <p:cNvPicPr>
            <a:picLocks noChangeAspect="1"/>
          </p:cNvPicPr>
          <p:nvPr/>
        </p:nvPicPr>
        <p:blipFill>
          <a:blip r:embed="rId3"/>
          <a:stretch>
            <a:fillRect/>
          </a:stretch>
        </p:blipFill>
        <p:spPr>
          <a:xfrm>
            <a:off x="6858000" y="5257800"/>
            <a:ext cx="1005840" cy="1005840"/>
          </a:xfrm>
          <a:prstGeom prst="ellipse">
            <a:avLst/>
          </a:prstGeom>
        </p:spPr>
      </p:pic>
      <p:sp>
        <p:nvSpPr>
          <p:cNvPr id="14" name="score-335"/>
          <p:cNvSpPr/>
          <p:nvPr/>
        </p:nvSpPr>
        <p:spPr>
          <a:xfrm>
            <a:off x="9555480" y="5032858"/>
            <a:ext cx="1097280" cy="87782"/>
          </a:xfrm>
          <a:prstGeom prst="rect">
            <a:avLst/>
          </a:prstGeom>
          <a:solidFill>
            <a:schemeClr val="accent6"/>
          </a:solidFill>
          <a:ln/>
        </p:spPr>
      </p:sp>
      <p:sp>
        <p:nvSpPr>
          <p:cNvPr id="15" name="text-336"/>
          <p:cNvSpPr txBox="1"/>
          <p:nvPr/>
        </p:nvSpPr>
        <p:spPr>
          <a:xfrm>
            <a:off x="9326880" y="4575658"/>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0.02</a:t>
            </a:r>
            <a:endParaRPr lang="en-US" sz="1800" dirty="0"/>
          </a:p>
        </p:txBody>
      </p:sp>
      <p:pic>
        <p:nvPicPr>
          <p:cNvPr id="16" name="photo-astronaut-337" descr="우주비행사 사진">    </p:cNvPr>
          <p:cNvPicPr>
            <a:picLocks noChangeAspect="1"/>
          </p:cNvPicPr>
          <p:nvPr/>
        </p:nvPicPr>
        <p:blipFill>
          <a:blip r:embed="rId4"/>
          <a:stretch>
            <a:fillRect/>
          </a:stretch>
        </p:blipFill>
        <p:spPr>
          <a:xfrm>
            <a:off x="9601200" y="5257800"/>
            <a:ext cx="1005840" cy="1005840"/>
          </a:xfrm>
          <a:prstGeom prst="ellipse">
            <a:avLst/>
          </a:prstGeom>
        </p:spPr>
      </p:pic>
      <p:sp>
        <p:nvSpPr>
          <p:cNvPr id="17" name="threshold"/>
          <p:cNvSpPr/>
          <p:nvPr/>
        </p:nvSpPr>
        <p:spPr>
          <a:xfrm>
            <a:off x="822960" y="3840480"/>
            <a:ext cx="10607040" cy="0"/>
          </a:xfrm>
          <a:prstGeom prst="line">
            <a:avLst/>
          </a:prstGeom>
          <a:noFill/>
          <a:ln w="25400">
            <a:solidFill>
              <a:schemeClr val="accent4"/>
            </a:solidFill>
            <a:prstDash val="dash"/>
          </a:ln>
        </p:spPr>
      </p:sp>
      <p:sp>
        <p:nvSpPr>
          <p:cNvPr id="18" name="text-338"/>
          <p:cNvSpPr txBox="1"/>
          <p:nvPr/>
        </p:nvSpPr>
        <p:spPr>
          <a:xfrm>
            <a:off x="9966960" y="3429000"/>
            <a:ext cx="1463040" cy="365760"/>
          </a:xfrm>
          <a:prstGeom prst="rect">
            <a:avLst/>
          </a:prstGeom>
          <a:noFill/>
          <a:ln/>
        </p:spPr>
        <p:txBody>
          <a:bodyPr wrap="square" lIns="0" tIns="0" rIns="0" bIns="0" rtlCol="0" anchor="t"/>
          <a:lstStyle/>
          <a:p>
            <a:pPr algn="r" indent="0" marL="0">
              <a:buNone/>
            </a:pPr>
            <a:r>
              <a:rPr lang="en-US" sz="1500" b="1" dirty="0">
                <a:solidFill>
                  <a:schemeClr val="accent4"/>
                </a:solidFill>
              </a:rPr>
              <a:t>임계값 0.5</a:t>
            </a:r>
            <a:endParaRPr lang="en-US" sz="1500" dirty="0"/>
          </a:p>
        </p:txBody>
      </p:sp>
      <p:sp>
        <p:nvSpPr>
          <p:cNvPr id="19" name="card-339"/>
          <p:cNvSpPr/>
          <p:nvPr/>
        </p:nvSpPr>
        <p:spPr>
          <a:xfrm>
            <a:off x="4572000" y="1325880"/>
            <a:ext cx="6949440" cy="731520"/>
          </a:xfrm>
          <a:prstGeom prst="roundRect">
            <a:avLst>
              <a:gd name="adj" fmla="val 17500"/>
            </a:avLst>
          </a:prstGeom>
          <a:solidFill>
            <a:schemeClr val="bg2"/>
          </a:solidFill>
          <a:ln/>
        </p:spPr>
      </p:sp>
      <p:sp>
        <p:nvSpPr>
          <p:cNvPr id="20" name="text-340"/>
          <p:cNvSpPr txBox="1"/>
          <p:nvPr/>
        </p:nvSpPr>
        <p:spPr>
          <a:xfrm>
            <a:off x="4800600" y="1325880"/>
            <a:ext cx="6583680" cy="731520"/>
          </a:xfrm>
          <a:prstGeom prst="rect">
            <a:avLst/>
          </a:prstGeom>
          <a:noFill/>
          <a:ln/>
        </p:spPr>
        <p:txBody>
          <a:bodyPr wrap="square" lIns="0" tIns="0" rIns="0" bIns="0" rtlCol="0" anchor="ctr"/>
          <a:lstStyle/>
          <a:p>
            <a:pPr indent="0" marL="0">
              <a:buNone/>
            </a:pPr>
            <a:r>
              <a:rPr lang="en-US" sz="1700" dirty="0">
                <a:solidFill>
                  <a:schemeClr val="tx1"/>
                </a:solidFill>
              </a:rPr>
              <a:t>관련 없으면 아예 안 보여주기가 쉬움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이번 주 실습 자료</a:t>
            </a:r>
            <a:endParaRPr lang="en-US" sz="3000" dirty="0"/>
          </a:p>
        </p:txBody>
      </p:sp>
      <p:sp>
        <p:nvSpPr>
          <p:cNvPr id="3" name="card-341"/>
          <p:cNvSpPr/>
          <p:nvPr/>
        </p:nvSpPr>
        <p:spPr>
          <a:xfrm>
            <a:off x="640080" y="1325880"/>
            <a:ext cx="10881360" cy="1024128"/>
          </a:xfrm>
          <a:prstGeom prst="roundRect">
            <a:avLst>
              <a:gd name="adj" fmla="val 12500"/>
            </a:avLst>
          </a:prstGeom>
          <a:solidFill>
            <a:schemeClr val="bg2"/>
          </a:solidFill>
          <a:ln/>
        </p:spPr>
      </p:sp>
      <p:sp>
        <p:nvSpPr>
          <p:cNvPr id="4" name="circle-342"/>
          <p:cNvSpPr/>
          <p:nvPr/>
        </p:nvSpPr>
        <p:spPr>
          <a:xfrm>
            <a:off x="868680" y="1490472"/>
            <a:ext cx="694944" cy="694944"/>
          </a:xfrm>
          <a:prstGeom prst="ellipse">
            <a:avLst/>
          </a:prstGeom>
          <a:solidFill>
            <a:schemeClr val="accent3"/>
          </a:solidFill>
          <a:ln/>
        </p:spPr>
      </p:sp>
      <p:pic>
        <p:nvPicPr>
          <p:cNvPr id="5" name="icon-FaPlay-343" descr="FaPlay">    </p:cNvPr>
          <p:cNvPicPr>
            <a:picLocks noChangeAspect="1"/>
          </p:cNvPicPr>
          <p:nvPr/>
        </p:nvPicPr>
        <p:blipFill>
          <a:blip r:embed="rId1"/>
          <a:stretch>
            <a:fillRect/>
          </a:stretch>
        </p:blipFill>
        <p:spPr>
          <a:xfrm>
            <a:off x="1049365" y="1671157"/>
            <a:ext cx="333573" cy="333573"/>
          </a:xfrm>
          <a:prstGeom prst="rect">
            <a:avLst/>
          </a:prstGeom>
        </p:spPr>
      </p:pic>
      <p:sp>
        <p:nvSpPr>
          <p:cNvPr id="6" name="text-344"/>
          <p:cNvSpPr txBox="1"/>
          <p:nvPr/>
        </p:nvSpPr>
        <p:spPr>
          <a:xfrm>
            <a:off x="1783080" y="1325880"/>
            <a:ext cx="2377440" cy="1024128"/>
          </a:xfrm>
          <a:prstGeom prst="rect">
            <a:avLst/>
          </a:prstGeom>
          <a:noFill/>
          <a:ln/>
        </p:spPr>
        <p:txBody>
          <a:bodyPr wrap="square" lIns="0" tIns="0" rIns="0" bIns="0" rtlCol="0" anchor="ctr"/>
          <a:lstStyle/>
          <a:p>
            <a:pPr indent="0" marL="0">
              <a:buNone/>
            </a:pPr>
            <a:r>
              <a:rPr lang="en-US" sz="1700" b="1" dirty="0">
                <a:solidFill>
                  <a:schemeClr val="accent3"/>
                </a:solidFill>
              </a:rPr>
              <a:t>메인 실습</a:t>
            </a:r>
            <a:endParaRPr lang="en-US" sz="1700" dirty="0"/>
          </a:p>
        </p:txBody>
      </p:sp>
      <p:sp>
        <p:nvSpPr>
          <p:cNvPr id="7" name="text-345"/>
          <p:cNvSpPr txBox="1"/>
          <p:nvPr/>
        </p:nvSpPr>
        <p:spPr>
          <a:xfrm>
            <a:off x="4160520" y="146304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Inference with (multilingual) SigLIP 노트북</a:t>
            </a:r>
            <a:endParaRPr lang="en-US" sz="1800" dirty="0"/>
          </a:p>
        </p:txBody>
      </p:sp>
      <p:sp>
        <p:nvSpPr>
          <p:cNvPr id="8" name="text-346"/>
          <p:cNvSpPr txBox="1"/>
          <p:nvPr/>
        </p:nvSpPr>
        <p:spPr>
          <a:xfrm>
            <a:off x="4160520" y="1874520"/>
            <a:ext cx="7223760" cy="365760"/>
          </a:xfrm>
          <a:prstGeom prst="rect">
            <a:avLst/>
          </a:prstGeom>
          <a:noFill/>
          <a:ln/>
        </p:spPr>
        <p:txBody>
          <a:bodyPr wrap="square" lIns="0" tIns="0" rIns="0" bIns="0" rtlCol="0" anchor="t"/>
          <a:lstStyle/>
          <a:p>
            <a:pPr indent="0" marL="0">
              <a:buNone/>
            </a:pPr>
            <a:r>
              <a:rPr lang="en-US" sz="1500" dirty="0">
                <a:solidFill>
                  <a:schemeClr val="tx2"/>
                </a:solidFill>
              </a:rPr>
              <a:t>이미지·텍스트 유사도, 다국어 모델까지</a:t>
            </a:r>
            <a:endParaRPr lang="en-US" sz="1500" dirty="0"/>
          </a:p>
        </p:txBody>
      </p:sp>
      <p:sp>
        <p:nvSpPr>
          <p:cNvPr id="9" name="card-347"/>
          <p:cNvSpPr/>
          <p:nvPr/>
        </p:nvSpPr>
        <p:spPr>
          <a:xfrm>
            <a:off x="640080" y="2514600"/>
            <a:ext cx="10881360" cy="1024128"/>
          </a:xfrm>
          <a:prstGeom prst="roundRect">
            <a:avLst>
              <a:gd name="adj" fmla="val 12500"/>
            </a:avLst>
          </a:prstGeom>
          <a:solidFill>
            <a:schemeClr val="bg2"/>
          </a:solidFill>
          <a:ln/>
        </p:spPr>
      </p:sp>
      <p:sp>
        <p:nvSpPr>
          <p:cNvPr id="10" name="circle-348"/>
          <p:cNvSpPr/>
          <p:nvPr/>
        </p:nvSpPr>
        <p:spPr>
          <a:xfrm>
            <a:off x="868680" y="2679192"/>
            <a:ext cx="694944" cy="694944"/>
          </a:xfrm>
          <a:prstGeom prst="ellipse">
            <a:avLst/>
          </a:prstGeom>
          <a:solidFill>
            <a:schemeClr val="accent1"/>
          </a:solidFill>
          <a:ln/>
        </p:spPr>
      </p:sp>
      <p:pic>
        <p:nvPicPr>
          <p:cNvPr id="11" name="icon-FaBookOpen-349" descr="FaBookOpen">    </p:cNvPr>
          <p:cNvPicPr>
            <a:picLocks noChangeAspect="1"/>
          </p:cNvPicPr>
          <p:nvPr/>
        </p:nvPicPr>
        <p:blipFill>
          <a:blip r:embed="rId3"/>
          <a:stretch>
            <a:fillRect/>
          </a:stretch>
        </p:blipFill>
        <p:spPr>
          <a:xfrm>
            <a:off x="1049365" y="2859877"/>
            <a:ext cx="333573" cy="333573"/>
          </a:xfrm>
          <a:prstGeom prst="rect">
            <a:avLst/>
          </a:prstGeom>
        </p:spPr>
      </p:pic>
      <p:sp>
        <p:nvSpPr>
          <p:cNvPr id="12" name="text-350"/>
          <p:cNvSpPr txBox="1"/>
          <p:nvPr/>
        </p:nvSpPr>
        <p:spPr>
          <a:xfrm>
            <a:off x="1783080" y="2514600"/>
            <a:ext cx="2377440" cy="1024128"/>
          </a:xfrm>
          <a:prstGeom prst="rect">
            <a:avLst/>
          </a:prstGeom>
          <a:noFill/>
          <a:ln/>
        </p:spPr>
        <p:txBody>
          <a:bodyPr wrap="square" lIns="0" tIns="0" rIns="0" bIns="0" rtlCol="0" anchor="ctr"/>
          <a:lstStyle/>
          <a:p>
            <a:pPr indent="0" marL="0">
              <a:buNone/>
            </a:pPr>
            <a:r>
              <a:rPr lang="en-US" sz="1700" b="1" dirty="0">
                <a:solidFill>
                  <a:schemeClr val="accent1"/>
                </a:solidFill>
              </a:rPr>
              <a:t>공식 코드</a:t>
            </a:r>
            <a:endParaRPr lang="en-US" sz="1700" dirty="0"/>
          </a:p>
        </p:txBody>
      </p:sp>
      <p:sp>
        <p:nvSpPr>
          <p:cNvPr id="13" name="text-351"/>
          <p:cNvSpPr txBox="1"/>
          <p:nvPr/>
        </p:nvSpPr>
        <p:spPr>
          <a:xfrm>
            <a:off x="4160520" y="265176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Transformers SigLIP 문서</a:t>
            </a:r>
            <a:endParaRPr lang="en-US" sz="1800" dirty="0"/>
          </a:p>
        </p:txBody>
      </p:sp>
      <p:sp>
        <p:nvSpPr>
          <p:cNvPr id="14" name="text-352"/>
          <p:cNvSpPr txBox="1"/>
          <p:nvPr/>
        </p:nvSpPr>
        <p:spPr>
          <a:xfrm>
            <a:off x="4160520" y="3063240"/>
            <a:ext cx="7223760" cy="365760"/>
          </a:xfrm>
          <a:prstGeom prst="rect">
            <a:avLst/>
          </a:prstGeom>
          <a:noFill/>
          <a:ln/>
        </p:spPr>
        <p:txBody>
          <a:bodyPr wrap="square" lIns="0" tIns="0" rIns="0" bIns="0" rtlCol="0" anchor="t"/>
          <a:lstStyle/>
          <a:p>
            <a:pPr indent="0" marL="0">
              <a:buNone/>
            </a:pPr>
            <a:r>
              <a:rPr lang="en-US" sz="1500" dirty="0">
                <a:solidFill>
                  <a:schemeClr val="tx2"/>
                </a:solidFill>
              </a:rPr>
              <a:t>get_image_features() / get_text_features()</a:t>
            </a:r>
            <a:endParaRPr lang="en-US" sz="1500" dirty="0"/>
          </a:p>
        </p:txBody>
      </p:sp>
      <p:sp>
        <p:nvSpPr>
          <p:cNvPr id="15" name="card-353"/>
          <p:cNvSpPr/>
          <p:nvPr/>
        </p:nvSpPr>
        <p:spPr>
          <a:xfrm>
            <a:off x="640080" y="3703320"/>
            <a:ext cx="10881360" cy="1024128"/>
          </a:xfrm>
          <a:prstGeom prst="roundRect">
            <a:avLst>
              <a:gd name="adj" fmla="val 12500"/>
            </a:avLst>
          </a:prstGeom>
          <a:solidFill>
            <a:schemeClr val="bg2"/>
          </a:solidFill>
          <a:ln/>
        </p:spPr>
      </p:sp>
      <p:sp>
        <p:nvSpPr>
          <p:cNvPr id="16" name="circle-354"/>
          <p:cNvSpPr/>
          <p:nvPr/>
        </p:nvSpPr>
        <p:spPr>
          <a:xfrm>
            <a:off x="868680" y="3867912"/>
            <a:ext cx="694944" cy="694944"/>
          </a:xfrm>
          <a:prstGeom prst="ellipse">
            <a:avLst/>
          </a:prstGeom>
          <a:solidFill>
            <a:schemeClr val="accent2"/>
          </a:solidFill>
          <a:ln/>
        </p:spPr>
      </p:sp>
      <p:pic>
        <p:nvPicPr>
          <p:cNvPr id="17" name="icon-FaSearch-355" descr="FaSearch">    </p:cNvPr>
          <p:cNvPicPr>
            <a:picLocks noChangeAspect="1"/>
          </p:cNvPicPr>
          <p:nvPr/>
        </p:nvPicPr>
        <p:blipFill>
          <a:blip r:embed="rId5"/>
          <a:stretch>
            <a:fillRect/>
          </a:stretch>
        </p:blipFill>
        <p:spPr>
          <a:xfrm>
            <a:off x="1049365" y="4048597"/>
            <a:ext cx="333573" cy="333573"/>
          </a:xfrm>
          <a:prstGeom prst="rect">
            <a:avLst/>
          </a:prstGeom>
        </p:spPr>
      </p:pic>
      <p:sp>
        <p:nvSpPr>
          <p:cNvPr id="18" name="text-356"/>
          <p:cNvSpPr txBox="1"/>
          <p:nvPr/>
        </p:nvSpPr>
        <p:spPr>
          <a:xfrm>
            <a:off x="1783080" y="3703320"/>
            <a:ext cx="2377440" cy="1024128"/>
          </a:xfrm>
          <a:prstGeom prst="rect">
            <a:avLst/>
          </a:prstGeom>
          <a:noFill/>
          <a:ln/>
        </p:spPr>
        <p:txBody>
          <a:bodyPr wrap="square" lIns="0" tIns="0" rIns="0" bIns="0" rtlCol="0" anchor="ctr"/>
          <a:lstStyle/>
          <a:p>
            <a:pPr indent="0" marL="0">
              <a:buNone/>
            </a:pPr>
            <a:r>
              <a:rPr lang="en-US" sz="1700" b="1" dirty="0">
                <a:solidFill>
                  <a:schemeClr val="accent2"/>
                </a:solidFill>
              </a:rPr>
              <a:t>5주차 미리보기</a:t>
            </a:r>
            <a:endParaRPr lang="en-US" sz="1700" dirty="0"/>
          </a:p>
        </p:txBody>
      </p:sp>
      <p:sp>
        <p:nvSpPr>
          <p:cNvPr id="19" name="text-357"/>
          <p:cNvSpPr txBox="1"/>
          <p:nvPr/>
        </p:nvSpPr>
        <p:spPr>
          <a:xfrm>
            <a:off x="4160520" y="384048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6" invalidUrl="" action="" tgtFrame="" tooltip="" history="1" highlightClick="0" endSnd="0">
                  <a:extLst>
                    <a:ext uri="{A12FA001-AC4F-418D-AE19-62706E023703}">
                      <ahyp:hlinkClr xmlns:ahyp="http://schemas.microsoft.com/office/drawing/2018/hyperlinkcolor" val="tx"/>
                    </a:ext>
                  </a:extLst>
                </a:hlinkClick>
              </a:rPr>
              <a:t>smol-vision: Image Search with MetaCLIP2</a:t>
            </a:r>
            <a:endParaRPr lang="en-US" sz="1800" dirty="0"/>
          </a:p>
        </p:txBody>
      </p:sp>
      <p:sp>
        <p:nvSpPr>
          <p:cNvPr id="20" name="text-358"/>
          <p:cNvSpPr txBox="1"/>
          <p:nvPr/>
        </p:nvSpPr>
        <p:spPr>
          <a:xfrm>
            <a:off x="4160520" y="4251960"/>
            <a:ext cx="7223760" cy="365760"/>
          </a:xfrm>
          <a:prstGeom prst="rect">
            <a:avLst/>
          </a:prstGeom>
          <a:noFill/>
          <a:ln/>
        </p:spPr>
        <p:txBody>
          <a:bodyPr wrap="square" lIns="0" tIns="0" rIns="0" bIns="0" rtlCol="0" anchor="t"/>
          <a:lstStyle/>
          <a:p>
            <a:pPr indent="0" marL="0">
              <a:buNone/>
            </a:pPr>
            <a:r>
              <a:rPr lang="en-US" sz="1500" dirty="0">
                <a:solidFill>
                  <a:schemeClr val="tx2"/>
                </a:solidFill>
              </a:rPr>
              <a:t>(선택) 모델만 SigLIP으로 바꾸면 5주차 과제</a:t>
            </a:r>
            <a:endParaRPr lang="en-US" sz="1500" dirty="0"/>
          </a:p>
        </p:txBody>
      </p:sp>
      <p:sp>
        <p:nvSpPr>
          <p:cNvPr id="21" name="card-359"/>
          <p:cNvSpPr/>
          <p:nvPr/>
        </p:nvSpPr>
        <p:spPr>
          <a:xfrm>
            <a:off x="640080" y="4892040"/>
            <a:ext cx="10881360" cy="1024128"/>
          </a:xfrm>
          <a:prstGeom prst="roundRect">
            <a:avLst>
              <a:gd name="adj" fmla="val 12500"/>
            </a:avLst>
          </a:prstGeom>
          <a:solidFill>
            <a:schemeClr val="bg2"/>
          </a:solidFill>
          <a:ln/>
        </p:spPr>
      </p:sp>
      <p:sp>
        <p:nvSpPr>
          <p:cNvPr id="22" name="circle-360"/>
          <p:cNvSpPr/>
          <p:nvPr/>
        </p:nvSpPr>
        <p:spPr>
          <a:xfrm>
            <a:off x="868680" y="5056632"/>
            <a:ext cx="694944" cy="694944"/>
          </a:xfrm>
          <a:prstGeom prst="ellipse">
            <a:avLst/>
          </a:prstGeom>
          <a:solidFill>
            <a:schemeClr val="tx2"/>
          </a:solidFill>
          <a:ln/>
        </p:spPr>
      </p:sp>
      <p:pic>
        <p:nvPicPr>
          <p:cNvPr id="23" name="icon-FaFlask-361" descr="FaFlask">    </p:cNvPr>
          <p:cNvPicPr>
            <a:picLocks noChangeAspect="1"/>
          </p:cNvPicPr>
          <p:nvPr/>
        </p:nvPicPr>
        <p:blipFill>
          <a:blip r:embed="rId7"/>
          <a:stretch>
            <a:fillRect/>
          </a:stretch>
        </p:blipFill>
        <p:spPr>
          <a:xfrm>
            <a:off x="1049365" y="5237317"/>
            <a:ext cx="333573" cy="333573"/>
          </a:xfrm>
          <a:prstGeom prst="rect">
            <a:avLst/>
          </a:prstGeom>
        </p:spPr>
      </p:pic>
      <p:sp>
        <p:nvSpPr>
          <p:cNvPr id="24" name="text-362"/>
          <p:cNvSpPr txBox="1"/>
          <p:nvPr/>
        </p:nvSpPr>
        <p:spPr>
          <a:xfrm>
            <a:off x="1783080" y="4892040"/>
            <a:ext cx="2377440" cy="1024128"/>
          </a:xfrm>
          <a:prstGeom prst="rect">
            <a:avLst/>
          </a:prstGeom>
          <a:noFill/>
          <a:ln/>
        </p:spPr>
        <p:txBody>
          <a:bodyPr wrap="square" lIns="0" tIns="0" rIns="0" bIns="0" rtlCol="0" anchor="ctr"/>
          <a:lstStyle/>
          <a:p>
            <a:pPr indent="0" marL="0">
              <a:buNone/>
            </a:pPr>
            <a:r>
              <a:rPr lang="en-US" sz="1700" b="1" dirty="0">
                <a:solidFill>
                  <a:schemeClr val="tx2"/>
                </a:solidFill>
              </a:rPr>
              <a:t>심화 참고</a:t>
            </a:r>
            <a:endParaRPr lang="en-US" sz="1700" dirty="0"/>
          </a:p>
        </p:txBody>
      </p:sp>
      <p:sp>
        <p:nvSpPr>
          <p:cNvPr id="25" name="text-363"/>
          <p:cNvSpPr txBox="1"/>
          <p:nvPr/>
        </p:nvSpPr>
        <p:spPr>
          <a:xfrm>
            <a:off x="4160520" y="502920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8" invalidUrl="" action="" tgtFrame="" tooltip="" history="1" highlightClick="0" endSnd="0">
                  <a:extLst>
                    <a:ext uri="{A12FA001-AC4F-418D-AE19-62706E023703}">
                      <ahyp:hlinkClr xmlns:ahyp="http://schemas.microsoft.com/office/drawing/2018/hyperlinkcolor" val="tx"/>
                    </a:ext>
                  </a:extLst>
                </a:hlinkClick>
              </a:rPr>
              <a:t>Google big_vision SigLIP 데모</a:t>
            </a:r>
            <a:endParaRPr lang="en-US" sz="1800" dirty="0"/>
          </a:p>
        </p:txBody>
      </p:sp>
      <p:sp>
        <p:nvSpPr>
          <p:cNvPr id="26" name="text-364"/>
          <p:cNvSpPr txBox="1"/>
          <p:nvPr/>
        </p:nvSpPr>
        <p:spPr>
          <a:xfrm>
            <a:off x="4160520" y="5440680"/>
            <a:ext cx="7223760" cy="365760"/>
          </a:xfrm>
          <a:prstGeom prst="rect">
            <a:avLst/>
          </a:prstGeom>
          <a:noFill/>
          <a:ln/>
        </p:spPr>
        <p:txBody>
          <a:bodyPr wrap="square" lIns="0" tIns="0" rIns="0" bIns="0" rtlCol="0" anchor="t"/>
          <a:lstStyle/>
          <a:p>
            <a:pPr indent="0" marL="0">
              <a:buNone/>
            </a:pPr>
            <a:r>
              <a:rPr lang="en-US" sz="1500" dirty="0">
                <a:solidFill>
                  <a:schemeClr val="tx2"/>
                </a:solidFill>
              </a:rPr>
              <a:t>논문 저자 공식 데모 (JAX, 참고만)</a:t>
            </a:r>
            <a:endParaRPr lang="en-US" sz="1500" dirty="0"/>
          </a:p>
        </p:txBody>
      </p:sp>
      <p:sp>
        <p:nvSpPr>
          <p:cNvPr id="27" name="text-365"/>
          <p:cNvSpPr txBox="1"/>
          <p:nvPr/>
        </p:nvSpPr>
        <p:spPr>
          <a:xfrm>
            <a:off x="640080" y="6035040"/>
            <a:ext cx="10881360" cy="274320"/>
          </a:xfrm>
          <a:prstGeom prst="rect">
            <a:avLst/>
          </a:prstGeom>
          <a:noFill/>
          <a:ln/>
        </p:spPr>
        <p:txBody>
          <a:bodyPr wrap="square" lIns="0" tIns="0" rIns="0" bIns="0" rtlCol="0" anchor="t"/>
          <a:lstStyle/>
          <a:p>
            <a:pPr indent="0" marL="0">
              <a:buNone/>
            </a:pPr>
            <a:r>
              <a:rPr lang="en-US" sz="1200" dirty="0">
                <a:solidFill>
                  <a:schemeClr val="tx2"/>
                </a:solidFill>
              </a:rPr>
              <a:t>이름을 클릭하면 링크로 이동 · 다음 슬라이드의 코드는 이 자료들에서 가져왔음</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① 이미지·텍스트 임베딩 뽑기 (공식 예제)</a:t>
            </a:r>
            <a:endParaRPr lang="en-US" sz="3000" dirty="0"/>
          </a:p>
        </p:txBody>
      </p:sp>
      <p:sp>
        <p:nvSpPr>
          <p:cNvPr id="3" name="codebg-366"/>
          <p:cNvSpPr/>
          <p:nvPr/>
        </p:nvSpPr>
        <p:spPr>
          <a:xfrm>
            <a:off x="640080" y="1280160"/>
            <a:ext cx="7498080" cy="4663440"/>
          </a:xfrm>
          <a:prstGeom prst="roundRect">
            <a:avLst>
              <a:gd name="adj" fmla="val 2353"/>
            </a:avLst>
          </a:prstGeom>
          <a:solidFill>
            <a:schemeClr val="tx1"/>
          </a:solidFill>
          <a:ln/>
        </p:spPr>
      </p:sp>
      <p:sp>
        <p:nvSpPr>
          <p:cNvPr id="4" name="text-367"/>
          <p:cNvSpPr txBox="1"/>
          <p:nvPr/>
        </p:nvSpPr>
        <p:spPr>
          <a:xfrm>
            <a:off x="914400" y="1508760"/>
            <a:ext cx="6949440" cy="4206240"/>
          </a:xfrm>
          <a:prstGeom prst="rect">
            <a:avLst/>
          </a:prstGeom>
          <a:noFill/>
          <a:ln/>
        </p:spPr>
        <p:txBody>
          <a:bodyPr wrap="square" lIns="0" tIns="0" rIns="0" bIns="0" rtlCol="0" anchor="t"/>
          <a:lstStyle/>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import torch</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from transformers import AutoProcessor, AutoModel</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from transformers.image_utils import load_image</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ckpt = "google/siglip-base-patch16-224"</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model = AutoModel.from_pretrained(ckpt)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processor = AutoProcessor.from_pretrained(ckpt)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url = "http://images.cocodataset.org/val2017/000000039769.jpg"</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image = load_image(url)</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inputs = processor(images=image, return_tensors="pt")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with torch.no_grad():</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image_features = model.get_image_features(**inputs)</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10000"/>
              </a:lnSpc>
              <a:buNone/>
            </a:pPr>
            <a:r>
              <a:rPr lang="en-US" sz="1300" dirty="0">
                <a:solidFill>
                  <a:srgbClr val="FBBF24"/>
                </a:solidFill>
                <a:latin typeface="Courier New" pitchFamily="34" charset="0"/>
                <a:ea typeface="Courier New" pitchFamily="34" charset="-122"/>
                <a:cs typeface="Courier New" pitchFamily="34" charset="-120"/>
              </a:rPr>
              <a:t># important: padding="max_length" (학습 때와 동일하게)</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inputs = processor(text=["a photo of a cat", "a photo of a dog"],</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padding="max_length", return_tensors="pt")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with torch.no_grad():</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text_features = model.get_text_features(**inputs)</a:t>
            </a:r>
            <a:endParaRPr lang="en-US" sz="1300" dirty="0"/>
          </a:p>
        </p:txBody>
      </p:sp>
      <p:sp>
        <p:nvSpPr>
          <p:cNvPr id="5" name="text-368"/>
          <p:cNvSpPr txBox="1"/>
          <p:nvPr/>
        </p:nvSpPr>
        <p:spPr>
          <a:xfrm>
            <a:off x="640080" y="598932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Transformers SiglipModel 공식 예제 (get_text_features는 processor로 통일)</a:t>
            </a:r>
            <a:endParaRPr lang="en-US" sz="1100" dirty="0"/>
          </a:p>
        </p:txBody>
      </p:sp>
      <p:sp>
        <p:nvSpPr>
          <p:cNvPr id="6" name="card-369"/>
          <p:cNvSpPr/>
          <p:nvPr/>
        </p:nvSpPr>
        <p:spPr>
          <a:xfrm>
            <a:off x="8412480" y="1280160"/>
            <a:ext cx="3108960" cy="4663440"/>
          </a:xfrm>
          <a:prstGeom prst="roundRect">
            <a:avLst>
              <a:gd name="adj" fmla="val 4118"/>
            </a:avLst>
          </a:prstGeom>
          <a:solidFill>
            <a:schemeClr val="accent4">
              <a:alpha val="8000"/>
            </a:schemeClr>
          </a:solidFill>
          <a:ln/>
        </p:spPr>
      </p:sp>
      <p:sp>
        <p:nvSpPr>
          <p:cNvPr id="7" name="circle-370"/>
          <p:cNvSpPr/>
          <p:nvPr/>
        </p:nvSpPr>
        <p:spPr>
          <a:xfrm>
            <a:off x="8641080" y="1508760"/>
            <a:ext cx="640080" cy="640080"/>
          </a:xfrm>
          <a:prstGeom prst="ellipse">
            <a:avLst/>
          </a:prstGeom>
          <a:solidFill>
            <a:schemeClr val="accent4"/>
          </a:solidFill>
          <a:ln/>
        </p:spPr>
      </p:sp>
      <p:pic>
        <p:nvPicPr>
          <p:cNvPr id="8" name="icon-FaExclamationTriangle-371" descr="FaExclamationTriangle">    </p:cNvPr>
          <p:cNvPicPr>
            <a:picLocks noChangeAspect="1"/>
          </p:cNvPicPr>
          <p:nvPr/>
        </p:nvPicPr>
        <p:blipFill>
          <a:blip r:embed="rId2"/>
          <a:stretch>
            <a:fillRect/>
          </a:stretch>
        </p:blipFill>
        <p:spPr>
          <a:xfrm>
            <a:off x="8807501" y="1675181"/>
            <a:ext cx="307238" cy="307238"/>
          </a:xfrm>
          <a:prstGeom prst="rect">
            <a:avLst/>
          </a:prstGeom>
        </p:spPr>
      </p:pic>
      <p:sp>
        <p:nvSpPr>
          <p:cNvPr id="9" name="text-372"/>
          <p:cNvSpPr txBox="1"/>
          <p:nvPr/>
        </p:nvSpPr>
        <p:spPr>
          <a:xfrm>
            <a:off x="9372600" y="1554480"/>
            <a:ext cx="2103120" cy="548640"/>
          </a:xfrm>
          <a:prstGeom prst="rect">
            <a:avLst/>
          </a:prstGeom>
          <a:noFill/>
          <a:ln/>
        </p:spPr>
        <p:txBody>
          <a:bodyPr wrap="square" lIns="0" tIns="0" rIns="0" bIns="0" rtlCol="0" anchor="ctr"/>
          <a:lstStyle/>
          <a:p>
            <a:pPr indent="0" marL="0">
              <a:buNone/>
            </a:pPr>
            <a:r>
              <a:rPr lang="en-US" sz="1600" b="1" dirty="0">
                <a:solidFill>
                  <a:schemeClr val="accent4"/>
                </a:solidFill>
              </a:rPr>
              <a:t>transformers 5.x 주의</a:t>
            </a:r>
            <a:endParaRPr lang="en-US" sz="1600" dirty="0"/>
          </a:p>
        </p:txBody>
      </p:sp>
      <p:sp>
        <p:nvSpPr>
          <p:cNvPr id="10" name="text-373"/>
          <p:cNvSpPr txBox="1"/>
          <p:nvPr/>
        </p:nvSpPr>
        <p:spPr>
          <a:xfrm>
            <a:off x="8641080" y="2331720"/>
            <a:ext cx="2697480" cy="914400"/>
          </a:xfrm>
          <a:prstGeom prst="rect">
            <a:avLst/>
          </a:prstGeom>
          <a:noFill/>
          <a:ln/>
        </p:spPr>
        <p:txBody>
          <a:bodyPr wrap="square" lIns="0" tIns="0" rIns="0" bIns="0" rtlCol="0" anchor="t"/>
          <a:lstStyle/>
          <a:p>
            <a:pPr indent="0" marL="0">
              <a:buNone/>
            </a:pPr>
            <a:r>
              <a:rPr lang="en-US" sz="1500" dirty="0">
                <a:solidFill>
                  <a:schemeClr val="tx1"/>
                </a:solidFill>
              </a:rPr>
              <a:t>결과가 텐서가 아니라 출력 객체로 바뀜. 벡터는 여기에:</a:t>
            </a:r>
            <a:endParaRPr lang="en-US" sz="1500" dirty="0"/>
          </a:p>
        </p:txBody>
      </p:sp>
      <p:sp>
        <p:nvSpPr>
          <p:cNvPr id="11" name="card-374"/>
          <p:cNvSpPr/>
          <p:nvPr/>
        </p:nvSpPr>
        <p:spPr>
          <a:xfrm>
            <a:off x="8641080" y="3291840"/>
            <a:ext cx="2697480" cy="548640"/>
          </a:xfrm>
          <a:prstGeom prst="roundRect">
            <a:avLst>
              <a:gd name="adj" fmla="val 23333"/>
            </a:avLst>
          </a:prstGeom>
          <a:solidFill>
            <a:schemeClr val="tx1"/>
          </a:solidFill>
          <a:ln/>
        </p:spPr>
      </p:sp>
      <p:sp>
        <p:nvSpPr>
          <p:cNvPr id="12" name="text-375"/>
          <p:cNvSpPr txBox="1"/>
          <p:nvPr/>
        </p:nvSpPr>
        <p:spPr>
          <a:xfrm>
            <a:off x="8732520" y="3291840"/>
            <a:ext cx="2514600" cy="548640"/>
          </a:xfrm>
          <a:prstGeom prst="rect">
            <a:avLst/>
          </a:prstGeom>
          <a:noFill/>
          <a:ln/>
        </p:spPr>
        <p:txBody>
          <a:bodyPr wrap="square" lIns="0" tIns="0" rIns="0" bIns="0" rtlCol="0" anchor="ctr"/>
          <a:lstStyle/>
          <a:p>
            <a:pPr algn="ctr" indent="0" marL="0">
              <a:buNone/>
            </a:pPr>
            <a:r>
              <a:rPr lang="en-US" sz="1500" b="1" dirty="0">
                <a:solidFill>
                  <a:srgbClr val="FBBF24"/>
                </a:solidFill>
                <a:latin typeface="Courier New" pitchFamily="34" charset="0"/>
                <a:ea typeface="Courier New" pitchFamily="34" charset="-122"/>
                <a:cs typeface="Courier New" pitchFamily="34" charset="-120"/>
              </a:rPr>
              <a:t>.pooler_output</a:t>
            </a:r>
            <a:endParaRPr lang="en-US" sz="1500" dirty="0"/>
          </a:p>
        </p:txBody>
      </p:sp>
      <p:sp>
        <p:nvSpPr>
          <p:cNvPr id="13" name="text-376"/>
          <p:cNvSpPr txBox="1"/>
          <p:nvPr/>
        </p:nvSpPr>
        <p:spPr>
          <a:xfrm>
            <a:off x="8641080" y="4023360"/>
            <a:ext cx="2697480" cy="365760"/>
          </a:xfrm>
          <a:prstGeom prst="rect">
            <a:avLst/>
          </a:prstGeom>
          <a:noFill/>
          <a:ln/>
        </p:spPr>
        <p:txBody>
          <a:bodyPr wrap="square" lIns="0" tIns="0" rIns="0" bIns="0" rtlCol="0" anchor="t"/>
          <a:lstStyle/>
          <a:p>
            <a:pPr indent="0" marL="0">
              <a:buNone/>
            </a:pPr>
            <a:r>
              <a:rPr lang="en-US" sz="1400" b="1" dirty="0">
                <a:solidFill>
                  <a:schemeClr val="tx1"/>
                </a:solidFill>
              </a:rPr>
              <a:t>4.x와 5.x 모두 되게:</a:t>
            </a:r>
            <a:endParaRPr lang="en-US" sz="1400" dirty="0"/>
          </a:p>
        </p:txBody>
      </p:sp>
      <p:sp>
        <p:nvSpPr>
          <p:cNvPr id="14" name="text-377"/>
          <p:cNvSpPr txBox="1"/>
          <p:nvPr/>
        </p:nvSpPr>
        <p:spPr>
          <a:xfrm>
            <a:off x="8641080" y="4389120"/>
            <a:ext cx="2697480" cy="8229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f = getattr(f, "pooler_output", f)</a:t>
            </a:r>
            <a:endParaRPr lang="en-US" sz="1200" dirty="0"/>
          </a:p>
        </p:txBody>
      </p:sp>
      <p:sp>
        <p:nvSpPr>
          <p:cNvPr id="15" name="text-378"/>
          <p:cNvSpPr txBox="1"/>
          <p:nvPr/>
        </p:nvSpPr>
        <p:spPr>
          <a:xfrm>
            <a:off x="8641080" y="5257800"/>
            <a:ext cx="2697480" cy="457200"/>
          </a:xfrm>
          <a:prstGeom prst="rect">
            <a:avLst/>
          </a:prstGeom>
          <a:noFill/>
          <a:ln/>
        </p:spPr>
        <p:txBody>
          <a:bodyPr wrap="square" lIns="0" tIns="0" rIns="0" bIns="0" rtlCol="0" anchor="t"/>
          <a:lstStyle/>
          <a:p>
            <a:pPr indent="0" marL="0">
              <a:buNone/>
            </a:pPr>
            <a:r>
              <a:rPr lang="en-US" sz="1400" dirty="0">
                <a:solidFill>
                  <a:schemeClr val="tx2"/>
                </a:solidFill>
              </a:rPr>
              <a:t>base 기준 768차원</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② 사진과 문장 짝 확인하기 (메인 노트북)</a:t>
            </a:r>
            <a:endParaRPr lang="en-US" sz="3000" dirty="0"/>
          </a:p>
        </p:txBody>
      </p:sp>
      <p:sp>
        <p:nvSpPr>
          <p:cNvPr id="3" name="codebg-379"/>
          <p:cNvSpPr/>
          <p:nvPr/>
        </p:nvSpPr>
        <p:spPr>
          <a:xfrm>
            <a:off x="640080" y="1280160"/>
            <a:ext cx="7498080" cy="3977640"/>
          </a:xfrm>
          <a:prstGeom prst="roundRect">
            <a:avLst>
              <a:gd name="adj" fmla="val 2759"/>
            </a:avLst>
          </a:prstGeom>
          <a:solidFill>
            <a:schemeClr val="tx1"/>
          </a:solidFill>
          <a:ln/>
        </p:spPr>
      </p:sp>
      <p:sp>
        <p:nvSpPr>
          <p:cNvPr id="4" name="text-380"/>
          <p:cNvSpPr txBox="1"/>
          <p:nvPr/>
        </p:nvSpPr>
        <p:spPr>
          <a:xfrm>
            <a:off x="914400" y="1508760"/>
            <a:ext cx="6949440" cy="3520440"/>
          </a:xfrm>
          <a:prstGeom prst="rect">
            <a:avLst/>
          </a:prstGeom>
          <a:noFill/>
          <a:ln/>
        </p:spPr>
        <p:txBody>
          <a:bodyPr wrap="square" lIns="0" tIns="0" rIns="0" bIns="0" rtlCol="0" anchor="t"/>
          <a:lstStyle/>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from transformers import AutoProcessor, AutoModel</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ckpt = "google/siglip-so400m-patch14-384"</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processor = AutoProcessor.from_pretrained(ckpt)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model = AutoModel.from_pretrained(ckpt)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texts = ["a photo of 2 cats", "a photo of 2 hamburgers",</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 photo of 2 dogs"]</a:t>
            </a:r>
            <a:endParaRPr lang="en-US" sz="1300" dirty="0"/>
          </a:p>
          <a:p>
            <a:pPr indent="0" marL="0">
              <a:lnSpc>
                <a:spcPct val="110000"/>
              </a:lnSpc>
              <a:buNone/>
            </a:pPr>
            <a:r>
              <a:rPr lang="en-US" sz="1300" dirty="0">
                <a:solidFill>
                  <a:srgbClr val="FBBF24"/>
                </a:solidFill>
                <a:latin typeface="Courier New" pitchFamily="34" charset="0"/>
                <a:ea typeface="Courier New" pitchFamily="34" charset="-122"/>
                <a:cs typeface="Courier New" pitchFamily="34" charset="-120"/>
              </a:rPr>
              <a:t># important: we pass padding="max_length"</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inputs = processor(text=texts, images=image, padding="max_length",</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return_tensors="pt")</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with torch.no_grad():</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outputs = model(**inputs)</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lnSpc>
                <a:spcPct val="110000"/>
              </a:lnSpc>
              <a:buNone/>
            </a:pPr>
            <a:r>
              <a:rPr lang="en-US" sz="1300" dirty="0">
                <a:solidFill>
                  <a:schemeClr val="bg1"/>
                </a:solidFill>
                <a:latin typeface="Courier New" pitchFamily="34" charset="0"/>
                <a:ea typeface="Courier New" pitchFamily="34" charset="-122"/>
                <a:cs typeface="Courier New" pitchFamily="34" charset="-120"/>
              </a:rPr>
              <a:t>probs = torch.sigmoid(outputs.logits_per_image)</a:t>
            </a:r>
            <a:r>
              <a:rPr lang="en-US" sz="1300" dirty="0">
                <a:solidFill>
                  <a:srgbClr val="FBBF24"/>
                </a:solidFill>
                <a:latin typeface="Courier New" pitchFamily="34" charset="0"/>
                <a:ea typeface="Courier New" pitchFamily="34" charset="-122"/>
                <a:cs typeface="Courier New" pitchFamily="34" charset="-120"/>
              </a:rPr>
              <a:t>  # probabilities</a:t>
            </a:r>
            <a:endParaRPr lang="en-US" sz="1300" dirty="0"/>
          </a:p>
        </p:txBody>
      </p:sp>
      <p:sp>
        <p:nvSpPr>
          <p:cNvPr id="5" name="text-381"/>
          <p:cNvSpPr txBox="1"/>
          <p:nvPr/>
        </p:nvSpPr>
        <p:spPr>
          <a:xfrm>
            <a:off x="640080" y="534924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Inference with (multilingual) SigLIP 노트북</a:t>
            </a:r>
            <a:endParaRPr lang="en-US" sz="1100" dirty="0"/>
          </a:p>
        </p:txBody>
      </p:sp>
      <p:sp>
        <p:nvSpPr>
          <p:cNvPr id="6" name="text-382"/>
          <p:cNvSpPr txBox="1"/>
          <p:nvPr/>
        </p:nvSpPr>
        <p:spPr>
          <a:xfrm>
            <a:off x="8412480" y="1280160"/>
            <a:ext cx="3108960" cy="411480"/>
          </a:xfrm>
          <a:prstGeom prst="rect">
            <a:avLst/>
          </a:prstGeom>
          <a:noFill/>
          <a:ln/>
        </p:spPr>
        <p:txBody>
          <a:bodyPr wrap="square" lIns="0" tIns="0" rIns="0" bIns="0" rtlCol="0" anchor="t"/>
          <a:lstStyle/>
          <a:p>
            <a:pPr indent="0" marL="0">
              <a:buNone/>
            </a:pPr>
            <a:r>
              <a:rPr lang="en-US" sz="1700" b="1" dirty="0">
                <a:solidFill>
                  <a:schemeClr val="accent3"/>
                </a:solidFill>
              </a:rPr>
              <a:t>노트북 실행 결과</a:t>
            </a:r>
            <a:endParaRPr lang="en-US" sz="1700" dirty="0"/>
          </a:p>
        </p:txBody>
      </p:sp>
      <p:sp>
        <p:nvSpPr>
          <p:cNvPr id="7" name="text-383"/>
          <p:cNvSpPr txBox="1"/>
          <p:nvPr/>
        </p:nvSpPr>
        <p:spPr>
          <a:xfrm>
            <a:off x="8412480" y="1783080"/>
            <a:ext cx="3108960" cy="365760"/>
          </a:xfrm>
          <a:prstGeom prst="rect">
            <a:avLst/>
          </a:prstGeom>
          <a:noFill/>
          <a:ln/>
        </p:spPr>
        <p:txBody>
          <a:bodyPr wrap="square" lIns="0" tIns="0" rIns="0" bIns="0" rtlCol="0" anchor="t"/>
          <a:lstStyle/>
          <a:p>
            <a:pPr indent="0" marL="0">
              <a:buNone/>
            </a:pPr>
            <a:r>
              <a:rPr lang="en-US" sz="1500" dirty="0">
                <a:solidFill>
                  <a:schemeClr val="tx1"/>
                </a:solidFill>
              </a:rPr>
              <a:t>2 cats</a:t>
            </a:r>
            <a:endParaRPr lang="en-US" sz="1500" dirty="0"/>
          </a:p>
        </p:txBody>
      </p:sp>
      <p:sp>
        <p:nvSpPr>
          <p:cNvPr id="8" name="bar-bg-384"/>
          <p:cNvSpPr/>
          <p:nvPr/>
        </p:nvSpPr>
        <p:spPr>
          <a:xfrm>
            <a:off x="8412480" y="2167128"/>
            <a:ext cx="2286000" cy="274320"/>
          </a:xfrm>
          <a:prstGeom prst="rect">
            <a:avLst/>
          </a:prstGeom>
          <a:solidFill>
            <a:schemeClr val="bg2"/>
          </a:solidFill>
          <a:ln/>
        </p:spPr>
      </p:sp>
      <p:sp>
        <p:nvSpPr>
          <p:cNvPr id="9" name="bar-385"/>
          <p:cNvSpPr/>
          <p:nvPr/>
        </p:nvSpPr>
        <p:spPr>
          <a:xfrm>
            <a:off x="8412480" y="2167128"/>
            <a:ext cx="925830" cy="274320"/>
          </a:xfrm>
          <a:prstGeom prst="rect">
            <a:avLst/>
          </a:prstGeom>
          <a:solidFill>
            <a:schemeClr val="accent5"/>
          </a:solidFill>
          <a:ln/>
        </p:spPr>
      </p:sp>
      <p:sp>
        <p:nvSpPr>
          <p:cNvPr id="10" name="text-386"/>
          <p:cNvSpPr txBox="1"/>
          <p:nvPr/>
        </p:nvSpPr>
        <p:spPr>
          <a:xfrm>
            <a:off x="10744200" y="2075688"/>
            <a:ext cx="822960" cy="457200"/>
          </a:xfrm>
          <a:prstGeom prst="rect">
            <a:avLst/>
          </a:prstGeom>
          <a:noFill/>
          <a:ln/>
        </p:spPr>
        <p:txBody>
          <a:bodyPr wrap="square" lIns="0" tIns="0" rIns="0" bIns="0" rtlCol="0" anchor="t"/>
          <a:lstStyle/>
          <a:p>
            <a:pPr indent="0" marL="0">
              <a:buNone/>
            </a:pPr>
            <a:r>
              <a:rPr lang="en-US" sz="1500" b="1" dirty="0">
                <a:solidFill>
                  <a:schemeClr val="accent5"/>
                </a:solidFill>
              </a:rPr>
              <a:t>40.5%</a:t>
            </a:r>
            <a:endParaRPr lang="en-US" sz="1500" dirty="0"/>
          </a:p>
        </p:txBody>
      </p:sp>
      <p:sp>
        <p:nvSpPr>
          <p:cNvPr id="11" name="text-387"/>
          <p:cNvSpPr txBox="1"/>
          <p:nvPr/>
        </p:nvSpPr>
        <p:spPr>
          <a:xfrm>
            <a:off x="8412480" y="2651760"/>
            <a:ext cx="3108960" cy="365760"/>
          </a:xfrm>
          <a:prstGeom prst="rect">
            <a:avLst/>
          </a:prstGeom>
          <a:noFill/>
          <a:ln/>
        </p:spPr>
        <p:txBody>
          <a:bodyPr wrap="square" lIns="0" tIns="0" rIns="0" bIns="0" rtlCol="0" anchor="t"/>
          <a:lstStyle/>
          <a:p>
            <a:pPr indent="0" marL="0">
              <a:buNone/>
            </a:pPr>
            <a:r>
              <a:rPr lang="en-US" sz="1500" dirty="0">
                <a:solidFill>
                  <a:schemeClr val="tx1"/>
                </a:solidFill>
              </a:rPr>
              <a:t>2 hamburgers</a:t>
            </a:r>
            <a:endParaRPr lang="en-US" sz="1500" dirty="0"/>
          </a:p>
        </p:txBody>
      </p:sp>
      <p:sp>
        <p:nvSpPr>
          <p:cNvPr id="12" name="bar-bg-388"/>
          <p:cNvSpPr/>
          <p:nvPr/>
        </p:nvSpPr>
        <p:spPr>
          <a:xfrm>
            <a:off x="8412480" y="3035808"/>
            <a:ext cx="2286000" cy="274320"/>
          </a:xfrm>
          <a:prstGeom prst="rect">
            <a:avLst/>
          </a:prstGeom>
          <a:solidFill>
            <a:schemeClr val="bg2"/>
          </a:solidFill>
          <a:ln/>
        </p:spPr>
      </p:sp>
      <p:sp>
        <p:nvSpPr>
          <p:cNvPr id="13" name="bar-389"/>
          <p:cNvSpPr/>
          <p:nvPr/>
        </p:nvSpPr>
        <p:spPr>
          <a:xfrm>
            <a:off x="8412480" y="3035808"/>
            <a:ext cx="36576" cy="274320"/>
          </a:xfrm>
          <a:prstGeom prst="rect">
            <a:avLst/>
          </a:prstGeom>
          <a:solidFill>
            <a:schemeClr val="accent6"/>
          </a:solidFill>
          <a:ln/>
        </p:spPr>
      </p:sp>
      <p:sp>
        <p:nvSpPr>
          <p:cNvPr id="14" name="text-390"/>
          <p:cNvSpPr txBox="1"/>
          <p:nvPr/>
        </p:nvSpPr>
        <p:spPr>
          <a:xfrm>
            <a:off x="10744200" y="2944368"/>
            <a:ext cx="822960" cy="457200"/>
          </a:xfrm>
          <a:prstGeom prst="rect">
            <a:avLst/>
          </a:prstGeom>
          <a:noFill/>
          <a:ln/>
        </p:spPr>
        <p:txBody>
          <a:bodyPr wrap="square" lIns="0" tIns="0" rIns="0" bIns="0" rtlCol="0" anchor="t"/>
          <a:lstStyle/>
          <a:p>
            <a:pPr indent="0" marL="0">
              <a:buNone/>
            </a:pPr>
            <a:r>
              <a:rPr lang="en-US" sz="1500" b="1" dirty="0">
                <a:solidFill>
                  <a:schemeClr val="tx2"/>
                </a:solidFill>
              </a:rPr>
              <a:t>0.0%</a:t>
            </a:r>
            <a:endParaRPr lang="en-US" sz="1500" dirty="0"/>
          </a:p>
        </p:txBody>
      </p:sp>
      <p:sp>
        <p:nvSpPr>
          <p:cNvPr id="15" name="text-391"/>
          <p:cNvSpPr txBox="1"/>
          <p:nvPr/>
        </p:nvSpPr>
        <p:spPr>
          <a:xfrm>
            <a:off x="8412480" y="3520440"/>
            <a:ext cx="3108960" cy="365760"/>
          </a:xfrm>
          <a:prstGeom prst="rect">
            <a:avLst/>
          </a:prstGeom>
          <a:noFill/>
          <a:ln/>
        </p:spPr>
        <p:txBody>
          <a:bodyPr wrap="square" lIns="0" tIns="0" rIns="0" bIns="0" rtlCol="0" anchor="t"/>
          <a:lstStyle/>
          <a:p>
            <a:pPr indent="0" marL="0">
              <a:buNone/>
            </a:pPr>
            <a:r>
              <a:rPr lang="en-US" sz="1500" dirty="0">
                <a:solidFill>
                  <a:schemeClr val="tx1"/>
                </a:solidFill>
              </a:rPr>
              <a:t>2 dogs</a:t>
            </a:r>
            <a:endParaRPr lang="en-US" sz="1500" dirty="0"/>
          </a:p>
        </p:txBody>
      </p:sp>
      <p:sp>
        <p:nvSpPr>
          <p:cNvPr id="16" name="bar-bg-392"/>
          <p:cNvSpPr/>
          <p:nvPr/>
        </p:nvSpPr>
        <p:spPr>
          <a:xfrm>
            <a:off x="8412480" y="3904488"/>
            <a:ext cx="2286000" cy="274320"/>
          </a:xfrm>
          <a:prstGeom prst="rect">
            <a:avLst/>
          </a:prstGeom>
          <a:solidFill>
            <a:schemeClr val="bg2"/>
          </a:solidFill>
          <a:ln/>
        </p:spPr>
      </p:sp>
      <p:sp>
        <p:nvSpPr>
          <p:cNvPr id="17" name="bar-393"/>
          <p:cNvSpPr/>
          <p:nvPr/>
        </p:nvSpPr>
        <p:spPr>
          <a:xfrm>
            <a:off x="8412480" y="3904488"/>
            <a:ext cx="36576" cy="274320"/>
          </a:xfrm>
          <a:prstGeom prst="rect">
            <a:avLst/>
          </a:prstGeom>
          <a:solidFill>
            <a:schemeClr val="accent6"/>
          </a:solidFill>
          <a:ln/>
        </p:spPr>
      </p:sp>
      <p:sp>
        <p:nvSpPr>
          <p:cNvPr id="18" name="text-394"/>
          <p:cNvSpPr txBox="1"/>
          <p:nvPr/>
        </p:nvSpPr>
        <p:spPr>
          <a:xfrm>
            <a:off x="10744200" y="3813048"/>
            <a:ext cx="822960" cy="457200"/>
          </a:xfrm>
          <a:prstGeom prst="rect">
            <a:avLst/>
          </a:prstGeom>
          <a:noFill/>
          <a:ln/>
        </p:spPr>
        <p:txBody>
          <a:bodyPr wrap="square" lIns="0" tIns="0" rIns="0" bIns="0" rtlCol="0" anchor="t"/>
          <a:lstStyle/>
          <a:p>
            <a:pPr indent="0" marL="0">
              <a:buNone/>
            </a:pPr>
            <a:r>
              <a:rPr lang="en-US" sz="1500" b="1" dirty="0">
                <a:solidFill>
                  <a:schemeClr val="tx2"/>
                </a:solidFill>
              </a:rPr>
              <a:t>0.0%</a:t>
            </a:r>
            <a:endParaRPr lang="en-US" sz="1500" dirty="0"/>
          </a:p>
        </p:txBody>
      </p:sp>
      <p:sp>
        <p:nvSpPr>
          <p:cNvPr id="19" name="card-395"/>
          <p:cNvSpPr/>
          <p:nvPr/>
        </p:nvSpPr>
        <p:spPr>
          <a:xfrm>
            <a:off x="8412480" y="4480560"/>
            <a:ext cx="3108960" cy="1508760"/>
          </a:xfrm>
          <a:prstGeom prst="roundRect">
            <a:avLst>
              <a:gd name="adj" fmla="val 8485"/>
            </a:avLst>
          </a:prstGeom>
          <a:solidFill>
            <a:schemeClr val="accent3">
              <a:alpha val="10000"/>
            </a:schemeClr>
          </a:solidFill>
          <a:ln/>
        </p:spPr>
      </p:sp>
      <p:sp>
        <p:nvSpPr>
          <p:cNvPr id="20" name="text-396"/>
          <p:cNvSpPr txBox="1"/>
          <p:nvPr/>
        </p:nvSpPr>
        <p:spPr>
          <a:xfrm>
            <a:off x="8595360" y="4526280"/>
            <a:ext cx="2788920" cy="1417320"/>
          </a:xfrm>
          <a:prstGeom prst="rect">
            <a:avLst/>
          </a:prstGeom>
          <a:noFill/>
          <a:ln/>
        </p:spPr>
        <p:txBody>
          <a:bodyPr wrap="square" lIns="0" tIns="0" rIns="0" bIns="0" rtlCol="0" anchor="ctr"/>
          <a:lstStyle/>
          <a:p>
            <a:pPr indent="0" marL="0">
              <a:buNone/>
            </a:pPr>
            <a:r>
              <a:rPr lang="en-US" sz="1400" dirty="0">
                <a:solidFill>
                  <a:schemeClr val="tx1"/>
                </a:solidFill>
              </a:rPr>
              <a:t>정답인데 40.5%? → 쌍마다 독립 확률이라 CLIP보다 값이 ‘평평’함. 순위·비교로 읽기</a:t>
            </a:r>
            <a:endParaRPr lang="en-US" sz="1400" dirty="0"/>
          </a:p>
        </p:txBody>
      </p:sp>
      <p:sp>
        <p:nvSpPr>
          <p:cNvPr id="21" name="text-397"/>
          <p:cNvSpPr txBox="1"/>
          <p:nvPr/>
        </p:nvSpPr>
        <p:spPr>
          <a:xfrm>
            <a:off x="640080" y="5669280"/>
            <a:ext cx="7498080" cy="365760"/>
          </a:xfrm>
          <a:prstGeom prst="rect">
            <a:avLst/>
          </a:prstGeom>
          <a:noFill/>
          <a:ln/>
        </p:spPr>
        <p:txBody>
          <a:bodyPr wrap="square" lIns="0" tIns="0" rIns="0" bIns="0" rtlCol="0" anchor="t"/>
          <a:lstStyle/>
          <a:p>
            <a:pPr indent="0" marL="0">
              <a:buNone/>
            </a:pPr>
            <a:r>
              <a:rPr lang="en-US" sz="1500" b="1" dirty="0">
                <a:solidFill>
                  <a:schemeClr val="accent4"/>
                </a:solidFill>
              </a:rPr>
              <a:t>CLIP 습관 주의: softmax ✗ → sigmoid ✓ · padding="max_length" 필수</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③ 한국어 문장으로 해보기 (다국어 모델)</a:t>
            </a:r>
            <a:endParaRPr lang="en-US" sz="3000" dirty="0"/>
          </a:p>
        </p:txBody>
      </p:sp>
      <p:sp>
        <p:nvSpPr>
          <p:cNvPr id="3" name="codebg-398"/>
          <p:cNvSpPr/>
          <p:nvPr/>
        </p:nvSpPr>
        <p:spPr>
          <a:xfrm>
            <a:off x="640080" y="1280160"/>
            <a:ext cx="7498080" cy="3566160"/>
          </a:xfrm>
          <a:prstGeom prst="roundRect">
            <a:avLst>
              <a:gd name="adj" fmla="val 3077"/>
            </a:avLst>
          </a:prstGeom>
          <a:solidFill>
            <a:schemeClr val="tx1"/>
          </a:solidFill>
          <a:ln/>
        </p:spPr>
      </p:sp>
      <p:sp>
        <p:nvSpPr>
          <p:cNvPr id="4" name="text-399"/>
          <p:cNvSpPr txBox="1"/>
          <p:nvPr/>
        </p:nvSpPr>
        <p:spPr>
          <a:xfrm>
            <a:off x="914400" y="1508760"/>
            <a:ext cx="6949440" cy="3108960"/>
          </a:xfrm>
          <a:prstGeom prst="rect">
            <a:avLst/>
          </a:prstGeom>
          <a:noFill/>
          <a:ln/>
        </p:spPr>
        <p:txBody>
          <a:bodyPr wrap="square" lIns="0" tIns="0" rIns="0" bIns="0" rtlCol="0" anchor="t"/>
          <a:lstStyle/>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ckpt = "google/siglip-base-patch16-256-multilingual"</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processor = AutoProcessor.from_pretrained(ckpt)</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model = AutoModel.from_pretrained(ckpt)</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texts = ["고양이 두 마리 사진", "강아지 사진", "자동차 사진"]</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inputs = processor(text=texts, images=image, padding="max_length",</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return_tensors="pt")</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with torch.no_grad():</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  outputs = model(**inputs)</a:t>
            </a:r>
            <a:endParaRPr lang="en-US" sz="1400" dirty="0"/>
          </a:p>
          <a:p>
            <a:pPr indent="0" marL="0">
              <a:lnSpc>
                <a:spcPct val="110000"/>
              </a:lnSpc>
              <a:buNone/>
            </a:pPr>
            <a:r>
              <a:rPr lang="en-US" sz="1400" dirty="0">
                <a:solidFill>
                  <a:schemeClr val="bg1"/>
                </a:solidFill>
                <a:latin typeface="Courier New" pitchFamily="34" charset="0"/>
                <a:ea typeface="Courier New" pitchFamily="34" charset="-122"/>
                <a:cs typeface="Courier New" pitchFamily="34" charset="-120"/>
              </a:rPr>
              <a:t>probs = torch.sigmoid(outputs.logits_per_image)</a:t>
            </a:r>
            <a:endParaRPr lang="en-US" sz="1400" dirty="0"/>
          </a:p>
        </p:txBody>
      </p:sp>
      <p:sp>
        <p:nvSpPr>
          <p:cNvPr id="5" name="text-400"/>
          <p:cNvSpPr txBox="1"/>
          <p:nvPr/>
        </p:nvSpPr>
        <p:spPr>
          <a:xfrm>
            <a:off x="640080" y="493776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메인 노트북의 mSigLIP 예제에서 문장만 한국어로 바꿈</a:t>
            </a:r>
            <a:endParaRPr lang="en-US" sz="1100" dirty="0"/>
          </a:p>
        </p:txBody>
      </p:sp>
      <p:sp>
        <p:nvSpPr>
          <p:cNvPr id="6" name="card-401"/>
          <p:cNvSpPr/>
          <p:nvPr/>
        </p:nvSpPr>
        <p:spPr>
          <a:xfrm>
            <a:off x="640080" y="5349240"/>
            <a:ext cx="7498080" cy="731520"/>
          </a:xfrm>
          <a:prstGeom prst="roundRect">
            <a:avLst>
              <a:gd name="adj" fmla="val 17500"/>
            </a:avLst>
          </a:prstGeom>
          <a:solidFill>
            <a:schemeClr val="bg2"/>
          </a:solidFill>
          <a:ln/>
        </p:spPr>
      </p:sp>
      <p:sp>
        <p:nvSpPr>
          <p:cNvPr id="7" name="text-402"/>
          <p:cNvSpPr txBox="1"/>
          <p:nvPr/>
        </p:nvSpPr>
        <p:spPr>
          <a:xfrm>
            <a:off x="868680" y="5349240"/>
            <a:ext cx="7132320" cy="731520"/>
          </a:xfrm>
          <a:prstGeom prst="rect">
            <a:avLst/>
          </a:prstGeom>
          <a:noFill/>
          <a:ln/>
        </p:spPr>
        <p:txBody>
          <a:bodyPr wrap="square" lIns="0" tIns="0" rIns="0" bIns="0" rtlCol="0" anchor="ctr"/>
          <a:lstStyle/>
          <a:p>
            <a:pPr indent="0" marL="0">
              <a:buNone/>
            </a:pPr>
            <a:r>
              <a:rPr lang="en-US" sz="1400" dirty="0">
                <a:solidFill>
                  <a:schemeClr val="tx2"/>
                </a:solidFill>
              </a:rPr>
              <a:t>노트북 원래 예시(프랑스어 “une photo de 2 chats”) 결과: 50.4% / 나머지 0.0%</a:t>
            </a:r>
            <a:endParaRPr lang="en-US" sz="1400" dirty="0"/>
          </a:p>
        </p:txBody>
      </p:sp>
      <p:sp>
        <p:nvSpPr>
          <p:cNvPr id="8" name="card-403"/>
          <p:cNvSpPr/>
          <p:nvPr/>
        </p:nvSpPr>
        <p:spPr>
          <a:xfrm>
            <a:off x="8412480" y="1280160"/>
            <a:ext cx="3108960" cy="2194560"/>
          </a:xfrm>
          <a:prstGeom prst="roundRect">
            <a:avLst>
              <a:gd name="adj" fmla="val 5833"/>
            </a:avLst>
          </a:prstGeom>
          <a:solidFill>
            <a:schemeClr val="accent3">
              <a:alpha val="10000"/>
            </a:schemeClr>
          </a:solidFill>
          <a:ln/>
        </p:spPr>
      </p:sp>
      <p:sp>
        <p:nvSpPr>
          <p:cNvPr id="9" name="circle-404"/>
          <p:cNvSpPr/>
          <p:nvPr/>
        </p:nvSpPr>
        <p:spPr>
          <a:xfrm>
            <a:off x="8641080" y="1463040"/>
            <a:ext cx="640080" cy="640080"/>
          </a:xfrm>
          <a:prstGeom prst="ellipse">
            <a:avLst/>
          </a:prstGeom>
          <a:solidFill>
            <a:schemeClr val="accent3"/>
          </a:solidFill>
          <a:ln/>
        </p:spPr>
      </p:sp>
      <p:pic>
        <p:nvPicPr>
          <p:cNvPr id="10" name="icon-FaLanguage-405" descr="FaLanguage">    </p:cNvPr>
          <p:cNvPicPr>
            <a:picLocks noChangeAspect="1"/>
          </p:cNvPicPr>
          <p:nvPr/>
        </p:nvPicPr>
        <p:blipFill>
          <a:blip r:embed="rId2"/>
          <a:stretch>
            <a:fillRect/>
          </a:stretch>
        </p:blipFill>
        <p:spPr>
          <a:xfrm>
            <a:off x="8807501" y="1629461"/>
            <a:ext cx="307238" cy="307238"/>
          </a:xfrm>
          <a:prstGeom prst="rect">
            <a:avLst/>
          </a:prstGeom>
        </p:spPr>
      </p:pic>
      <p:sp>
        <p:nvSpPr>
          <p:cNvPr id="11" name="text-406"/>
          <p:cNvSpPr txBox="1"/>
          <p:nvPr/>
        </p:nvSpPr>
        <p:spPr>
          <a:xfrm>
            <a:off x="9418320" y="1463040"/>
            <a:ext cx="2011680" cy="640080"/>
          </a:xfrm>
          <a:prstGeom prst="rect">
            <a:avLst/>
          </a:prstGeom>
          <a:noFill/>
          <a:ln/>
        </p:spPr>
        <p:txBody>
          <a:bodyPr wrap="square" lIns="0" tIns="0" rIns="0" bIns="0" rtlCol="0" anchor="ctr"/>
          <a:lstStyle/>
          <a:p>
            <a:pPr indent="0" marL="0">
              <a:buNone/>
            </a:pPr>
            <a:r>
              <a:rPr lang="en-US" sz="1800" b="1" dirty="0">
                <a:solidFill>
                  <a:schemeClr val="accent3"/>
                </a:solidFill>
              </a:rPr>
              <a:t>mSigLIP</a:t>
            </a:r>
            <a:endParaRPr lang="en-US" sz="1800" dirty="0"/>
          </a:p>
        </p:txBody>
      </p:sp>
      <p:sp>
        <p:nvSpPr>
          <p:cNvPr id="12" name="text-407"/>
          <p:cNvSpPr txBox="1"/>
          <p:nvPr/>
        </p:nvSpPr>
        <p:spPr>
          <a:xfrm>
            <a:off x="8641080" y="2240280"/>
            <a:ext cx="2697480" cy="1097280"/>
          </a:xfrm>
          <a:prstGeom prst="rect">
            <a:avLst/>
          </a:prstGeom>
          <a:noFill/>
          <a:ln/>
        </p:spPr>
        <p:txBody>
          <a:bodyPr wrap="square" lIns="0" tIns="0" rIns="0" bIns="0" rtlCol="0" anchor="t"/>
          <a:lstStyle/>
          <a:p>
            <a:pPr indent="0" marL="0">
              <a:buNone/>
            </a:pPr>
            <a:r>
              <a:rPr lang="en-US" sz="1400" dirty="0">
                <a:solidFill>
                  <a:schemeClr val="tx1"/>
                </a:solidFill>
              </a:rPr>
              <a:t>영어로 거르지 않은 WebLI 데이터로 학습, 어휘 25만 토큰</a:t>
            </a:r>
            <a:endParaRPr lang="en-US" sz="1400" dirty="0"/>
          </a:p>
        </p:txBody>
      </p:sp>
      <p:sp>
        <p:nvSpPr>
          <p:cNvPr id="13" name="card-408"/>
          <p:cNvSpPr/>
          <p:nvPr/>
        </p:nvSpPr>
        <p:spPr>
          <a:xfrm>
            <a:off x="8412480" y="3657600"/>
            <a:ext cx="3108960" cy="2423160"/>
          </a:xfrm>
          <a:prstGeom prst="roundRect">
            <a:avLst>
              <a:gd name="adj" fmla="val 5283"/>
            </a:avLst>
          </a:prstGeom>
          <a:solidFill>
            <a:schemeClr val="accent4">
              <a:alpha val="8000"/>
            </a:schemeClr>
          </a:solidFill>
          <a:ln/>
        </p:spPr>
      </p:sp>
      <p:sp>
        <p:nvSpPr>
          <p:cNvPr id="14" name="circle-409"/>
          <p:cNvSpPr/>
          <p:nvPr/>
        </p:nvSpPr>
        <p:spPr>
          <a:xfrm>
            <a:off x="8641080" y="3840480"/>
            <a:ext cx="548640" cy="548640"/>
          </a:xfrm>
          <a:prstGeom prst="ellipse">
            <a:avLst/>
          </a:prstGeom>
          <a:solidFill>
            <a:schemeClr val="accent4"/>
          </a:solidFill>
          <a:ln/>
        </p:spPr>
      </p:sp>
      <p:pic>
        <p:nvPicPr>
          <p:cNvPr id="15" name="icon-FaExclamationTriangle-410" descr="FaExclamationTriangle">    </p:cNvPr>
          <p:cNvPicPr>
            <a:picLocks noChangeAspect="1"/>
          </p:cNvPicPr>
          <p:nvPr/>
        </p:nvPicPr>
        <p:blipFill>
          <a:blip r:embed="rId3"/>
          <a:stretch>
            <a:fillRect/>
          </a:stretch>
        </p:blipFill>
        <p:spPr>
          <a:xfrm>
            <a:off x="8783726" y="3983126"/>
            <a:ext cx="263347" cy="263347"/>
          </a:xfrm>
          <a:prstGeom prst="rect">
            <a:avLst/>
          </a:prstGeom>
        </p:spPr>
      </p:pic>
      <p:sp>
        <p:nvSpPr>
          <p:cNvPr id="16" name="text-411"/>
          <p:cNvSpPr txBox="1"/>
          <p:nvPr/>
        </p:nvSpPr>
        <p:spPr>
          <a:xfrm>
            <a:off x="9326880" y="3840480"/>
            <a:ext cx="2103120" cy="548640"/>
          </a:xfrm>
          <a:prstGeom prst="rect">
            <a:avLst/>
          </a:prstGeom>
          <a:noFill/>
          <a:ln/>
        </p:spPr>
        <p:txBody>
          <a:bodyPr wrap="square" lIns="0" tIns="0" rIns="0" bIns="0" rtlCol="0" anchor="ctr"/>
          <a:lstStyle/>
          <a:p>
            <a:pPr indent="0" marL="0">
              <a:buNone/>
            </a:pPr>
            <a:r>
              <a:rPr lang="en-US" sz="1600" b="1" dirty="0">
                <a:solidFill>
                  <a:schemeClr val="accent4"/>
                </a:solidFill>
              </a:rPr>
              <a:t>노트북 주의</a:t>
            </a:r>
            <a:endParaRPr lang="en-US" sz="1600" dirty="0"/>
          </a:p>
        </p:txBody>
      </p:sp>
      <p:sp>
        <p:nvSpPr>
          <p:cNvPr id="17" name="text-412"/>
          <p:cNvSpPr txBox="1"/>
          <p:nvPr/>
        </p:nvSpPr>
        <p:spPr>
          <a:xfrm>
            <a:off x="8641080" y="4480560"/>
            <a:ext cx="2697480" cy="1463040"/>
          </a:xfrm>
          <a:prstGeom prst="rect">
            <a:avLst/>
          </a:prstGeom>
          <a:noFill/>
          <a:ln/>
        </p:spPr>
        <p:txBody>
          <a:bodyPr wrap="square" lIns="0" tIns="0" rIns="0" bIns="0" rtlCol="0" anchor="t"/>
          <a:lstStyle/>
          <a:p>
            <a:pPr indent="0" marL="0">
              <a:buNone/>
            </a:pPr>
            <a:r>
              <a:rPr lang="en-US" sz="1400" dirty="0">
                <a:solidFill>
                  <a:schemeClr val="tx1"/>
                </a:solidFill>
              </a:rPr>
              <a:t>다국어 셀이 so400m(영어) 모델을 다시 불러옴 → 이름을 multilingual로 바꿔서 실행</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④ 여러 장 저장 → 문장으로 찾기 (5주차 연결)</a:t>
            </a:r>
            <a:endParaRPr lang="en-US" sz="3000" dirty="0"/>
          </a:p>
        </p:txBody>
      </p:sp>
      <p:sp>
        <p:nvSpPr>
          <p:cNvPr id="3" name="codebg-413"/>
          <p:cNvSpPr/>
          <p:nvPr/>
        </p:nvSpPr>
        <p:spPr>
          <a:xfrm>
            <a:off x="640080" y="1234440"/>
            <a:ext cx="7498080" cy="4709160"/>
          </a:xfrm>
          <a:prstGeom prst="roundRect">
            <a:avLst>
              <a:gd name="adj" fmla="val 2330"/>
            </a:avLst>
          </a:prstGeom>
          <a:solidFill>
            <a:schemeClr val="tx1"/>
          </a:solidFill>
          <a:ln/>
        </p:spPr>
      </p:sp>
      <p:sp>
        <p:nvSpPr>
          <p:cNvPr id="4" name="text-414"/>
          <p:cNvSpPr txBox="1"/>
          <p:nvPr/>
        </p:nvSpPr>
        <p:spPr>
          <a:xfrm>
            <a:off x="914400" y="1463040"/>
            <a:ext cx="6949440" cy="4251960"/>
          </a:xfrm>
          <a:prstGeom prst="rect">
            <a:avLst/>
          </a:prstGeom>
          <a:noFill/>
          <a:ln/>
        </p:spPr>
        <p:txBody>
          <a:bodyPr wrap="square" lIns="0" tIns="0" rIns="0" bIns="0" rtlCol="0" anchor="t"/>
          <a:lstStyle/>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import faiss, numpy as np</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def embed_siglip(image):</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with torch.no_grad():</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inputs = processor(images=image, return_tensors="pt")</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f = model.get_image_features(**inputs)</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return getattr(f, "pooler_output", f)</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def add_vector(embedding, index):</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vector = np.float32(embedding.cpu().numpy())</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faiss.normalize_L2(vector)</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index.add(vector)</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index = faiss.IndexFlatIP(768)</a:t>
            </a:r>
            <a:r>
              <a:rPr lang="en-US" sz="1100" dirty="0">
                <a:solidFill>
                  <a:srgbClr val="FBBF24"/>
                </a:solidFill>
                <a:latin typeface="Courier New" pitchFamily="34" charset="0"/>
                <a:ea typeface="Courier New" pitchFamily="34" charset="-122"/>
                <a:cs typeface="Courier New" pitchFamily="34" charset="-120"/>
              </a:rPr>
              <a:t>  # base 모델 차원</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for image in images:</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add_vector(embed_siglip(image), index)</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q = processor(text=["a rocket at night"], padding="max_length",</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return_tensors="pt")</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with torch.no_grad():</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    t = model.get_text_features(**q)</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t = np.float32(getattr(t, "pooler_output", t).numpy())</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faiss.normalize_L2(t)</a:t>
            </a:r>
            <a:endParaRPr lang="en-US" sz="1100" dirty="0"/>
          </a:p>
          <a:p>
            <a:pPr indent="0" marL="0">
              <a:lnSpc>
                <a:spcPct val="110000"/>
              </a:lnSpc>
              <a:buNone/>
            </a:pPr>
            <a:r>
              <a:rPr lang="en-US" sz="1100" dirty="0">
                <a:solidFill>
                  <a:schemeClr val="bg1"/>
                </a:solidFill>
                <a:latin typeface="Courier New" pitchFamily="34" charset="0"/>
                <a:ea typeface="Courier New" pitchFamily="34" charset="-122"/>
                <a:cs typeface="Courier New" pitchFamily="34" charset="-120"/>
              </a:rPr>
              <a:t>distances, indices = index.search(t, 3)</a:t>
            </a:r>
            <a:endParaRPr lang="en-US" sz="1100" dirty="0"/>
          </a:p>
        </p:txBody>
      </p:sp>
      <p:sp>
        <p:nvSpPr>
          <p:cNvPr id="5" name="text-415"/>
          <p:cNvSpPr txBox="1"/>
          <p:nvPr/>
        </p:nvSpPr>
        <p:spPr>
          <a:xfrm>
            <a:off x="640080" y="598932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smol-vision Image Search 노트북을 SigLIP용으로 바꿈</a:t>
            </a:r>
            <a:endParaRPr lang="en-US" sz="1100" dirty="0"/>
          </a:p>
        </p:txBody>
      </p:sp>
      <p:sp>
        <p:nvSpPr>
          <p:cNvPr id="6" name="text-416"/>
          <p:cNvSpPr txBox="1"/>
          <p:nvPr/>
        </p:nvSpPr>
        <p:spPr>
          <a:xfrm>
            <a:off x="8412480" y="1234440"/>
            <a:ext cx="3108960" cy="411480"/>
          </a:xfrm>
          <a:prstGeom prst="rect">
            <a:avLst/>
          </a:prstGeom>
          <a:noFill/>
          <a:ln/>
        </p:spPr>
        <p:txBody>
          <a:bodyPr wrap="square" lIns="0" tIns="0" rIns="0" bIns="0" rtlCol="0" anchor="t"/>
          <a:lstStyle/>
          <a:p>
            <a:pPr indent="0" marL="0">
              <a:buNone/>
            </a:pPr>
            <a:r>
              <a:rPr lang="en-US" sz="1600" b="1" dirty="0">
                <a:solidFill>
                  <a:schemeClr val="accent3"/>
                </a:solidFill>
              </a:rPr>
              <a:t>원본(MetaCLIP2)에서 바꾼 곳</a:t>
            </a:r>
            <a:endParaRPr lang="en-US" sz="1600" dirty="0"/>
          </a:p>
        </p:txBody>
      </p:sp>
      <p:sp>
        <p:nvSpPr>
          <p:cNvPr id="7" name="card-417"/>
          <p:cNvSpPr/>
          <p:nvPr/>
        </p:nvSpPr>
        <p:spPr>
          <a:xfrm>
            <a:off x="8412480" y="1737360"/>
            <a:ext cx="3108960" cy="749808"/>
          </a:xfrm>
          <a:prstGeom prst="roundRect">
            <a:avLst>
              <a:gd name="adj" fmla="val 17073"/>
            </a:avLst>
          </a:prstGeom>
          <a:solidFill>
            <a:schemeClr val="bg2"/>
          </a:solidFill>
          <a:ln/>
        </p:spPr>
      </p:sp>
      <p:sp>
        <p:nvSpPr>
          <p:cNvPr id="8" name="text-418"/>
          <p:cNvSpPr txBox="1"/>
          <p:nvPr/>
        </p:nvSpPr>
        <p:spPr>
          <a:xfrm>
            <a:off x="8549640" y="1737360"/>
            <a:ext cx="868680" cy="749808"/>
          </a:xfrm>
          <a:prstGeom prst="rect">
            <a:avLst/>
          </a:prstGeom>
          <a:noFill/>
          <a:ln/>
        </p:spPr>
        <p:txBody>
          <a:bodyPr wrap="square" lIns="0" tIns="0" rIns="0" bIns="0" rtlCol="0" anchor="ctr"/>
          <a:lstStyle/>
          <a:p>
            <a:pPr indent="0" marL="0">
              <a:buNone/>
            </a:pPr>
            <a:r>
              <a:rPr lang="en-US" sz="1300" b="1" dirty="0">
                <a:solidFill>
                  <a:schemeClr val="accent3"/>
                </a:solidFill>
              </a:rPr>
              <a:t>모델</a:t>
            </a:r>
            <a:endParaRPr lang="en-US" sz="1300" dirty="0"/>
          </a:p>
        </p:txBody>
      </p:sp>
      <p:sp>
        <p:nvSpPr>
          <p:cNvPr id="9" name="text-419"/>
          <p:cNvSpPr txBox="1"/>
          <p:nvPr/>
        </p:nvSpPr>
        <p:spPr>
          <a:xfrm>
            <a:off x="9418320" y="1737360"/>
            <a:ext cx="2057400" cy="749808"/>
          </a:xfrm>
          <a:prstGeom prst="rect">
            <a:avLst/>
          </a:prstGeom>
          <a:noFill/>
          <a:ln/>
        </p:spPr>
        <p:txBody>
          <a:bodyPr wrap="square" lIns="0" tIns="0" rIns="0" bIns="0" rtlCol="0" anchor="ctr"/>
          <a:lstStyle/>
          <a:p>
            <a:pPr indent="0" marL="0">
              <a:buNone/>
            </a:pPr>
            <a:r>
              <a:rPr lang="en-US" sz="1200" dirty="0">
                <a:solidFill>
                  <a:schemeClr val="tx1"/>
                </a:solidFill>
              </a:rPr>
              <a:t>SigLIP, 차원 768</a:t>
            </a:r>
            <a:endParaRPr lang="en-US" sz="1200" dirty="0"/>
          </a:p>
        </p:txBody>
      </p:sp>
      <p:sp>
        <p:nvSpPr>
          <p:cNvPr id="10" name="card-420"/>
          <p:cNvSpPr/>
          <p:nvPr/>
        </p:nvSpPr>
        <p:spPr>
          <a:xfrm>
            <a:off x="8412480" y="2606040"/>
            <a:ext cx="3108960" cy="749808"/>
          </a:xfrm>
          <a:prstGeom prst="roundRect">
            <a:avLst>
              <a:gd name="adj" fmla="val 17073"/>
            </a:avLst>
          </a:prstGeom>
          <a:solidFill>
            <a:schemeClr val="bg2"/>
          </a:solidFill>
          <a:ln/>
        </p:spPr>
      </p:sp>
      <p:sp>
        <p:nvSpPr>
          <p:cNvPr id="11" name="text-421"/>
          <p:cNvSpPr txBox="1"/>
          <p:nvPr/>
        </p:nvSpPr>
        <p:spPr>
          <a:xfrm>
            <a:off x="8549640" y="2606040"/>
            <a:ext cx="868680" cy="749808"/>
          </a:xfrm>
          <a:prstGeom prst="rect">
            <a:avLst/>
          </a:prstGeom>
          <a:noFill/>
          <a:ln/>
        </p:spPr>
        <p:txBody>
          <a:bodyPr wrap="square" lIns="0" tIns="0" rIns="0" bIns="0" rtlCol="0" anchor="ctr"/>
          <a:lstStyle/>
          <a:p>
            <a:pPr indent="0" marL="0">
              <a:buNone/>
            </a:pPr>
            <a:r>
              <a:rPr lang="en-US" sz="1300" b="1" dirty="0">
                <a:solidFill>
                  <a:schemeClr val="accent3"/>
                </a:solidFill>
              </a:rPr>
              <a:t>텍스트</a:t>
            </a:r>
            <a:endParaRPr lang="en-US" sz="1300" dirty="0"/>
          </a:p>
        </p:txBody>
      </p:sp>
      <p:sp>
        <p:nvSpPr>
          <p:cNvPr id="12" name="text-422"/>
          <p:cNvSpPr txBox="1"/>
          <p:nvPr/>
        </p:nvSpPr>
        <p:spPr>
          <a:xfrm>
            <a:off x="9418320" y="2606040"/>
            <a:ext cx="2057400" cy="749808"/>
          </a:xfrm>
          <a:prstGeom prst="rect">
            <a:avLst/>
          </a:prstGeom>
          <a:noFill/>
          <a:ln/>
        </p:spPr>
        <p:txBody>
          <a:bodyPr wrap="square" lIns="0" tIns="0" rIns="0" bIns="0" rtlCol="0" anchor="ctr"/>
          <a:lstStyle/>
          <a:p>
            <a:pPr indent="0" marL="0">
              <a:buNone/>
            </a:pPr>
            <a:r>
              <a:rPr lang="en-US" sz="1200" dirty="0">
                <a:solidFill>
                  <a:schemeClr val="tx1"/>
                </a:solidFill>
              </a:rPr>
              <a:t>padding="max_length" 추가</a:t>
            </a:r>
            <a:endParaRPr lang="en-US" sz="1200" dirty="0"/>
          </a:p>
        </p:txBody>
      </p:sp>
      <p:sp>
        <p:nvSpPr>
          <p:cNvPr id="13" name="card-423"/>
          <p:cNvSpPr/>
          <p:nvPr/>
        </p:nvSpPr>
        <p:spPr>
          <a:xfrm>
            <a:off x="8412480" y="3474720"/>
            <a:ext cx="3108960" cy="749808"/>
          </a:xfrm>
          <a:prstGeom prst="roundRect">
            <a:avLst>
              <a:gd name="adj" fmla="val 17073"/>
            </a:avLst>
          </a:prstGeom>
          <a:solidFill>
            <a:schemeClr val="bg2"/>
          </a:solidFill>
          <a:ln/>
        </p:spPr>
      </p:sp>
      <p:sp>
        <p:nvSpPr>
          <p:cNvPr id="14" name="text-424"/>
          <p:cNvSpPr txBox="1"/>
          <p:nvPr/>
        </p:nvSpPr>
        <p:spPr>
          <a:xfrm>
            <a:off x="8549640" y="3474720"/>
            <a:ext cx="868680" cy="749808"/>
          </a:xfrm>
          <a:prstGeom prst="rect">
            <a:avLst/>
          </a:prstGeom>
          <a:noFill/>
          <a:ln/>
        </p:spPr>
        <p:txBody>
          <a:bodyPr wrap="square" lIns="0" tIns="0" rIns="0" bIns="0" rtlCol="0" anchor="ctr"/>
          <a:lstStyle/>
          <a:p>
            <a:pPr indent="0" marL="0">
              <a:buNone/>
            </a:pPr>
            <a:r>
              <a:rPr lang="en-US" sz="1300" b="1" dirty="0">
                <a:solidFill>
                  <a:schemeClr val="accent3"/>
                </a:solidFill>
              </a:rPr>
              <a:t>인덱스</a:t>
            </a:r>
            <a:endParaRPr lang="en-US" sz="1300" dirty="0"/>
          </a:p>
        </p:txBody>
      </p:sp>
      <p:sp>
        <p:nvSpPr>
          <p:cNvPr id="15" name="text-425"/>
          <p:cNvSpPr txBox="1"/>
          <p:nvPr/>
        </p:nvSpPr>
        <p:spPr>
          <a:xfrm>
            <a:off x="9418320" y="3474720"/>
            <a:ext cx="2057400" cy="749808"/>
          </a:xfrm>
          <a:prstGeom prst="rect">
            <a:avLst/>
          </a:prstGeom>
          <a:noFill/>
          <a:ln/>
        </p:spPr>
        <p:txBody>
          <a:bodyPr wrap="square" lIns="0" tIns="0" rIns="0" bIns="0" rtlCol="0" anchor="ctr"/>
          <a:lstStyle/>
          <a:p>
            <a:pPr indent="0" marL="0">
              <a:buNone/>
            </a:pPr>
            <a:r>
              <a:rPr lang="en-US" sz="1200" dirty="0">
                <a:solidFill>
                  <a:schemeClr val="tx1"/>
                </a:solidFill>
              </a:rPr>
              <a:t>IndexFlatIP (정규화 후 내적 = 코사인)</a:t>
            </a:r>
            <a:endParaRPr lang="en-US" sz="1200" dirty="0"/>
          </a:p>
        </p:txBody>
      </p:sp>
      <p:sp>
        <p:nvSpPr>
          <p:cNvPr id="16" name="card-426"/>
          <p:cNvSpPr/>
          <p:nvPr/>
        </p:nvSpPr>
        <p:spPr>
          <a:xfrm>
            <a:off x="8412480" y="4343400"/>
            <a:ext cx="3108960" cy="749808"/>
          </a:xfrm>
          <a:prstGeom prst="roundRect">
            <a:avLst>
              <a:gd name="adj" fmla="val 17073"/>
            </a:avLst>
          </a:prstGeom>
          <a:solidFill>
            <a:schemeClr val="bg2"/>
          </a:solidFill>
          <a:ln/>
        </p:spPr>
      </p:sp>
      <p:sp>
        <p:nvSpPr>
          <p:cNvPr id="17" name="text-427"/>
          <p:cNvSpPr txBox="1"/>
          <p:nvPr/>
        </p:nvSpPr>
        <p:spPr>
          <a:xfrm>
            <a:off x="8549640" y="4343400"/>
            <a:ext cx="868680" cy="749808"/>
          </a:xfrm>
          <a:prstGeom prst="rect">
            <a:avLst/>
          </a:prstGeom>
          <a:noFill/>
          <a:ln/>
        </p:spPr>
        <p:txBody>
          <a:bodyPr wrap="square" lIns="0" tIns="0" rIns="0" bIns="0" rtlCol="0" anchor="ctr"/>
          <a:lstStyle/>
          <a:p>
            <a:pPr indent="0" marL="0">
              <a:buNone/>
            </a:pPr>
            <a:r>
              <a:rPr lang="en-US" sz="1300" b="1" dirty="0">
                <a:solidFill>
                  <a:schemeClr val="accent3"/>
                </a:solidFill>
              </a:rPr>
              <a:t>5.x 대응</a:t>
            </a:r>
            <a:endParaRPr lang="en-US" sz="1300" dirty="0"/>
          </a:p>
        </p:txBody>
      </p:sp>
      <p:sp>
        <p:nvSpPr>
          <p:cNvPr id="18" name="text-428"/>
          <p:cNvSpPr txBox="1"/>
          <p:nvPr/>
        </p:nvSpPr>
        <p:spPr>
          <a:xfrm>
            <a:off x="9418320" y="4343400"/>
            <a:ext cx="2057400" cy="749808"/>
          </a:xfrm>
          <a:prstGeom prst="rect">
            <a:avLst/>
          </a:prstGeom>
          <a:noFill/>
          <a:ln/>
        </p:spPr>
        <p:txBody>
          <a:bodyPr wrap="square" lIns="0" tIns="0" rIns="0" bIns="0" rtlCol="0" anchor="ctr"/>
          <a:lstStyle/>
          <a:p>
            <a:pPr indent="0" marL="0">
              <a:buNone/>
            </a:pPr>
            <a:r>
              <a:rPr lang="en-US" sz="1200" dirty="0">
                <a:solidFill>
                  <a:schemeClr val="tx1"/>
                </a:solidFill>
              </a:rPr>
              <a:t>pooler_output 꺼내기</a:t>
            </a:r>
            <a:endParaRPr lang="en-US" sz="1200" dirty="0"/>
          </a:p>
        </p:txBody>
      </p:sp>
      <p:sp>
        <p:nvSpPr>
          <p:cNvPr id="19" name="box-429"/>
          <p:cNvSpPr/>
          <p:nvPr/>
        </p:nvSpPr>
        <p:spPr>
          <a:xfrm>
            <a:off x="8412480" y="5303520"/>
            <a:ext cx="3108960" cy="640080"/>
          </a:xfrm>
          <a:prstGeom prst="roundRect">
            <a:avLst>
              <a:gd name="adj" fmla="val 14286"/>
            </a:avLst>
          </a:prstGeom>
          <a:solidFill>
            <a:schemeClr val="accent3"/>
          </a:solidFill>
          <a:ln/>
        </p:spPr>
      </p:sp>
      <p:sp>
        <p:nvSpPr>
          <p:cNvPr id="20" name="text-430"/>
          <p:cNvSpPr txBox="1"/>
          <p:nvPr/>
        </p:nvSpPr>
        <p:spPr>
          <a:xfrm>
            <a:off x="8412480" y="5303520"/>
            <a:ext cx="3108960" cy="640080"/>
          </a:xfrm>
          <a:prstGeom prst="rect">
            <a:avLst/>
          </a:prstGeom>
          <a:noFill/>
          <a:ln/>
        </p:spPr>
        <p:txBody>
          <a:bodyPr wrap="square" lIns="0" tIns="0" rIns="0" bIns="0" rtlCol="0" anchor="ctr"/>
          <a:lstStyle/>
          <a:p>
            <a:pPr algn="ctr" indent="0" marL="0">
              <a:buNone/>
            </a:pPr>
            <a:r>
              <a:rPr lang="en-US" sz="1400" b="1" dirty="0">
                <a:solidFill>
                  <a:schemeClr val="bg1"/>
                </a:solidFill>
              </a:rPr>
              <a:t>5주차: 이 인덱스로 검색 데모</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chemeClr val="bg1"/>
                </a:solidFill>
              </a:rPr>
              <a:t>핵심 3줄 요약</a:t>
            </a:r>
            <a:endParaRPr lang="en-US" sz="3200" dirty="0"/>
          </a:p>
        </p:txBody>
      </p:sp>
      <p:sp>
        <p:nvSpPr>
          <p:cNvPr id="3" name="circle-431"/>
          <p:cNvSpPr/>
          <p:nvPr/>
        </p:nvSpPr>
        <p:spPr>
          <a:xfrm>
            <a:off x="822960" y="1600200"/>
            <a:ext cx="914400" cy="914400"/>
          </a:xfrm>
          <a:prstGeom prst="ellipse">
            <a:avLst/>
          </a:prstGeom>
          <a:solidFill>
            <a:schemeClr val="accent3"/>
          </a:solidFill>
          <a:ln/>
        </p:spPr>
      </p:sp>
      <p:pic>
        <p:nvPicPr>
          <p:cNvPr id="4" name="icon-FaToggleOn-432" descr="FaToggleOn">    </p:cNvPr>
          <p:cNvPicPr>
            <a:picLocks noChangeAspect="1"/>
          </p:cNvPicPr>
          <p:nvPr/>
        </p:nvPicPr>
        <p:blipFill>
          <a:blip r:embed="rId1"/>
          <a:stretch>
            <a:fillRect/>
          </a:stretch>
        </p:blipFill>
        <p:spPr>
          <a:xfrm>
            <a:off x="1060704" y="1837944"/>
            <a:ext cx="438912" cy="438912"/>
          </a:xfrm>
          <a:prstGeom prst="rect">
            <a:avLst/>
          </a:prstGeom>
        </p:spPr>
      </p:pic>
      <p:sp>
        <p:nvSpPr>
          <p:cNvPr id="5" name="text-433"/>
          <p:cNvSpPr txBox="1"/>
          <p:nvPr/>
        </p:nvSpPr>
        <p:spPr>
          <a:xfrm>
            <a:off x="2011680" y="1554480"/>
            <a:ext cx="9509760" cy="594360"/>
          </a:xfrm>
          <a:prstGeom prst="rect">
            <a:avLst/>
          </a:prstGeom>
          <a:noFill/>
          <a:ln/>
        </p:spPr>
        <p:txBody>
          <a:bodyPr wrap="square" lIns="0" tIns="0" rIns="0" bIns="0" rtlCol="0" anchor="t"/>
          <a:lstStyle/>
          <a:p>
            <a:pPr indent="0" marL="0">
              <a:buNone/>
            </a:pPr>
            <a:r>
              <a:rPr lang="en-US" sz="2600" b="1" dirty="0">
                <a:solidFill>
                  <a:schemeClr val="bg1"/>
                </a:solidFill>
              </a:rPr>
              <a:t>SigLIP = CLIP 구조 + 객관식 대신 O/X 퀴즈</a:t>
            </a:r>
            <a:endParaRPr lang="en-US" sz="2600" dirty="0"/>
          </a:p>
        </p:txBody>
      </p:sp>
      <p:sp>
        <p:nvSpPr>
          <p:cNvPr id="6" name="text-434"/>
          <p:cNvSpPr txBox="1"/>
          <p:nvPr/>
        </p:nvSpPr>
        <p:spPr>
          <a:xfrm>
            <a:off x="2011680" y="219456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Softmax → Sigmoid</a:t>
            </a:r>
            <a:endParaRPr lang="en-US" sz="1900" dirty="0"/>
          </a:p>
        </p:txBody>
      </p:sp>
      <p:sp>
        <p:nvSpPr>
          <p:cNvPr id="7" name="circle-435"/>
          <p:cNvSpPr/>
          <p:nvPr/>
        </p:nvSpPr>
        <p:spPr>
          <a:xfrm>
            <a:off x="822960" y="3154680"/>
            <a:ext cx="914400" cy="914400"/>
          </a:xfrm>
          <a:prstGeom prst="ellipse">
            <a:avLst/>
          </a:prstGeom>
          <a:solidFill>
            <a:schemeClr val="accent1"/>
          </a:solidFill>
          <a:ln/>
        </p:spPr>
      </p:sp>
      <p:pic>
        <p:nvPicPr>
          <p:cNvPr id="8" name="icon-FaMemory-436" descr="FaMemory">    </p:cNvPr>
          <p:cNvPicPr>
            <a:picLocks noChangeAspect="1"/>
          </p:cNvPicPr>
          <p:nvPr/>
        </p:nvPicPr>
        <p:blipFill>
          <a:blip r:embed="rId2"/>
          <a:stretch>
            <a:fillRect/>
          </a:stretch>
        </p:blipFill>
        <p:spPr>
          <a:xfrm>
            <a:off x="1060704" y="3392424"/>
            <a:ext cx="438912" cy="438912"/>
          </a:xfrm>
          <a:prstGeom prst="rect">
            <a:avLst/>
          </a:prstGeom>
        </p:spPr>
      </p:pic>
      <p:sp>
        <p:nvSpPr>
          <p:cNvPr id="9" name="text-437"/>
          <p:cNvSpPr txBox="1"/>
          <p:nvPr/>
        </p:nvSpPr>
        <p:spPr>
          <a:xfrm>
            <a:off x="2011680" y="310896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배치 전체를 모을 필요가 사라짐</a:t>
            </a:r>
            <a:endParaRPr lang="en-US" sz="2600" dirty="0"/>
          </a:p>
        </p:txBody>
      </p:sp>
      <p:sp>
        <p:nvSpPr>
          <p:cNvPr id="10" name="text-438"/>
          <p:cNvSpPr txBox="1"/>
          <p:nvPr/>
        </p:nvSpPr>
        <p:spPr>
          <a:xfrm>
            <a:off x="2011680" y="374904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메모리 ↓ · 작은 배치에 강함 · 노이즈에 강함</a:t>
            </a:r>
            <a:endParaRPr lang="en-US" sz="1900" dirty="0"/>
          </a:p>
        </p:txBody>
      </p:sp>
      <p:sp>
        <p:nvSpPr>
          <p:cNvPr id="11" name="circle-439"/>
          <p:cNvSpPr/>
          <p:nvPr/>
        </p:nvSpPr>
        <p:spPr>
          <a:xfrm>
            <a:off x="822960" y="4709160"/>
            <a:ext cx="914400" cy="914400"/>
          </a:xfrm>
          <a:prstGeom prst="ellipse">
            <a:avLst/>
          </a:prstGeom>
          <a:solidFill>
            <a:schemeClr val="accent2"/>
          </a:solidFill>
          <a:ln/>
        </p:spPr>
      </p:sp>
      <p:pic>
        <p:nvPicPr>
          <p:cNvPr id="12" name="icon-FaSearch-440" descr="FaSearch">    </p:cNvPr>
          <p:cNvPicPr>
            <a:picLocks noChangeAspect="1"/>
          </p:cNvPicPr>
          <p:nvPr/>
        </p:nvPicPr>
        <p:blipFill>
          <a:blip r:embed="rId3"/>
          <a:stretch>
            <a:fillRect/>
          </a:stretch>
        </p:blipFill>
        <p:spPr>
          <a:xfrm>
            <a:off x="1060704" y="4946904"/>
            <a:ext cx="438912" cy="438912"/>
          </a:xfrm>
          <a:prstGeom prst="rect">
            <a:avLst/>
          </a:prstGeom>
        </p:spPr>
      </p:pic>
      <p:sp>
        <p:nvSpPr>
          <p:cNvPr id="13" name="text-441"/>
          <p:cNvSpPr txBox="1"/>
          <p:nvPr/>
        </p:nvSpPr>
        <p:spPr>
          <a:xfrm>
            <a:off x="2011680" y="466344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듀얼 인코더 + 공동 임베딩 공간</a:t>
            </a:r>
            <a:endParaRPr lang="en-US" sz="2600" dirty="0"/>
          </a:p>
        </p:txBody>
      </p:sp>
      <p:sp>
        <p:nvSpPr>
          <p:cNvPr id="14" name="text-442"/>
          <p:cNvSpPr txBox="1"/>
          <p:nvPr/>
        </p:nvSpPr>
        <p:spPr>
          <a:xfrm>
            <a:off x="2011680" y="530352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사진은 미리, 질문만 그때그때 → 대규모 검색에 적합</a:t>
            </a:r>
            <a:endParaRPr lang="en-US" sz="19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함께 생각해 볼 질문</a:t>
            </a:r>
            <a:endParaRPr lang="en-US" sz="3000" dirty="0"/>
          </a:p>
        </p:txBody>
      </p:sp>
      <p:sp>
        <p:nvSpPr>
          <p:cNvPr id="3" name="card-443"/>
          <p:cNvSpPr/>
          <p:nvPr/>
        </p:nvSpPr>
        <p:spPr>
          <a:xfrm>
            <a:off x="640080" y="1417320"/>
            <a:ext cx="5349240" cy="2057400"/>
          </a:xfrm>
          <a:prstGeom prst="roundRect">
            <a:avLst>
              <a:gd name="adj" fmla="val 6222"/>
            </a:avLst>
          </a:prstGeom>
          <a:solidFill>
            <a:schemeClr val="bg2"/>
          </a:solidFill>
          <a:ln/>
        </p:spPr>
      </p:sp>
      <p:sp>
        <p:nvSpPr>
          <p:cNvPr id="4" name="circle-444"/>
          <p:cNvSpPr/>
          <p:nvPr/>
        </p:nvSpPr>
        <p:spPr>
          <a:xfrm>
            <a:off x="960120" y="1783080"/>
            <a:ext cx="777240" cy="777240"/>
          </a:xfrm>
          <a:prstGeom prst="ellipse">
            <a:avLst/>
          </a:prstGeom>
          <a:solidFill>
            <a:schemeClr val="accent3"/>
          </a:solidFill>
          <a:ln/>
        </p:spPr>
      </p:sp>
      <p:pic>
        <p:nvPicPr>
          <p:cNvPr id="5" name="icon-FaComments-445" descr="FaComments">    </p:cNvPr>
          <p:cNvPicPr>
            <a:picLocks noChangeAspect="1"/>
          </p:cNvPicPr>
          <p:nvPr/>
        </p:nvPicPr>
        <p:blipFill>
          <a:blip r:embed="rId1"/>
          <a:stretch>
            <a:fillRect/>
          </a:stretch>
        </p:blipFill>
        <p:spPr>
          <a:xfrm>
            <a:off x="1162202" y="1985162"/>
            <a:ext cx="373075" cy="373075"/>
          </a:xfrm>
          <a:prstGeom prst="rect">
            <a:avLst/>
          </a:prstGeom>
        </p:spPr>
      </p:pic>
      <p:sp>
        <p:nvSpPr>
          <p:cNvPr id="6" name="text-446"/>
          <p:cNvSpPr txBox="1"/>
          <p:nvPr/>
        </p:nvSpPr>
        <p:spPr>
          <a:xfrm>
            <a:off x="1965960" y="173736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Q1</a:t>
            </a:r>
            <a:endParaRPr lang="en-US" sz="1800" dirty="0"/>
          </a:p>
        </p:txBody>
      </p:sp>
      <p:sp>
        <p:nvSpPr>
          <p:cNvPr id="7" name="text-447"/>
          <p:cNvSpPr txBox="1"/>
          <p:nvPr/>
        </p:nvSpPr>
        <p:spPr>
          <a:xfrm>
            <a:off x="1965960" y="2194560"/>
            <a:ext cx="3794760" cy="1143000"/>
          </a:xfrm>
          <a:prstGeom prst="rect">
            <a:avLst/>
          </a:prstGeom>
          <a:noFill/>
          <a:ln/>
        </p:spPr>
        <p:txBody>
          <a:bodyPr wrap="square" lIns="0" tIns="0" rIns="0" bIns="0" rtlCol="0" anchor="t"/>
          <a:lstStyle/>
          <a:p>
            <a:pPr indent="0" marL="0">
              <a:buNone/>
            </a:pPr>
            <a:r>
              <a:rPr lang="en-US" sz="1800" dirty="0">
                <a:solidFill>
                  <a:schemeClr val="tx1"/>
                </a:solidFill>
              </a:rPr>
              <a:t>정답 캡션이 40.5%로 나왔다. 검색 필터 임계값은 몇으로 잡아야 할까?</a:t>
            </a:r>
            <a:endParaRPr lang="en-US" sz="1800" dirty="0"/>
          </a:p>
        </p:txBody>
      </p:sp>
      <p:sp>
        <p:nvSpPr>
          <p:cNvPr id="8" name="card-448"/>
          <p:cNvSpPr/>
          <p:nvPr/>
        </p:nvSpPr>
        <p:spPr>
          <a:xfrm>
            <a:off x="6172200" y="1417320"/>
            <a:ext cx="5349240" cy="2057400"/>
          </a:xfrm>
          <a:prstGeom prst="roundRect">
            <a:avLst>
              <a:gd name="adj" fmla="val 6222"/>
            </a:avLst>
          </a:prstGeom>
          <a:solidFill>
            <a:schemeClr val="bg2"/>
          </a:solidFill>
          <a:ln/>
        </p:spPr>
      </p:sp>
      <p:sp>
        <p:nvSpPr>
          <p:cNvPr id="9" name="circle-449"/>
          <p:cNvSpPr/>
          <p:nvPr/>
        </p:nvSpPr>
        <p:spPr>
          <a:xfrm>
            <a:off x="6492240" y="1783080"/>
            <a:ext cx="777240" cy="777240"/>
          </a:xfrm>
          <a:prstGeom prst="ellipse">
            <a:avLst/>
          </a:prstGeom>
          <a:solidFill>
            <a:schemeClr val="accent3"/>
          </a:solidFill>
          <a:ln/>
        </p:spPr>
      </p:sp>
      <p:pic>
        <p:nvPicPr>
          <p:cNvPr id="10" name="icon-FaComments-450" descr="FaComments">    </p:cNvPr>
          <p:cNvPicPr>
            <a:picLocks noChangeAspect="1"/>
          </p:cNvPicPr>
          <p:nvPr/>
        </p:nvPicPr>
        <p:blipFill>
          <a:blip r:embed="rId2"/>
          <a:stretch>
            <a:fillRect/>
          </a:stretch>
        </p:blipFill>
        <p:spPr>
          <a:xfrm>
            <a:off x="6694322" y="1985162"/>
            <a:ext cx="373075" cy="373075"/>
          </a:xfrm>
          <a:prstGeom prst="rect">
            <a:avLst/>
          </a:prstGeom>
        </p:spPr>
      </p:pic>
      <p:sp>
        <p:nvSpPr>
          <p:cNvPr id="11" name="text-451"/>
          <p:cNvSpPr txBox="1"/>
          <p:nvPr/>
        </p:nvSpPr>
        <p:spPr>
          <a:xfrm>
            <a:off x="7498080" y="173736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Q2</a:t>
            </a:r>
            <a:endParaRPr lang="en-US" sz="1800" dirty="0"/>
          </a:p>
        </p:txBody>
      </p:sp>
      <p:sp>
        <p:nvSpPr>
          <p:cNvPr id="12" name="text-452"/>
          <p:cNvSpPr txBox="1"/>
          <p:nvPr/>
        </p:nvSpPr>
        <p:spPr>
          <a:xfrm>
            <a:off x="7498080" y="2194560"/>
            <a:ext cx="3794760" cy="1143000"/>
          </a:xfrm>
          <a:prstGeom prst="rect">
            <a:avLst/>
          </a:prstGeom>
          <a:noFill/>
          <a:ln/>
        </p:spPr>
        <p:txBody>
          <a:bodyPr wrap="square" lIns="0" tIns="0" rIns="0" bIns="0" rtlCol="0" anchor="t"/>
          <a:lstStyle/>
          <a:p>
            <a:pPr indent="0" marL="0">
              <a:buNone/>
            </a:pPr>
            <a:r>
              <a:rPr lang="en-US" sz="1800" dirty="0">
                <a:solidFill>
                  <a:schemeClr val="tx1"/>
                </a:solidFill>
              </a:rPr>
              <a:t>한국어 질문: 영어로 번역 vs 다국어 모델, 각자 돌려본 결과는?</a:t>
            </a:r>
            <a:endParaRPr lang="en-US" sz="1800" dirty="0"/>
          </a:p>
        </p:txBody>
      </p:sp>
      <p:sp>
        <p:nvSpPr>
          <p:cNvPr id="13" name="card-453"/>
          <p:cNvSpPr/>
          <p:nvPr/>
        </p:nvSpPr>
        <p:spPr>
          <a:xfrm>
            <a:off x="640080" y="3749040"/>
            <a:ext cx="5349240" cy="2057400"/>
          </a:xfrm>
          <a:prstGeom prst="roundRect">
            <a:avLst>
              <a:gd name="adj" fmla="val 6222"/>
            </a:avLst>
          </a:prstGeom>
          <a:solidFill>
            <a:schemeClr val="bg2"/>
          </a:solidFill>
          <a:ln/>
        </p:spPr>
      </p:sp>
      <p:sp>
        <p:nvSpPr>
          <p:cNvPr id="14" name="circle-454"/>
          <p:cNvSpPr/>
          <p:nvPr/>
        </p:nvSpPr>
        <p:spPr>
          <a:xfrm>
            <a:off x="960120" y="4114800"/>
            <a:ext cx="777240" cy="777240"/>
          </a:xfrm>
          <a:prstGeom prst="ellipse">
            <a:avLst/>
          </a:prstGeom>
          <a:solidFill>
            <a:schemeClr val="accent3"/>
          </a:solidFill>
          <a:ln/>
        </p:spPr>
      </p:sp>
      <p:pic>
        <p:nvPicPr>
          <p:cNvPr id="15" name="icon-FaComments-455" descr="FaComments">    </p:cNvPr>
          <p:cNvPicPr>
            <a:picLocks noChangeAspect="1"/>
          </p:cNvPicPr>
          <p:nvPr/>
        </p:nvPicPr>
        <p:blipFill>
          <a:blip r:embed="rId3"/>
          <a:stretch>
            <a:fillRect/>
          </a:stretch>
        </p:blipFill>
        <p:spPr>
          <a:xfrm>
            <a:off x="1162202" y="4316882"/>
            <a:ext cx="373075" cy="373075"/>
          </a:xfrm>
          <a:prstGeom prst="rect">
            <a:avLst/>
          </a:prstGeom>
        </p:spPr>
      </p:pic>
      <p:sp>
        <p:nvSpPr>
          <p:cNvPr id="16" name="text-456"/>
          <p:cNvSpPr txBox="1"/>
          <p:nvPr/>
        </p:nvSpPr>
        <p:spPr>
          <a:xfrm>
            <a:off x="1965960" y="406908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Q3</a:t>
            </a:r>
            <a:endParaRPr lang="en-US" sz="1800" dirty="0"/>
          </a:p>
        </p:txBody>
      </p:sp>
      <p:sp>
        <p:nvSpPr>
          <p:cNvPr id="17" name="text-457"/>
          <p:cNvSpPr txBox="1"/>
          <p:nvPr/>
        </p:nvSpPr>
        <p:spPr>
          <a:xfrm>
            <a:off x="1965960" y="4526280"/>
            <a:ext cx="3794760" cy="1143000"/>
          </a:xfrm>
          <a:prstGeom prst="rect">
            <a:avLst/>
          </a:prstGeom>
          <a:noFill/>
          <a:ln/>
        </p:spPr>
        <p:txBody>
          <a:bodyPr wrap="square" lIns="0" tIns="0" rIns="0" bIns="0" rtlCol="0" anchor="t"/>
          <a:lstStyle/>
          <a:p>
            <a:pPr indent="0" marL="0">
              <a:buNone/>
            </a:pPr>
            <a:r>
              <a:rPr lang="en-US" sz="1800" dirty="0">
                <a:solidFill>
                  <a:schemeClr val="tx1"/>
                </a:solidFill>
              </a:rPr>
              <a:t>이미지 검색에도 재정렬 단계를 붙인다면 무엇을? (예: 생성형 VLM)</a:t>
            </a:r>
            <a:endParaRPr lang="en-US" sz="1800" dirty="0"/>
          </a:p>
        </p:txBody>
      </p:sp>
      <p:sp>
        <p:nvSpPr>
          <p:cNvPr id="18" name="card-458"/>
          <p:cNvSpPr/>
          <p:nvPr/>
        </p:nvSpPr>
        <p:spPr>
          <a:xfrm>
            <a:off x="6172200" y="3749040"/>
            <a:ext cx="5349240" cy="2057400"/>
          </a:xfrm>
          <a:prstGeom prst="roundRect">
            <a:avLst>
              <a:gd name="adj" fmla="val 6222"/>
            </a:avLst>
          </a:prstGeom>
          <a:solidFill>
            <a:schemeClr val="bg2"/>
          </a:solidFill>
          <a:ln/>
        </p:spPr>
      </p:sp>
      <p:sp>
        <p:nvSpPr>
          <p:cNvPr id="19" name="circle-459"/>
          <p:cNvSpPr/>
          <p:nvPr/>
        </p:nvSpPr>
        <p:spPr>
          <a:xfrm>
            <a:off x="6492240" y="4114800"/>
            <a:ext cx="777240" cy="777240"/>
          </a:xfrm>
          <a:prstGeom prst="ellipse">
            <a:avLst/>
          </a:prstGeom>
          <a:solidFill>
            <a:schemeClr val="accent3"/>
          </a:solidFill>
          <a:ln/>
        </p:spPr>
      </p:sp>
      <p:pic>
        <p:nvPicPr>
          <p:cNvPr id="20" name="icon-FaComments-460" descr="FaComments">    </p:cNvPr>
          <p:cNvPicPr>
            <a:picLocks noChangeAspect="1"/>
          </p:cNvPicPr>
          <p:nvPr/>
        </p:nvPicPr>
        <p:blipFill>
          <a:blip r:embed="rId4"/>
          <a:stretch>
            <a:fillRect/>
          </a:stretch>
        </p:blipFill>
        <p:spPr>
          <a:xfrm>
            <a:off x="6694322" y="4316882"/>
            <a:ext cx="373075" cy="373075"/>
          </a:xfrm>
          <a:prstGeom prst="rect">
            <a:avLst/>
          </a:prstGeom>
        </p:spPr>
      </p:pic>
      <p:sp>
        <p:nvSpPr>
          <p:cNvPr id="21" name="text-461"/>
          <p:cNvSpPr txBox="1"/>
          <p:nvPr/>
        </p:nvSpPr>
        <p:spPr>
          <a:xfrm>
            <a:off x="7498080" y="4069080"/>
            <a:ext cx="914400" cy="411480"/>
          </a:xfrm>
          <a:prstGeom prst="rect">
            <a:avLst/>
          </a:prstGeom>
          <a:noFill/>
          <a:ln/>
        </p:spPr>
        <p:txBody>
          <a:bodyPr wrap="square" lIns="0" tIns="0" rIns="0" bIns="0" rtlCol="0" anchor="t"/>
          <a:lstStyle/>
          <a:p>
            <a:pPr indent="0" marL="0">
              <a:buNone/>
            </a:pPr>
            <a:r>
              <a:rPr lang="en-US" sz="1800" b="1" dirty="0">
                <a:solidFill>
                  <a:schemeClr val="accent3"/>
                </a:solidFill>
              </a:rPr>
              <a:t>Q4</a:t>
            </a:r>
            <a:endParaRPr lang="en-US" sz="1800" dirty="0"/>
          </a:p>
        </p:txBody>
      </p:sp>
      <p:sp>
        <p:nvSpPr>
          <p:cNvPr id="22" name="text-462"/>
          <p:cNvSpPr txBox="1"/>
          <p:nvPr/>
        </p:nvSpPr>
        <p:spPr>
          <a:xfrm>
            <a:off x="7498080" y="4526280"/>
            <a:ext cx="3794760" cy="1143000"/>
          </a:xfrm>
          <a:prstGeom prst="rect">
            <a:avLst/>
          </a:prstGeom>
          <a:noFill/>
          <a:ln/>
        </p:spPr>
        <p:txBody>
          <a:bodyPr wrap="square" lIns="0" tIns="0" rIns="0" bIns="0" rtlCol="0" anchor="t"/>
          <a:lstStyle/>
          <a:p>
            <a:pPr indent="0" marL="0">
              <a:buNone/>
            </a:pPr>
            <a:r>
              <a:rPr lang="en-US" sz="1800" dirty="0">
                <a:solidFill>
                  <a:schemeClr val="tx1"/>
                </a:solidFill>
              </a:rPr>
              <a:t>32k에서 포화된다는 결과는 우리 파인튜닝에 어떤 의미일까?</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참고자료</a:t>
            </a:r>
            <a:endParaRPr lang="en-US" sz="3000" dirty="0"/>
          </a:p>
        </p:txBody>
      </p:sp>
      <p:sp>
        <p:nvSpPr>
          <p:cNvPr id="3" name="text-463"/>
          <p:cNvSpPr txBox="1"/>
          <p:nvPr/>
        </p:nvSpPr>
        <p:spPr>
          <a:xfrm>
            <a:off x="640080" y="12801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메인 실습 · Inference with (multilingual) SigLIP 노트북</a:t>
            </a:r>
            <a:endParaRPr lang="en-US" sz="1600" dirty="0"/>
          </a:p>
        </p:txBody>
      </p:sp>
      <p:sp>
        <p:nvSpPr>
          <p:cNvPr id="4" name="text-464"/>
          <p:cNvSpPr txBox="1"/>
          <p:nvPr/>
        </p:nvSpPr>
        <p:spPr>
          <a:xfrm>
            <a:off x="640080" y="16093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1" invalidUrl="" action="" tgtFrame="" tooltip="" history="1" highlightClick="0" endSnd="0">
                  <a:extLst>
                    <a:ext uri="{A12FA001-AC4F-418D-AE19-62706E023703}">
                      <ahyp:hlinkClr xmlns:ahyp="http://schemas.microsoft.com/office/drawing/2018/hyperlinkcolor" val="tx"/>
                    </a:ext>
                  </a:extLst>
                </a:hlinkClick>
              </a:rPr>
              <a:t>colab.research.google.com/github/NielsRogge/Transformers-Tutorials/blo…</a:t>
            </a:r>
            <a:endParaRPr lang="en-US" sz="1200" dirty="0"/>
          </a:p>
        </p:txBody>
      </p:sp>
      <p:sp>
        <p:nvSpPr>
          <p:cNvPr id="5" name="text-465"/>
          <p:cNvSpPr txBox="1"/>
          <p:nvPr/>
        </p:nvSpPr>
        <p:spPr>
          <a:xfrm>
            <a:off x="640080" y="19659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공식 코드 · Transformers SigLIP 문서</a:t>
            </a:r>
            <a:endParaRPr lang="en-US" sz="1600" dirty="0"/>
          </a:p>
        </p:txBody>
      </p:sp>
      <p:sp>
        <p:nvSpPr>
          <p:cNvPr id="6" name="text-466"/>
          <p:cNvSpPr txBox="1"/>
          <p:nvPr/>
        </p:nvSpPr>
        <p:spPr>
          <a:xfrm>
            <a:off x="640080" y="22951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2" invalidUrl="" action="" tgtFrame="" tooltip="" history="1" highlightClick="0" endSnd="0">
                  <a:extLst>
                    <a:ext uri="{A12FA001-AC4F-418D-AE19-62706E023703}">
                      <ahyp:hlinkClr xmlns:ahyp="http://schemas.microsoft.com/office/drawing/2018/hyperlinkcolor" val="tx"/>
                    </a:ext>
                  </a:extLst>
                </a:hlinkClick>
              </a:rPr>
              <a:t>huggingface.co/docs/transformers/model_doc/siglip</a:t>
            </a:r>
            <a:endParaRPr lang="en-US" sz="1200" dirty="0"/>
          </a:p>
        </p:txBody>
      </p:sp>
      <p:sp>
        <p:nvSpPr>
          <p:cNvPr id="7" name="text-467"/>
          <p:cNvSpPr txBox="1"/>
          <p:nvPr/>
        </p:nvSpPr>
        <p:spPr>
          <a:xfrm>
            <a:off x="640080" y="26517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5주차 미리보기 · smol-vision Image Search with MetaCLIP2</a:t>
            </a:r>
            <a:endParaRPr lang="en-US" sz="1600" dirty="0"/>
          </a:p>
        </p:txBody>
      </p:sp>
      <p:sp>
        <p:nvSpPr>
          <p:cNvPr id="8" name="text-468"/>
          <p:cNvSpPr txBox="1"/>
          <p:nvPr/>
        </p:nvSpPr>
        <p:spPr>
          <a:xfrm>
            <a:off x="640080" y="29809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3" invalidUrl="" action="" tgtFrame="" tooltip="" history="1" highlightClick="0" endSnd="0">
                  <a:extLst>
                    <a:ext uri="{A12FA001-AC4F-418D-AE19-62706E023703}">
                      <ahyp:hlinkClr xmlns:ahyp="http://schemas.microsoft.com/office/drawing/2018/hyperlinkcolor" val="tx"/>
                    </a:ext>
                  </a:extLst>
                </a:hlinkClick>
              </a:rPr>
              <a:t>github.com/merveenoyan/smol-vision/blob/main/Image_Search_with_MetaCLI…</a:t>
            </a:r>
            <a:endParaRPr lang="en-US" sz="1200" dirty="0"/>
          </a:p>
        </p:txBody>
      </p:sp>
      <p:sp>
        <p:nvSpPr>
          <p:cNvPr id="9" name="text-469"/>
          <p:cNvSpPr txBox="1"/>
          <p:nvPr/>
        </p:nvSpPr>
        <p:spPr>
          <a:xfrm>
            <a:off x="640080" y="33375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심화 · Google big_vision SigLIP 데모</a:t>
            </a:r>
            <a:endParaRPr lang="en-US" sz="1600" dirty="0"/>
          </a:p>
        </p:txBody>
      </p:sp>
      <p:sp>
        <p:nvSpPr>
          <p:cNvPr id="10" name="text-470"/>
          <p:cNvSpPr txBox="1"/>
          <p:nvPr/>
        </p:nvSpPr>
        <p:spPr>
          <a:xfrm>
            <a:off x="640080" y="36667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4" invalidUrl="" action="" tgtFrame="" tooltip="" history="1" highlightClick="0" endSnd="0">
                  <a:extLst>
                    <a:ext uri="{A12FA001-AC4F-418D-AE19-62706E023703}">
                      <ahyp:hlinkClr xmlns:ahyp="http://schemas.microsoft.com/office/drawing/2018/hyperlinkcolor" val="tx"/>
                    </a:ext>
                  </a:extLst>
                </a:hlinkClick>
              </a:rPr>
              <a:t>colab.research.google.com/github/google-research/big_vision/blob/main/…</a:t>
            </a:r>
            <a:endParaRPr lang="en-US" sz="1200" dirty="0"/>
          </a:p>
        </p:txBody>
      </p:sp>
      <p:sp>
        <p:nvSpPr>
          <p:cNvPr id="11" name="text-471"/>
          <p:cNvSpPr txBox="1"/>
          <p:nvPr/>
        </p:nvSpPr>
        <p:spPr>
          <a:xfrm>
            <a:off x="640080" y="40233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이론 · Hugging Face Blog: Vision Language Models Explained</a:t>
            </a:r>
            <a:endParaRPr lang="en-US" sz="1600" dirty="0"/>
          </a:p>
        </p:txBody>
      </p:sp>
      <p:sp>
        <p:nvSpPr>
          <p:cNvPr id="12" name="text-472"/>
          <p:cNvSpPr txBox="1"/>
          <p:nvPr/>
        </p:nvSpPr>
        <p:spPr>
          <a:xfrm>
            <a:off x="640080" y="43525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5" invalidUrl="" action="" tgtFrame="" tooltip="" history="1" highlightClick="0" endSnd="0">
                  <a:extLst>
                    <a:ext uri="{A12FA001-AC4F-418D-AE19-62706E023703}">
                      <ahyp:hlinkClr xmlns:ahyp="http://schemas.microsoft.com/office/drawing/2018/hyperlinkcolor" val="tx"/>
                    </a:ext>
                  </a:extLst>
                </a:hlinkClick>
              </a:rPr>
              <a:t>huggingface.co/blog/vlms</a:t>
            </a:r>
            <a:endParaRPr lang="en-US" sz="1200" dirty="0"/>
          </a:p>
        </p:txBody>
      </p:sp>
      <p:sp>
        <p:nvSpPr>
          <p:cNvPr id="13" name="text-473"/>
          <p:cNvSpPr txBox="1"/>
          <p:nvPr/>
        </p:nvSpPr>
        <p:spPr>
          <a:xfrm>
            <a:off x="640080" y="47091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논문 · Zhai et al., Sigmoid Loss for Language Image Pre-Training (ICCV 2023)</a:t>
            </a:r>
            <a:endParaRPr lang="en-US" sz="1600" dirty="0"/>
          </a:p>
        </p:txBody>
      </p:sp>
      <p:sp>
        <p:nvSpPr>
          <p:cNvPr id="14" name="text-474"/>
          <p:cNvSpPr txBox="1"/>
          <p:nvPr/>
        </p:nvSpPr>
        <p:spPr>
          <a:xfrm>
            <a:off x="640080" y="50383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6" invalidUrl="" action="" tgtFrame="" tooltip="" history="1" highlightClick="0" endSnd="0">
                  <a:extLst>
                    <a:ext uri="{A12FA001-AC4F-418D-AE19-62706E023703}">
                      <ahyp:hlinkClr xmlns:ahyp="http://schemas.microsoft.com/office/drawing/2018/hyperlinkcolor" val="tx"/>
                    </a:ext>
                  </a:extLst>
                </a:hlinkClick>
              </a:rPr>
              <a:t>arxiv.org/abs/2303.15343</a:t>
            </a:r>
            <a:endParaRPr lang="en-US" sz="1200" dirty="0"/>
          </a:p>
        </p:txBody>
      </p:sp>
      <p:sp>
        <p:nvSpPr>
          <p:cNvPr id="15" name="card-475"/>
          <p:cNvSpPr/>
          <p:nvPr/>
        </p:nvSpPr>
        <p:spPr>
          <a:xfrm>
            <a:off x="640080" y="5486400"/>
            <a:ext cx="10881360" cy="640080"/>
          </a:xfrm>
          <a:prstGeom prst="roundRect">
            <a:avLst>
              <a:gd name="adj" fmla="val 20000"/>
            </a:avLst>
          </a:prstGeom>
          <a:solidFill>
            <a:schemeClr val="bg2"/>
          </a:solidFill>
          <a:ln/>
        </p:spPr>
      </p:sp>
      <p:sp>
        <p:nvSpPr>
          <p:cNvPr id="16" name="text-476"/>
          <p:cNvSpPr txBox="1"/>
          <p:nvPr/>
        </p:nvSpPr>
        <p:spPr>
          <a:xfrm>
            <a:off x="868680" y="5486400"/>
            <a:ext cx="10424160" cy="640080"/>
          </a:xfrm>
          <a:prstGeom prst="rect">
            <a:avLst/>
          </a:prstGeom>
          <a:noFill/>
          <a:ln/>
        </p:spPr>
        <p:txBody>
          <a:bodyPr wrap="square" lIns="0" tIns="0" rIns="0" bIns="0" rtlCol="0" anchor="ctr"/>
          <a:lstStyle/>
          <a:p>
            <a:pPr indent="0" marL="0">
              <a:buNone/>
            </a:pPr>
            <a:r>
              <a:rPr lang="en-US" sz="1200" dirty="0">
                <a:solidFill>
                  <a:schemeClr val="tx2"/>
                </a:solidFill>
              </a:rPr>
              <a:t>사진: scikit-image 샘플 — 고양이(Stefan van der Walt, CC0), 커피(Rachel Michetti, CC0), 로켓(SpaceX, 퍼블릭 도메인), 우주비행사(NASA, 퍼블릭 도메인) · 아이콘: Font Awesome</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부록 — 예상 질문</a:t>
            </a:r>
            <a:endParaRPr lang="en-US" sz="3000" dirty="0"/>
          </a:p>
        </p:txBody>
      </p:sp>
      <p:sp>
        <p:nvSpPr>
          <p:cNvPr id="3" name="card-477"/>
          <p:cNvSpPr/>
          <p:nvPr/>
        </p:nvSpPr>
        <p:spPr>
          <a:xfrm>
            <a:off x="640080" y="1371600"/>
            <a:ext cx="5349240" cy="2148840"/>
          </a:xfrm>
          <a:prstGeom prst="roundRect">
            <a:avLst>
              <a:gd name="adj" fmla="val 5957"/>
            </a:avLst>
          </a:prstGeom>
          <a:solidFill>
            <a:schemeClr val="bg2"/>
          </a:solidFill>
          <a:ln/>
        </p:spPr>
      </p:sp>
      <p:sp>
        <p:nvSpPr>
          <p:cNvPr id="4" name="circle-478"/>
          <p:cNvSpPr/>
          <p:nvPr/>
        </p:nvSpPr>
        <p:spPr>
          <a:xfrm>
            <a:off x="914400" y="1645920"/>
            <a:ext cx="548640" cy="548640"/>
          </a:xfrm>
          <a:prstGeom prst="ellipse">
            <a:avLst/>
          </a:prstGeom>
          <a:solidFill>
            <a:schemeClr val="accent3"/>
          </a:solidFill>
          <a:ln/>
        </p:spPr>
      </p:sp>
      <p:pic>
        <p:nvPicPr>
          <p:cNvPr id="5" name="icon-FaQuestion-479" descr="FaQuestion">    </p:cNvPr>
          <p:cNvPicPr>
            <a:picLocks noChangeAspect="1"/>
          </p:cNvPicPr>
          <p:nvPr/>
        </p:nvPicPr>
        <p:blipFill>
          <a:blip r:embed="rId1"/>
          <a:stretch>
            <a:fillRect/>
          </a:stretch>
        </p:blipFill>
        <p:spPr>
          <a:xfrm>
            <a:off x="1057046" y="1788566"/>
            <a:ext cx="263347" cy="263347"/>
          </a:xfrm>
          <a:prstGeom prst="rect">
            <a:avLst/>
          </a:prstGeom>
        </p:spPr>
      </p:pic>
      <p:sp>
        <p:nvSpPr>
          <p:cNvPr id="6" name="text-480"/>
          <p:cNvSpPr txBox="1"/>
          <p:nvPr/>
        </p:nvSpPr>
        <p:spPr>
          <a:xfrm>
            <a:off x="1645920" y="1627632"/>
            <a:ext cx="4160520" cy="640080"/>
          </a:xfrm>
          <a:prstGeom prst="rect">
            <a:avLst/>
          </a:prstGeom>
          <a:noFill/>
          <a:ln/>
        </p:spPr>
        <p:txBody>
          <a:bodyPr wrap="square" lIns="0" tIns="0" rIns="0" bIns="0" rtlCol="0" anchor="t"/>
          <a:lstStyle/>
          <a:p>
            <a:pPr indent="0" marL="0">
              <a:buNone/>
            </a:pPr>
            <a:r>
              <a:rPr lang="en-US" sz="1700" b="1" dirty="0">
                <a:solidFill>
                  <a:schemeClr val="tx1"/>
                </a:solidFill>
              </a:rPr>
              <a:t>구조가 같은데 왜 SigLIP이 더 좋나요?</a:t>
            </a:r>
            <a:endParaRPr lang="en-US" sz="1700" dirty="0"/>
          </a:p>
        </p:txBody>
      </p:sp>
      <p:sp>
        <p:nvSpPr>
          <p:cNvPr id="7" name="text-481"/>
          <p:cNvSpPr txBox="1"/>
          <p:nvPr/>
        </p:nvSpPr>
        <p:spPr>
          <a:xfrm>
            <a:off x="1645920" y="2286000"/>
            <a:ext cx="4160520" cy="1097280"/>
          </a:xfrm>
          <a:prstGeom prst="rect">
            <a:avLst/>
          </a:prstGeom>
          <a:noFill/>
          <a:ln/>
        </p:spPr>
        <p:txBody>
          <a:bodyPr wrap="square" lIns="0" tIns="0" rIns="0" bIns="0" rtlCol="0" anchor="t"/>
          <a:lstStyle/>
          <a:p>
            <a:pPr indent="0" marL="0">
              <a:buNone/>
            </a:pPr>
            <a:r>
              <a:rPr lang="en-US" sz="1500" dirty="0">
                <a:solidFill>
                  <a:schemeClr val="tx2"/>
                </a:solidFill>
              </a:rPr>
              <a:t>Softmax는 작은 배치에서 비교할 보기가 부족해 신호가 약함. Sigmoid는 모든 쌍에 독립 신호 → 작은 배치에 강함.</a:t>
            </a:r>
            <a:endParaRPr lang="en-US" sz="1500" dirty="0"/>
          </a:p>
        </p:txBody>
      </p:sp>
      <p:sp>
        <p:nvSpPr>
          <p:cNvPr id="8" name="card-482"/>
          <p:cNvSpPr/>
          <p:nvPr/>
        </p:nvSpPr>
        <p:spPr>
          <a:xfrm>
            <a:off x="6172200" y="1371600"/>
            <a:ext cx="5349240" cy="2148840"/>
          </a:xfrm>
          <a:prstGeom prst="roundRect">
            <a:avLst>
              <a:gd name="adj" fmla="val 5957"/>
            </a:avLst>
          </a:prstGeom>
          <a:solidFill>
            <a:schemeClr val="bg2"/>
          </a:solidFill>
          <a:ln/>
        </p:spPr>
      </p:sp>
      <p:sp>
        <p:nvSpPr>
          <p:cNvPr id="9" name="circle-483"/>
          <p:cNvSpPr/>
          <p:nvPr/>
        </p:nvSpPr>
        <p:spPr>
          <a:xfrm>
            <a:off x="6446520" y="1645920"/>
            <a:ext cx="548640" cy="548640"/>
          </a:xfrm>
          <a:prstGeom prst="ellipse">
            <a:avLst/>
          </a:prstGeom>
          <a:solidFill>
            <a:schemeClr val="accent3"/>
          </a:solidFill>
          <a:ln/>
        </p:spPr>
      </p:sp>
      <p:pic>
        <p:nvPicPr>
          <p:cNvPr id="10" name="icon-FaQuestion-484" descr="FaQuestion">    </p:cNvPr>
          <p:cNvPicPr>
            <a:picLocks noChangeAspect="1"/>
          </p:cNvPicPr>
          <p:nvPr/>
        </p:nvPicPr>
        <p:blipFill>
          <a:blip r:embed="rId2"/>
          <a:stretch>
            <a:fillRect/>
          </a:stretch>
        </p:blipFill>
        <p:spPr>
          <a:xfrm>
            <a:off x="6589166" y="1788566"/>
            <a:ext cx="263347" cy="263347"/>
          </a:xfrm>
          <a:prstGeom prst="rect">
            <a:avLst/>
          </a:prstGeom>
        </p:spPr>
      </p:pic>
      <p:sp>
        <p:nvSpPr>
          <p:cNvPr id="11" name="text-485"/>
          <p:cNvSpPr txBox="1"/>
          <p:nvPr/>
        </p:nvSpPr>
        <p:spPr>
          <a:xfrm>
            <a:off x="7178040" y="1627632"/>
            <a:ext cx="4160520" cy="640080"/>
          </a:xfrm>
          <a:prstGeom prst="rect">
            <a:avLst/>
          </a:prstGeom>
          <a:noFill/>
          <a:ln/>
        </p:spPr>
        <p:txBody>
          <a:bodyPr wrap="square" lIns="0" tIns="0" rIns="0" bIns="0" rtlCol="0" anchor="t"/>
          <a:lstStyle/>
          <a:p>
            <a:pPr indent="0" marL="0">
              <a:buNone/>
            </a:pPr>
            <a:r>
              <a:rPr lang="en-US" sz="1700" b="1" dirty="0">
                <a:solidFill>
                  <a:schemeClr val="tx1"/>
                </a:solidFill>
              </a:rPr>
              <a:t>가짜 짝이 압도적으로 많은데 괜찮나요?</a:t>
            </a:r>
            <a:endParaRPr lang="en-US" sz="1700" dirty="0"/>
          </a:p>
        </p:txBody>
      </p:sp>
      <p:sp>
        <p:nvSpPr>
          <p:cNvPr id="12" name="text-486"/>
          <p:cNvSpPr txBox="1"/>
          <p:nvPr/>
        </p:nvSpPr>
        <p:spPr>
          <a:xfrm>
            <a:off x="7178040" y="2286000"/>
            <a:ext cx="4160520" cy="1097280"/>
          </a:xfrm>
          <a:prstGeom prst="rect">
            <a:avLst/>
          </a:prstGeom>
          <a:noFill/>
          <a:ln/>
        </p:spPr>
        <p:txBody>
          <a:bodyPr wrap="square" lIns="0" tIns="0" rIns="0" bIns="0" rtlCol="0" anchor="t"/>
          <a:lstStyle/>
          <a:p>
            <a:pPr indent="0" marL="0">
              <a:buNone/>
            </a:pPr>
            <a:r>
              <a:rPr lang="en-US" sz="1500" dirty="0">
                <a:solidFill>
                  <a:schemeClr val="tx2"/>
                </a:solidFill>
              </a:rPr>
              <a:t>바이어스 b를 −10에서 시작해 “대부분 짝 아님”에서 출발 → 초반 손실 폭주를 막음.</a:t>
            </a:r>
            <a:endParaRPr lang="en-US" sz="1500" dirty="0"/>
          </a:p>
        </p:txBody>
      </p:sp>
      <p:sp>
        <p:nvSpPr>
          <p:cNvPr id="13" name="card-487"/>
          <p:cNvSpPr/>
          <p:nvPr/>
        </p:nvSpPr>
        <p:spPr>
          <a:xfrm>
            <a:off x="640080" y="3749040"/>
            <a:ext cx="5349240" cy="2148840"/>
          </a:xfrm>
          <a:prstGeom prst="roundRect">
            <a:avLst>
              <a:gd name="adj" fmla="val 5957"/>
            </a:avLst>
          </a:prstGeom>
          <a:solidFill>
            <a:schemeClr val="bg2"/>
          </a:solidFill>
          <a:ln/>
        </p:spPr>
      </p:sp>
      <p:sp>
        <p:nvSpPr>
          <p:cNvPr id="14" name="circle-488"/>
          <p:cNvSpPr/>
          <p:nvPr/>
        </p:nvSpPr>
        <p:spPr>
          <a:xfrm>
            <a:off x="914400" y="4023360"/>
            <a:ext cx="548640" cy="548640"/>
          </a:xfrm>
          <a:prstGeom prst="ellipse">
            <a:avLst/>
          </a:prstGeom>
          <a:solidFill>
            <a:schemeClr val="accent3"/>
          </a:solidFill>
          <a:ln/>
        </p:spPr>
      </p:sp>
      <p:pic>
        <p:nvPicPr>
          <p:cNvPr id="15" name="icon-FaQuestion-489" descr="FaQuestion">    </p:cNvPr>
          <p:cNvPicPr>
            <a:picLocks noChangeAspect="1"/>
          </p:cNvPicPr>
          <p:nvPr/>
        </p:nvPicPr>
        <p:blipFill>
          <a:blip r:embed="rId3"/>
          <a:stretch>
            <a:fillRect/>
          </a:stretch>
        </p:blipFill>
        <p:spPr>
          <a:xfrm>
            <a:off x="1057046" y="4166006"/>
            <a:ext cx="263347" cy="263347"/>
          </a:xfrm>
          <a:prstGeom prst="rect">
            <a:avLst/>
          </a:prstGeom>
        </p:spPr>
      </p:pic>
      <p:sp>
        <p:nvSpPr>
          <p:cNvPr id="16" name="text-490"/>
          <p:cNvSpPr txBox="1"/>
          <p:nvPr/>
        </p:nvSpPr>
        <p:spPr>
          <a:xfrm>
            <a:off x="1645920" y="4005072"/>
            <a:ext cx="4160520" cy="640080"/>
          </a:xfrm>
          <a:prstGeom prst="rect">
            <a:avLst/>
          </a:prstGeom>
          <a:noFill/>
          <a:ln/>
        </p:spPr>
        <p:txBody>
          <a:bodyPr wrap="square" lIns="0" tIns="0" rIns="0" bIns="0" rtlCol="0" anchor="t"/>
          <a:lstStyle/>
          <a:p>
            <a:pPr indent="0" marL="0">
              <a:buNone/>
            </a:pPr>
            <a:r>
              <a:rPr lang="en-US" sz="1700" b="1" dirty="0">
                <a:solidFill>
                  <a:schemeClr val="tx1"/>
                </a:solidFill>
              </a:rPr>
              <a:t>검색할 때도 sigmoid를 써야 하나요?</a:t>
            </a:r>
            <a:endParaRPr lang="en-US" sz="1700" dirty="0"/>
          </a:p>
        </p:txBody>
      </p:sp>
      <p:sp>
        <p:nvSpPr>
          <p:cNvPr id="17" name="text-491"/>
          <p:cNvSpPr txBox="1"/>
          <p:nvPr/>
        </p:nvSpPr>
        <p:spPr>
          <a:xfrm>
            <a:off x="1645920" y="4663440"/>
            <a:ext cx="4160520" cy="1097280"/>
          </a:xfrm>
          <a:prstGeom prst="rect">
            <a:avLst/>
          </a:prstGeom>
          <a:noFill/>
          <a:ln/>
        </p:spPr>
        <p:txBody>
          <a:bodyPr wrap="square" lIns="0" tIns="0" rIns="0" bIns="0" rtlCol="0" anchor="t"/>
          <a:lstStyle/>
          <a:p>
            <a:pPr indent="0" marL="0">
              <a:buNone/>
            </a:pPr>
            <a:r>
              <a:rPr lang="en-US" sz="1500" dirty="0">
                <a:solidFill>
                  <a:schemeClr val="tx2"/>
                </a:solidFill>
              </a:rPr>
              <a:t>순위만 필요하면 내적(코사인 유사도)으로 충분. 확률값이 필요할 때만 sigmoid(t·sim + b).</a:t>
            </a:r>
            <a:endParaRPr lang="en-US" sz="1500" dirty="0"/>
          </a:p>
        </p:txBody>
      </p:sp>
      <p:sp>
        <p:nvSpPr>
          <p:cNvPr id="18" name="card-492"/>
          <p:cNvSpPr/>
          <p:nvPr/>
        </p:nvSpPr>
        <p:spPr>
          <a:xfrm>
            <a:off x="6172200" y="3749040"/>
            <a:ext cx="5349240" cy="2148840"/>
          </a:xfrm>
          <a:prstGeom prst="roundRect">
            <a:avLst>
              <a:gd name="adj" fmla="val 5957"/>
            </a:avLst>
          </a:prstGeom>
          <a:solidFill>
            <a:schemeClr val="bg2"/>
          </a:solidFill>
          <a:ln/>
        </p:spPr>
      </p:sp>
      <p:sp>
        <p:nvSpPr>
          <p:cNvPr id="19" name="circle-493"/>
          <p:cNvSpPr/>
          <p:nvPr/>
        </p:nvSpPr>
        <p:spPr>
          <a:xfrm>
            <a:off x="6446520" y="4023360"/>
            <a:ext cx="548640" cy="548640"/>
          </a:xfrm>
          <a:prstGeom prst="ellipse">
            <a:avLst/>
          </a:prstGeom>
          <a:solidFill>
            <a:schemeClr val="accent3"/>
          </a:solidFill>
          <a:ln/>
        </p:spPr>
      </p:sp>
      <p:pic>
        <p:nvPicPr>
          <p:cNvPr id="20" name="icon-FaQuestion-494" descr="FaQuestion">    </p:cNvPr>
          <p:cNvPicPr>
            <a:picLocks noChangeAspect="1"/>
          </p:cNvPicPr>
          <p:nvPr/>
        </p:nvPicPr>
        <p:blipFill>
          <a:blip r:embed="rId4"/>
          <a:stretch>
            <a:fillRect/>
          </a:stretch>
        </p:blipFill>
        <p:spPr>
          <a:xfrm>
            <a:off x="6589166" y="4166006"/>
            <a:ext cx="263347" cy="263347"/>
          </a:xfrm>
          <a:prstGeom prst="rect">
            <a:avLst/>
          </a:prstGeom>
        </p:spPr>
      </p:pic>
      <p:sp>
        <p:nvSpPr>
          <p:cNvPr id="21" name="text-495"/>
          <p:cNvSpPr txBox="1"/>
          <p:nvPr/>
        </p:nvSpPr>
        <p:spPr>
          <a:xfrm>
            <a:off x="7178040" y="4005072"/>
            <a:ext cx="4160520" cy="640080"/>
          </a:xfrm>
          <a:prstGeom prst="rect">
            <a:avLst/>
          </a:prstGeom>
          <a:noFill/>
          <a:ln/>
        </p:spPr>
        <p:txBody>
          <a:bodyPr wrap="square" lIns="0" tIns="0" rIns="0" bIns="0" rtlCol="0" anchor="t"/>
          <a:lstStyle/>
          <a:p>
            <a:pPr indent="0" marL="0">
              <a:buNone/>
            </a:pPr>
            <a:r>
              <a:rPr lang="en-US" sz="1700" b="1" dirty="0">
                <a:solidFill>
                  <a:schemeClr val="tx1"/>
                </a:solidFill>
              </a:rPr>
              <a:t>padding="max_length"는 왜 필수인가요?</a:t>
            </a:r>
            <a:endParaRPr lang="en-US" sz="1700" dirty="0"/>
          </a:p>
        </p:txBody>
      </p:sp>
      <p:sp>
        <p:nvSpPr>
          <p:cNvPr id="22" name="text-496"/>
          <p:cNvSpPr txBox="1"/>
          <p:nvPr/>
        </p:nvSpPr>
        <p:spPr>
          <a:xfrm>
            <a:off x="7178040" y="4663440"/>
            <a:ext cx="4160520" cy="1097280"/>
          </a:xfrm>
          <a:prstGeom prst="rect">
            <a:avLst/>
          </a:prstGeom>
          <a:noFill/>
          <a:ln/>
        </p:spPr>
        <p:txBody>
          <a:bodyPr wrap="square" lIns="0" tIns="0" rIns="0" bIns="0" rtlCol="0" anchor="t"/>
          <a:lstStyle/>
          <a:p>
            <a:pPr indent="0" marL="0">
              <a:buNone/>
            </a:pPr>
            <a:r>
              <a:rPr lang="en-US" sz="1500" dirty="0">
                <a:solidFill>
                  <a:schemeClr val="tx2"/>
                </a:solidFill>
              </a:rPr>
              <a:t>학습할 때 항상 64토큰으로 패딩했기 때문. 다르게 하면 텍스트 임베딩이 달라짐.</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RAG SigLIP">
  <a:themeElements>
    <a:clrScheme name="DRAG SigLIP">
      <a:dk1>
        <a:srgbClr val="1B1F3B"/>
      </a:dk1>
      <a:lt1>
        <a:srgbClr val="FFFFFF"/>
      </a:lt1>
      <a:dk2>
        <a:srgbClr val="4A5175"/>
      </a:dk2>
      <a:lt2>
        <a:srgbClr val="F1F3F9"/>
      </a:lt2>
      <a:accent1>
        <a:srgbClr val="0F766E"/>
      </a:accent1>
      <a:accent2>
        <a:srgbClr val="B45309"/>
      </a:accent2>
      <a:accent3>
        <a:srgbClr val="4F46E5"/>
      </a:accent3>
      <a:accent4>
        <a:srgbClr val="B91C1C"/>
      </a:accent4>
      <a:accent5>
        <a:srgbClr val="15803D"/>
      </a:accent5>
      <a:accent6>
        <a:srgbClr val="94A3B8"/>
      </a:accent6>
      <a:hlink>
        <a:srgbClr val="4F46E5"/>
      </a:hlink>
      <a:folHlink>
        <a:srgbClr val="6D28D9"/>
      </a:folHlink>
    </a:clrScheme>
    <a:fontScheme name="DRAG SigLIP">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SigLIP — Sigmoid Loss로 학습하는 비전-언어 임베딩</dc:title>
  <dc:subject>PptxGenJS Presentation</dc:subject>
  <dc:creator>김가은</dc:creator>
  <cp:lastModifiedBy>김가은</cp:lastModifiedBy>
  <cp:revision>1</cp:revision>
  <dcterms:created xsi:type="dcterms:W3CDTF">2026-10-04T08:27:23Z</dcterms:created>
  <dcterms:modified xsi:type="dcterms:W3CDTF">2026-10-04T08:27:23Z</dcterms:modified>
</cp:coreProperties>
</file>