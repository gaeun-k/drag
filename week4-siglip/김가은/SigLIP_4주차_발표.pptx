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50019b37-7153-fa12-f821-d4447a844bf4}">
          <p14:sldIdLst>
            <p14:sldId id="256"/>
            <p14:sldId id="257"/>
            <p14:sldId id="258"/>
            <p14:sldId id="259"/>
          </p14:sldIdLst>
        </p14:section>
        <p14:section name="배경: 비전-언어 임베딩" id="{122fcd6a-4133-db10-e55f-41369462550a}">
          <p14:sldIdLst>
            <p14:sldId id="260"/>
            <p14:sldId id="261"/>
            <p14:sldId id="262"/>
            <p14:sldId id="263"/>
            <p14:sldId id="264"/>
            <p14:sldId id="265"/>
          </p14:sldIdLst>
        </p14:section>
        <p14:section name="SigLIP 핵심" id="{390dfbda-01cf-bcdb-fc00-df9f73a7e653}">
          <p14:sldIdLst>
            <p14:sldId id="266"/>
            <p14:sldId id="267"/>
            <p14:sldId id="268"/>
            <p14:sldId id="269"/>
            <p14:sldId id="270"/>
            <p14:sldId id="271"/>
            <p14:sldId id="272"/>
            <p14:sldId id="273"/>
            <p14:sldId id="274"/>
            <p14:sldId id="275"/>
            <p14:sldId id="276"/>
            <p14:sldId id="277"/>
          </p14:sldIdLst>
        </p14:section>
        <p14:section name="검색에 적합한 이유" id="{f473e70b-dac6-336a-d13a-adf59719d5da}">
          <p14:sldIdLst>
            <p14:sldId id="278"/>
            <p14:sldId id="279"/>
            <p14:sldId id="280"/>
            <p14:sldId id="281"/>
          </p14:sldIdLst>
        </p14:section>
        <p14:section name="실습" id="{83427d6a-24f0-bab6-31c5-c23fb4303be2}">
          <p14:sldIdLst>
            <p14:sldId id="282"/>
            <p14:sldId id="283"/>
            <p14:sldId id="284"/>
            <p14:sldId id="285"/>
          </p14:sldIdLst>
        </p14:section>
        <p14:section name="마무리" id="{168c4433-706e-c8a9-de3a-860bd6477557}">
          <p14:sldIdLst>
            <p14:sldId id="286"/>
            <p14:sldId id="287"/>
            <p14:sldId id="288"/>
            <p14:sldId id="289"/>
            <p14:sldId id="290"/>
          </p14:sldIdLst>
        </p14:section>
        <p14:section name="부록: 예상 질문" id="{6cecdaaf-e22c-98a4-0ff2-7d57a14510c5}">
          <p14:sldIdLst>
            <p14:sldId id="291"/>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Softmax (나눠 가짐)</c:v>
                </c:pt>
              </c:strCache>
            </c:strRef>
          </c:tx>
          <c:spPr>
            <a:solidFill>
              <a:srgbClr val="94A3B8"/>
            </a:solidFill>
            <a:effectLst/>
          </c:spPr>
          <c:invertIfNegative val="0"/>
          <c:dLbls>
            <c:numFmt formatCode="0.00" sourceLinked="0"/>
            <c:txPr>
              <a:bodyPr/>
              <a:lstStyle/>
              <a:p>
                <a:pPr>
                  <a:defRPr b="0" i="0" strike="noStrike" sz="14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T1 (정답)</c:v>
                  </c:pt>
                  <c:pt idx="1">
                    <c:v>T2</c:v>
                  </c:pt>
                  <c:pt idx="2">
                    <c:v>T3</c:v>
                  </c:pt>
                </c:lvl>
              </c:multiLvlStrCache>
            </c:multiLvlStrRef>
          </c:cat>
          <c:val>
            <c:numRef>
              <c:f>Sheet1!$B$2:$B$4</c:f>
              <c:numCache>
                <c:formatCode>General</c:formatCode>
                <c:ptCount val="3"/>
                <c:pt idx="0">
                  <c:v>0.55</c:v>
                </c:pt>
                <c:pt idx="1">
                  <c:v>0.45</c:v>
                </c:pt>
                <c:pt idx="2">
                  <c:v>0</c:v>
                </c:pt>
              </c:numCache>
            </c:numRef>
          </c:val>
        </c:ser>
        <c:ser>
          <c:idx val="1"/>
          <c:order val="1"/>
          <c:tx>
            <c:strRef>
              <c:f>Sheet1!$C$1</c:f>
              <c:strCache>
                <c:ptCount val="1"/>
                <c:pt idx="0">
                  <c:v>Sigmoid (각자 판정)</c:v>
                </c:pt>
              </c:strCache>
            </c:strRef>
          </c:tx>
          <c:spPr>
            <a:solidFill>
              <a:srgbClr val="4F46E5"/>
            </a:solidFill>
            <a:effectLst/>
          </c:spPr>
          <c:invertIfNegative val="0"/>
          <c:dLbls>
            <c:numFmt formatCode="0.00" sourceLinked="0"/>
            <c:txPr>
              <a:bodyPr/>
              <a:lstStyle/>
              <a:p>
                <a:pPr>
                  <a:defRPr b="0" i="0" strike="noStrike" sz="14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T1 (정답)</c:v>
                  </c:pt>
                  <c:pt idx="1">
                    <c:v>T2</c:v>
                  </c:pt>
                  <c:pt idx="2">
                    <c:v>T3</c:v>
                  </c:pt>
                </c:lvl>
              </c:multiLvlStrCache>
            </c:multiLvlStrRef>
          </c:cat>
          <c:val>
            <c:numRef>
              <c:f>Sheet1!$C$2:$C$4</c:f>
              <c:numCache>
                <c:formatCode>General</c:formatCode>
                <c:ptCount val="3"/>
                <c:pt idx="0">
                  <c:v>0.99</c:v>
                </c:pt>
                <c:pt idx="1">
                  <c:v>0.99</c:v>
                </c:pt>
                <c:pt idx="2">
                  <c:v>0.12</c:v>
                </c:pt>
              </c:numCache>
            </c:numRef>
          </c:val>
        </c:ser>
        <c:dLbls>
          <c:numFmt formatCode="0.00" sourceLinked="0"/>
          <c:txPr>
            <a:bodyPr/>
            <a:lstStyle/>
            <a:p>
              <a:pPr>
                <a:defRPr b="0" i="0" strike="noStrike" sz="1400" u="none">
                  <a:solidFill>
                    <a:srgbClr val="00000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4A5175"/>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4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 = 0</c:v>
                </c:pt>
              </c:strCache>
            </c:strRef>
          </c:tx>
          <c:spPr>
            <a:solidFill>
              <a:srgbClr val="94A3B8"/>
            </a:solidFill>
            <a:ln w="38100" cap="flat">
              <a:solidFill>
                <a:srgbClr val="94A3B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4A3B8"/>
              </a:solidFill>
              <a:ln w="9525" cap="flat">
                <a:solidFill>
                  <a:srgbClr val="94A3B8"/>
                </a:solidFill>
                <a:prstDash val="solid"/>
                <a:round/>
              </a:ln>
              <a:effectLst/>
            </c:spPr>
          </c:marker>
          <c:cat>
            <c:multiLvlStrRef>
              <c:f>Sheet1!$A$2:$A$22</c:f>
              <c:multiLvlStrCache>
                <c:ptCount val="21"/>
                <c:lvl>
                  <c:pt idx="0">
                    <c:v>-1</c:v>
                  </c:pt>
                  <c:pt idx="1">
                    <c:v>-0.9</c:v>
                  </c:pt>
                  <c:pt idx="2">
                    <c:v>-0.8</c:v>
                  </c:pt>
                  <c:pt idx="3">
                    <c:v>-0.7</c:v>
                  </c:pt>
                  <c:pt idx="4">
                    <c:v>-0.6</c:v>
                  </c:pt>
                  <c:pt idx="5">
                    <c:v>-0.5</c:v>
                  </c:pt>
                  <c:pt idx="6">
                    <c:v>-0.4</c:v>
                  </c:pt>
                  <c:pt idx="7">
                    <c:v>-0.3</c:v>
                  </c:pt>
                  <c:pt idx="8">
                    <c:v>-0.2</c:v>
                  </c:pt>
                  <c:pt idx="9">
                    <c:v>-0.1</c:v>
                  </c:pt>
                  <c:pt idx="10">
                    <c:v>0</c:v>
                  </c:pt>
                  <c:pt idx="11">
                    <c:v>0.1</c:v>
                  </c:pt>
                  <c:pt idx="12">
                    <c:v>0.2</c:v>
                  </c:pt>
                  <c:pt idx="13">
                    <c:v>0.3</c:v>
                  </c:pt>
                  <c:pt idx="14">
                    <c:v>0.4</c:v>
                  </c:pt>
                  <c:pt idx="15">
                    <c:v>0.5</c:v>
                  </c:pt>
                  <c:pt idx="16">
                    <c:v>0.6</c:v>
                  </c:pt>
                  <c:pt idx="17">
                    <c:v>0.7</c:v>
                  </c:pt>
                  <c:pt idx="18">
                    <c:v>0.8</c:v>
                  </c:pt>
                  <c:pt idx="19">
                    <c:v>0.9</c:v>
                  </c:pt>
                  <c:pt idx="20">
                    <c:v>1</c:v>
                  </c:pt>
                </c:lvl>
              </c:multiLvlStrCache>
            </c:multiLvlStrRef>
          </c:cat>
          <c:val>
            <c:numRef>
              <c:f>Sheet1!$B$2:$B$22</c:f>
              <c:numCache>
                <c:formatCode>General</c:formatCode>
                <c:ptCount val="21"/>
                <c:pt idx="0">
                  <c:v>0</c:v>
                </c:pt>
                <c:pt idx="1">
                  <c:v>0</c:v>
                </c:pt>
                <c:pt idx="2">
                  <c:v>0</c:v>
                </c:pt>
                <c:pt idx="3">
                  <c:v>0.001</c:v>
                </c:pt>
                <c:pt idx="4">
                  <c:v>0.002</c:v>
                </c:pt>
                <c:pt idx="5">
                  <c:v>0.007</c:v>
                </c:pt>
                <c:pt idx="6">
                  <c:v>0.018</c:v>
                </c:pt>
                <c:pt idx="7">
                  <c:v>0.047</c:v>
                </c:pt>
                <c:pt idx="8">
                  <c:v>0.119</c:v>
                </c:pt>
                <c:pt idx="9">
                  <c:v>0.269</c:v>
                </c:pt>
                <c:pt idx="10">
                  <c:v>0.5</c:v>
                </c:pt>
                <c:pt idx="11">
                  <c:v>0.731</c:v>
                </c:pt>
                <c:pt idx="12">
                  <c:v>0.881</c:v>
                </c:pt>
                <c:pt idx="13">
                  <c:v>0.953</c:v>
                </c:pt>
                <c:pt idx="14">
                  <c:v>0.982</c:v>
                </c:pt>
                <c:pt idx="15">
                  <c:v>0.993</c:v>
                </c:pt>
                <c:pt idx="16">
                  <c:v>0.998</c:v>
                </c:pt>
                <c:pt idx="17">
                  <c:v>0.999</c:v>
                </c:pt>
                <c:pt idx="18">
                  <c:v>1</c:v>
                </c:pt>
                <c:pt idx="19">
                  <c:v>1</c:v>
                </c:pt>
                <c:pt idx="20">
                  <c:v>1</c:v>
                </c:pt>
              </c:numCache>
            </c:numRef>
          </c:val>
          <c:smooth val="0"/>
        </c:ser>
        <c:ser>
          <c:idx val="1"/>
          <c:order val="1"/>
          <c:tx>
            <c:strRef>
              <c:f>Sheet1!$C$1</c:f>
              <c:strCache>
                <c:ptCount val="1"/>
                <c:pt idx="0">
                  <c:v>b = −10 (SigLIP 초기값)</c:v>
                </c:pt>
              </c:strCache>
            </c:strRef>
          </c:tx>
          <c:spPr>
            <a:solidFill>
              <a:srgbClr val="4F46E5"/>
            </a:solidFill>
            <a:ln w="38100" cap="flat">
              <a:solidFill>
                <a:srgbClr val="4F46E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4F46E5"/>
              </a:solidFill>
              <a:ln w="9525" cap="flat">
                <a:solidFill>
                  <a:srgbClr val="4F46E5"/>
                </a:solidFill>
                <a:prstDash val="solid"/>
                <a:round/>
              </a:ln>
              <a:effectLst/>
            </c:spPr>
          </c:marker>
          <c:cat>
            <c:multiLvlStrRef>
              <c:f>Sheet1!$A$2:$A$22</c:f>
              <c:multiLvlStrCache>
                <c:ptCount val="21"/>
                <c:lvl>
                  <c:pt idx="0">
                    <c:v>-1</c:v>
                  </c:pt>
                  <c:pt idx="1">
                    <c:v>-0.9</c:v>
                  </c:pt>
                  <c:pt idx="2">
                    <c:v>-0.8</c:v>
                  </c:pt>
                  <c:pt idx="3">
                    <c:v>-0.7</c:v>
                  </c:pt>
                  <c:pt idx="4">
                    <c:v>-0.6</c:v>
                  </c:pt>
                  <c:pt idx="5">
                    <c:v>-0.5</c:v>
                  </c:pt>
                  <c:pt idx="6">
                    <c:v>-0.4</c:v>
                  </c:pt>
                  <c:pt idx="7">
                    <c:v>-0.3</c:v>
                  </c:pt>
                  <c:pt idx="8">
                    <c:v>-0.2</c:v>
                  </c:pt>
                  <c:pt idx="9">
                    <c:v>-0.1</c:v>
                  </c:pt>
                  <c:pt idx="10">
                    <c:v>0</c:v>
                  </c:pt>
                  <c:pt idx="11">
                    <c:v>0.1</c:v>
                  </c:pt>
                  <c:pt idx="12">
                    <c:v>0.2</c:v>
                  </c:pt>
                  <c:pt idx="13">
                    <c:v>0.3</c:v>
                  </c:pt>
                  <c:pt idx="14">
                    <c:v>0.4</c:v>
                  </c:pt>
                  <c:pt idx="15">
                    <c:v>0.5</c:v>
                  </c:pt>
                  <c:pt idx="16">
                    <c:v>0.6</c:v>
                  </c:pt>
                  <c:pt idx="17">
                    <c:v>0.7</c:v>
                  </c:pt>
                  <c:pt idx="18">
                    <c:v>0.8</c:v>
                  </c:pt>
                  <c:pt idx="19">
                    <c:v>0.9</c:v>
                  </c:pt>
                  <c:pt idx="20">
                    <c:v>1</c:v>
                  </c:pt>
                </c:lvl>
              </c:multiLvlStrCache>
            </c:multiLvlStrRef>
          </c:cat>
          <c:val>
            <c:numRef>
              <c:f>Sheet1!$C$2:$C$22</c:f>
              <c:numCache>
                <c:formatCode>General</c:formatCode>
                <c:ptCount val="21"/>
                <c:pt idx="0">
                  <c:v>0</c:v>
                </c:pt>
                <c:pt idx="1">
                  <c:v>0</c:v>
                </c:pt>
                <c:pt idx="2">
                  <c:v>0</c:v>
                </c:pt>
                <c:pt idx="3">
                  <c:v>0</c:v>
                </c:pt>
                <c:pt idx="4">
                  <c:v>0</c:v>
                </c:pt>
                <c:pt idx="5">
                  <c:v>0</c:v>
                </c:pt>
                <c:pt idx="6">
                  <c:v>0</c:v>
                </c:pt>
                <c:pt idx="7">
                  <c:v>0</c:v>
                </c:pt>
                <c:pt idx="8">
                  <c:v>0</c:v>
                </c:pt>
                <c:pt idx="9">
                  <c:v>0</c:v>
                </c:pt>
                <c:pt idx="10">
                  <c:v>0</c:v>
                </c:pt>
                <c:pt idx="11">
                  <c:v>0</c:v>
                </c:pt>
                <c:pt idx="12">
                  <c:v>0</c:v>
                </c:pt>
                <c:pt idx="13">
                  <c:v>0.001</c:v>
                </c:pt>
                <c:pt idx="14">
                  <c:v>0.002</c:v>
                </c:pt>
                <c:pt idx="15">
                  <c:v>0.007</c:v>
                </c:pt>
                <c:pt idx="16">
                  <c:v>0.018</c:v>
                </c:pt>
                <c:pt idx="17">
                  <c:v>0.047</c:v>
                </c:pt>
                <c:pt idx="18">
                  <c:v>0.119</c:v>
                </c:pt>
                <c:pt idx="19">
                  <c:v>0.269</c:v>
                </c:pt>
                <c:pt idx="20">
                  <c:v>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4A5175"/>
                    </a:solidFill>
                    <a:latin typeface="+mn-lt"/>
                  </a:defRPr>
                </a:pPr>
                <a:r>
                  <a:rPr sz="1400" b="0" i="0" u="none" strike="noStrike">
                    <a:solidFill>
                      <a:srgbClr val="4A5175"/>
                    </a:solidFill>
                    <a:latin typeface="+mn-lt"/>
                  </a:rPr>
                  <a:t>코사인 유사도</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175"/>
                </a:solidFill>
                <a:latin typeface="+mn-lt"/>
              </a:defRPr>
            </a:pPr>
            <a:endParaRPr lang="en-US"/>
          </a:p>
        </c:txPr>
        <c:crossAx val="2094734552"/>
        <c:crosses val="autoZero"/>
        <c:auto val="1"/>
        <c:lblAlgn val="ctr"/>
        <c:noMultiLvlLbl val="1"/>
        <c:tickLblSkip val="5"/>
      </c:catAx>
      <c:valAx>
        <c:axId val="2094734552"/>
        <c:scaling>
          <c:orientation val="minMax"/>
          <c:max val="1"/>
          <c:min val="0"/>
        </c:scaling>
        <c:delete val="0"/>
        <c:axPos val="l"/>
        <c:majorGridlines>
          <c:spPr>
            <a:ln w="12700" cap="flat">
              <a:solidFill>
                <a:srgbClr val="F1F3F9"/>
              </a:solidFill>
              <a:prstDash val="solid"/>
              <a:round/>
            </a:ln>
          </c:spPr>
        </c:majorGridlines>
        <c:title>
          <c:tx>
            <c:rich>
              <a:bodyPr/>
              <a:lstStyle/>
              <a:p>
                <a:pPr>
                  <a:defRPr sz="1400" b="0" i="0" u="none" strike="noStrike">
                    <a:solidFill>
                      <a:srgbClr val="4A5175"/>
                    </a:solidFill>
                    <a:latin typeface="+mn-lt"/>
                  </a:defRPr>
                </a:pPr>
                <a:r>
                  <a:rPr sz="1400" b="0" i="0" u="none" strike="noStrike">
                    <a:solidFill>
                      <a:srgbClr val="4A5175"/>
                    </a:solidFill>
                    <a:latin typeface="+mn-lt"/>
                  </a:rPr>
                  <a:t>짝일 확률</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4A5175"/>
                </a:solidFill>
                <a:latin typeface="+mn-lt"/>
              </a:defRPr>
            </a:pPr>
            <a:endParaRPr lang="en-US"/>
          </a:p>
        </c:txPr>
        <c:crossAx val="2094734554"/>
        <c:crosses val="autoZero"/>
        <c:crossBetween val="between"/>
        <c:majorUnit val="0.5"/>
      </c:valAx>
      <c:spPr>
        <a:noFill/>
        <a:ln>
          <a:noFill/>
        </a:ln>
        <a:effectLst/>
      </c:spPr>
    </c:plotArea>
    <c:legend>
      <c:legendPos val="t"/>
      <c:overlay val="0"/>
      <c:txPr>
        <a:bodyPr/>
        <a:lstStyle/>
        <a:p>
          <a:pPr>
            <a:defRPr sz="14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4주차 발표를 시작하겠습니다. 이번 주 주제는 SigLIP으로, 이미지와 텍스트를 같은 벡터 공간에 넣어주는 비전-언어 임베딩 모델입니다. 발표 내내 동그란 사진은 이미지, 주황색 말풍선은 텍스트를 뜻합니다.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질문 하나로 시작하겠습니다. '밤에 발사되는 로켓'이라는 문장으로 사진 네 장 중 로켓 사진을 찾으려면 어떻게 해야 할까요? 사진 파일에는 '로켓'이라는 글자가 없습니다. 그래서 단어 매칭이 아니라 의미로 비교해야 하고, 이걸 가능하게 해주는 게 오늘 배울 SigLIP 같은 비전-언어 임베딩 모델입니다.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지금까지 RAG 파이프라인에서 '임베딩 모델' 칸은 텍스트 전용이었습니다. 이번 주는 그 칸에 이미지와 텍스트를 같은 벡터 공간에 넣어주는 SigLIP을 끼워 넣는 준비 단계이고, 5주차에 실제로 텍스트로 이미지를 찾는 검색을 구현합니다.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목표는 개념 세 가지와 실습 하나입니다. 특히 두 번째, CLIP과 SigLIP의 학습 방식 차이가 오늘 발표의 핵심입니다.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Hugging Face 블로그 'Vision Language Models Explained'의 분류를 따랐습니다. 왼쪽 임베딩형은 이미지와 텍스트를 벡터로 바꿔주고, 오른쪽 생성형은 이미지를 보고 글로 답합니다. SigLIP은 왼쪽에 속하지만, 오른쪽 생성형 모델들도 이미지를 읽는 '눈'으로 SigLIP을 많이 씁니다. 그래서 6주차에 생성형 VLM까지 확장할 때도 오늘 내용이 그대로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1주차 텍스트 임베딩에서 의미가 비슷한 문장은 가까운 벡터였죠. 여기서는 사진과 문장이 같은 지도 위에 놓입니다. 고양이 사진과 'a photo of a cat'이 가까이 붙어 있고, 로켓 문장과는 멀리 떨어져 있습니다. 이 거리를 코사인 유사도로 재기 때문에, 문장 하나로 가장 가까운 사진을 찾는 검색이 가능해집니다. (그림은 개념 설명용 배치입니다.)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학습 재료는 웹에 있는 이미지와 그 이미지에 달린 설명 문장, 즉 캡션 쌍입니다. 사람이 '이건 고양이' 하고 라벨을 붙일 필요 없이, 원래 같이 있던 사진과 문장을 짝으로 쓰기 때문에 수억에서 수십억 쌍까지 늘릴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대조학습은 배치 안에서 짝 맞추기를 합니다. 사진 4장과 캡션 4개가 있으면 4x4 유사도 표가 생기고, 대각선 4칸은 진짜 짝, 나머지 12칸은 가짜 짝입니다. 진짜 짝은 점수를 높이고, 가짜 짝은 낮추도록 학습합니다. 배치가 커질수록 가짜 짝의 수는 제곱으로 늘어난다는 점을 기억해 두세요. 뒤에서 다시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CLIP의 학습 방식은 객관식 문제와 같습니다. 고양이 사진 하나를 주고 배치 안의 캡션 B개 중 정답을 고르게 합니다. Softmax를 쓰기 때문에 확률의 합이 항상 1이고, 보기들이 확률을 나눠 가집니다. 실제 CLIP은 보기가 32,000개쯤 되는 아주 큰 객관식입니다. 이미지→텍스트, 텍스트→이미지 두 방향으로 모두 이 문제를 풉니다. (막대 값은 개념 설명용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손실을 말로 풀면 '정답 점수를 배치 전체 점수의 합으로 나눈 값'입니다. 문제는 분모입니다. 칸 하나의 확률을 계산하려 해도 같은 줄의 모든 보기가 필요합니다. 그래서 GPU 여러 대로 나눠 학습할 때 모든 임베딩을 한곳에 모아야 하고, 보기를 충분히 많이 주려면 배치가 아주 커야 하며, 메모리와 통신 비용이 커집니다. 정확한 수식: L = −(1/2B) Σᵢ [log softmax(이미지→텍스트) + log softmax(텍스트→이미지)].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SigLIP은 Google DeepMind가 2023년 ICCV에 발표한 모델입니다. 아이디어는 하나입니다. 객관식 문제를 O/X 퀴즈로 바꾼 것, 즉 Softmax를 Sigmoid로 바꾼 것입니다. 모델 구조는 CLIP과 거의 같은데 손실 함수만 바꿔서 효율과 성능이 모두 좋아졌다는 게 논문의 메시지입니다.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SigLIP은 같은 사진과 캡션들을 O/X 퀴즈로 바꿉니다. 캡션 하나하나에 대해 '이 사진과 짝인가?'를 따로 판정하고, 각각 0에서 1 사이의 확률을 냅니다. 확률을 나눠 가지지 않으니 합이 1일 필요가 없습니다. 이 '칸마다 독립'이라는 성질이 SigLIP의 모든 장점의 출발점입니다. (막대 값은 개념 설명용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구조는 탑 두 개로 된 듀얼 인코더입니다. 사진은 ViT 이미지 인코더로, 문장은 Transformer 텍스트 인코더로 각각 벡터를 만듭니다. 두 벡터를 같은 차원으로 투영하고 L2 정규화한 뒤 유사도를 계산하고, 여기에 온도 t와 바이어스 b를 적용해 Sigmoid로 짝일 확률을 냅니다. 두 탑이 분리되어 있어서 사진만 따로 미리 계산해 둘 수 있다는 점이 뒤에서 검색과 연결됩니다. 텍스트 인코더는 최대 64 토큰을 받습니다.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이미지 인코더인 Vision Transformer는 사진을 퍼즐 조각처럼 잘라서 읽습니다. 224x224 사진을 16x16 픽셀 조각으로 자르면 가로세로 14개씩 196조각이 나옵니다. 조각 하나를 문장의 단어 하나처럼 토큰으로 보고 Transformer에 넣습니다. 마지막에는 MAP, 즉 Multihead Attention Pooling으로 196개 토큰을 하나의 벡터로 요약합니다.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때 모델 이름을 보고 무엇인지 알 수 있도록 읽는 법을 정리했습니다. base는 크기, patch16은 앞에서 본 조각 크기, 224는 입력 해상도입니다. so400m은 계산 효율에 맞춰 모양을 최적화한 약 4억 파라미터짜리 큰 모델입니다.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수식을 한 줄로 쓰면 이렇습니다. 모든 사진 i와 모든 문장 j 쌍에 대해, 짝이면 확률을 1 쪽으로, 짝이 아니면 0 쪽으로 미는 로지스틱 회귀를 더한 것입니다. CLIP 수식과 비교하면 분모에 배치 전체 합이 없다는 게 핵심 차이입니다.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점수를 두 방식으로 바꿔 보면 차이가 보입니다. Softmax에서는 T1과 T2가 둘 다 높아도 확률을 나눠 가져서 0.55와 0.45가 됩니다. Sigmoid에서는 칸마다 따로 계산하니 둘 다 0.99입니다. 그래서 학습할 때 T2가 실제로 짝이 아니라면 T2 점수를 직접 낮추라는 신호가 들어갑니다. 참고로 이 Sigmoid 값은 바이어스를 0으로 둔 단순 예시이고, 실제 SigLIP은 바이어스가 음수라 짝이 아닌 쌍은 0 가까이로 내려갑니다.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배치가 32k면 진짜 짝 하나당 가짜 짝이 3만 2천 개입니다. 그냥 시작하면 처음에 가짜 짝들의 손실이 너무 커서 학습이 흔들립니다. 그래서 SigLIP은 바이어스 b를 -10에서 시작합니다. 오른쪽 그래프를 보면, b가 0일 때는 유사도가 0만 넘어도 짝일 확률이 절반을 넘지만, b가 -10이면 유사도가 거의 1인 쌍만 확률이 올라갑니다. 즉 '처음엔 거의 다 짝이 아니다'에서 출발하는 셈입니다. 온도 t는 점수 스케일을 조절하는 값으로, 초기값 t' = log 10, 즉 t = 10에서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Sigmoid는 칸끼리 독립이라 큰 표를 한 번에 만들 필요가 없습니다. GPU가 세 대라면 1단계에서 각자 자기 블록, 즉 대각선을 계산합니다. 2단계에서 텍스트 벡터를 옆 GPU로 넘겨서 다음 블록을 계산하고, 3단계에서 한 번 더 넘기면 표 전체를 다 계산한 셈이 됩니다. 손실만 더하면 끝입니다. 그래서 GPU 한 대가 들고 있어야 하는 메모리가 전체 배치 제곱이 아니라 자기 몫 배치 제곱에 비례합니다. 논문은 이 방식을 chunked 구현이라고 부릅니다.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논문에서 효율을 보여준 대표 결과입니다. 이미지 인코더를 고정하고 텍스트 인코더만 학습하는 SigLiT 설정으로, TPUv4 칩 4개로 이틀 만에 ImageNet zero-shot 84.5%를 달성했습니다. 메모리 부담이 작아서 배치를 100만까지 늘려 실험할 수도 있었습니다.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배치 크기 실험 결과는 세 가지로 정리됩니다. 첫째, 작은 배치에서 Sigmoid가 확실히 좋습니다. 둘째, 배치를 키우면 차이가 줄고 32k 정도에서 성능이 포화됩니다. 100만까지 키워도 이득이 거의 없었습니다. 셋째, 웹 데이터처럼 엉뚱한 캡션이 섞인 상황을 인위적으로 만든 실험에서도 성능이 덜 떨어졌습니다.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지금까지 내용을 한 표로 정리했습니다. 객관식을 O/X 퀴즈로 바꿨다는 첫 줄이 핵심이고, 나머지 줄은 전부 여기서 파생된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검색에 적합한 첫 번째 이유는 듀얼 인코더 구조입니다. 사진 벡터는 미리 한 번만 계산해서 벡터DB에 넣어 둡니다. 질문이 들어오면 텍스트 인코더로 문장 하나만 인코딩하고, 벡터DB에서 가장 가까운 사진 벡터를 찾으면 됩니다. 사진이 수십만 장이어도 질문마다 다시 계산할 필요가 없습니다. 5주차 과제가 바로 이 구조입니다.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3주차 Reranking에서 bi-encoder로 후보를 뽑고 cross-encoder로 재정렬했던 것 기억나시죠? SigLIP은 bi-encoder입니다. 질문과 사진을 따로 인코딩하니 빠르고 대량 검색에 맞습니다. 질문과 사진을 함께 넣어야 하는 cross-encoder는 정확하지만 질문마다 모든 사진을 다시 계산해야 해서 대량 검색에는 부적합합니다.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이유는 점수 해석입니다. SigLIP 점수는 쌍마다 독립된 '짝일 확률'이라, 예를 들어 0.5 이상만 보여주자는 임계값 필터링이 자연스럽습니다. Softmax 확률은 후보 집합에 따라 값이 달라져서 이런 기준을 잡기 어렵습니다. 순위만 필요하다면 코사인 유사도만으로 충분합니다. 이 그래프의 값은 개념 설명용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나머지 이유들입니다. 같은 공간에 사진과 문장이 있으니 검색 방향을 자유롭게 바꿀 수 있고, 학습이 잘 된 공개 체크포인트가 많으며, 작은 모델부터 큰 모델, 다국어 모델까지 골라 쓸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과제인 이미지 임베딩 추출 코드입니다. 모델과 프로세서를 불러오고, 사진을 프로세서에 넣은 뒤 get_image_features를 부르면 base 모델 기준 768차원 벡터가 나옵니다. 검색에 쓸 거라면 L2 정규화를 해두면 내적이 곧 코사인 유사도가 됩니다. eval()과 no_grad()는 추론 모드로 돌리기 위한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번째는 사진과 문장을 함께 넣어 짝일 확률을 보는 코드입니다. CLIP 코드 습관대로 쓰면 두 곳에서 틀립니다. 첫째, 텍스트는 padding='max_length'로 넣어야 합니다. SigLIP은 학습할 때 항상 64토큰으로 패딩했기 때문입니다. 둘째, 확률은 softmax가 아니라 sigmoid로 계산합니다. 그래서 확률을 다 더해도 1이 아닌데, 그게 정상입니다.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번째는 폴더 안의 사진 여러 장을 32장씩 묶어 임베딩하고 numpy 파일로 저장하는 코드입니다. 여기서 저장한 image_embs.npy가 그대로 5주차 벡터DB 인덱싱의 입력이 됩니다. GPU가 있다면 model.to('cuda')로 옮기고 입력도 .to('cuda')로 보내면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마지막은 5주차 맛보기입니다. 문장을 텍스트 인코더로 벡터로 바꾸고, 저장해 둔 사진 벡터들과 내적해서 가장 점수가 높은 사진을 고릅니다. 정규화된 벡터라 내적이 곧 코사인 유사도입니다. sigmoid는 단조 함수라 순위를 바꾸지 않으므로, 순위만 필요할 때는 내적만으로 충분합니다.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실습은 가벼운 base 모델이면 충분합니다. 성능이 더 필요하면 so400m, 한국어 질문을 쓰고 싶다면 multilingual 모델이나 SigLIP 2를 비교해 보면 좋습니다. 이 비교는 5주차 실험 거리로 남겨 두겠습니다.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SigLIP 2는 2025년에 나온 후속 모델입니다. Sigmoid 손실은 그대로 두고 캡셔닝, 자기 증류, 마스크 예측 같은 학습 목표를 더해서 위치와 세부 정보를 잘 잡도록 했고, 다국어 데이터로 다국어 성능을 높였습니다. NaFlex 변형은 사진 비율을 유지한 채 여러 해상도를 받을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내용을 세 줄로 정리하면 이렇습니다. SigLIP은 CLIP 구조에서 객관식을 O/X 퀴즈로, 즉 Softmax를 Sigmoid로 바꾼 모델이고, 그래서 배치 전체를 모을 필요가 사라져 효율과 성능이 좋아졌으며, 듀얼 인코더 구조라 사진을 미리 인덱싱하는 대규모 검색에 적합합니다.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후 함께 이야기해 볼 질문 네 가지입니다. 특히 1번과 3번은 5주차 검색 데모를 만들 때 바로 부딪힐 문제라서 각자 생각을 들어보고 싶습니다.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발표에 사용한 자료입니다. 메인 교재는 Hugging Face 블로그와 공식 문서이고, 논문은 심화 참고용입니다. 슬라이드의 사진은 모두 저작권 제약이 없는 scikit-image 샘플 이미지입니다.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 대비용 부록입니다. 발표 시간에는 넘기고, 질문이 나오면 이 슬라이드로 돌아와 답변합니다.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 대비용 부록입니다. 발표 시간에는 넘기고, 질문이 나오면 이 슬라이드로 돌아와 답변합니다.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6035040" cy="1188720"/>
          </a:xfrm>
          <a:prstGeom prst="rect">
            <a:avLst/>
          </a:prstGeom>
          <a:noFill/>
          <a:ln/>
        </p:spPr>
        <p:txBody>
          <a:bodyPr wrap="square" rtlCol="0"/>
          <a:lstStyle>
            <a:lvl1pPr indent="0" marL="0">
              <a:buNone/>
              <a:defRPr lang="en-US" sz="5400" b="1" dirty="0">
                <a:solidFill>
                  <a:schemeClr val="bg1"/>
                </a:solidFill>
              </a:defRPr>
            </a:lvl1pPr>
          </a:lstStyle>
          <a:p>
            <a:pPr indent="0" marL="0">
              <a:buNone/>
            </a:pPr>
            <a:endParaRPr lang="en-US" sz="5400" dirty="0"/>
          </a:p>
        </p:txBody>
      </p:sp>
      <p:sp>
        <p:nvSpPr>
          <p:cNvPr id="3" name="Text 0"/>
          <p:cNvSpPr/>
          <p:nvPr>
            <p:ph idx="101" type="body" hasCustomPrompt="1"/>
          </p:nvPr>
        </p:nvSpPr>
        <p:spPr>
          <a:xfrm>
            <a:off x="731520" y="3474720"/>
            <a:ext cx="6583680" cy="1645920"/>
          </a:xfrm>
          <a:prstGeom prst="rect">
            <a:avLst/>
          </a:prstGeom>
          <a:noFill/>
          <a:ln/>
        </p:spPr>
        <p:txBody>
          <a:bodyPr wrap="square" rtlCol="0"/>
          <a:lstStyle>
            <a:lvl1pPr indent="0" marL="0">
              <a:buNone/>
              <a:defRPr lang="en-US" sz="2000" dirty="0">
                <a:solidFill>
                  <a:schemeClr val="accent6"/>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822960"/>
          </a:xfrm>
          <a:prstGeom prst="rect">
            <a:avLst/>
          </a:prstGeom>
          <a:noFill/>
          <a:ln/>
        </p:spPr>
        <p:txBody>
          <a:bodyPr wrap="square" rtlCol="0"/>
          <a:lstStyle>
            <a:lvl1pPr indent="0" marL="0">
              <a:buNone/>
              <a:defRPr lang="en-US" sz="3200" b="1" dirty="0">
                <a:solidFill>
                  <a:schemeClr val="bg1"/>
                </a:solidFill>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rtlCol="0"/>
          <a:lstStyle>
            <a:lvl1pPr indent="0" marL="0">
              <a:buNone/>
              <a:defRPr lang="en-US" sz="3000" b="1" dirty="0">
                <a:solidFill>
                  <a:schemeClr val="tx1"/>
                </a:solidFill>
              </a:defRPr>
            </a:lvl1pPr>
          </a:lstStyle>
          <a:p>
            <a:pPr indent="0" marL="0">
              <a:buNone/>
            </a:pPr>
            <a:endParaRPr lang="en-US" sz="3000" dirty="0"/>
          </a:p>
        </p:txBody>
      </p:sp>
      <p:sp>
        <p:nvSpPr>
          <p:cNvPr id="3" name="Text 0"/>
          <p:cNvSpPr/>
          <p:nvPr/>
        </p:nvSpPr>
        <p:spPr>
          <a:xfrm>
            <a:off x="640080" y="6355080"/>
            <a:ext cx="4572000" cy="274320"/>
          </a:xfrm>
          <a:prstGeom prst="rect">
            <a:avLst/>
          </a:prstGeom>
          <a:noFill/>
          <a:ln/>
        </p:spPr>
        <p:txBody>
          <a:bodyPr wrap="square" lIns="0" tIns="0" rIns="0" bIns="0" rtlCol="0" anchor="ctr"/>
          <a:lstStyle/>
          <a:p>
            <a:pPr indent="0" marL="0">
              <a:buNone/>
            </a:pPr>
            <a:r>
              <a:rPr lang="en-US" sz="1000" dirty="0">
                <a:solidFill>
                  <a:schemeClr val="accent6"/>
                </a:solidFill>
              </a:rPr>
              <a:t>DRAG 4주차 · SigLIP</a:t>
            </a:r>
            <a:endParaRPr lang="en-US" sz="1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image" Target="../media/image-2-4.png"/><Relationship Id="rId5" Type="http://schemas.openxmlformats.org/officeDocument/2006/relationships/image" Target="../media/image-2-5.jpg"/><Relationship Id="rId6" Type="http://schemas.openxmlformats.org/officeDocument/2006/relationships/slideLayout" Target="../slideLayouts/slideLayout4.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4.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1.jpg"/><Relationship Id="rId3" Type="http://schemas.openxmlformats.org/officeDocument/2006/relationships/slideLayout" Target="../slideLayouts/slideLayout4.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image" Target="../media/image-6-4.jp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image" Target="../media/image-7-4.jp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4.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4.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4.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4.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3.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4.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image" Target="../media/image-23-3.jpg"/><Relationship Id="rId4" Type="http://schemas.openxmlformats.org/officeDocument/2006/relationships/image" Target="../media/image-23-4.jp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3.jpg"/><Relationship Id="rId8" Type="http://schemas.openxmlformats.org/officeDocument/2006/relationships/slideLayout" Target="../slideLayouts/slideLayout4.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image" Target="../media/image-25-3.jpg"/><Relationship Id="rId4" Type="http://schemas.openxmlformats.org/officeDocument/2006/relationships/image" Target="../media/image-25-4.jpg"/><Relationship Id="rId5" Type="http://schemas.openxmlformats.org/officeDocument/2006/relationships/slideLayout" Target="../slideLayouts/slideLayout4.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4.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image" Target="../media/image-29-3.jpg"/><Relationship Id="rId4" Type="http://schemas.openxmlformats.org/officeDocument/2006/relationships/image" Target="../media/image-29-4.jpg"/><Relationship Id="rId5" Type="http://schemas.openxmlformats.org/officeDocument/2006/relationships/slideLayout" Target="../slideLayouts/slideLayout4.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jpg"/><Relationship Id="rId3" Type="http://schemas.openxmlformats.org/officeDocument/2006/relationships/slideLayout" Target="../slideLayouts/slideLayout4.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4.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3.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4.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hyperlink" Target="https://arxiv.org/abs/2303.15343" TargetMode="External"/><Relationship Id="rId2" Type="http://schemas.openxmlformats.org/officeDocument/2006/relationships/hyperlink" Target="https://arxiv.org/abs/2502.14786" TargetMode="External"/><Relationship Id="rId3" Type="http://schemas.openxmlformats.org/officeDocument/2006/relationships/hyperlink" Target="https://arxiv.org/abs/2103.00020" TargetMode="External"/><Relationship Id="rId4" Type="http://schemas.openxmlformats.org/officeDocument/2006/relationships/hyperlink" Target="https://huggingface.co/blog/vlms" TargetMode="External"/><Relationship Id="rId5" Type="http://schemas.openxmlformats.org/officeDocument/2006/relationships/hyperlink" Target="https://huggingface.co/docs/transformers/model_doc/siglip" TargetMode="External"/><Relationship Id="rId6" Type="http://schemas.openxmlformats.org/officeDocument/2006/relationships/slideLayout" Target="../slideLayouts/slideLayout4.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4.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4.xml"/><Relationship Id="rId4"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6035040" cy="1188720"/>
          </a:xfrm>
          <a:prstGeom prst="rect">
            <a:avLst/>
          </a:prstGeom>
          <a:noFill/>
          <a:ln/>
        </p:spPr>
        <p:txBody>
          <a:bodyPr wrap="square" lIns="0" tIns="0" rIns="0" bIns="0" rtlCol="0" anchor="b"/>
          <a:lstStyle/>
          <a:p>
            <a:pPr indent="0" marL="0">
              <a:buNone/>
            </a:pPr>
            <a:r>
              <a:rPr lang="en-US" sz="5400" b="1" dirty="0">
                <a:solidFill>
                  <a:schemeClr val="bg1"/>
                </a:solidFill>
              </a:rPr>
              <a:t>SigLIP</a:t>
            </a:r>
            <a:endParaRPr lang="en-US" sz="5400" dirty="0"/>
          </a:p>
        </p:txBody>
      </p:sp>
      <p:sp>
        <p:nvSpPr>
          <p:cNvPr id="3" name="Text 0"/>
          <p:cNvSpPr/>
          <p:nvPr>
            <p:ph idx="101" type="body" hasCustomPrompt="1"/>
          </p:nvPr>
        </p:nvSpPr>
        <p:spPr>
          <a:xfrm>
            <a:off x="731520" y="3474720"/>
            <a:ext cx="6583680" cy="1645920"/>
          </a:xfrm>
          <a:prstGeom prst="rect">
            <a:avLst/>
          </a:prstGeom>
          <a:noFill/>
          <a:ln/>
        </p:spPr>
        <p:txBody>
          <a:bodyPr wrap="square" lIns="0" tIns="0" rIns="0" bIns="0" rtlCol="0" anchor="t"/>
          <a:lstStyle/>
          <a:p>
            <a:pPr indent="0" marL="0">
              <a:buNone/>
            </a:pPr>
            <a:r>
              <a:rPr lang="en-US" sz="2400" dirty="0">
                <a:solidFill>
                  <a:schemeClr val="bg1"/>
                </a:solidFill>
              </a:rPr>
              <a:t>Sigmoid Loss로 학습하는</a:t>
            </a:r>
            <a:endParaRPr lang="en-US" sz="2000" dirty="0"/>
          </a:p>
          <a:p>
            <a:pPr indent="0" marL="0">
              <a:buNone/>
            </a:pPr>
            <a:r>
              <a:rPr lang="en-US" sz="2400" dirty="0">
                <a:solidFill>
                  <a:schemeClr val="bg1"/>
                </a:solidFill>
              </a:rPr>
              <a:t>비전-언어 임베딩</a:t>
            </a:r>
            <a:endParaRPr lang="en-US" sz="2000" dirty="0"/>
          </a:p>
          <a:p>
            <a:pPr indent="0" marL="0">
              <a:buNone/>
            </a:pPr>
            <a:r>
              <a:rPr lang="en-US" sz="1000" dirty="0">
                <a:solidFill>
                  <a:schemeClr val="accent6"/>
                </a:solidFill>
              </a:rPr>
              <a:t> </a:t>
            </a:r>
            <a:endParaRPr lang="en-US" sz="2000" dirty="0"/>
          </a:p>
          <a:p>
            <a:pPr indent="0" marL="0">
              <a:buNone/>
            </a:pPr>
            <a:r>
              <a:rPr lang="en-US" sz="1800" dirty="0">
                <a:solidFill>
                  <a:schemeClr val="accent6"/>
                </a:solidFill>
              </a:rPr>
              <a:t>DRAG 4주차 · 눈으로 찾는 RAG</a:t>
            </a:r>
            <a:endParaRPr lang="en-US" sz="2000" dirty="0"/>
          </a:p>
          <a:p>
            <a:pPr indent="0" marL="0">
              <a:buNone/>
            </a:pPr>
            <a:r>
              <a:rPr lang="en-US" sz="1800" dirty="0">
                <a:solidFill>
                  <a:schemeClr val="accent6"/>
                </a:solidFill>
              </a:rPr>
              <a:t>발표자: 김가은</a:t>
            </a:r>
            <a:endParaRPr lang="en-US" sz="2000" dirty="0"/>
          </a:p>
        </p:txBody>
      </p:sp>
      <p:pic>
        <p:nvPicPr>
          <p:cNvPr id="4" name="photo-cat-1" descr="고양이 사진">    </p:cNvPr>
          <p:cNvPicPr>
            <a:picLocks noChangeAspect="1"/>
          </p:cNvPicPr>
          <p:nvPr/>
        </p:nvPicPr>
        <p:blipFill>
          <a:blip r:embed="rId1"/>
          <a:stretch>
            <a:fillRect/>
          </a:stretch>
        </p:blipFill>
        <p:spPr>
          <a:xfrm>
            <a:off x="7589520" y="1097280"/>
            <a:ext cx="1737360" cy="1737360"/>
          </a:xfrm>
          <a:prstGeom prst="ellipse">
            <a:avLst/>
          </a:prstGeom>
        </p:spPr>
      </p:pic>
      <p:sp>
        <p:nvSpPr>
          <p:cNvPr id="5" name="pill-2"/>
          <p:cNvSpPr/>
          <p:nvPr/>
        </p:nvSpPr>
        <p:spPr>
          <a:xfrm>
            <a:off x="7543800" y="2926080"/>
            <a:ext cx="1828800" cy="384048"/>
          </a:xfrm>
          <a:prstGeom prst="roundRect">
            <a:avLst>
              <a:gd name="adj" fmla="val 50000"/>
            </a:avLst>
          </a:prstGeom>
          <a:solidFill>
            <a:schemeClr val="accent2"/>
          </a:solidFill>
          <a:ln/>
        </p:spPr>
      </p:sp>
      <p:sp>
        <p:nvSpPr>
          <p:cNvPr id="6" name="text-3"/>
          <p:cNvSpPr txBox="1"/>
          <p:nvPr/>
        </p:nvSpPr>
        <p:spPr>
          <a:xfrm>
            <a:off x="7543800" y="2926080"/>
            <a:ext cx="1828800" cy="384048"/>
          </a:xfrm>
          <a:prstGeom prst="rect">
            <a:avLst/>
          </a:prstGeom>
          <a:noFill/>
          <a:ln/>
        </p:spPr>
        <p:txBody>
          <a:bodyPr wrap="square" lIns="0" tIns="0" rIns="0" bIns="0" rtlCol="0" anchor="ctr"/>
          <a:lstStyle/>
          <a:p>
            <a:pPr algn="ctr" indent="0" marL="0">
              <a:buNone/>
            </a:pPr>
            <a:r>
              <a:rPr lang="en-US" sz="1200" b="1" dirty="0">
                <a:solidFill>
                  <a:schemeClr val="bg1"/>
                </a:solidFill>
              </a:rPr>
              <a:t>a photo of a cat</a:t>
            </a:r>
            <a:endParaRPr lang="en-US" sz="1200" dirty="0"/>
          </a:p>
        </p:txBody>
      </p:sp>
      <p:pic>
        <p:nvPicPr>
          <p:cNvPr id="7" name="photo-coffee-4" descr="커피 사진">    </p:cNvPr>
          <p:cNvPicPr>
            <a:picLocks noChangeAspect="1"/>
          </p:cNvPicPr>
          <p:nvPr/>
        </p:nvPicPr>
        <p:blipFill>
          <a:blip r:embed="rId2"/>
          <a:stretch>
            <a:fillRect/>
          </a:stretch>
        </p:blipFill>
        <p:spPr>
          <a:xfrm>
            <a:off x="9601200" y="1097280"/>
            <a:ext cx="1737360" cy="1737360"/>
          </a:xfrm>
          <a:prstGeom prst="ellipse">
            <a:avLst/>
          </a:prstGeom>
        </p:spPr>
      </p:pic>
      <p:sp>
        <p:nvSpPr>
          <p:cNvPr id="8" name="pill-5"/>
          <p:cNvSpPr/>
          <p:nvPr/>
        </p:nvSpPr>
        <p:spPr>
          <a:xfrm>
            <a:off x="9555480" y="2926080"/>
            <a:ext cx="1828800" cy="384048"/>
          </a:xfrm>
          <a:prstGeom prst="roundRect">
            <a:avLst>
              <a:gd name="adj" fmla="val 50000"/>
            </a:avLst>
          </a:prstGeom>
          <a:solidFill>
            <a:schemeClr val="accent2"/>
          </a:solidFill>
          <a:ln/>
        </p:spPr>
      </p:sp>
      <p:sp>
        <p:nvSpPr>
          <p:cNvPr id="9" name="text-6"/>
          <p:cNvSpPr txBox="1"/>
          <p:nvPr/>
        </p:nvSpPr>
        <p:spPr>
          <a:xfrm>
            <a:off x="9555480" y="2926080"/>
            <a:ext cx="1828800" cy="384048"/>
          </a:xfrm>
          <a:prstGeom prst="rect">
            <a:avLst/>
          </a:prstGeom>
          <a:noFill/>
          <a:ln/>
        </p:spPr>
        <p:txBody>
          <a:bodyPr wrap="square" lIns="0" tIns="0" rIns="0" bIns="0" rtlCol="0" anchor="ctr"/>
          <a:lstStyle/>
          <a:p>
            <a:pPr algn="ctr" indent="0" marL="0">
              <a:buNone/>
            </a:pPr>
            <a:r>
              <a:rPr lang="en-US" sz="1200" b="1" dirty="0">
                <a:solidFill>
                  <a:schemeClr val="bg1"/>
                </a:solidFill>
              </a:rPr>
              <a:t>a cup of coffee</a:t>
            </a:r>
            <a:endParaRPr lang="en-US" sz="1200" dirty="0"/>
          </a:p>
        </p:txBody>
      </p:sp>
      <p:pic>
        <p:nvPicPr>
          <p:cNvPr id="10" name="photo-rocket-7" descr="로켓 사진">    </p:cNvPr>
          <p:cNvPicPr>
            <a:picLocks noChangeAspect="1"/>
          </p:cNvPicPr>
          <p:nvPr/>
        </p:nvPicPr>
        <p:blipFill>
          <a:blip r:embed="rId3"/>
          <a:stretch>
            <a:fillRect/>
          </a:stretch>
        </p:blipFill>
        <p:spPr>
          <a:xfrm>
            <a:off x="7589520" y="3520440"/>
            <a:ext cx="1737360" cy="1737360"/>
          </a:xfrm>
          <a:prstGeom prst="ellipse">
            <a:avLst/>
          </a:prstGeom>
        </p:spPr>
      </p:pic>
      <p:sp>
        <p:nvSpPr>
          <p:cNvPr id="11" name="pill-8"/>
          <p:cNvSpPr/>
          <p:nvPr/>
        </p:nvSpPr>
        <p:spPr>
          <a:xfrm>
            <a:off x="7543800" y="5349240"/>
            <a:ext cx="1828800" cy="384048"/>
          </a:xfrm>
          <a:prstGeom prst="roundRect">
            <a:avLst>
              <a:gd name="adj" fmla="val 50000"/>
            </a:avLst>
          </a:prstGeom>
          <a:solidFill>
            <a:schemeClr val="accent2"/>
          </a:solidFill>
          <a:ln/>
        </p:spPr>
      </p:sp>
      <p:sp>
        <p:nvSpPr>
          <p:cNvPr id="12" name="text-9"/>
          <p:cNvSpPr txBox="1"/>
          <p:nvPr/>
        </p:nvSpPr>
        <p:spPr>
          <a:xfrm>
            <a:off x="7543800" y="5349240"/>
            <a:ext cx="1828800" cy="384048"/>
          </a:xfrm>
          <a:prstGeom prst="rect">
            <a:avLst/>
          </a:prstGeom>
          <a:noFill/>
          <a:ln/>
        </p:spPr>
        <p:txBody>
          <a:bodyPr wrap="square" lIns="0" tIns="0" rIns="0" bIns="0" rtlCol="0" anchor="ctr"/>
          <a:lstStyle/>
          <a:p>
            <a:pPr algn="ctr" indent="0" marL="0">
              <a:buNone/>
            </a:pPr>
            <a:r>
              <a:rPr lang="en-US" sz="1200" b="1" dirty="0">
                <a:solidFill>
                  <a:schemeClr val="bg1"/>
                </a:solidFill>
              </a:rPr>
              <a:t>a rocket at night</a:t>
            </a:r>
            <a:endParaRPr lang="en-US" sz="1200" dirty="0"/>
          </a:p>
        </p:txBody>
      </p:sp>
      <p:pic>
        <p:nvPicPr>
          <p:cNvPr id="13" name="photo-astronaut-10" descr="우주비행사 사진">    </p:cNvPr>
          <p:cNvPicPr>
            <a:picLocks noChangeAspect="1"/>
          </p:cNvPicPr>
          <p:nvPr/>
        </p:nvPicPr>
        <p:blipFill>
          <a:blip r:embed="rId4"/>
          <a:stretch>
            <a:fillRect/>
          </a:stretch>
        </p:blipFill>
        <p:spPr>
          <a:xfrm>
            <a:off x="9601200" y="3520440"/>
            <a:ext cx="1737360" cy="1737360"/>
          </a:xfrm>
          <a:prstGeom prst="ellipse">
            <a:avLst/>
          </a:prstGeom>
        </p:spPr>
      </p:pic>
      <p:sp>
        <p:nvSpPr>
          <p:cNvPr id="14" name="pill-11"/>
          <p:cNvSpPr/>
          <p:nvPr/>
        </p:nvSpPr>
        <p:spPr>
          <a:xfrm>
            <a:off x="9555480" y="5349240"/>
            <a:ext cx="1828800" cy="384048"/>
          </a:xfrm>
          <a:prstGeom prst="roundRect">
            <a:avLst>
              <a:gd name="adj" fmla="val 50000"/>
            </a:avLst>
          </a:prstGeom>
          <a:solidFill>
            <a:schemeClr val="accent2"/>
          </a:solidFill>
          <a:ln/>
        </p:spPr>
      </p:sp>
      <p:sp>
        <p:nvSpPr>
          <p:cNvPr id="15" name="text-12"/>
          <p:cNvSpPr txBox="1"/>
          <p:nvPr/>
        </p:nvSpPr>
        <p:spPr>
          <a:xfrm>
            <a:off x="9555480" y="5349240"/>
            <a:ext cx="1828800" cy="384048"/>
          </a:xfrm>
          <a:prstGeom prst="rect">
            <a:avLst/>
          </a:prstGeom>
          <a:noFill/>
          <a:ln/>
        </p:spPr>
        <p:txBody>
          <a:bodyPr wrap="square" lIns="0" tIns="0" rIns="0" bIns="0" rtlCol="0" anchor="ctr"/>
          <a:lstStyle/>
          <a:p>
            <a:pPr algn="ctr" indent="0" marL="0">
              <a:buNone/>
            </a:pPr>
            <a:r>
              <a:rPr lang="en-US" sz="1200" b="1" dirty="0">
                <a:solidFill>
                  <a:schemeClr val="bg1"/>
                </a:solidFill>
              </a:rPr>
              <a:t>an astronaut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오늘의 질문: 글로 사진을 찾을 수 있을까?</a:t>
            </a:r>
            <a:endParaRPr lang="en-US" sz="3000" dirty="0"/>
          </a:p>
        </p:txBody>
      </p:sp>
      <p:sp>
        <p:nvSpPr>
          <p:cNvPr id="3" name="pill-13"/>
          <p:cNvSpPr/>
          <p:nvPr/>
        </p:nvSpPr>
        <p:spPr>
          <a:xfrm>
            <a:off x="822960" y="1828800"/>
            <a:ext cx="3657600" cy="731520"/>
          </a:xfrm>
          <a:prstGeom prst="roundRect">
            <a:avLst>
              <a:gd name="adj" fmla="val 50000"/>
            </a:avLst>
          </a:prstGeom>
          <a:solidFill>
            <a:schemeClr val="accent2"/>
          </a:solidFill>
          <a:ln/>
        </p:spPr>
      </p:sp>
      <p:sp>
        <p:nvSpPr>
          <p:cNvPr id="4" name="text-14"/>
          <p:cNvSpPr txBox="1"/>
          <p:nvPr/>
        </p:nvSpPr>
        <p:spPr>
          <a:xfrm>
            <a:off x="822960" y="1828800"/>
            <a:ext cx="3657600" cy="731520"/>
          </a:xfrm>
          <a:prstGeom prst="rect">
            <a:avLst/>
          </a:prstGeom>
          <a:noFill/>
          <a:ln/>
        </p:spPr>
        <p:txBody>
          <a:bodyPr wrap="square" lIns="0" tIns="0" rIns="0" bIns="0" rtlCol="0" anchor="ctr"/>
          <a:lstStyle/>
          <a:p>
            <a:pPr algn="ctr" indent="0" marL="0">
              <a:buNone/>
            </a:pPr>
            <a:r>
              <a:rPr lang="en-US" sz="2200" b="1" dirty="0">
                <a:solidFill>
                  <a:schemeClr val="bg1"/>
                </a:solidFill>
              </a:rPr>
              <a:t>“밤에 발사되는 로켓”</a:t>
            </a:r>
            <a:endParaRPr lang="en-US" sz="2200" dirty="0"/>
          </a:p>
        </p:txBody>
      </p:sp>
      <p:sp>
        <p:nvSpPr>
          <p:cNvPr id="5" name="text-15"/>
          <p:cNvSpPr txBox="1"/>
          <p:nvPr/>
        </p:nvSpPr>
        <p:spPr>
          <a:xfrm>
            <a:off x="822960" y="2651760"/>
            <a:ext cx="3657600" cy="365760"/>
          </a:xfrm>
          <a:prstGeom prst="rect">
            <a:avLst/>
          </a:prstGeom>
          <a:noFill/>
          <a:ln/>
        </p:spPr>
        <p:txBody>
          <a:bodyPr wrap="square" lIns="0" tIns="0" rIns="0" bIns="0" rtlCol="0" anchor="t"/>
          <a:lstStyle/>
          <a:p>
            <a:pPr algn="ctr" indent="0" marL="0">
              <a:buNone/>
            </a:pPr>
            <a:r>
              <a:rPr lang="en-US" sz="1600" dirty="0">
                <a:solidFill>
                  <a:schemeClr val="accent2"/>
                </a:solidFill>
              </a:rPr>
              <a:t>텍스트 질문</a:t>
            </a:r>
            <a:endParaRPr lang="en-US" sz="1600" dirty="0"/>
          </a:p>
        </p:txBody>
      </p:sp>
      <p:sp>
        <p:nvSpPr>
          <p:cNvPr id="6" name="arrow-16"/>
          <p:cNvSpPr/>
          <p:nvPr/>
        </p:nvSpPr>
        <p:spPr>
          <a:xfrm>
            <a:off x="4754880" y="2194560"/>
            <a:ext cx="1097280" cy="0"/>
          </a:xfrm>
          <a:prstGeom prst="line">
            <a:avLst/>
          </a:prstGeom>
          <a:noFill/>
          <a:ln w="31750">
            <a:solidFill>
              <a:schemeClr val="accent3"/>
            </a:solidFill>
            <a:prstDash val="solid"/>
            <a:tailEnd type="triangle"/>
          </a:ln>
        </p:spPr>
      </p:sp>
      <p:sp>
        <p:nvSpPr>
          <p:cNvPr id="7" name="text-17"/>
          <p:cNvSpPr txBox="1"/>
          <p:nvPr/>
        </p:nvSpPr>
        <p:spPr>
          <a:xfrm>
            <a:off x="4754880" y="1554480"/>
            <a:ext cx="1097280" cy="548640"/>
          </a:xfrm>
          <a:prstGeom prst="rect">
            <a:avLst/>
          </a:prstGeom>
          <a:noFill/>
          <a:ln/>
        </p:spPr>
        <p:txBody>
          <a:bodyPr wrap="square" lIns="0" tIns="0" rIns="0" bIns="0" rtlCol="0" anchor="t"/>
          <a:lstStyle/>
          <a:p>
            <a:pPr algn="ctr" indent="0" marL="0">
              <a:buNone/>
            </a:pPr>
            <a:r>
              <a:rPr lang="en-US" sz="2800" b="1" dirty="0">
                <a:solidFill>
                  <a:schemeClr val="accent3"/>
                </a:solidFill>
              </a:rPr>
              <a:t>?</a:t>
            </a:r>
            <a:endParaRPr lang="en-US" sz="2800" dirty="0"/>
          </a:p>
        </p:txBody>
      </p:sp>
      <p:pic>
        <p:nvPicPr>
          <p:cNvPr id="8" name="photo-cat-18" descr="고양이 사진">    </p:cNvPr>
          <p:cNvPicPr>
            <a:picLocks noChangeAspect="1"/>
          </p:cNvPicPr>
          <p:nvPr/>
        </p:nvPicPr>
        <p:blipFill>
          <a:blip r:embed="rId1"/>
          <a:stretch>
            <a:fillRect/>
          </a:stretch>
        </p:blipFill>
        <p:spPr>
          <a:xfrm>
            <a:off x="6217920" y="1417320"/>
            <a:ext cx="1828800" cy="1828800"/>
          </a:xfrm>
          <a:prstGeom prst="rect">
            <a:avLst/>
          </a:prstGeom>
        </p:spPr>
      </p:pic>
      <p:pic>
        <p:nvPicPr>
          <p:cNvPr id="9" name="photo-coffee-19" descr="커피 사진">    </p:cNvPr>
          <p:cNvPicPr>
            <a:picLocks noChangeAspect="1"/>
          </p:cNvPicPr>
          <p:nvPr/>
        </p:nvPicPr>
        <p:blipFill>
          <a:blip r:embed="rId2"/>
          <a:stretch>
            <a:fillRect/>
          </a:stretch>
        </p:blipFill>
        <p:spPr>
          <a:xfrm>
            <a:off x="8732520" y="1417320"/>
            <a:ext cx="1828800" cy="1828800"/>
          </a:xfrm>
          <a:prstGeom prst="rect">
            <a:avLst/>
          </a:prstGeom>
        </p:spPr>
      </p:pic>
      <p:pic>
        <p:nvPicPr>
          <p:cNvPr id="10" name="photo-rocket-20" descr="로켓 사진">    </p:cNvPr>
          <p:cNvPicPr>
            <a:picLocks noChangeAspect="1"/>
          </p:cNvPicPr>
          <p:nvPr/>
        </p:nvPicPr>
        <p:blipFill>
          <a:blip r:embed="rId3"/>
          <a:stretch>
            <a:fillRect/>
          </a:stretch>
        </p:blipFill>
        <p:spPr>
          <a:xfrm>
            <a:off x="6217920" y="3566160"/>
            <a:ext cx="1828800" cy="1828800"/>
          </a:xfrm>
          <a:prstGeom prst="rect">
            <a:avLst/>
          </a:prstGeom>
        </p:spPr>
      </p:pic>
      <p:sp>
        <p:nvSpPr>
          <p:cNvPr id="11" name="hit"/>
          <p:cNvSpPr/>
          <p:nvPr/>
        </p:nvSpPr>
        <p:spPr>
          <a:xfrm>
            <a:off x="6163056" y="3511296"/>
            <a:ext cx="1938528" cy="1938528"/>
          </a:xfrm>
          <a:prstGeom prst="rect">
            <a:avLst/>
          </a:prstGeom>
          <a:solidFill>
            <a:schemeClr val="accent3">
              <a:alpha val="0"/>
            </a:schemeClr>
          </a:solidFill>
          <a:ln w="63500">
            <a:solidFill>
              <a:schemeClr val="accent3"/>
            </a:solidFill>
            <a:prstDash val="solid"/>
          </a:ln>
        </p:spPr>
      </p:sp>
      <p:sp>
        <p:nvSpPr>
          <p:cNvPr id="12" name="circle-21"/>
          <p:cNvSpPr/>
          <p:nvPr/>
        </p:nvSpPr>
        <p:spPr>
          <a:xfrm>
            <a:off x="7726680" y="3337560"/>
            <a:ext cx="548640" cy="548640"/>
          </a:xfrm>
          <a:prstGeom prst="ellipse">
            <a:avLst/>
          </a:prstGeom>
          <a:solidFill>
            <a:schemeClr val="accent3"/>
          </a:solidFill>
          <a:ln/>
        </p:spPr>
      </p:sp>
      <p:pic>
        <p:nvPicPr>
          <p:cNvPr id="13" name="icon-FaCheck-22" descr="FaCheck">    </p:cNvPr>
          <p:cNvPicPr>
            <a:picLocks noChangeAspect="1"/>
          </p:cNvPicPr>
          <p:nvPr/>
        </p:nvPicPr>
        <p:blipFill>
          <a:blip r:embed="rId4"/>
          <a:stretch>
            <a:fillRect/>
          </a:stretch>
        </p:blipFill>
        <p:spPr>
          <a:xfrm>
            <a:off x="7869326" y="3480206"/>
            <a:ext cx="263347" cy="263347"/>
          </a:xfrm>
          <a:prstGeom prst="rect">
            <a:avLst/>
          </a:prstGeom>
        </p:spPr>
      </p:pic>
      <p:pic>
        <p:nvPicPr>
          <p:cNvPr id="14" name="photo-astronaut-23" descr="우주비행사 사진">    </p:cNvPr>
          <p:cNvPicPr>
            <a:picLocks noChangeAspect="1"/>
          </p:cNvPicPr>
          <p:nvPr/>
        </p:nvPicPr>
        <p:blipFill>
          <a:blip r:embed="rId5"/>
          <a:stretch>
            <a:fillRect/>
          </a:stretch>
        </p:blipFill>
        <p:spPr>
          <a:xfrm>
            <a:off x="8732520" y="3566160"/>
            <a:ext cx="1828800" cy="1828800"/>
          </a:xfrm>
          <a:prstGeom prst="rect">
            <a:avLst/>
          </a:prstGeom>
        </p:spPr>
      </p:pic>
      <p:sp>
        <p:nvSpPr>
          <p:cNvPr id="15" name="card-24"/>
          <p:cNvSpPr/>
          <p:nvPr/>
        </p:nvSpPr>
        <p:spPr>
          <a:xfrm>
            <a:off x="822960" y="3840480"/>
            <a:ext cx="4480560" cy="1737360"/>
          </a:xfrm>
          <a:prstGeom prst="roundRect">
            <a:avLst>
              <a:gd name="adj" fmla="val 7368"/>
            </a:avLst>
          </a:prstGeom>
          <a:solidFill>
            <a:schemeClr val="accent3">
              <a:alpha val="10000"/>
            </a:schemeClr>
          </a:solidFill>
          <a:ln/>
        </p:spPr>
      </p:sp>
      <p:sp>
        <p:nvSpPr>
          <p:cNvPr id="16" name="text-25"/>
          <p:cNvSpPr txBox="1"/>
          <p:nvPr/>
        </p:nvSpPr>
        <p:spPr>
          <a:xfrm>
            <a:off x="1097280" y="3840480"/>
            <a:ext cx="4023360" cy="1737360"/>
          </a:xfrm>
          <a:prstGeom prst="rect">
            <a:avLst/>
          </a:prstGeom>
          <a:noFill/>
          <a:ln/>
        </p:spPr>
        <p:txBody>
          <a:bodyPr wrap="square" lIns="0" tIns="0" rIns="0" bIns="0" rtlCol="0" anchor="ctr"/>
          <a:lstStyle/>
          <a:p>
            <a:pPr indent="0" marL="0">
              <a:buNone/>
            </a:pPr>
            <a:r>
              <a:rPr lang="en-US" sz="2000" b="1" dirty="0">
                <a:solidFill>
                  <a:schemeClr val="accent3"/>
                </a:solidFill>
              </a:rPr>
              <a:t>단어가 아닌 ‘의미’로</a:t>
            </a:r>
            <a:endParaRPr lang="en-US" sz="2000" dirty="0"/>
          </a:p>
          <a:p>
            <a:pPr indent="0" marL="0">
              <a:buNone/>
            </a:pPr>
            <a:r>
              <a:rPr lang="en-US" sz="1700" dirty="0">
                <a:solidFill>
                  <a:schemeClr val="tx1"/>
                </a:solidFill>
              </a:rPr>
              <a:t>사진에 글자가 없어도 찾아야 함</a:t>
            </a:r>
            <a:endParaRPr lang="en-US" sz="2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지난 주차와 이번 주의 연결</a:t>
            </a:r>
            <a:endParaRPr lang="en-US" sz="3000" dirty="0"/>
          </a:p>
        </p:txBody>
      </p:sp>
      <p:sp>
        <p:nvSpPr>
          <p:cNvPr id="3" name="card-26"/>
          <p:cNvSpPr/>
          <p:nvPr/>
        </p:nvSpPr>
        <p:spPr>
          <a:xfrm>
            <a:off x="640080" y="1463040"/>
            <a:ext cx="3383280" cy="2926080"/>
          </a:xfrm>
          <a:prstGeom prst="roundRect">
            <a:avLst>
              <a:gd name="adj" fmla="val 4375"/>
            </a:avLst>
          </a:prstGeom>
          <a:solidFill>
            <a:schemeClr val="bg2"/>
          </a:solidFill>
          <a:ln/>
        </p:spPr>
      </p:sp>
      <p:sp>
        <p:nvSpPr>
          <p:cNvPr id="4" name="circle-27"/>
          <p:cNvSpPr/>
          <p:nvPr/>
        </p:nvSpPr>
        <p:spPr>
          <a:xfrm>
            <a:off x="960120" y="1737360"/>
            <a:ext cx="822960" cy="822960"/>
          </a:xfrm>
          <a:prstGeom prst="ellipse">
            <a:avLst/>
          </a:prstGeom>
          <a:solidFill>
            <a:schemeClr val="accent6"/>
          </a:solidFill>
          <a:ln/>
        </p:spPr>
      </p:sp>
      <p:pic>
        <p:nvPicPr>
          <p:cNvPr id="5" name="icon-FaBookOpen-28" descr="FaBookOpen">    </p:cNvPr>
          <p:cNvPicPr>
            <a:picLocks noChangeAspect="1"/>
          </p:cNvPicPr>
          <p:nvPr/>
        </p:nvPicPr>
        <p:blipFill>
          <a:blip r:embed="rId1"/>
          <a:stretch>
            <a:fillRect/>
          </a:stretch>
        </p:blipFill>
        <p:spPr>
          <a:xfrm>
            <a:off x="1174090" y="1951330"/>
            <a:ext cx="395021" cy="395021"/>
          </a:xfrm>
          <a:prstGeom prst="rect">
            <a:avLst/>
          </a:prstGeom>
        </p:spPr>
      </p:pic>
      <p:sp>
        <p:nvSpPr>
          <p:cNvPr id="6" name="text-29"/>
          <p:cNvSpPr txBox="1"/>
          <p:nvPr/>
        </p:nvSpPr>
        <p:spPr>
          <a:xfrm>
            <a:off x="1965960" y="1874520"/>
            <a:ext cx="1920240" cy="548640"/>
          </a:xfrm>
          <a:prstGeom prst="rect">
            <a:avLst/>
          </a:prstGeom>
          <a:noFill/>
          <a:ln/>
        </p:spPr>
        <p:txBody>
          <a:bodyPr wrap="square" lIns="0" tIns="0" rIns="0" bIns="0" rtlCol="0" anchor="ctr"/>
          <a:lstStyle/>
          <a:p>
            <a:pPr indent="0" marL="0">
              <a:buNone/>
            </a:pPr>
            <a:r>
              <a:rPr lang="en-US" sz="1600" b="1" dirty="0">
                <a:solidFill>
                  <a:schemeClr val="accent6"/>
                </a:solidFill>
              </a:rPr>
              <a:t>1~3주차</a:t>
            </a:r>
            <a:endParaRPr lang="en-US" sz="1600" dirty="0"/>
          </a:p>
        </p:txBody>
      </p:sp>
      <p:sp>
        <p:nvSpPr>
          <p:cNvPr id="7" name="text-30"/>
          <p:cNvSpPr txBox="1"/>
          <p:nvPr/>
        </p:nvSpPr>
        <p:spPr>
          <a:xfrm>
            <a:off x="960120" y="2743200"/>
            <a:ext cx="2834640" cy="502920"/>
          </a:xfrm>
          <a:prstGeom prst="rect">
            <a:avLst/>
          </a:prstGeom>
          <a:noFill/>
          <a:ln/>
        </p:spPr>
        <p:txBody>
          <a:bodyPr wrap="square" lIns="0" tIns="0" rIns="0" bIns="0" rtlCol="0" anchor="t"/>
          <a:lstStyle/>
          <a:p>
            <a:pPr indent="0" marL="0">
              <a:buNone/>
            </a:pPr>
            <a:r>
              <a:rPr lang="en-US" sz="2400" b="1" dirty="0">
                <a:solidFill>
                  <a:schemeClr val="tx1"/>
                </a:solidFill>
              </a:rPr>
              <a:t>텍스트 RAG</a:t>
            </a:r>
            <a:endParaRPr lang="en-US" sz="2400" dirty="0"/>
          </a:p>
        </p:txBody>
      </p:sp>
      <p:sp>
        <p:nvSpPr>
          <p:cNvPr id="8" name="text-31"/>
          <p:cNvSpPr txBox="1"/>
          <p:nvPr/>
        </p:nvSpPr>
        <p:spPr>
          <a:xfrm>
            <a:off x="960120" y="3291840"/>
            <a:ext cx="2834640" cy="914400"/>
          </a:xfrm>
          <a:prstGeom prst="rect">
            <a:avLst/>
          </a:prstGeom>
          <a:noFill/>
          <a:ln/>
        </p:spPr>
        <p:txBody>
          <a:bodyPr wrap="square" lIns="0" tIns="0" rIns="0" bIns="0" rtlCol="0" anchor="t"/>
          <a:lstStyle/>
          <a:p>
            <a:pPr indent="0" marL="0">
              <a:buNone/>
            </a:pPr>
            <a:r>
              <a:rPr lang="en-US" sz="1700" dirty="0">
                <a:solidFill>
                  <a:schemeClr val="tx2"/>
                </a:solidFill>
              </a:rPr>
              <a:t>임베딩 → 벡터DB → 검색 → 생성</a:t>
            </a:r>
            <a:endParaRPr lang="en-US" sz="1700" dirty="0"/>
          </a:p>
        </p:txBody>
      </p:sp>
      <p:sp>
        <p:nvSpPr>
          <p:cNvPr id="9" name="arrow-32"/>
          <p:cNvSpPr/>
          <p:nvPr/>
        </p:nvSpPr>
        <p:spPr>
          <a:xfrm>
            <a:off x="4069080" y="2926080"/>
            <a:ext cx="274320" cy="0"/>
          </a:xfrm>
          <a:prstGeom prst="line">
            <a:avLst/>
          </a:prstGeom>
          <a:noFill/>
          <a:ln w="31750">
            <a:solidFill>
              <a:schemeClr val="accent6"/>
            </a:solidFill>
            <a:prstDash val="solid"/>
            <a:tailEnd type="triangle"/>
          </a:ln>
        </p:spPr>
      </p:sp>
      <p:sp>
        <p:nvSpPr>
          <p:cNvPr id="10" name="card-33"/>
          <p:cNvSpPr/>
          <p:nvPr/>
        </p:nvSpPr>
        <p:spPr>
          <a:xfrm>
            <a:off x="4389120" y="1463040"/>
            <a:ext cx="3383280" cy="2926080"/>
          </a:xfrm>
          <a:prstGeom prst="roundRect">
            <a:avLst>
              <a:gd name="adj" fmla="val 4375"/>
            </a:avLst>
          </a:prstGeom>
          <a:solidFill>
            <a:schemeClr val="accent3">
              <a:alpha val="10000"/>
            </a:schemeClr>
          </a:solidFill>
          <a:ln w="25400">
            <a:solidFill>
              <a:schemeClr val="accent3"/>
            </a:solidFill>
            <a:prstDash val="solid"/>
          </a:ln>
        </p:spPr>
      </p:sp>
      <p:sp>
        <p:nvSpPr>
          <p:cNvPr id="11" name="circle-34"/>
          <p:cNvSpPr/>
          <p:nvPr/>
        </p:nvSpPr>
        <p:spPr>
          <a:xfrm>
            <a:off x="4709160" y="1737360"/>
            <a:ext cx="822960" cy="822960"/>
          </a:xfrm>
          <a:prstGeom prst="ellipse">
            <a:avLst/>
          </a:prstGeom>
          <a:solidFill>
            <a:schemeClr val="accent3"/>
          </a:solidFill>
          <a:ln/>
        </p:spPr>
      </p:sp>
      <p:pic>
        <p:nvPicPr>
          <p:cNvPr id="12" name="icon-FaEye-35" descr="FaEye">    </p:cNvPr>
          <p:cNvPicPr>
            <a:picLocks noChangeAspect="1"/>
          </p:cNvPicPr>
          <p:nvPr/>
        </p:nvPicPr>
        <p:blipFill>
          <a:blip r:embed="rId2"/>
          <a:stretch>
            <a:fillRect/>
          </a:stretch>
        </p:blipFill>
        <p:spPr>
          <a:xfrm>
            <a:off x="4923130" y="1951330"/>
            <a:ext cx="395021" cy="395021"/>
          </a:xfrm>
          <a:prstGeom prst="rect">
            <a:avLst/>
          </a:prstGeom>
        </p:spPr>
      </p:pic>
      <p:sp>
        <p:nvSpPr>
          <p:cNvPr id="13" name="text-36"/>
          <p:cNvSpPr txBox="1"/>
          <p:nvPr/>
        </p:nvSpPr>
        <p:spPr>
          <a:xfrm>
            <a:off x="5715000" y="1874520"/>
            <a:ext cx="1920240" cy="548640"/>
          </a:xfrm>
          <a:prstGeom prst="rect">
            <a:avLst/>
          </a:prstGeom>
          <a:noFill/>
          <a:ln/>
        </p:spPr>
        <p:txBody>
          <a:bodyPr wrap="square" lIns="0" tIns="0" rIns="0" bIns="0" rtlCol="0" anchor="ctr"/>
          <a:lstStyle/>
          <a:p>
            <a:pPr indent="0" marL="0">
              <a:buNone/>
            </a:pPr>
            <a:r>
              <a:rPr lang="en-US" sz="1600" b="1" dirty="0">
                <a:solidFill>
                  <a:schemeClr val="accent3"/>
                </a:solidFill>
              </a:rPr>
              <a:t>4주차 · 오늘</a:t>
            </a:r>
            <a:endParaRPr lang="en-US" sz="1600" dirty="0"/>
          </a:p>
        </p:txBody>
      </p:sp>
      <p:sp>
        <p:nvSpPr>
          <p:cNvPr id="14" name="text-37"/>
          <p:cNvSpPr txBox="1"/>
          <p:nvPr/>
        </p:nvSpPr>
        <p:spPr>
          <a:xfrm>
            <a:off x="4709160" y="2743200"/>
            <a:ext cx="2834640" cy="502920"/>
          </a:xfrm>
          <a:prstGeom prst="rect">
            <a:avLst/>
          </a:prstGeom>
          <a:noFill/>
          <a:ln/>
        </p:spPr>
        <p:txBody>
          <a:bodyPr wrap="square" lIns="0" tIns="0" rIns="0" bIns="0" rtlCol="0" anchor="t"/>
          <a:lstStyle/>
          <a:p>
            <a:pPr indent="0" marL="0">
              <a:buNone/>
            </a:pPr>
            <a:r>
              <a:rPr lang="en-US" sz="2400" b="1" dirty="0">
                <a:solidFill>
                  <a:schemeClr val="tx1"/>
                </a:solidFill>
              </a:rPr>
              <a:t>SigLIP 이해</a:t>
            </a:r>
            <a:endParaRPr lang="en-US" sz="2400" dirty="0"/>
          </a:p>
        </p:txBody>
      </p:sp>
      <p:sp>
        <p:nvSpPr>
          <p:cNvPr id="15" name="text-38"/>
          <p:cNvSpPr txBox="1"/>
          <p:nvPr/>
        </p:nvSpPr>
        <p:spPr>
          <a:xfrm>
            <a:off x="4709160" y="3291840"/>
            <a:ext cx="2834640" cy="914400"/>
          </a:xfrm>
          <a:prstGeom prst="rect">
            <a:avLst/>
          </a:prstGeom>
          <a:noFill/>
          <a:ln/>
        </p:spPr>
        <p:txBody>
          <a:bodyPr wrap="square" lIns="0" tIns="0" rIns="0" bIns="0" rtlCol="0" anchor="t"/>
          <a:lstStyle/>
          <a:p>
            <a:pPr indent="0" marL="0">
              <a:buNone/>
            </a:pPr>
            <a:r>
              <a:rPr lang="en-US" sz="1700" dirty="0">
                <a:solidFill>
                  <a:schemeClr val="tx2"/>
                </a:solidFill>
              </a:rPr>
              <a:t>이미지도 임베딩하는 모델</a:t>
            </a:r>
            <a:endParaRPr lang="en-US" sz="1700" dirty="0"/>
          </a:p>
        </p:txBody>
      </p:sp>
      <p:sp>
        <p:nvSpPr>
          <p:cNvPr id="16" name="arrow-39"/>
          <p:cNvSpPr/>
          <p:nvPr/>
        </p:nvSpPr>
        <p:spPr>
          <a:xfrm>
            <a:off x="7818120" y="2926080"/>
            <a:ext cx="274320" cy="0"/>
          </a:xfrm>
          <a:prstGeom prst="line">
            <a:avLst/>
          </a:prstGeom>
          <a:noFill/>
          <a:ln w="31750">
            <a:solidFill>
              <a:schemeClr val="accent6"/>
            </a:solidFill>
            <a:prstDash val="solid"/>
            <a:tailEnd type="triangle"/>
          </a:ln>
        </p:spPr>
      </p:sp>
      <p:sp>
        <p:nvSpPr>
          <p:cNvPr id="17" name="card-40"/>
          <p:cNvSpPr/>
          <p:nvPr/>
        </p:nvSpPr>
        <p:spPr>
          <a:xfrm>
            <a:off x="8138160" y="1463040"/>
            <a:ext cx="3383280" cy="2926080"/>
          </a:xfrm>
          <a:prstGeom prst="roundRect">
            <a:avLst>
              <a:gd name="adj" fmla="val 4375"/>
            </a:avLst>
          </a:prstGeom>
          <a:solidFill>
            <a:schemeClr val="bg2"/>
          </a:solidFill>
          <a:ln/>
        </p:spPr>
      </p:sp>
      <p:sp>
        <p:nvSpPr>
          <p:cNvPr id="18" name="circle-41"/>
          <p:cNvSpPr/>
          <p:nvPr/>
        </p:nvSpPr>
        <p:spPr>
          <a:xfrm>
            <a:off x="8458200" y="1737360"/>
            <a:ext cx="822960" cy="822960"/>
          </a:xfrm>
          <a:prstGeom prst="ellipse">
            <a:avLst/>
          </a:prstGeom>
          <a:solidFill>
            <a:schemeClr val="accent1"/>
          </a:solidFill>
          <a:ln/>
        </p:spPr>
      </p:sp>
      <p:pic>
        <p:nvPicPr>
          <p:cNvPr id="19" name="icon-FaSearch-42" descr="FaSearch">    </p:cNvPr>
          <p:cNvPicPr>
            <a:picLocks noChangeAspect="1"/>
          </p:cNvPicPr>
          <p:nvPr/>
        </p:nvPicPr>
        <p:blipFill>
          <a:blip r:embed="rId3"/>
          <a:stretch>
            <a:fillRect/>
          </a:stretch>
        </p:blipFill>
        <p:spPr>
          <a:xfrm>
            <a:off x="8672170" y="1951330"/>
            <a:ext cx="395021" cy="395021"/>
          </a:xfrm>
          <a:prstGeom prst="rect">
            <a:avLst/>
          </a:prstGeom>
        </p:spPr>
      </p:pic>
      <p:sp>
        <p:nvSpPr>
          <p:cNvPr id="20" name="text-43"/>
          <p:cNvSpPr txBox="1"/>
          <p:nvPr/>
        </p:nvSpPr>
        <p:spPr>
          <a:xfrm>
            <a:off x="9464040" y="1874520"/>
            <a:ext cx="1920240" cy="548640"/>
          </a:xfrm>
          <a:prstGeom prst="rect">
            <a:avLst/>
          </a:prstGeom>
          <a:noFill/>
          <a:ln/>
        </p:spPr>
        <p:txBody>
          <a:bodyPr wrap="square" lIns="0" tIns="0" rIns="0" bIns="0" rtlCol="0" anchor="ctr"/>
          <a:lstStyle/>
          <a:p>
            <a:pPr indent="0" marL="0">
              <a:buNone/>
            </a:pPr>
            <a:r>
              <a:rPr lang="en-US" sz="1600" b="1" dirty="0">
                <a:solidFill>
                  <a:schemeClr val="accent1"/>
                </a:solidFill>
              </a:rPr>
              <a:t>5주차</a:t>
            </a:r>
            <a:endParaRPr lang="en-US" sz="1600" dirty="0"/>
          </a:p>
        </p:txBody>
      </p:sp>
      <p:sp>
        <p:nvSpPr>
          <p:cNvPr id="21" name="text-44"/>
          <p:cNvSpPr txBox="1"/>
          <p:nvPr/>
        </p:nvSpPr>
        <p:spPr>
          <a:xfrm>
            <a:off x="8458200" y="2743200"/>
            <a:ext cx="2834640" cy="502920"/>
          </a:xfrm>
          <a:prstGeom prst="rect">
            <a:avLst/>
          </a:prstGeom>
          <a:noFill/>
          <a:ln/>
        </p:spPr>
        <p:txBody>
          <a:bodyPr wrap="square" lIns="0" tIns="0" rIns="0" bIns="0" rtlCol="0" anchor="t"/>
          <a:lstStyle/>
          <a:p>
            <a:pPr indent="0" marL="0">
              <a:buNone/>
            </a:pPr>
            <a:r>
              <a:rPr lang="en-US" sz="2400" b="1" dirty="0">
                <a:solidFill>
                  <a:schemeClr val="tx1"/>
                </a:solidFill>
              </a:rPr>
              <a:t>멀티모달 검색</a:t>
            </a:r>
            <a:endParaRPr lang="en-US" sz="2400" dirty="0"/>
          </a:p>
        </p:txBody>
      </p:sp>
      <p:sp>
        <p:nvSpPr>
          <p:cNvPr id="22" name="text-45"/>
          <p:cNvSpPr txBox="1"/>
          <p:nvPr/>
        </p:nvSpPr>
        <p:spPr>
          <a:xfrm>
            <a:off x="8458200" y="3291840"/>
            <a:ext cx="2834640" cy="914400"/>
          </a:xfrm>
          <a:prstGeom prst="rect">
            <a:avLst/>
          </a:prstGeom>
          <a:noFill/>
          <a:ln/>
        </p:spPr>
        <p:txBody>
          <a:bodyPr wrap="square" lIns="0" tIns="0" rIns="0" bIns="0" rtlCol="0" anchor="t"/>
          <a:lstStyle/>
          <a:p>
            <a:pPr indent="0" marL="0">
              <a:buNone/>
            </a:pPr>
            <a:r>
              <a:rPr lang="en-US" sz="1700" dirty="0">
                <a:solidFill>
                  <a:schemeClr val="tx2"/>
                </a:solidFill>
              </a:rPr>
              <a:t>텍스트 → 이미지 검색 구현</a:t>
            </a:r>
            <a:endParaRPr lang="en-US" sz="1700" dirty="0"/>
          </a:p>
        </p:txBody>
      </p:sp>
      <p:sp>
        <p:nvSpPr>
          <p:cNvPr id="23" name="card-46"/>
          <p:cNvSpPr/>
          <p:nvPr/>
        </p:nvSpPr>
        <p:spPr>
          <a:xfrm>
            <a:off x="640080" y="4800600"/>
            <a:ext cx="10881360" cy="1005840"/>
          </a:xfrm>
          <a:prstGeom prst="roundRect">
            <a:avLst>
              <a:gd name="adj" fmla="val 12727"/>
            </a:avLst>
          </a:prstGeom>
          <a:solidFill>
            <a:schemeClr val="bg2"/>
          </a:solidFill>
          <a:ln/>
        </p:spPr>
      </p:sp>
      <p:sp>
        <p:nvSpPr>
          <p:cNvPr id="24" name="text-47"/>
          <p:cNvSpPr txBox="1"/>
          <p:nvPr/>
        </p:nvSpPr>
        <p:spPr>
          <a:xfrm>
            <a:off x="914400" y="4800600"/>
            <a:ext cx="10424160" cy="1005840"/>
          </a:xfrm>
          <a:prstGeom prst="rect">
            <a:avLst/>
          </a:prstGeom>
          <a:noFill/>
          <a:ln/>
        </p:spPr>
        <p:txBody>
          <a:bodyPr wrap="square" lIns="0" tIns="0" rIns="0" bIns="0" rtlCol="0" anchor="ctr"/>
          <a:lstStyle/>
          <a:p>
            <a:pPr indent="0" marL="0">
              <a:buNone/>
            </a:pPr>
            <a:r>
              <a:rPr lang="en-US" sz="2000" b="1" dirty="0">
                <a:solidFill>
                  <a:schemeClr val="accent3"/>
                </a:solidFill>
              </a:rPr>
              <a:t>핵심  </a:t>
            </a:r>
            <a:r>
              <a:rPr lang="en-US" sz="2000" dirty="0">
                <a:solidFill>
                  <a:schemeClr val="tx1"/>
                </a:solidFill>
              </a:rPr>
              <a:t>RAG 파이프라인은 그대로, </a:t>
            </a:r>
            <a:r>
              <a:rPr lang="en-US" sz="2000" b="1" dirty="0">
                <a:solidFill>
                  <a:schemeClr val="tx1"/>
                </a:solidFill>
              </a:rPr>
              <a:t>‘임베딩 모델’ 칸만</a:t>
            </a:r>
            <a:r>
              <a:rPr lang="en-US" sz="2000" dirty="0">
                <a:solidFill>
                  <a:schemeClr val="tx1"/>
                </a:solidFill>
              </a:rPr>
              <a:t> 이미지도 다루는 모델로 바꾼다</a:t>
            </a:r>
            <a:endParaRPr lang="en-US" sz="2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오늘의 목표</a:t>
            </a:r>
            <a:endParaRPr lang="en-US" sz="3000" dirty="0"/>
          </a:p>
        </p:txBody>
      </p:sp>
      <p:sp>
        <p:nvSpPr>
          <p:cNvPr id="3" name="card-48"/>
          <p:cNvSpPr/>
          <p:nvPr/>
        </p:nvSpPr>
        <p:spPr>
          <a:xfrm>
            <a:off x="640080" y="1463040"/>
            <a:ext cx="5349240" cy="2011680"/>
          </a:xfrm>
          <a:prstGeom prst="roundRect">
            <a:avLst>
              <a:gd name="adj" fmla="val 6364"/>
            </a:avLst>
          </a:prstGeom>
          <a:solidFill>
            <a:schemeClr val="bg2"/>
          </a:solidFill>
          <a:ln/>
        </p:spPr>
      </p:sp>
      <p:sp>
        <p:nvSpPr>
          <p:cNvPr id="4" name="circle-49"/>
          <p:cNvSpPr/>
          <p:nvPr/>
        </p:nvSpPr>
        <p:spPr>
          <a:xfrm>
            <a:off x="1005840" y="1965960"/>
            <a:ext cx="1005840" cy="1005840"/>
          </a:xfrm>
          <a:prstGeom prst="ellipse">
            <a:avLst/>
          </a:prstGeom>
          <a:solidFill>
            <a:schemeClr val="accent3"/>
          </a:solidFill>
          <a:ln/>
        </p:spPr>
      </p:sp>
      <p:pic>
        <p:nvPicPr>
          <p:cNvPr id="5" name="icon-FaLayerGroup-50" descr="FaLayerGroup">    </p:cNvPr>
          <p:cNvPicPr>
            <a:picLocks noChangeAspect="1"/>
          </p:cNvPicPr>
          <p:nvPr/>
        </p:nvPicPr>
        <p:blipFill>
          <a:blip r:embed="rId1"/>
          <a:stretch>
            <a:fillRect/>
          </a:stretch>
        </p:blipFill>
        <p:spPr>
          <a:xfrm>
            <a:off x="1267358" y="2227478"/>
            <a:ext cx="482803" cy="482803"/>
          </a:xfrm>
          <a:prstGeom prst="rect">
            <a:avLst/>
          </a:prstGeom>
        </p:spPr>
      </p:pic>
      <p:sp>
        <p:nvSpPr>
          <p:cNvPr id="6" name="text-51"/>
          <p:cNvSpPr txBox="1"/>
          <p:nvPr/>
        </p:nvSpPr>
        <p:spPr>
          <a:xfrm>
            <a:off x="2286000" y="1920240"/>
            <a:ext cx="3566160" cy="548640"/>
          </a:xfrm>
          <a:prstGeom prst="rect">
            <a:avLst/>
          </a:prstGeom>
          <a:noFill/>
          <a:ln/>
        </p:spPr>
        <p:txBody>
          <a:bodyPr wrap="square" lIns="0" tIns="0" rIns="0" bIns="0" rtlCol="0" anchor="t"/>
          <a:lstStyle/>
          <a:p>
            <a:pPr indent="0" marL="0">
              <a:buNone/>
            </a:pPr>
            <a:r>
              <a:rPr lang="en-US" sz="2400" b="1" dirty="0">
                <a:solidFill>
                  <a:schemeClr val="tx1"/>
                </a:solidFill>
              </a:rPr>
              <a:t>공동 임베딩 공간</a:t>
            </a:r>
            <a:endParaRPr lang="en-US" sz="2400" dirty="0"/>
          </a:p>
        </p:txBody>
      </p:sp>
      <p:sp>
        <p:nvSpPr>
          <p:cNvPr id="7" name="text-52"/>
          <p:cNvSpPr txBox="1"/>
          <p:nvPr/>
        </p:nvSpPr>
        <p:spPr>
          <a:xfrm>
            <a:off x="2286000" y="2514600"/>
            <a:ext cx="3566160" cy="548640"/>
          </a:xfrm>
          <a:prstGeom prst="rect">
            <a:avLst/>
          </a:prstGeom>
          <a:noFill/>
          <a:ln/>
        </p:spPr>
        <p:txBody>
          <a:bodyPr wrap="square" lIns="0" tIns="0" rIns="0" bIns="0" rtlCol="0" anchor="t"/>
          <a:lstStyle/>
          <a:p>
            <a:pPr indent="0" marL="0">
              <a:buNone/>
            </a:pPr>
            <a:r>
              <a:rPr lang="en-US" sz="1800" dirty="0">
                <a:solidFill>
                  <a:schemeClr val="tx2"/>
                </a:solidFill>
              </a:rPr>
              <a:t>이미지와 텍스트가 한 공간에</a:t>
            </a:r>
            <a:endParaRPr lang="en-US" sz="1800" dirty="0"/>
          </a:p>
        </p:txBody>
      </p:sp>
      <p:sp>
        <p:nvSpPr>
          <p:cNvPr id="8" name="card-53"/>
          <p:cNvSpPr/>
          <p:nvPr/>
        </p:nvSpPr>
        <p:spPr>
          <a:xfrm>
            <a:off x="6172200" y="1463040"/>
            <a:ext cx="5349240" cy="2011680"/>
          </a:xfrm>
          <a:prstGeom prst="roundRect">
            <a:avLst>
              <a:gd name="adj" fmla="val 6364"/>
            </a:avLst>
          </a:prstGeom>
          <a:solidFill>
            <a:schemeClr val="bg2"/>
          </a:solidFill>
          <a:ln/>
        </p:spPr>
      </p:sp>
      <p:sp>
        <p:nvSpPr>
          <p:cNvPr id="9" name="circle-54"/>
          <p:cNvSpPr/>
          <p:nvPr/>
        </p:nvSpPr>
        <p:spPr>
          <a:xfrm>
            <a:off x="6537960" y="1965960"/>
            <a:ext cx="1005840" cy="1005840"/>
          </a:xfrm>
          <a:prstGeom prst="ellipse">
            <a:avLst/>
          </a:prstGeom>
          <a:solidFill>
            <a:schemeClr val="accent3"/>
          </a:solidFill>
          <a:ln/>
        </p:spPr>
      </p:sp>
      <p:pic>
        <p:nvPicPr>
          <p:cNvPr id="10" name="icon-FaToggleOn-55" descr="FaToggleOn">    </p:cNvPr>
          <p:cNvPicPr>
            <a:picLocks noChangeAspect="1"/>
          </p:cNvPicPr>
          <p:nvPr/>
        </p:nvPicPr>
        <p:blipFill>
          <a:blip r:embed="rId2"/>
          <a:stretch>
            <a:fillRect/>
          </a:stretch>
        </p:blipFill>
        <p:spPr>
          <a:xfrm>
            <a:off x="6799478" y="2227478"/>
            <a:ext cx="482803" cy="482803"/>
          </a:xfrm>
          <a:prstGeom prst="rect">
            <a:avLst/>
          </a:prstGeom>
        </p:spPr>
      </p:pic>
      <p:sp>
        <p:nvSpPr>
          <p:cNvPr id="11" name="text-56"/>
          <p:cNvSpPr txBox="1"/>
          <p:nvPr/>
        </p:nvSpPr>
        <p:spPr>
          <a:xfrm>
            <a:off x="7818120" y="1920240"/>
            <a:ext cx="3566160" cy="548640"/>
          </a:xfrm>
          <a:prstGeom prst="rect">
            <a:avLst/>
          </a:prstGeom>
          <a:noFill/>
          <a:ln/>
        </p:spPr>
        <p:txBody>
          <a:bodyPr wrap="square" lIns="0" tIns="0" rIns="0" bIns="0" rtlCol="0" anchor="t"/>
          <a:lstStyle/>
          <a:p>
            <a:pPr indent="0" marL="0">
              <a:buNone/>
            </a:pPr>
            <a:r>
              <a:rPr lang="en-US" sz="2400" b="1" dirty="0">
                <a:solidFill>
                  <a:schemeClr val="tx1"/>
                </a:solidFill>
              </a:rPr>
              <a:t>Softmax vs Sigmoid</a:t>
            </a:r>
            <a:endParaRPr lang="en-US" sz="2400" dirty="0"/>
          </a:p>
        </p:txBody>
      </p:sp>
      <p:sp>
        <p:nvSpPr>
          <p:cNvPr id="12" name="text-57"/>
          <p:cNvSpPr txBox="1"/>
          <p:nvPr/>
        </p:nvSpPr>
        <p:spPr>
          <a:xfrm>
            <a:off x="7818120" y="2514600"/>
            <a:ext cx="3566160" cy="548640"/>
          </a:xfrm>
          <a:prstGeom prst="rect">
            <a:avLst/>
          </a:prstGeom>
          <a:noFill/>
          <a:ln/>
        </p:spPr>
        <p:txBody>
          <a:bodyPr wrap="square" lIns="0" tIns="0" rIns="0" bIns="0" rtlCol="0" anchor="t"/>
          <a:lstStyle/>
          <a:p>
            <a:pPr indent="0" marL="0">
              <a:buNone/>
            </a:pPr>
            <a:r>
              <a:rPr lang="en-US" sz="1800" dirty="0">
                <a:solidFill>
                  <a:schemeClr val="tx2"/>
                </a:solidFill>
              </a:rPr>
              <a:t>CLIP과 SigLIP의 학습 차이</a:t>
            </a:r>
            <a:endParaRPr lang="en-US" sz="1800" dirty="0"/>
          </a:p>
        </p:txBody>
      </p:sp>
      <p:sp>
        <p:nvSpPr>
          <p:cNvPr id="13" name="card-58"/>
          <p:cNvSpPr/>
          <p:nvPr/>
        </p:nvSpPr>
        <p:spPr>
          <a:xfrm>
            <a:off x="640080" y="3749040"/>
            <a:ext cx="5349240" cy="2011680"/>
          </a:xfrm>
          <a:prstGeom prst="roundRect">
            <a:avLst>
              <a:gd name="adj" fmla="val 6364"/>
            </a:avLst>
          </a:prstGeom>
          <a:solidFill>
            <a:schemeClr val="bg2"/>
          </a:solidFill>
          <a:ln/>
        </p:spPr>
      </p:sp>
      <p:sp>
        <p:nvSpPr>
          <p:cNvPr id="14" name="circle-59"/>
          <p:cNvSpPr/>
          <p:nvPr/>
        </p:nvSpPr>
        <p:spPr>
          <a:xfrm>
            <a:off x="1005840" y="4251960"/>
            <a:ext cx="1005840" cy="1005840"/>
          </a:xfrm>
          <a:prstGeom prst="ellipse">
            <a:avLst/>
          </a:prstGeom>
          <a:solidFill>
            <a:schemeClr val="accent3"/>
          </a:solidFill>
          <a:ln/>
        </p:spPr>
      </p:sp>
      <p:pic>
        <p:nvPicPr>
          <p:cNvPr id="15" name="icon-FaSearch-60" descr="FaSearch">    </p:cNvPr>
          <p:cNvPicPr>
            <a:picLocks noChangeAspect="1"/>
          </p:cNvPicPr>
          <p:nvPr/>
        </p:nvPicPr>
        <p:blipFill>
          <a:blip r:embed="rId3"/>
          <a:stretch>
            <a:fillRect/>
          </a:stretch>
        </p:blipFill>
        <p:spPr>
          <a:xfrm>
            <a:off x="1267358" y="4513478"/>
            <a:ext cx="482803" cy="482803"/>
          </a:xfrm>
          <a:prstGeom prst="rect">
            <a:avLst/>
          </a:prstGeom>
        </p:spPr>
      </p:pic>
      <p:sp>
        <p:nvSpPr>
          <p:cNvPr id="16" name="text-61"/>
          <p:cNvSpPr txBox="1"/>
          <p:nvPr/>
        </p:nvSpPr>
        <p:spPr>
          <a:xfrm>
            <a:off x="2286000" y="4206240"/>
            <a:ext cx="3566160" cy="548640"/>
          </a:xfrm>
          <a:prstGeom prst="rect">
            <a:avLst/>
          </a:prstGeom>
          <a:noFill/>
          <a:ln/>
        </p:spPr>
        <p:txBody>
          <a:bodyPr wrap="square" lIns="0" tIns="0" rIns="0" bIns="0" rtlCol="0" anchor="t"/>
          <a:lstStyle/>
          <a:p>
            <a:pPr indent="0" marL="0">
              <a:buNone/>
            </a:pPr>
            <a:r>
              <a:rPr lang="en-US" sz="2400" b="1" dirty="0">
                <a:solidFill>
                  <a:schemeClr val="tx1"/>
                </a:solidFill>
              </a:rPr>
              <a:t>검색에 적합한 이유</a:t>
            </a:r>
            <a:endParaRPr lang="en-US" sz="2400" dirty="0"/>
          </a:p>
        </p:txBody>
      </p:sp>
      <p:sp>
        <p:nvSpPr>
          <p:cNvPr id="17" name="text-62"/>
          <p:cNvSpPr txBox="1"/>
          <p:nvPr/>
        </p:nvSpPr>
        <p:spPr>
          <a:xfrm>
            <a:off x="2286000" y="4800600"/>
            <a:ext cx="3566160" cy="548640"/>
          </a:xfrm>
          <a:prstGeom prst="rect">
            <a:avLst/>
          </a:prstGeom>
          <a:noFill/>
          <a:ln/>
        </p:spPr>
        <p:txBody>
          <a:bodyPr wrap="square" lIns="0" tIns="0" rIns="0" bIns="0" rtlCol="0" anchor="t"/>
          <a:lstStyle/>
          <a:p>
            <a:pPr indent="0" marL="0">
              <a:buNone/>
            </a:pPr>
            <a:r>
              <a:rPr lang="en-US" sz="1800" dirty="0">
                <a:solidFill>
                  <a:schemeClr val="tx2"/>
                </a:solidFill>
              </a:rPr>
              <a:t>왜 SigLIP으로 검색하나</a:t>
            </a:r>
            <a:endParaRPr lang="en-US" sz="1800" dirty="0"/>
          </a:p>
        </p:txBody>
      </p:sp>
      <p:sp>
        <p:nvSpPr>
          <p:cNvPr id="18" name="card-63"/>
          <p:cNvSpPr/>
          <p:nvPr/>
        </p:nvSpPr>
        <p:spPr>
          <a:xfrm>
            <a:off x="6172200" y="3749040"/>
            <a:ext cx="5349240" cy="2011680"/>
          </a:xfrm>
          <a:prstGeom prst="roundRect">
            <a:avLst>
              <a:gd name="adj" fmla="val 6364"/>
            </a:avLst>
          </a:prstGeom>
          <a:solidFill>
            <a:schemeClr val="bg2"/>
          </a:solidFill>
          <a:ln/>
        </p:spPr>
      </p:sp>
      <p:sp>
        <p:nvSpPr>
          <p:cNvPr id="19" name="circle-64"/>
          <p:cNvSpPr/>
          <p:nvPr/>
        </p:nvSpPr>
        <p:spPr>
          <a:xfrm>
            <a:off x="6537960" y="4251960"/>
            <a:ext cx="1005840" cy="1005840"/>
          </a:xfrm>
          <a:prstGeom prst="ellipse">
            <a:avLst/>
          </a:prstGeom>
          <a:solidFill>
            <a:schemeClr val="accent1"/>
          </a:solidFill>
          <a:ln/>
        </p:spPr>
      </p:sp>
      <p:pic>
        <p:nvPicPr>
          <p:cNvPr id="20" name="icon-FaCode-65" descr="FaCode">    </p:cNvPr>
          <p:cNvPicPr>
            <a:picLocks noChangeAspect="1"/>
          </p:cNvPicPr>
          <p:nvPr/>
        </p:nvPicPr>
        <p:blipFill>
          <a:blip r:embed="rId4"/>
          <a:stretch>
            <a:fillRect/>
          </a:stretch>
        </p:blipFill>
        <p:spPr>
          <a:xfrm>
            <a:off x="6799478" y="4513478"/>
            <a:ext cx="482803" cy="482803"/>
          </a:xfrm>
          <a:prstGeom prst="rect">
            <a:avLst/>
          </a:prstGeom>
        </p:spPr>
      </p:pic>
      <p:sp>
        <p:nvSpPr>
          <p:cNvPr id="21" name="text-66"/>
          <p:cNvSpPr txBox="1"/>
          <p:nvPr/>
        </p:nvSpPr>
        <p:spPr>
          <a:xfrm>
            <a:off x="7818120" y="4206240"/>
            <a:ext cx="3566160" cy="548640"/>
          </a:xfrm>
          <a:prstGeom prst="rect">
            <a:avLst/>
          </a:prstGeom>
          <a:noFill/>
          <a:ln/>
        </p:spPr>
        <p:txBody>
          <a:bodyPr wrap="square" lIns="0" tIns="0" rIns="0" bIns="0" rtlCol="0" anchor="t"/>
          <a:lstStyle/>
          <a:p>
            <a:pPr indent="0" marL="0">
              <a:buNone/>
            </a:pPr>
            <a:r>
              <a:rPr lang="en-US" sz="2400" b="1" dirty="0">
                <a:solidFill>
                  <a:schemeClr val="tx1"/>
                </a:solidFill>
              </a:rPr>
              <a:t>실습</a:t>
            </a:r>
            <a:endParaRPr lang="en-US" sz="2400" dirty="0"/>
          </a:p>
        </p:txBody>
      </p:sp>
      <p:sp>
        <p:nvSpPr>
          <p:cNvPr id="22" name="text-67"/>
          <p:cNvSpPr txBox="1"/>
          <p:nvPr/>
        </p:nvSpPr>
        <p:spPr>
          <a:xfrm>
            <a:off x="7818120" y="4800600"/>
            <a:ext cx="3566160" cy="548640"/>
          </a:xfrm>
          <a:prstGeom prst="rect">
            <a:avLst/>
          </a:prstGeom>
          <a:noFill/>
          <a:ln/>
        </p:spPr>
        <p:txBody>
          <a:bodyPr wrap="square" lIns="0" tIns="0" rIns="0" bIns="0" rtlCol="0" anchor="t"/>
          <a:lstStyle/>
          <a:p>
            <a:pPr indent="0" marL="0">
              <a:buNone/>
            </a:pPr>
            <a:r>
              <a:rPr lang="en-US" sz="1800" dirty="0">
                <a:solidFill>
                  <a:schemeClr val="tx2"/>
                </a:solidFill>
              </a:rPr>
              <a:t>이미지 임베딩 추출</a:t>
            </a:r>
            <a:endParaRPr lang="en-US" sz="18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비전-언어 모델(VLM)은 크게 두 종류</a:t>
            </a:r>
            <a:endParaRPr lang="en-US" sz="3000" dirty="0"/>
          </a:p>
        </p:txBody>
      </p:sp>
      <p:sp>
        <p:nvSpPr>
          <p:cNvPr id="3" name="card-68"/>
          <p:cNvSpPr/>
          <p:nvPr/>
        </p:nvSpPr>
        <p:spPr>
          <a:xfrm>
            <a:off x="640080" y="1417320"/>
            <a:ext cx="5349240" cy="3749040"/>
          </a:xfrm>
          <a:prstGeom prst="roundRect">
            <a:avLst>
              <a:gd name="adj" fmla="val 3415"/>
            </a:avLst>
          </a:prstGeom>
          <a:solidFill>
            <a:schemeClr val="accent3">
              <a:alpha val="10000"/>
            </a:schemeClr>
          </a:solidFill>
          <a:ln w="25400">
            <a:solidFill>
              <a:schemeClr val="accent3"/>
            </a:solidFill>
            <a:prstDash val="solid"/>
          </a:ln>
        </p:spPr>
      </p:sp>
      <p:sp>
        <p:nvSpPr>
          <p:cNvPr id="4" name="text-69"/>
          <p:cNvSpPr txBox="1"/>
          <p:nvPr/>
        </p:nvSpPr>
        <p:spPr>
          <a:xfrm>
            <a:off x="914400" y="1600200"/>
            <a:ext cx="4572000" cy="502920"/>
          </a:xfrm>
          <a:prstGeom prst="rect">
            <a:avLst/>
          </a:prstGeom>
          <a:noFill/>
          <a:ln/>
        </p:spPr>
        <p:txBody>
          <a:bodyPr wrap="square" lIns="0" tIns="0" rIns="0" bIns="0" rtlCol="0" anchor="t"/>
          <a:lstStyle/>
          <a:p>
            <a:pPr indent="0" marL="0">
              <a:buNone/>
            </a:pPr>
            <a:r>
              <a:rPr lang="en-US" sz="2600" b="1" dirty="0">
                <a:solidFill>
                  <a:schemeClr val="accent3"/>
                </a:solidFill>
              </a:rPr>
              <a:t>임베딩형</a:t>
            </a:r>
            <a:endParaRPr lang="en-US" sz="2600" dirty="0"/>
          </a:p>
        </p:txBody>
      </p:sp>
      <p:sp>
        <p:nvSpPr>
          <p:cNvPr id="5" name="text-70"/>
          <p:cNvSpPr txBox="1"/>
          <p:nvPr/>
        </p:nvSpPr>
        <p:spPr>
          <a:xfrm>
            <a:off x="914400" y="2103120"/>
            <a:ext cx="4572000" cy="365760"/>
          </a:xfrm>
          <a:prstGeom prst="rect">
            <a:avLst/>
          </a:prstGeom>
          <a:noFill/>
          <a:ln/>
        </p:spPr>
        <p:txBody>
          <a:bodyPr wrap="square" lIns="0" tIns="0" rIns="0" bIns="0" rtlCol="0" anchor="t"/>
          <a:lstStyle/>
          <a:p>
            <a:pPr indent="0" marL="0">
              <a:buNone/>
            </a:pPr>
            <a:r>
              <a:rPr lang="en-US" sz="1700" dirty="0">
                <a:solidFill>
                  <a:schemeClr val="tx2"/>
                </a:solidFill>
              </a:rPr>
              <a:t>CLIP, SigLIP</a:t>
            </a:r>
            <a:endParaRPr lang="en-US" sz="1700" dirty="0"/>
          </a:p>
        </p:txBody>
      </p:sp>
      <p:pic>
        <p:nvPicPr>
          <p:cNvPr id="6" name="photo-cat-71" descr="고양이 사진">    </p:cNvPr>
          <p:cNvPicPr>
            <a:picLocks noChangeAspect="1"/>
          </p:cNvPicPr>
          <p:nvPr/>
        </p:nvPicPr>
        <p:blipFill>
          <a:blip r:embed="rId1"/>
          <a:stretch>
            <a:fillRect/>
          </a:stretch>
        </p:blipFill>
        <p:spPr>
          <a:xfrm>
            <a:off x="914400" y="2743200"/>
            <a:ext cx="1097280" cy="1097280"/>
          </a:xfrm>
          <a:prstGeom prst="ellipse">
            <a:avLst/>
          </a:prstGeom>
        </p:spPr>
      </p:pic>
      <p:sp>
        <p:nvSpPr>
          <p:cNvPr id="7" name="text-72"/>
          <p:cNvSpPr txBox="1"/>
          <p:nvPr/>
        </p:nvSpPr>
        <p:spPr>
          <a:xfrm>
            <a:off x="2057400" y="3017520"/>
            <a:ext cx="365760" cy="548640"/>
          </a:xfrm>
          <a:prstGeom prst="rect">
            <a:avLst/>
          </a:prstGeom>
          <a:noFill/>
          <a:ln/>
        </p:spPr>
        <p:txBody>
          <a:bodyPr wrap="square" lIns="0" tIns="0" rIns="0" bIns="0" rtlCol="0" anchor="t"/>
          <a:lstStyle/>
          <a:p>
            <a:pPr algn="ctr" indent="0" marL="0">
              <a:buNone/>
            </a:pPr>
            <a:r>
              <a:rPr lang="en-US" sz="2400" b="1" dirty="0">
                <a:solidFill>
                  <a:schemeClr val="tx2"/>
                </a:solidFill>
              </a:rPr>
              <a:t>+</a:t>
            </a:r>
            <a:endParaRPr lang="en-US" sz="2400" dirty="0"/>
          </a:p>
        </p:txBody>
      </p:sp>
      <p:sp>
        <p:nvSpPr>
          <p:cNvPr id="8" name="pill-73"/>
          <p:cNvSpPr/>
          <p:nvPr/>
        </p:nvSpPr>
        <p:spPr>
          <a:xfrm>
            <a:off x="2468880" y="3063240"/>
            <a:ext cx="1005840" cy="457200"/>
          </a:xfrm>
          <a:prstGeom prst="roundRect">
            <a:avLst>
              <a:gd name="adj" fmla="val 50000"/>
            </a:avLst>
          </a:prstGeom>
          <a:solidFill>
            <a:schemeClr val="accent2"/>
          </a:solidFill>
          <a:ln/>
        </p:spPr>
      </p:sp>
      <p:sp>
        <p:nvSpPr>
          <p:cNvPr id="9" name="text-74"/>
          <p:cNvSpPr txBox="1"/>
          <p:nvPr/>
        </p:nvSpPr>
        <p:spPr>
          <a:xfrm>
            <a:off x="2468880" y="3063240"/>
            <a:ext cx="1005840" cy="457200"/>
          </a:xfrm>
          <a:prstGeom prst="rect">
            <a:avLst/>
          </a:prstGeom>
          <a:noFill/>
          <a:ln/>
        </p:spPr>
        <p:txBody>
          <a:bodyPr wrap="square" lIns="0" tIns="0" rIns="0" bIns="0" rtlCol="0" anchor="ctr"/>
          <a:lstStyle/>
          <a:p>
            <a:pPr algn="ctr" indent="0" marL="0">
              <a:buNone/>
            </a:pPr>
            <a:r>
              <a:rPr lang="en-US" sz="1500" b="1" dirty="0">
                <a:solidFill>
                  <a:schemeClr val="bg1"/>
                </a:solidFill>
              </a:rPr>
              <a:t>a cat</a:t>
            </a:r>
            <a:endParaRPr lang="en-US" sz="1500" dirty="0"/>
          </a:p>
        </p:txBody>
      </p:sp>
      <p:sp>
        <p:nvSpPr>
          <p:cNvPr id="10" name="arrow-75"/>
          <p:cNvSpPr/>
          <p:nvPr/>
        </p:nvSpPr>
        <p:spPr>
          <a:xfrm>
            <a:off x="3611880" y="3291840"/>
            <a:ext cx="548640" cy="0"/>
          </a:xfrm>
          <a:prstGeom prst="line">
            <a:avLst/>
          </a:prstGeom>
          <a:noFill/>
          <a:ln w="31750">
            <a:solidFill>
              <a:schemeClr val="accent3"/>
            </a:solidFill>
            <a:prstDash val="solid"/>
            <a:tailEnd type="triangle"/>
          </a:ln>
        </p:spPr>
      </p:sp>
      <p:sp>
        <p:nvSpPr>
          <p:cNvPr id="11" name="box-76"/>
          <p:cNvSpPr/>
          <p:nvPr/>
        </p:nvSpPr>
        <p:spPr>
          <a:xfrm>
            <a:off x="4251960" y="2834640"/>
            <a:ext cx="1554480" cy="914400"/>
          </a:xfrm>
          <a:prstGeom prst="roundRect">
            <a:avLst>
              <a:gd name="adj" fmla="val 10000"/>
            </a:avLst>
          </a:prstGeom>
          <a:solidFill>
            <a:schemeClr val="accent3"/>
          </a:solidFill>
          <a:ln/>
        </p:spPr>
      </p:sp>
      <p:sp>
        <p:nvSpPr>
          <p:cNvPr id="12" name="text-77"/>
          <p:cNvSpPr txBox="1"/>
          <p:nvPr/>
        </p:nvSpPr>
        <p:spPr>
          <a:xfrm>
            <a:off x="4251960" y="2834640"/>
            <a:ext cx="1554480" cy="914400"/>
          </a:xfrm>
          <a:prstGeom prst="rect">
            <a:avLst/>
          </a:prstGeom>
          <a:noFill/>
          <a:ln/>
        </p:spPr>
        <p:txBody>
          <a:bodyPr wrap="square" lIns="0" tIns="0" rIns="0" bIns="0" rtlCol="0" anchor="ctr"/>
          <a:lstStyle/>
          <a:p>
            <a:pPr algn="ctr" indent="0" marL="0">
              <a:buNone/>
            </a:pPr>
            <a:r>
              <a:rPr lang="en-US" sz="1400" b="1" dirty="0">
                <a:solidFill>
                  <a:schemeClr val="bg1"/>
                </a:solidFill>
              </a:rPr>
              <a:t>벡터</a:t>
            </a:r>
            <a:endParaRPr lang="en-US" sz="1400" dirty="0"/>
          </a:p>
          <a:p>
            <a:pPr algn="ctr" indent="0" marL="0">
              <a:buNone/>
            </a:pPr>
            <a:r>
              <a:rPr lang="en-US" sz="1400" b="1" dirty="0">
                <a:solidFill>
                  <a:schemeClr val="bg1"/>
                </a:solidFill>
              </a:rPr>
              <a:t>[0.12, −0.4, …]</a:t>
            </a:r>
            <a:endParaRPr lang="en-US" sz="1400" dirty="0"/>
          </a:p>
        </p:txBody>
      </p:sp>
      <p:sp>
        <p:nvSpPr>
          <p:cNvPr id="13" name="text-78"/>
          <p:cNvSpPr txBox="1"/>
          <p:nvPr/>
        </p:nvSpPr>
        <p:spPr>
          <a:xfrm>
            <a:off x="914400" y="4251960"/>
            <a:ext cx="4846320" cy="457200"/>
          </a:xfrm>
          <a:prstGeom prst="rect">
            <a:avLst/>
          </a:prstGeom>
          <a:noFill/>
          <a:ln/>
        </p:spPr>
        <p:txBody>
          <a:bodyPr wrap="square" lIns="0" tIns="0" rIns="0" bIns="0" rtlCol="0" anchor="t"/>
          <a:lstStyle/>
          <a:p>
            <a:pPr indent="0" marL="0">
              <a:buNone/>
            </a:pPr>
            <a:r>
              <a:rPr lang="en-US" sz="1800" b="1" dirty="0">
                <a:solidFill>
                  <a:schemeClr val="tx1"/>
                </a:solidFill>
              </a:rPr>
              <a:t>용도: 검색 · 분류 · 유사도</a:t>
            </a:r>
            <a:endParaRPr lang="en-US" sz="1800" dirty="0"/>
          </a:p>
        </p:txBody>
      </p:sp>
      <p:sp>
        <p:nvSpPr>
          <p:cNvPr id="14" name="card-79"/>
          <p:cNvSpPr/>
          <p:nvPr/>
        </p:nvSpPr>
        <p:spPr>
          <a:xfrm>
            <a:off x="6172200" y="1417320"/>
            <a:ext cx="5349240" cy="3749040"/>
          </a:xfrm>
          <a:prstGeom prst="roundRect">
            <a:avLst>
              <a:gd name="adj" fmla="val 3415"/>
            </a:avLst>
          </a:prstGeom>
          <a:solidFill>
            <a:schemeClr val="bg2"/>
          </a:solidFill>
          <a:ln/>
        </p:spPr>
      </p:sp>
      <p:sp>
        <p:nvSpPr>
          <p:cNvPr id="15" name="text-80"/>
          <p:cNvSpPr txBox="1"/>
          <p:nvPr/>
        </p:nvSpPr>
        <p:spPr>
          <a:xfrm>
            <a:off x="6446520" y="1600200"/>
            <a:ext cx="4572000" cy="502920"/>
          </a:xfrm>
          <a:prstGeom prst="rect">
            <a:avLst/>
          </a:prstGeom>
          <a:noFill/>
          <a:ln/>
        </p:spPr>
        <p:txBody>
          <a:bodyPr wrap="square" lIns="0" tIns="0" rIns="0" bIns="0" rtlCol="0" anchor="t"/>
          <a:lstStyle/>
          <a:p>
            <a:pPr indent="0" marL="0">
              <a:buNone/>
            </a:pPr>
            <a:r>
              <a:rPr lang="en-US" sz="2600" b="1" dirty="0">
                <a:solidFill>
                  <a:schemeClr val="tx2"/>
                </a:solidFill>
              </a:rPr>
              <a:t>생성형</a:t>
            </a:r>
            <a:endParaRPr lang="en-US" sz="2600" dirty="0"/>
          </a:p>
        </p:txBody>
      </p:sp>
      <p:sp>
        <p:nvSpPr>
          <p:cNvPr id="16" name="text-81"/>
          <p:cNvSpPr txBox="1"/>
          <p:nvPr/>
        </p:nvSpPr>
        <p:spPr>
          <a:xfrm>
            <a:off x="6446520" y="2103120"/>
            <a:ext cx="4572000" cy="365760"/>
          </a:xfrm>
          <a:prstGeom prst="rect">
            <a:avLst/>
          </a:prstGeom>
          <a:noFill/>
          <a:ln/>
        </p:spPr>
        <p:txBody>
          <a:bodyPr wrap="square" lIns="0" tIns="0" rIns="0" bIns="0" rtlCol="0" anchor="t"/>
          <a:lstStyle/>
          <a:p>
            <a:pPr indent="0" marL="0">
              <a:buNone/>
            </a:pPr>
            <a:r>
              <a:rPr lang="en-US" sz="1700" dirty="0">
                <a:solidFill>
                  <a:schemeClr val="tx2"/>
                </a:solidFill>
              </a:rPr>
              <a:t>LLaVA, PaliGemma, SmolVLM</a:t>
            </a:r>
            <a:endParaRPr lang="en-US" sz="1700" dirty="0"/>
          </a:p>
        </p:txBody>
      </p:sp>
      <p:pic>
        <p:nvPicPr>
          <p:cNvPr id="17" name="photo-cat-82" descr="고양이 사진">    </p:cNvPr>
          <p:cNvPicPr>
            <a:picLocks noChangeAspect="1"/>
          </p:cNvPicPr>
          <p:nvPr/>
        </p:nvPicPr>
        <p:blipFill>
          <a:blip r:embed="rId2"/>
          <a:stretch>
            <a:fillRect/>
          </a:stretch>
        </p:blipFill>
        <p:spPr>
          <a:xfrm>
            <a:off x="6446520" y="2743200"/>
            <a:ext cx="1097280" cy="1097280"/>
          </a:xfrm>
          <a:prstGeom prst="ellipse">
            <a:avLst/>
          </a:prstGeom>
        </p:spPr>
      </p:pic>
      <p:sp>
        <p:nvSpPr>
          <p:cNvPr id="18" name="text-83"/>
          <p:cNvSpPr txBox="1"/>
          <p:nvPr/>
        </p:nvSpPr>
        <p:spPr>
          <a:xfrm>
            <a:off x="7589520" y="3017520"/>
            <a:ext cx="365760" cy="548640"/>
          </a:xfrm>
          <a:prstGeom prst="rect">
            <a:avLst/>
          </a:prstGeom>
          <a:noFill/>
          <a:ln/>
        </p:spPr>
        <p:txBody>
          <a:bodyPr wrap="square" lIns="0" tIns="0" rIns="0" bIns="0" rtlCol="0" anchor="t"/>
          <a:lstStyle/>
          <a:p>
            <a:pPr algn="ctr" indent="0" marL="0">
              <a:buNone/>
            </a:pPr>
            <a:r>
              <a:rPr lang="en-US" sz="2400" b="1" dirty="0">
                <a:solidFill>
                  <a:schemeClr val="tx2"/>
                </a:solidFill>
              </a:rPr>
              <a:t>+</a:t>
            </a:r>
            <a:endParaRPr lang="en-US" sz="2400" dirty="0"/>
          </a:p>
        </p:txBody>
      </p:sp>
      <p:sp>
        <p:nvSpPr>
          <p:cNvPr id="19" name="pill-84"/>
          <p:cNvSpPr/>
          <p:nvPr/>
        </p:nvSpPr>
        <p:spPr>
          <a:xfrm>
            <a:off x="8001000" y="3063240"/>
            <a:ext cx="1280160" cy="457200"/>
          </a:xfrm>
          <a:prstGeom prst="roundRect">
            <a:avLst>
              <a:gd name="adj" fmla="val 50000"/>
            </a:avLst>
          </a:prstGeom>
          <a:solidFill>
            <a:schemeClr val="accent2"/>
          </a:solidFill>
          <a:ln/>
        </p:spPr>
      </p:sp>
      <p:sp>
        <p:nvSpPr>
          <p:cNvPr id="20" name="text-85"/>
          <p:cNvSpPr txBox="1"/>
          <p:nvPr/>
        </p:nvSpPr>
        <p:spPr>
          <a:xfrm>
            <a:off x="8001000" y="3063240"/>
            <a:ext cx="1280160" cy="457200"/>
          </a:xfrm>
          <a:prstGeom prst="rect">
            <a:avLst/>
          </a:prstGeom>
          <a:noFill/>
          <a:ln/>
        </p:spPr>
        <p:txBody>
          <a:bodyPr wrap="square" lIns="0" tIns="0" rIns="0" bIns="0" rtlCol="0" anchor="ctr"/>
          <a:lstStyle/>
          <a:p>
            <a:pPr algn="ctr" indent="0" marL="0">
              <a:buNone/>
            </a:pPr>
            <a:r>
              <a:rPr lang="en-US" sz="1500" b="1" dirty="0">
                <a:solidFill>
                  <a:schemeClr val="bg1"/>
                </a:solidFill>
              </a:rPr>
              <a:t>무슨 동물?</a:t>
            </a:r>
            <a:endParaRPr lang="en-US" sz="1500" dirty="0"/>
          </a:p>
        </p:txBody>
      </p:sp>
      <p:sp>
        <p:nvSpPr>
          <p:cNvPr id="21" name="arrow-86"/>
          <p:cNvSpPr/>
          <p:nvPr/>
        </p:nvSpPr>
        <p:spPr>
          <a:xfrm>
            <a:off x="9418320" y="3291840"/>
            <a:ext cx="457200" cy="0"/>
          </a:xfrm>
          <a:prstGeom prst="line">
            <a:avLst/>
          </a:prstGeom>
          <a:noFill/>
          <a:ln w="31750">
            <a:solidFill>
              <a:schemeClr val="tx2"/>
            </a:solidFill>
            <a:prstDash val="solid"/>
            <a:tailEnd type="triangle"/>
          </a:ln>
        </p:spPr>
      </p:sp>
      <p:sp>
        <p:nvSpPr>
          <p:cNvPr id="22" name="box-87"/>
          <p:cNvSpPr/>
          <p:nvPr/>
        </p:nvSpPr>
        <p:spPr>
          <a:xfrm>
            <a:off x="9966960" y="2834640"/>
            <a:ext cx="1280160" cy="914400"/>
          </a:xfrm>
          <a:prstGeom prst="roundRect">
            <a:avLst>
              <a:gd name="adj" fmla="val 10000"/>
            </a:avLst>
          </a:prstGeom>
          <a:solidFill>
            <a:schemeClr val="tx2"/>
          </a:solidFill>
          <a:ln/>
        </p:spPr>
      </p:sp>
      <p:sp>
        <p:nvSpPr>
          <p:cNvPr id="23" name="text-88"/>
          <p:cNvSpPr txBox="1"/>
          <p:nvPr/>
        </p:nvSpPr>
        <p:spPr>
          <a:xfrm>
            <a:off x="9966960" y="2834640"/>
            <a:ext cx="1280160" cy="914400"/>
          </a:xfrm>
          <a:prstGeom prst="rect">
            <a:avLst/>
          </a:prstGeom>
          <a:noFill/>
          <a:ln/>
        </p:spPr>
        <p:txBody>
          <a:bodyPr wrap="square" lIns="0" tIns="0" rIns="0" bIns="0" rtlCol="0" anchor="ctr"/>
          <a:lstStyle/>
          <a:p>
            <a:pPr algn="ctr" indent="0" marL="0">
              <a:buNone/>
            </a:pPr>
            <a:r>
              <a:rPr lang="en-US" sz="1400" b="1" dirty="0">
                <a:solidFill>
                  <a:schemeClr val="bg1"/>
                </a:solidFill>
              </a:rPr>
              <a:t>“고양이</a:t>
            </a:r>
            <a:endParaRPr lang="en-US" sz="1400" dirty="0"/>
          </a:p>
          <a:p>
            <a:pPr algn="ctr" indent="0" marL="0">
              <a:buNone/>
            </a:pPr>
            <a:r>
              <a:rPr lang="en-US" sz="1400" b="1" dirty="0">
                <a:solidFill>
                  <a:schemeClr val="bg1"/>
                </a:solidFill>
              </a:rPr>
              <a:t>입니다”</a:t>
            </a:r>
            <a:endParaRPr lang="en-US" sz="1400" dirty="0"/>
          </a:p>
        </p:txBody>
      </p:sp>
      <p:sp>
        <p:nvSpPr>
          <p:cNvPr id="24" name="text-89"/>
          <p:cNvSpPr txBox="1"/>
          <p:nvPr/>
        </p:nvSpPr>
        <p:spPr>
          <a:xfrm>
            <a:off x="6446520" y="4251960"/>
            <a:ext cx="4846320" cy="457200"/>
          </a:xfrm>
          <a:prstGeom prst="rect">
            <a:avLst/>
          </a:prstGeom>
          <a:noFill/>
          <a:ln/>
        </p:spPr>
        <p:txBody>
          <a:bodyPr wrap="square" lIns="0" tIns="0" rIns="0" bIns="0" rtlCol="0" anchor="t"/>
          <a:lstStyle/>
          <a:p>
            <a:pPr indent="0" marL="0">
              <a:buNone/>
            </a:pPr>
            <a:r>
              <a:rPr lang="en-US" sz="1800" b="1" dirty="0">
                <a:solidFill>
                  <a:schemeClr val="tx1"/>
                </a:solidFill>
              </a:rPr>
              <a:t>용도: 이미지 QA · 캡셔닝</a:t>
            </a:r>
            <a:endParaRPr lang="en-US" sz="1800" dirty="0"/>
          </a:p>
        </p:txBody>
      </p:sp>
      <p:sp>
        <p:nvSpPr>
          <p:cNvPr id="25" name="text-90"/>
          <p:cNvSpPr txBox="1"/>
          <p:nvPr/>
        </p:nvSpPr>
        <p:spPr>
          <a:xfrm>
            <a:off x="640080" y="5440680"/>
            <a:ext cx="10881360" cy="548640"/>
          </a:xfrm>
          <a:prstGeom prst="rect">
            <a:avLst/>
          </a:prstGeom>
          <a:noFill/>
          <a:ln/>
        </p:spPr>
        <p:txBody>
          <a:bodyPr wrap="square" lIns="0" tIns="0" rIns="0" bIns="0" rtlCol="0" anchor="ctr"/>
          <a:lstStyle/>
          <a:p>
            <a:pPr indent="0" marL="0">
              <a:buNone/>
            </a:pPr>
            <a:r>
              <a:rPr lang="en-US" sz="1800" b="1" dirty="0">
                <a:solidFill>
                  <a:schemeClr val="accent1"/>
                </a:solidFill>
              </a:rPr>
              <a:t>알아두기  </a:t>
            </a:r>
            <a:r>
              <a:rPr lang="en-US" sz="1800" dirty="0">
                <a:solidFill>
                  <a:schemeClr val="tx1"/>
                </a:solidFill>
              </a:rPr>
              <a:t>생성형 VLM 상당수가 ‘눈’(비전 인코더)으로 SigLIP을 씀 — PaliGemma, SmolVLM 등</a:t>
            </a:r>
            <a:endParaRPr lang="en-US" sz="18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공동 임베딩 공간: 사진과 문장이 한 지도 위에</a:t>
            </a:r>
            <a:endParaRPr lang="en-US" sz="3000" dirty="0"/>
          </a:p>
        </p:txBody>
      </p:sp>
      <p:sp>
        <p:nvSpPr>
          <p:cNvPr id="3" name="card-91"/>
          <p:cNvSpPr/>
          <p:nvPr/>
        </p:nvSpPr>
        <p:spPr>
          <a:xfrm>
            <a:off x="640080" y="1371600"/>
            <a:ext cx="6949440" cy="4663440"/>
          </a:xfrm>
          <a:prstGeom prst="roundRect">
            <a:avLst>
              <a:gd name="adj" fmla="val 2745"/>
            </a:avLst>
          </a:prstGeom>
          <a:solidFill>
            <a:schemeClr val="bg2"/>
          </a:solidFill>
          <a:ln/>
        </p:spPr>
      </p:sp>
      <p:sp>
        <p:nvSpPr>
          <p:cNvPr id="4" name="axis-x"/>
          <p:cNvSpPr/>
          <p:nvPr/>
        </p:nvSpPr>
        <p:spPr>
          <a:xfrm>
            <a:off x="914400" y="5760720"/>
            <a:ext cx="6400800" cy="0"/>
          </a:xfrm>
          <a:prstGeom prst="line">
            <a:avLst/>
          </a:prstGeom>
          <a:noFill/>
          <a:ln w="12700">
            <a:solidFill>
              <a:schemeClr val="accent6"/>
            </a:solidFill>
            <a:prstDash val="dash"/>
          </a:ln>
        </p:spPr>
      </p:sp>
      <p:sp>
        <p:nvSpPr>
          <p:cNvPr id="5" name="axis-y"/>
          <p:cNvSpPr/>
          <p:nvPr/>
        </p:nvSpPr>
        <p:spPr>
          <a:xfrm>
            <a:off x="914400" y="1645920"/>
            <a:ext cx="0" cy="4114800"/>
          </a:xfrm>
          <a:prstGeom prst="line">
            <a:avLst/>
          </a:prstGeom>
          <a:noFill/>
          <a:ln w="12700">
            <a:solidFill>
              <a:schemeClr val="accent6"/>
            </a:solidFill>
            <a:prstDash val="dash"/>
          </a:ln>
        </p:spPr>
      </p:sp>
      <p:pic>
        <p:nvPicPr>
          <p:cNvPr id="6" name="photo-cat-92" descr="고양이 사진">    </p:cNvPr>
          <p:cNvPicPr>
            <a:picLocks noChangeAspect="1"/>
          </p:cNvPicPr>
          <p:nvPr/>
        </p:nvPicPr>
        <p:blipFill>
          <a:blip r:embed="rId1"/>
          <a:stretch>
            <a:fillRect/>
          </a:stretch>
        </p:blipFill>
        <p:spPr>
          <a:xfrm>
            <a:off x="1280160" y="1783080"/>
            <a:ext cx="1051560" cy="1051560"/>
          </a:xfrm>
          <a:prstGeom prst="ellipse">
            <a:avLst/>
          </a:prstGeom>
        </p:spPr>
      </p:pic>
      <p:sp>
        <p:nvSpPr>
          <p:cNvPr id="7" name="pill-93"/>
          <p:cNvSpPr/>
          <p:nvPr/>
        </p:nvSpPr>
        <p:spPr>
          <a:xfrm>
            <a:off x="2103120" y="2834640"/>
            <a:ext cx="2011680" cy="384048"/>
          </a:xfrm>
          <a:prstGeom prst="roundRect">
            <a:avLst>
              <a:gd name="adj" fmla="val 50000"/>
            </a:avLst>
          </a:prstGeom>
          <a:solidFill>
            <a:schemeClr val="accent2"/>
          </a:solidFill>
          <a:ln/>
        </p:spPr>
      </p:sp>
      <p:sp>
        <p:nvSpPr>
          <p:cNvPr id="8" name="text-94"/>
          <p:cNvSpPr txBox="1"/>
          <p:nvPr/>
        </p:nvSpPr>
        <p:spPr>
          <a:xfrm>
            <a:off x="2103120" y="2834640"/>
            <a:ext cx="2011680" cy="384048"/>
          </a:xfrm>
          <a:prstGeom prst="rect">
            <a:avLst/>
          </a:prstGeom>
          <a:noFill/>
          <a:ln/>
        </p:spPr>
        <p:txBody>
          <a:bodyPr wrap="square" lIns="0" tIns="0" rIns="0" bIns="0" rtlCol="0" anchor="ctr"/>
          <a:lstStyle/>
          <a:p>
            <a:pPr algn="ctr" indent="0" marL="0">
              <a:buNone/>
            </a:pPr>
            <a:r>
              <a:rPr lang="en-US" sz="1300" b="1" dirty="0">
                <a:solidFill>
                  <a:schemeClr val="bg1"/>
                </a:solidFill>
              </a:rPr>
              <a:t>a photo of a cat</a:t>
            </a:r>
            <a:endParaRPr lang="en-US" sz="1300" dirty="0"/>
          </a:p>
        </p:txBody>
      </p:sp>
      <p:pic>
        <p:nvPicPr>
          <p:cNvPr id="9" name="photo-coffee-95" descr="커피 사진">    </p:cNvPr>
          <p:cNvPicPr>
            <a:picLocks noChangeAspect="1"/>
          </p:cNvPicPr>
          <p:nvPr/>
        </p:nvPicPr>
        <p:blipFill>
          <a:blip r:embed="rId2"/>
          <a:stretch>
            <a:fillRect/>
          </a:stretch>
        </p:blipFill>
        <p:spPr>
          <a:xfrm>
            <a:off x="4480560" y="2011680"/>
            <a:ext cx="1051560" cy="1051560"/>
          </a:xfrm>
          <a:prstGeom prst="ellipse">
            <a:avLst/>
          </a:prstGeom>
        </p:spPr>
      </p:pic>
      <p:sp>
        <p:nvSpPr>
          <p:cNvPr id="10" name="pill-96"/>
          <p:cNvSpPr/>
          <p:nvPr/>
        </p:nvSpPr>
        <p:spPr>
          <a:xfrm>
            <a:off x="5303520" y="3063240"/>
            <a:ext cx="2011680" cy="384048"/>
          </a:xfrm>
          <a:prstGeom prst="roundRect">
            <a:avLst>
              <a:gd name="adj" fmla="val 50000"/>
            </a:avLst>
          </a:prstGeom>
          <a:solidFill>
            <a:schemeClr val="accent2"/>
          </a:solidFill>
          <a:ln/>
        </p:spPr>
      </p:sp>
      <p:sp>
        <p:nvSpPr>
          <p:cNvPr id="11" name="text-97"/>
          <p:cNvSpPr txBox="1"/>
          <p:nvPr/>
        </p:nvSpPr>
        <p:spPr>
          <a:xfrm>
            <a:off x="5303520" y="3063240"/>
            <a:ext cx="2011680" cy="384048"/>
          </a:xfrm>
          <a:prstGeom prst="rect">
            <a:avLst/>
          </a:prstGeom>
          <a:noFill/>
          <a:ln/>
        </p:spPr>
        <p:txBody>
          <a:bodyPr wrap="square" lIns="0" tIns="0" rIns="0" bIns="0" rtlCol="0" anchor="ctr"/>
          <a:lstStyle/>
          <a:p>
            <a:pPr algn="ctr" indent="0" marL="0">
              <a:buNone/>
            </a:pPr>
            <a:r>
              <a:rPr lang="en-US" sz="1300" b="1" dirty="0">
                <a:solidFill>
                  <a:schemeClr val="bg1"/>
                </a:solidFill>
              </a:rPr>
              <a:t>a cup of coffee</a:t>
            </a:r>
            <a:endParaRPr lang="en-US" sz="1300" dirty="0"/>
          </a:p>
        </p:txBody>
      </p:sp>
      <p:pic>
        <p:nvPicPr>
          <p:cNvPr id="12" name="photo-rocket-98" descr="로켓 사진">    </p:cNvPr>
          <p:cNvPicPr>
            <a:picLocks noChangeAspect="1"/>
          </p:cNvPicPr>
          <p:nvPr/>
        </p:nvPicPr>
        <p:blipFill>
          <a:blip r:embed="rId3"/>
          <a:stretch>
            <a:fillRect/>
          </a:stretch>
        </p:blipFill>
        <p:spPr>
          <a:xfrm>
            <a:off x="1463040" y="4160520"/>
            <a:ext cx="1051560" cy="1051560"/>
          </a:xfrm>
          <a:prstGeom prst="ellipse">
            <a:avLst/>
          </a:prstGeom>
        </p:spPr>
      </p:pic>
      <p:sp>
        <p:nvSpPr>
          <p:cNvPr id="13" name="pill-99"/>
          <p:cNvSpPr/>
          <p:nvPr/>
        </p:nvSpPr>
        <p:spPr>
          <a:xfrm>
            <a:off x="2286000" y="5212080"/>
            <a:ext cx="2011680" cy="384048"/>
          </a:xfrm>
          <a:prstGeom prst="roundRect">
            <a:avLst>
              <a:gd name="adj" fmla="val 50000"/>
            </a:avLst>
          </a:prstGeom>
          <a:solidFill>
            <a:schemeClr val="accent2"/>
          </a:solidFill>
          <a:ln/>
        </p:spPr>
      </p:sp>
      <p:sp>
        <p:nvSpPr>
          <p:cNvPr id="14" name="text-100"/>
          <p:cNvSpPr txBox="1"/>
          <p:nvPr/>
        </p:nvSpPr>
        <p:spPr>
          <a:xfrm>
            <a:off x="2286000" y="5212080"/>
            <a:ext cx="2011680" cy="384048"/>
          </a:xfrm>
          <a:prstGeom prst="rect">
            <a:avLst/>
          </a:prstGeom>
          <a:noFill/>
          <a:ln/>
        </p:spPr>
        <p:txBody>
          <a:bodyPr wrap="square" lIns="0" tIns="0" rIns="0" bIns="0" rtlCol="0" anchor="ctr"/>
          <a:lstStyle/>
          <a:p>
            <a:pPr algn="ctr" indent="0" marL="0">
              <a:buNone/>
            </a:pPr>
            <a:r>
              <a:rPr lang="en-US" sz="1300" b="1" dirty="0">
                <a:solidFill>
                  <a:schemeClr val="bg1"/>
                </a:solidFill>
              </a:rPr>
              <a:t>a rocket at night</a:t>
            </a:r>
            <a:endParaRPr lang="en-US" sz="1300" dirty="0"/>
          </a:p>
        </p:txBody>
      </p:sp>
      <p:pic>
        <p:nvPicPr>
          <p:cNvPr id="15" name="photo-astronaut-101" descr="우주비행사 사진">    </p:cNvPr>
          <p:cNvPicPr>
            <a:picLocks noChangeAspect="1"/>
          </p:cNvPicPr>
          <p:nvPr/>
        </p:nvPicPr>
        <p:blipFill>
          <a:blip r:embed="rId4"/>
          <a:stretch>
            <a:fillRect/>
          </a:stretch>
        </p:blipFill>
        <p:spPr>
          <a:xfrm>
            <a:off x="4572000" y="4206240"/>
            <a:ext cx="1051560" cy="1051560"/>
          </a:xfrm>
          <a:prstGeom prst="ellipse">
            <a:avLst/>
          </a:prstGeom>
        </p:spPr>
      </p:pic>
      <p:sp>
        <p:nvSpPr>
          <p:cNvPr id="16" name="pill-102"/>
          <p:cNvSpPr/>
          <p:nvPr/>
        </p:nvSpPr>
        <p:spPr>
          <a:xfrm>
            <a:off x="5394960" y="5257800"/>
            <a:ext cx="2011680" cy="384048"/>
          </a:xfrm>
          <a:prstGeom prst="roundRect">
            <a:avLst>
              <a:gd name="adj" fmla="val 50000"/>
            </a:avLst>
          </a:prstGeom>
          <a:solidFill>
            <a:schemeClr val="accent2"/>
          </a:solidFill>
          <a:ln/>
        </p:spPr>
      </p:sp>
      <p:sp>
        <p:nvSpPr>
          <p:cNvPr id="17" name="text-103"/>
          <p:cNvSpPr txBox="1"/>
          <p:nvPr/>
        </p:nvSpPr>
        <p:spPr>
          <a:xfrm>
            <a:off x="5394960" y="5257800"/>
            <a:ext cx="2011680" cy="384048"/>
          </a:xfrm>
          <a:prstGeom prst="rect">
            <a:avLst/>
          </a:prstGeom>
          <a:noFill/>
          <a:ln/>
        </p:spPr>
        <p:txBody>
          <a:bodyPr wrap="square" lIns="0" tIns="0" rIns="0" bIns="0" rtlCol="0" anchor="ctr"/>
          <a:lstStyle/>
          <a:p>
            <a:pPr algn="ctr" indent="0" marL="0">
              <a:buNone/>
            </a:pPr>
            <a:r>
              <a:rPr lang="en-US" sz="1300" b="1" dirty="0">
                <a:solidFill>
                  <a:schemeClr val="bg1"/>
                </a:solidFill>
              </a:rPr>
              <a:t>an astronaut</a:t>
            </a:r>
            <a:endParaRPr lang="en-US" sz="1300" dirty="0"/>
          </a:p>
        </p:txBody>
      </p:sp>
      <p:sp>
        <p:nvSpPr>
          <p:cNvPr id="18" name="text-104"/>
          <p:cNvSpPr txBox="1"/>
          <p:nvPr/>
        </p:nvSpPr>
        <p:spPr>
          <a:xfrm>
            <a:off x="7955280" y="1554480"/>
            <a:ext cx="3657600" cy="548640"/>
          </a:xfrm>
          <a:prstGeom prst="rect">
            <a:avLst/>
          </a:prstGeom>
          <a:noFill/>
          <a:ln/>
        </p:spPr>
        <p:txBody>
          <a:bodyPr wrap="square" lIns="0" tIns="0" rIns="0" bIns="0" rtlCol="0" anchor="t"/>
          <a:lstStyle/>
          <a:p>
            <a:pPr indent="0" marL="0">
              <a:buNone/>
            </a:pPr>
            <a:r>
              <a:rPr lang="en-US" sz="2400" b="1" dirty="0">
                <a:solidFill>
                  <a:schemeClr val="accent3"/>
                </a:solidFill>
              </a:rPr>
              <a:t>의미가 같으면 가깝게</a:t>
            </a:r>
            <a:endParaRPr lang="en-US" sz="2400" dirty="0"/>
          </a:p>
        </p:txBody>
      </p:sp>
      <p:sp>
        <p:nvSpPr>
          <p:cNvPr id="19" name="text-105"/>
          <p:cNvSpPr txBox="1"/>
          <p:nvPr/>
        </p:nvSpPr>
        <p:spPr>
          <a:xfrm>
            <a:off x="7955280" y="2103120"/>
            <a:ext cx="3657600" cy="457200"/>
          </a:xfrm>
          <a:prstGeom prst="rect">
            <a:avLst/>
          </a:prstGeom>
          <a:noFill/>
          <a:ln/>
        </p:spPr>
        <p:txBody>
          <a:bodyPr wrap="square" lIns="0" tIns="0" rIns="0" bIns="0" rtlCol="0" anchor="t"/>
          <a:lstStyle/>
          <a:p>
            <a:pPr indent="0" marL="0">
              <a:buNone/>
            </a:pPr>
            <a:r>
              <a:rPr lang="en-US" sz="1700" dirty="0">
                <a:solidFill>
                  <a:schemeClr val="tx2"/>
                </a:solidFill>
              </a:rPr>
              <a:t>고양이 사진 ↔ “a photo of a cat”</a:t>
            </a:r>
            <a:endParaRPr lang="en-US" sz="1700" dirty="0"/>
          </a:p>
        </p:txBody>
      </p:sp>
      <p:sp>
        <p:nvSpPr>
          <p:cNvPr id="20" name="text-106"/>
          <p:cNvSpPr txBox="1"/>
          <p:nvPr/>
        </p:nvSpPr>
        <p:spPr>
          <a:xfrm>
            <a:off x="7955280" y="2926080"/>
            <a:ext cx="3657600" cy="548640"/>
          </a:xfrm>
          <a:prstGeom prst="rect">
            <a:avLst/>
          </a:prstGeom>
          <a:noFill/>
          <a:ln/>
        </p:spPr>
        <p:txBody>
          <a:bodyPr wrap="square" lIns="0" tIns="0" rIns="0" bIns="0" rtlCol="0" anchor="t"/>
          <a:lstStyle/>
          <a:p>
            <a:pPr indent="0" marL="0">
              <a:buNone/>
            </a:pPr>
            <a:r>
              <a:rPr lang="en-US" sz="2400" b="1" dirty="0">
                <a:solidFill>
                  <a:schemeClr val="accent4"/>
                </a:solidFill>
              </a:rPr>
              <a:t>의미가 다르면 멀게</a:t>
            </a:r>
            <a:endParaRPr lang="en-US" sz="2400" dirty="0"/>
          </a:p>
        </p:txBody>
      </p:sp>
      <p:sp>
        <p:nvSpPr>
          <p:cNvPr id="21" name="text-107"/>
          <p:cNvSpPr txBox="1"/>
          <p:nvPr/>
        </p:nvSpPr>
        <p:spPr>
          <a:xfrm>
            <a:off x="7955280" y="3474720"/>
            <a:ext cx="3657600" cy="457200"/>
          </a:xfrm>
          <a:prstGeom prst="rect">
            <a:avLst/>
          </a:prstGeom>
          <a:noFill/>
          <a:ln/>
        </p:spPr>
        <p:txBody>
          <a:bodyPr wrap="square" lIns="0" tIns="0" rIns="0" bIns="0" rtlCol="0" anchor="t"/>
          <a:lstStyle/>
          <a:p>
            <a:pPr indent="0" marL="0">
              <a:buNone/>
            </a:pPr>
            <a:r>
              <a:rPr lang="en-US" sz="1700" dirty="0">
                <a:solidFill>
                  <a:schemeClr val="tx2"/>
                </a:solidFill>
              </a:rPr>
              <a:t>고양이 사진 ↔ “a rocket at night”</a:t>
            </a:r>
            <a:endParaRPr lang="en-US" sz="1700" dirty="0"/>
          </a:p>
        </p:txBody>
      </p:sp>
      <p:sp>
        <p:nvSpPr>
          <p:cNvPr id="22" name="card-108"/>
          <p:cNvSpPr/>
          <p:nvPr/>
        </p:nvSpPr>
        <p:spPr>
          <a:xfrm>
            <a:off x="7955280" y="4297680"/>
            <a:ext cx="3566160" cy="1463040"/>
          </a:xfrm>
          <a:prstGeom prst="roundRect">
            <a:avLst>
              <a:gd name="adj" fmla="val 8750"/>
            </a:avLst>
          </a:prstGeom>
          <a:solidFill>
            <a:schemeClr val="accent3">
              <a:alpha val="10000"/>
            </a:schemeClr>
          </a:solidFill>
          <a:ln/>
        </p:spPr>
      </p:sp>
      <p:sp>
        <p:nvSpPr>
          <p:cNvPr id="23" name="text-109"/>
          <p:cNvSpPr txBox="1"/>
          <p:nvPr/>
        </p:nvSpPr>
        <p:spPr>
          <a:xfrm>
            <a:off x="8183880" y="4297680"/>
            <a:ext cx="3200400" cy="1463040"/>
          </a:xfrm>
          <a:prstGeom prst="rect">
            <a:avLst/>
          </a:prstGeom>
          <a:noFill/>
          <a:ln/>
        </p:spPr>
        <p:txBody>
          <a:bodyPr wrap="square" lIns="0" tIns="0" rIns="0" bIns="0" rtlCol="0" anchor="ctr"/>
          <a:lstStyle/>
          <a:p>
            <a:pPr indent="0" marL="0">
              <a:buNone/>
            </a:pPr>
            <a:r>
              <a:rPr lang="en-US" sz="1800" b="1" dirty="0">
                <a:solidFill>
                  <a:schemeClr val="tx1"/>
                </a:solidFill>
              </a:rPr>
              <a:t>거리 = 코사인 유사도</a:t>
            </a:r>
            <a:endParaRPr lang="en-US" sz="1800" dirty="0"/>
          </a:p>
          <a:p>
            <a:pPr indent="0" marL="0">
              <a:buNone/>
            </a:pPr>
            <a:r>
              <a:rPr lang="en-US" sz="1500" dirty="0">
                <a:solidFill>
                  <a:schemeClr val="tx2"/>
                </a:solidFill>
              </a:rPr>
              <a:t>(L2 정규화한 벡터의 내적)</a:t>
            </a:r>
            <a:endParaRPr lang="en-US" sz="18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학습 재료: 웹에서 모은 (이미지, 캡션) 쌍</a:t>
            </a:r>
            <a:endParaRPr lang="en-US" sz="3000" dirty="0"/>
          </a:p>
        </p:txBody>
      </p:sp>
      <p:sp>
        <p:nvSpPr>
          <p:cNvPr id="3" name="card-110"/>
          <p:cNvSpPr/>
          <p:nvPr/>
        </p:nvSpPr>
        <p:spPr>
          <a:xfrm>
            <a:off x="640080" y="1417320"/>
            <a:ext cx="2560320" cy="3429000"/>
          </a:xfrm>
          <a:prstGeom prst="roundRect">
            <a:avLst>
              <a:gd name="adj" fmla="val 5000"/>
            </a:avLst>
          </a:prstGeom>
          <a:solidFill>
            <a:schemeClr val="bg2"/>
          </a:solidFill>
          <a:ln/>
        </p:spPr>
      </p:sp>
      <p:pic>
        <p:nvPicPr>
          <p:cNvPr id="4" name="photo-cat-111" descr="고양이 사진">    </p:cNvPr>
          <p:cNvPicPr>
            <a:picLocks noChangeAspect="1"/>
          </p:cNvPicPr>
          <p:nvPr/>
        </p:nvPicPr>
        <p:blipFill>
          <a:blip r:embed="rId1"/>
          <a:stretch>
            <a:fillRect/>
          </a:stretch>
        </p:blipFill>
        <p:spPr>
          <a:xfrm>
            <a:off x="868680" y="1645920"/>
            <a:ext cx="2103120" cy="2103120"/>
          </a:xfrm>
          <a:prstGeom prst="rect">
            <a:avLst/>
          </a:prstGeom>
        </p:spPr>
      </p:pic>
      <p:sp>
        <p:nvSpPr>
          <p:cNvPr id="5" name="pill-112"/>
          <p:cNvSpPr/>
          <p:nvPr/>
        </p:nvSpPr>
        <p:spPr>
          <a:xfrm>
            <a:off x="822960" y="3931920"/>
            <a:ext cx="2194560" cy="457200"/>
          </a:xfrm>
          <a:prstGeom prst="roundRect">
            <a:avLst>
              <a:gd name="adj" fmla="val 50000"/>
            </a:avLst>
          </a:prstGeom>
          <a:solidFill>
            <a:schemeClr val="accent2"/>
          </a:solidFill>
          <a:ln/>
        </p:spPr>
      </p:sp>
      <p:sp>
        <p:nvSpPr>
          <p:cNvPr id="6" name="text-113"/>
          <p:cNvSpPr txBox="1"/>
          <p:nvPr/>
        </p:nvSpPr>
        <p:spPr>
          <a:xfrm>
            <a:off x="822960" y="3931920"/>
            <a:ext cx="2194560" cy="457200"/>
          </a:xfrm>
          <a:prstGeom prst="rect">
            <a:avLst/>
          </a:prstGeom>
          <a:noFill/>
          <a:ln/>
        </p:spPr>
        <p:txBody>
          <a:bodyPr wrap="square" lIns="0" tIns="0" rIns="0" bIns="0" rtlCol="0" anchor="ctr"/>
          <a:lstStyle/>
          <a:p>
            <a:pPr algn="ctr" indent="0" marL="0">
              <a:buNone/>
            </a:pPr>
            <a:r>
              <a:rPr lang="en-US" sz="1400" b="1" dirty="0">
                <a:solidFill>
                  <a:schemeClr val="bg1"/>
                </a:solidFill>
              </a:rPr>
              <a:t>a photo of a cat</a:t>
            </a:r>
            <a:endParaRPr lang="en-US" sz="1400" dirty="0"/>
          </a:p>
        </p:txBody>
      </p:sp>
      <p:sp>
        <p:nvSpPr>
          <p:cNvPr id="7" name="card-114"/>
          <p:cNvSpPr/>
          <p:nvPr/>
        </p:nvSpPr>
        <p:spPr>
          <a:xfrm>
            <a:off x="3429000" y="1417320"/>
            <a:ext cx="2560320" cy="3429000"/>
          </a:xfrm>
          <a:prstGeom prst="roundRect">
            <a:avLst>
              <a:gd name="adj" fmla="val 5000"/>
            </a:avLst>
          </a:prstGeom>
          <a:solidFill>
            <a:schemeClr val="bg2"/>
          </a:solidFill>
          <a:ln/>
        </p:spPr>
      </p:sp>
      <p:pic>
        <p:nvPicPr>
          <p:cNvPr id="8" name="photo-coffee-115" descr="커피 사진">    </p:cNvPr>
          <p:cNvPicPr>
            <a:picLocks noChangeAspect="1"/>
          </p:cNvPicPr>
          <p:nvPr/>
        </p:nvPicPr>
        <p:blipFill>
          <a:blip r:embed="rId2"/>
          <a:stretch>
            <a:fillRect/>
          </a:stretch>
        </p:blipFill>
        <p:spPr>
          <a:xfrm>
            <a:off x="3657600" y="1645920"/>
            <a:ext cx="2103120" cy="2103120"/>
          </a:xfrm>
          <a:prstGeom prst="rect">
            <a:avLst/>
          </a:prstGeom>
        </p:spPr>
      </p:pic>
      <p:sp>
        <p:nvSpPr>
          <p:cNvPr id="9" name="pill-116"/>
          <p:cNvSpPr/>
          <p:nvPr/>
        </p:nvSpPr>
        <p:spPr>
          <a:xfrm>
            <a:off x="3611880" y="3931920"/>
            <a:ext cx="2194560" cy="457200"/>
          </a:xfrm>
          <a:prstGeom prst="roundRect">
            <a:avLst>
              <a:gd name="adj" fmla="val 50000"/>
            </a:avLst>
          </a:prstGeom>
          <a:solidFill>
            <a:schemeClr val="accent2"/>
          </a:solidFill>
          <a:ln/>
        </p:spPr>
      </p:sp>
      <p:sp>
        <p:nvSpPr>
          <p:cNvPr id="10" name="text-117"/>
          <p:cNvSpPr txBox="1"/>
          <p:nvPr/>
        </p:nvSpPr>
        <p:spPr>
          <a:xfrm>
            <a:off x="3611880" y="3931920"/>
            <a:ext cx="2194560" cy="457200"/>
          </a:xfrm>
          <a:prstGeom prst="rect">
            <a:avLst/>
          </a:prstGeom>
          <a:noFill/>
          <a:ln/>
        </p:spPr>
        <p:txBody>
          <a:bodyPr wrap="square" lIns="0" tIns="0" rIns="0" bIns="0" rtlCol="0" anchor="ctr"/>
          <a:lstStyle/>
          <a:p>
            <a:pPr algn="ctr" indent="0" marL="0">
              <a:buNone/>
            </a:pPr>
            <a:r>
              <a:rPr lang="en-US" sz="1400" b="1" dirty="0">
                <a:solidFill>
                  <a:schemeClr val="bg1"/>
                </a:solidFill>
              </a:rPr>
              <a:t>a cup of coffee</a:t>
            </a:r>
            <a:endParaRPr lang="en-US" sz="1400" dirty="0"/>
          </a:p>
        </p:txBody>
      </p:sp>
      <p:sp>
        <p:nvSpPr>
          <p:cNvPr id="11" name="card-118"/>
          <p:cNvSpPr/>
          <p:nvPr/>
        </p:nvSpPr>
        <p:spPr>
          <a:xfrm>
            <a:off x="6217920" y="1417320"/>
            <a:ext cx="2560320" cy="3429000"/>
          </a:xfrm>
          <a:prstGeom prst="roundRect">
            <a:avLst>
              <a:gd name="adj" fmla="val 5000"/>
            </a:avLst>
          </a:prstGeom>
          <a:solidFill>
            <a:schemeClr val="bg2"/>
          </a:solidFill>
          <a:ln/>
        </p:spPr>
      </p:sp>
      <p:pic>
        <p:nvPicPr>
          <p:cNvPr id="12" name="photo-rocket-119" descr="로켓 사진">    </p:cNvPr>
          <p:cNvPicPr>
            <a:picLocks noChangeAspect="1"/>
          </p:cNvPicPr>
          <p:nvPr/>
        </p:nvPicPr>
        <p:blipFill>
          <a:blip r:embed="rId3"/>
          <a:stretch>
            <a:fillRect/>
          </a:stretch>
        </p:blipFill>
        <p:spPr>
          <a:xfrm>
            <a:off x="6446520" y="1645920"/>
            <a:ext cx="2103120" cy="2103120"/>
          </a:xfrm>
          <a:prstGeom prst="rect">
            <a:avLst/>
          </a:prstGeom>
        </p:spPr>
      </p:pic>
      <p:sp>
        <p:nvSpPr>
          <p:cNvPr id="13" name="pill-120"/>
          <p:cNvSpPr/>
          <p:nvPr/>
        </p:nvSpPr>
        <p:spPr>
          <a:xfrm>
            <a:off x="6400800" y="3931920"/>
            <a:ext cx="2194560" cy="457200"/>
          </a:xfrm>
          <a:prstGeom prst="roundRect">
            <a:avLst>
              <a:gd name="adj" fmla="val 50000"/>
            </a:avLst>
          </a:prstGeom>
          <a:solidFill>
            <a:schemeClr val="accent2"/>
          </a:solidFill>
          <a:ln/>
        </p:spPr>
      </p:sp>
      <p:sp>
        <p:nvSpPr>
          <p:cNvPr id="14" name="text-121"/>
          <p:cNvSpPr txBox="1"/>
          <p:nvPr/>
        </p:nvSpPr>
        <p:spPr>
          <a:xfrm>
            <a:off x="6400800" y="3931920"/>
            <a:ext cx="2194560" cy="457200"/>
          </a:xfrm>
          <a:prstGeom prst="rect">
            <a:avLst/>
          </a:prstGeom>
          <a:noFill/>
          <a:ln/>
        </p:spPr>
        <p:txBody>
          <a:bodyPr wrap="square" lIns="0" tIns="0" rIns="0" bIns="0" rtlCol="0" anchor="ctr"/>
          <a:lstStyle/>
          <a:p>
            <a:pPr algn="ctr" indent="0" marL="0">
              <a:buNone/>
            </a:pPr>
            <a:r>
              <a:rPr lang="en-US" sz="1400" b="1" dirty="0">
                <a:solidFill>
                  <a:schemeClr val="bg1"/>
                </a:solidFill>
              </a:rPr>
              <a:t>a rocket at night</a:t>
            </a:r>
            <a:endParaRPr lang="en-US" sz="1400" dirty="0"/>
          </a:p>
        </p:txBody>
      </p:sp>
      <p:sp>
        <p:nvSpPr>
          <p:cNvPr id="15" name="card-122"/>
          <p:cNvSpPr/>
          <p:nvPr/>
        </p:nvSpPr>
        <p:spPr>
          <a:xfrm>
            <a:off x="9006840" y="1417320"/>
            <a:ext cx="2560320" cy="3429000"/>
          </a:xfrm>
          <a:prstGeom prst="roundRect">
            <a:avLst>
              <a:gd name="adj" fmla="val 5000"/>
            </a:avLst>
          </a:prstGeom>
          <a:solidFill>
            <a:schemeClr val="bg2"/>
          </a:solidFill>
          <a:ln/>
        </p:spPr>
      </p:sp>
      <p:pic>
        <p:nvPicPr>
          <p:cNvPr id="16" name="photo-astronaut-123" descr="우주비행사 사진">    </p:cNvPr>
          <p:cNvPicPr>
            <a:picLocks noChangeAspect="1"/>
          </p:cNvPicPr>
          <p:nvPr/>
        </p:nvPicPr>
        <p:blipFill>
          <a:blip r:embed="rId4"/>
          <a:stretch>
            <a:fillRect/>
          </a:stretch>
        </p:blipFill>
        <p:spPr>
          <a:xfrm>
            <a:off x="9235440" y="1645920"/>
            <a:ext cx="2103120" cy="2103120"/>
          </a:xfrm>
          <a:prstGeom prst="rect">
            <a:avLst/>
          </a:prstGeom>
        </p:spPr>
      </p:pic>
      <p:sp>
        <p:nvSpPr>
          <p:cNvPr id="17" name="pill-124"/>
          <p:cNvSpPr/>
          <p:nvPr/>
        </p:nvSpPr>
        <p:spPr>
          <a:xfrm>
            <a:off x="9189720" y="3931920"/>
            <a:ext cx="2194560" cy="457200"/>
          </a:xfrm>
          <a:prstGeom prst="roundRect">
            <a:avLst>
              <a:gd name="adj" fmla="val 50000"/>
            </a:avLst>
          </a:prstGeom>
          <a:solidFill>
            <a:schemeClr val="accent2"/>
          </a:solidFill>
          <a:ln/>
        </p:spPr>
      </p:sp>
      <p:sp>
        <p:nvSpPr>
          <p:cNvPr id="18" name="text-125"/>
          <p:cNvSpPr txBox="1"/>
          <p:nvPr/>
        </p:nvSpPr>
        <p:spPr>
          <a:xfrm>
            <a:off x="9189720" y="3931920"/>
            <a:ext cx="2194560" cy="457200"/>
          </a:xfrm>
          <a:prstGeom prst="rect">
            <a:avLst/>
          </a:prstGeom>
          <a:noFill/>
          <a:ln/>
        </p:spPr>
        <p:txBody>
          <a:bodyPr wrap="square" lIns="0" tIns="0" rIns="0" bIns="0" rtlCol="0" anchor="ctr"/>
          <a:lstStyle/>
          <a:p>
            <a:pPr algn="ctr" indent="0" marL="0">
              <a:buNone/>
            </a:pPr>
            <a:r>
              <a:rPr lang="en-US" sz="1400" b="1" dirty="0">
                <a:solidFill>
                  <a:schemeClr val="bg1"/>
                </a:solidFill>
              </a:rPr>
              <a:t>an astronaut</a:t>
            </a:r>
            <a:endParaRPr lang="en-US" sz="1400" dirty="0"/>
          </a:p>
        </p:txBody>
      </p:sp>
      <p:sp>
        <p:nvSpPr>
          <p:cNvPr id="19" name="text-126"/>
          <p:cNvSpPr txBox="1"/>
          <p:nvPr/>
        </p:nvSpPr>
        <p:spPr>
          <a:xfrm>
            <a:off x="640080" y="5166360"/>
            <a:ext cx="10881360" cy="731520"/>
          </a:xfrm>
          <a:prstGeom prst="rect">
            <a:avLst/>
          </a:prstGeom>
          <a:noFill/>
          <a:ln/>
        </p:spPr>
        <p:txBody>
          <a:bodyPr wrap="square" lIns="0" tIns="0" rIns="0" bIns="0" rtlCol="0" anchor="ctr"/>
          <a:lstStyle/>
          <a:p>
            <a:pPr indent="0" marL="0">
              <a:buNone/>
            </a:pPr>
            <a:r>
              <a:rPr lang="en-US" sz="2000" b="1" dirty="0">
                <a:solidFill>
                  <a:schemeClr val="accent3"/>
                </a:solidFill>
              </a:rPr>
              <a:t>수억~수십억 쌍</a:t>
            </a:r>
            <a:r>
              <a:rPr lang="en-US" sz="2000" dirty="0">
                <a:solidFill>
                  <a:schemeClr val="tx1"/>
                </a:solidFill>
              </a:rPr>
              <a:t>을 사람이 라벨링하지 않고 그대로 사용 → 짝을 맞히는 것만으로 학습</a:t>
            </a:r>
            <a:endParaRPr lang="en-US" sz="2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대조학습: 배치 안에서 짝 맞추기</a:t>
            </a:r>
            <a:endParaRPr lang="en-US" sz="3000" dirty="0"/>
          </a:p>
        </p:txBody>
      </p:sp>
      <p:sp>
        <p:nvSpPr>
          <p:cNvPr id="3" name="pill-127"/>
          <p:cNvSpPr/>
          <p:nvPr/>
        </p:nvSpPr>
        <p:spPr>
          <a:xfrm>
            <a:off x="2167128" y="1554480"/>
            <a:ext cx="832104" cy="384048"/>
          </a:xfrm>
          <a:prstGeom prst="roundRect">
            <a:avLst>
              <a:gd name="adj" fmla="val 50000"/>
            </a:avLst>
          </a:prstGeom>
          <a:solidFill>
            <a:schemeClr val="accent2"/>
          </a:solidFill>
          <a:ln/>
        </p:spPr>
      </p:sp>
      <p:sp>
        <p:nvSpPr>
          <p:cNvPr id="4" name="text-128"/>
          <p:cNvSpPr txBox="1"/>
          <p:nvPr/>
        </p:nvSpPr>
        <p:spPr>
          <a:xfrm>
            <a:off x="2167128" y="1554480"/>
            <a:ext cx="832104" cy="384048"/>
          </a:xfrm>
          <a:prstGeom prst="rect">
            <a:avLst/>
          </a:prstGeom>
          <a:noFill/>
          <a:ln/>
        </p:spPr>
        <p:txBody>
          <a:bodyPr wrap="square" lIns="0" tIns="0" rIns="0" bIns="0" rtlCol="0" anchor="ctr"/>
          <a:lstStyle/>
          <a:p>
            <a:pPr algn="ctr" indent="0" marL="0">
              <a:buNone/>
            </a:pPr>
            <a:r>
              <a:rPr lang="en-US" sz="1200" b="1" dirty="0">
                <a:solidFill>
                  <a:schemeClr val="bg1"/>
                </a:solidFill>
              </a:rPr>
              <a:t>cat</a:t>
            </a:r>
            <a:endParaRPr lang="en-US" sz="1200" dirty="0"/>
          </a:p>
        </p:txBody>
      </p:sp>
      <p:sp>
        <p:nvSpPr>
          <p:cNvPr id="5" name="pill-129"/>
          <p:cNvSpPr/>
          <p:nvPr/>
        </p:nvSpPr>
        <p:spPr>
          <a:xfrm>
            <a:off x="3035808" y="1554480"/>
            <a:ext cx="832104" cy="384048"/>
          </a:xfrm>
          <a:prstGeom prst="roundRect">
            <a:avLst>
              <a:gd name="adj" fmla="val 50000"/>
            </a:avLst>
          </a:prstGeom>
          <a:solidFill>
            <a:schemeClr val="accent2"/>
          </a:solidFill>
          <a:ln/>
        </p:spPr>
      </p:sp>
      <p:sp>
        <p:nvSpPr>
          <p:cNvPr id="6" name="text-130"/>
          <p:cNvSpPr txBox="1"/>
          <p:nvPr/>
        </p:nvSpPr>
        <p:spPr>
          <a:xfrm>
            <a:off x="3035808" y="1554480"/>
            <a:ext cx="832104" cy="384048"/>
          </a:xfrm>
          <a:prstGeom prst="rect">
            <a:avLst/>
          </a:prstGeom>
          <a:noFill/>
          <a:ln/>
        </p:spPr>
        <p:txBody>
          <a:bodyPr wrap="square" lIns="0" tIns="0" rIns="0" bIns="0" rtlCol="0" anchor="ctr"/>
          <a:lstStyle/>
          <a:p>
            <a:pPr algn="ctr" indent="0" marL="0">
              <a:buNone/>
            </a:pPr>
            <a:r>
              <a:rPr lang="en-US" sz="1200" b="1" dirty="0">
                <a:solidFill>
                  <a:schemeClr val="bg1"/>
                </a:solidFill>
              </a:rPr>
              <a:t>coffee</a:t>
            </a:r>
            <a:endParaRPr lang="en-US" sz="1200" dirty="0"/>
          </a:p>
        </p:txBody>
      </p:sp>
      <p:sp>
        <p:nvSpPr>
          <p:cNvPr id="7" name="pill-131"/>
          <p:cNvSpPr/>
          <p:nvPr/>
        </p:nvSpPr>
        <p:spPr>
          <a:xfrm>
            <a:off x="3904488" y="1554480"/>
            <a:ext cx="832104" cy="384048"/>
          </a:xfrm>
          <a:prstGeom prst="roundRect">
            <a:avLst>
              <a:gd name="adj" fmla="val 50000"/>
            </a:avLst>
          </a:prstGeom>
          <a:solidFill>
            <a:schemeClr val="accent2"/>
          </a:solidFill>
          <a:ln/>
        </p:spPr>
      </p:sp>
      <p:sp>
        <p:nvSpPr>
          <p:cNvPr id="8" name="text-132"/>
          <p:cNvSpPr txBox="1"/>
          <p:nvPr/>
        </p:nvSpPr>
        <p:spPr>
          <a:xfrm>
            <a:off x="3904488" y="1554480"/>
            <a:ext cx="832104" cy="384048"/>
          </a:xfrm>
          <a:prstGeom prst="rect">
            <a:avLst/>
          </a:prstGeom>
          <a:noFill/>
          <a:ln/>
        </p:spPr>
        <p:txBody>
          <a:bodyPr wrap="square" lIns="0" tIns="0" rIns="0" bIns="0" rtlCol="0" anchor="ctr"/>
          <a:lstStyle/>
          <a:p>
            <a:pPr algn="ctr" indent="0" marL="0">
              <a:buNone/>
            </a:pPr>
            <a:r>
              <a:rPr lang="en-US" sz="1200" b="1" dirty="0">
                <a:solidFill>
                  <a:schemeClr val="bg1"/>
                </a:solidFill>
              </a:rPr>
              <a:t>rocket</a:t>
            </a:r>
            <a:endParaRPr lang="en-US" sz="1200" dirty="0"/>
          </a:p>
        </p:txBody>
      </p:sp>
      <p:sp>
        <p:nvSpPr>
          <p:cNvPr id="9" name="pill-133"/>
          <p:cNvSpPr/>
          <p:nvPr/>
        </p:nvSpPr>
        <p:spPr>
          <a:xfrm>
            <a:off x="4773168" y="1554480"/>
            <a:ext cx="832104" cy="384048"/>
          </a:xfrm>
          <a:prstGeom prst="roundRect">
            <a:avLst>
              <a:gd name="adj" fmla="val 50000"/>
            </a:avLst>
          </a:prstGeom>
          <a:solidFill>
            <a:schemeClr val="accent2"/>
          </a:solidFill>
          <a:ln/>
        </p:spPr>
      </p:sp>
      <p:sp>
        <p:nvSpPr>
          <p:cNvPr id="10" name="text-134"/>
          <p:cNvSpPr txBox="1"/>
          <p:nvPr/>
        </p:nvSpPr>
        <p:spPr>
          <a:xfrm>
            <a:off x="4773168" y="1554480"/>
            <a:ext cx="832104" cy="384048"/>
          </a:xfrm>
          <a:prstGeom prst="rect">
            <a:avLst/>
          </a:prstGeom>
          <a:noFill/>
          <a:ln/>
        </p:spPr>
        <p:txBody>
          <a:bodyPr wrap="square" lIns="0" tIns="0" rIns="0" bIns="0" rtlCol="0" anchor="ctr"/>
          <a:lstStyle/>
          <a:p>
            <a:pPr algn="ctr" indent="0" marL="0">
              <a:buNone/>
            </a:pPr>
            <a:r>
              <a:rPr lang="en-US" sz="1000" b="1" dirty="0">
                <a:solidFill>
                  <a:schemeClr val="bg1"/>
                </a:solidFill>
              </a:rPr>
              <a:t>astronaut</a:t>
            </a:r>
            <a:endParaRPr lang="en-US" sz="1000" dirty="0"/>
          </a:p>
        </p:txBody>
      </p:sp>
      <p:pic>
        <p:nvPicPr>
          <p:cNvPr id="11" name="photo-cat-135" descr="고양이 사진">    </p:cNvPr>
          <p:cNvPicPr>
            <a:picLocks noChangeAspect="1"/>
          </p:cNvPicPr>
          <p:nvPr/>
        </p:nvPicPr>
        <p:blipFill>
          <a:blip r:embed="rId1"/>
          <a:stretch>
            <a:fillRect/>
          </a:stretch>
        </p:blipFill>
        <p:spPr>
          <a:xfrm>
            <a:off x="1188720" y="2121408"/>
            <a:ext cx="731520" cy="731520"/>
          </a:xfrm>
          <a:prstGeom prst="ellipse">
            <a:avLst/>
          </a:prstGeom>
        </p:spPr>
      </p:pic>
      <p:pic>
        <p:nvPicPr>
          <p:cNvPr id="12" name="photo-coffee-136" descr="커피 사진">    </p:cNvPr>
          <p:cNvPicPr>
            <a:picLocks noChangeAspect="1"/>
          </p:cNvPicPr>
          <p:nvPr/>
        </p:nvPicPr>
        <p:blipFill>
          <a:blip r:embed="rId2"/>
          <a:stretch>
            <a:fillRect/>
          </a:stretch>
        </p:blipFill>
        <p:spPr>
          <a:xfrm>
            <a:off x="1188720" y="2990088"/>
            <a:ext cx="731520" cy="731520"/>
          </a:xfrm>
          <a:prstGeom prst="ellipse">
            <a:avLst/>
          </a:prstGeom>
        </p:spPr>
      </p:pic>
      <p:pic>
        <p:nvPicPr>
          <p:cNvPr id="13" name="photo-rocket-137" descr="로켓 사진">    </p:cNvPr>
          <p:cNvPicPr>
            <a:picLocks noChangeAspect="1"/>
          </p:cNvPicPr>
          <p:nvPr/>
        </p:nvPicPr>
        <p:blipFill>
          <a:blip r:embed="rId3"/>
          <a:stretch>
            <a:fillRect/>
          </a:stretch>
        </p:blipFill>
        <p:spPr>
          <a:xfrm>
            <a:off x="1188720" y="3858768"/>
            <a:ext cx="731520" cy="731520"/>
          </a:xfrm>
          <a:prstGeom prst="ellipse">
            <a:avLst/>
          </a:prstGeom>
        </p:spPr>
      </p:pic>
      <p:pic>
        <p:nvPicPr>
          <p:cNvPr id="14" name="photo-astronaut-138" descr="우주비행사 사진">    </p:cNvPr>
          <p:cNvPicPr>
            <a:picLocks noChangeAspect="1"/>
          </p:cNvPicPr>
          <p:nvPr/>
        </p:nvPicPr>
        <p:blipFill>
          <a:blip r:embed="rId4"/>
          <a:stretch>
            <a:fillRect/>
          </a:stretch>
        </p:blipFill>
        <p:spPr>
          <a:xfrm>
            <a:off x="1188720" y="4727448"/>
            <a:ext cx="731520" cy="731520"/>
          </a:xfrm>
          <a:prstGeom prst="ellipse">
            <a:avLst/>
          </a:prstGeom>
        </p:spPr>
      </p:pic>
      <p:sp>
        <p:nvSpPr>
          <p:cNvPr id="15" name="cell-139"/>
          <p:cNvSpPr/>
          <p:nvPr/>
        </p:nvSpPr>
        <p:spPr>
          <a:xfrm>
            <a:off x="2148840" y="2057400"/>
            <a:ext cx="868680" cy="868680"/>
          </a:xfrm>
          <a:prstGeom prst="rect">
            <a:avLst/>
          </a:prstGeom>
          <a:solidFill>
            <a:schemeClr val="accent5"/>
          </a:solidFill>
          <a:ln w="25400">
            <a:solidFill>
              <a:schemeClr val="bg1"/>
            </a:solidFill>
            <a:prstDash val="solid"/>
          </a:ln>
        </p:spPr>
      </p:sp>
      <p:sp>
        <p:nvSpPr>
          <p:cNvPr id="16" name="text-140"/>
          <p:cNvSpPr txBox="1"/>
          <p:nvPr/>
        </p:nvSpPr>
        <p:spPr>
          <a:xfrm>
            <a:off x="2148840" y="205740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rPr>
              <a:t>짝 ✓</a:t>
            </a:r>
            <a:endParaRPr lang="en-US" sz="1400" dirty="0"/>
          </a:p>
        </p:txBody>
      </p:sp>
      <p:sp>
        <p:nvSpPr>
          <p:cNvPr id="17" name="cell-141"/>
          <p:cNvSpPr/>
          <p:nvPr/>
        </p:nvSpPr>
        <p:spPr>
          <a:xfrm>
            <a:off x="3017520" y="2057400"/>
            <a:ext cx="868680" cy="868680"/>
          </a:xfrm>
          <a:prstGeom prst="rect">
            <a:avLst/>
          </a:prstGeom>
          <a:solidFill>
            <a:schemeClr val="accent4">
              <a:alpha val="15000"/>
            </a:schemeClr>
          </a:solidFill>
          <a:ln w="25400">
            <a:solidFill>
              <a:schemeClr val="bg1"/>
            </a:solidFill>
            <a:prstDash val="solid"/>
          </a:ln>
        </p:spPr>
      </p:sp>
      <p:sp>
        <p:nvSpPr>
          <p:cNvPr id="18" name="text-142"/>
          <p:cNvSpPr txBox="1"/>
          <p:nvPr/>
        </p:nvSpPr>
        <p:spPr>
          <a:xfrm>
            <a:off x="3017520" y="205740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19" name="cell-143"/>
          <p:cNvSpPr/>
          <p:nvPr/>
        </p:nvSpPr>
        <p:spPr>
          <a:xfrm>
            <a:off x="3886200" y="2057400"/>
            <a:ext cx="868680" cy="868680"/>
          </a:xfrm>
          <a:prstGeom prst="rect">
            <a:avLst/>
          </a:prstGeom>
          <a:solidFill>
            <a:schemeClr val="accent4">
              <a:alpha val="15000"/>
            </a:schemeClr>
          </a:solidFill>
          <a:ln w="25400">
            <a:solidFill>
              <a:schemeClr val="bg1"/>
            </a:solidFill>
            <a:prstDash val="solid"/>
          </a:ln>
        </p:spPr>
      </p:sp>
      <p:sp>
        <p:nvSpPr>
          <p:cNvPr id="20" name="text-144"/>
          <p:cNvSpPr txBox="1"/>
          <p:nvPr/>
        </p:nvSpPr>
        <p:spPr>
          <a:xfrm>
            <a:off x="3886200" y="205740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21" name="cell-145"/>
          <p:cNvSpPr/>
          <p:nvPr/>
        </p:nvSpPr>
        <p:spPr>
          <a:xfrm>
            <a:off x="4754880" y="2057400"/>
            <a:ext cx="868680" cy="868680"/>
          </a:xfrm>
          <a:prstGeom prst="rect">
            <a:avLst/>
          </a:prstGeom>
          <a:solidFill>
            <a:schemeClr val="accent4">
              <a:alpha val="15000"/>
            </a:schemeClr>
          </a:solidFill>
          <a:ln w="25400">
            <a:solidFill>
              <a:schemeClr val="bg1"/>
            </a:solidFill>
            <a:prstDash val="solid"/>
          </a:ln>
        </p:spPr>
      </p:sp>
      <p:sp>
        <p:nvSpPr>
          <p:cNvPr id="22" name="text-146"/>
          <p:cNvSpPr txBox="1"/>
          <p:nvPr/>
        </p:nvSpPr>
        <p:spPr>
          <a:xfrm>
            <a:off x="4754880" y="205740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23" name="cell-147"/>
          <p:cNvSpPr/>
          <p:nvPr/>
        </p:nvSpPr>
        <p:spPr>
          <a:xfrm>
            <a:off x="2148840" y="2926080"/>
            <a:ext cx="868680" cy="868680"/>
          </a:xfrm>
          <a:prstGeom prst="rect">
            <a:avLst/>
          </a:prstGeom>
          <a:solidFill>
            <a:schemeClr val="accent4">
              <a:alpha val="15000"/>
            </a:schemeClr>
          </a:solidFill>
          <a:ln w="25400">
            <a:solidFill>
              <a:schemeClr val="bg1"/>
            </a:solidFill>
            <a:prstDash val="solid"/>
          </a:ln>
        </p:spPr>
      </p:sp>
      <p:sp>
        <p:nvSpPr>
          <p:cNvPr id="24" name="text-148"/>
          <p:cNvSpPr txBox="1"/>
          <p:nvPr/>
        </p:nvSpPr>
        <p:spPr>
          <a:xfrm>
            <a:off x="2148840" y="292608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25" name="cell-149"/>
          <p:cNvSpPr/>
          <p:nvPr/>
        </p:nvSpPr>
        <p:spPr>
          <a:xfrm>
            <a:off x="3017520" y="2926080"/>
            <a:ext cx="868680" cy="868680"/>
          </a:xfrm>
          <a:prstGeom prst="rect">
            <a:avLst/>
          </a:prstGeom>
          <a:solidFill>
            <a:schemeClr val="accent5"/>
          </a:solidFill>
          <a:ln w="25400">
            <a:solidFill>
              <a:schemeClr val="bg1"/>
            </a:solidFill>
            <a:prstDash val="solid"/>
          </a:ln>
        </p:spPr>
      </p:sp>
      <p:sp>
        <p:nvSpPr>
          <p:cNvPr id="26" name="text-150"/>
          <p:cNvSpPr txBox="1"/>
          <p:nvPr/>
        </p:nvSpPr>
        <p:spPr>
          <a:xfrm>
            <a:off x="3017520" y="292608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rPr>
              <a:t>짝 ✓</a:t>
            </a:r>
            <a:endParaRPr lang="en-US" sz="1400" dirty="0"/>
          </a:p>
        </p:txBody>
      </p:sp>
      <p:sp>
        <p:nvSpPr>
          <p:cNvPr id="27" name="cell-151"/>
          <p:cNvSpPr/>
          <p:nvPr/>
        </p:nvSpPr>
        <p:spPr>
          <a:xfrm>
            <a:off x="3886200" y="2926080"/>
            <a:ext cx="868680" cy="868680"/>
          </a:xfrm>
          <a:prstGeom prst="rect">
            <a:avLst/>
          </a:prstGeom>
          <a:solidFill>
            <a:schemeClr val="accent4">
              <a:alpha val="15000"/>
            </a:schemeClr>
          </a:solidFill>
          <a:ln w="25400">
            <a:solidFill>
              <a:schemeClr val="bg1"/>
            </a:solidFill>
            <a:prstDash val="solid"/>
          </a:ln>
        </p:spPr>
      </p:sp>
      <p:sp>
        <p:nvSpPr>
          <p:cNvPr id="28" name="text-152"/>
          <p:cNvSpPr txBox="1"/>
          <p:nvPr/>
        </p:nvSpPr>
        <p:spPr>
          <a:xfrm>
            <a:off x="3886200" y="292608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29" name="cell-153"/>
          <p:cNvSpPr/>
          <p:nvPr/>
        </p:nvSpPr>
        <p:spPr>
          <a:xfrm>
            <a:off x="4754880" y="2926080"/>
            <a:ext cx="868680" cy="868680"/>
          </a:xfrm>
          <a:prstGeom prst="rect">
            <a:avLst/>
          </a:prstGeom>
          <a:solidFill>
            <a:schemeClr val="accent4">
              <a:alpha val="15000"/>
            </a:schemeClr>
          </a:solidFill>
          <a:ln w="25400">
            <a:solidFill>
              <a:schemeClr val="bg1"/>
            </a:solidFill>
            <a:prstDash val="solid"/>
          </a:ln>
        </p:spPr>
      </p:sp>
      <p:sp>
        <p:nvSpPr>
          <p:cNvPr id="30" name="text-154"/>
          <p:cNvSpPr txBox="1"/>
          <p:nvPr/>
        </p:nvSpPr>
        <p:spPr>
          <a:xfrm>
            <a:off x="4754880" y="292608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31" name="cell-155"/>
          <p:cNvSpPr/>
          <p:nvPr/>
        </p:nvSpPr>
        <p:spPr>
          <a:xfrm>
            <a:off x="2148840" y="3794760"/>
            <a:ext cx="868680" cy="868680"/>
          </a:xfrm>
          <a:prstGeom prst="rect">
            <a:avLst/>
          </a:prstGeom>
          <a:solidFill>
            <a:schemeClr val="accent4">
              <a:alpha val="15000"/>
            </a:schemeClr>
          </a:solidFill>
          <a:ln w="25400">
            <a:solidFill>
              <a:schemeClr val="bg1"/>
            </a:solidFill>
            <a:prstDash val="solid"/>
          </a:ln>
        </p:spPr>
      </p:sp>
      <p:sp>
        <p:nvSpPr>
          <p:cNvPr id="32" name="text-156"/>
          <p:cNvSpPr txBox="1"/>
          <p:nvPr/>
        </p:nvSpPr>
        <p:spPr>
          <a:xfrm>
            <a:off x="2148840" y="379476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33" name="cell-157"/>
          <p:cNvSpPr/>
          <p:nvPr/>
        </p:nvSpPr>
        <p:spPr>
          <a:xfrm>
            <a:off x="3017520" y="3794760"/>
            <a:ext cx="868680" cy="868680"/>
          </a:xfrm>
          <a:prstGeom prst="rect">
            <a:avLst/>
          </a:prstGeom>
          <a:solidFill>
            <a:schemeClr val="accent4">
              <a:alpha val="15000"/>
            </a:schemeClr>
          </a:solidFill>
          <a:ln w="25400">
            <a:solidFill>
              <a:schemeClr val="bg1"/>
            </a:solidFill>
            <a:prstDash val="solid"/>
          </a:ln>
        </p:spPr>
      </p:sp>
      <p:sp>
        <p:nvSpPr>
          <p:cNvPr id="34" name="text-158"/>
          <p:cNvSpPr txBox="1"/>
          <p:nvPr/>
        </p:nvSpPr>
        <p:spPr>
          <a:xfrm>
            <a:off x="3017520" y="379476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35" name="cell-159"/>
          <p:cNvSpPr/>
          <p:nvPr/>
        </p:nvSpPr>
        <p:spPr>
          <a:xfrm>
            <a:off x="3886200" y="3794760"/>
            <a:ext cx="868680" cy="868680"/>
          </a:xfrm>
          <a:prstGeom prst="rect">
            <a:avLst/>
          </a:prstGeom>
          <a:solidFill>
            <a:schemeClr val="accent5"/>
          </a:solidFill>
          <a:ln w="25400">
            <a:solidFill>
              <a:schemeClr val="bg1"/>
            </a:solidFill>
            <a:prstDash val="solid"/>
          </a:ln>
        </p:spPr>
      </p:sp>
      <p:sp>
        <p:nvSpPr>
          <p:cNvPr id="36" name="text-160"/>
          <p:cNvSpPr txBox="1"/>
          <p:nvPr/>
        </p:nvSpPr>
        <p:spPr>
          <a:xfrm>
            <a:off x="3886200" y="379476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rPr>
              <a:t>짝 ✓</a:t>
            </a:r>
            <a:endParaRPr lang="en-US" sz="1400" dirty="0"/>
          </a:p>
        </p:txBody>
      </p:sp>
      <p:sp>
        <p:nvSpPr>
          <p:cNvPr id="37" name="cell-161"/>
          <p:cNvSpPr/>
          <p:nvPr/>
        </p:nvSpPr>
        <p:spPr>
          <a:xfrm>
            <a:off x="4754880" y="3794760"/>
            <a:ext cx="868680" cy="868680"/>
          </a:xfrm>
          <a:prstGeom prst="rect">
            <a:avLst/>
          </a:prstGeom>
          <a:solidFill>
            <a:schemeClr val="accent4">
              <a:alpha val="15000"/>
            </a:schemeClr>
          </a:solidFill>
          <a:ln w="25400">
            <a:solidFill>
              <a:schemeClr val="bg1"/>
            </a:solidFill>
            <a:prstDash val="solid"/>
          </a:ln>
        </p:spPr>
      </p:sp>
      <p:sp>
        <p:nvSpPr>
          <p:cNvPr id="38" name="text-162"/>
          <p:cNvSpPr txBox="1"/>
          <p:nvPr/>
        </p:nvSpPr>
        <p:spPr>
          <a:xfrm>
            <a:off x="4754880" y="379476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39" name="cell-163"/>
          <p:cNvSpPr/>
          <p:nvPr/>
        </p:nvSpPr>
        <p:spPr>
          <a:xfrm>
            <a:off x="2148840" y="4663440"/>
            <a:ext cx="868680" cy="868680"/>
          </a:xfrm>
          <a:prstGeom prst="rect">
            <a:avLst/>
          </a:prstGeom>
          <a:solidFill>
            <a:schemeClr val="accent4">
              <a:alpha val="15000"/>
            </a:schemeClr>
          </a:solidFill>
          <a:ln w="25400">
            <a:solidFill>
              <a:schemeClr val="bg1"/>
            </a:solidFill>
            <a:prstDash val="solid"/>
          </a:ln>
        </p:spPr>
      </p:sp>
      <p:sp>
        <p:nvSpPr>
          <p:cNvPr id="40" name="text-164"/>
          <p:cNvSpPr txBox="1"/>
          <p:nvPr/>
        </p:nvSpPr>
        <p:spPr>
          <a:xfrm>
            <a:off x="2148840" y="466344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41" name="cell-165"/>
          <p:cNvSpPr/>
          <p:nvPr/>
        </p:nvSpPr>
        <p:spPr>
          <a:xfrm>
            <a:off x="3017520" y="4663440"/>
            <a:ext cx="868680" cy="868680"/>
          </a:xfrm>
          <a:prstGeom prst="rect">
            <a:avLst/>
          </a:prstGeom>
          <a:solidFill>
            <a:schemeClr val="accent4">
              <a:alpha val="15000"/>
            </a:schemeClr>
          </a:solidFill>
          <a:ln w="25400">
            <a:solidFill>
              <a:schemeClr val="bg1"/>
            </a:solidFill>
            <a:prstDash val="solid"/>
          </a:ln>
        </p:spPr>
      </p:sp>
      <p:sp>
        <p:nvSpPr>
          <p:cNvPr id="42" name="text-166"/>
          <p:cNvSpPr txBox="1"/>
          <p:nvPr/>
        </p:nvSpPr>
        <p:spPr>
          <a:xfrm>
            <a:off x="3017520" y="466344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43" name="cell-167"/>
          <p:cNvSpPr/>
          <p:nvPr/>
        </p:nvSpPr>
        <p:spPr>
          <a:xfrm>
            <a:off x="3886200" y="4663440"/>
            <a:ext cx="868680" cy="868680"/>
          </a:xfrm>
          <a:prstGeom prst="rect">
            <a:avLst/>
          </a:prstGeom>
          <a:solidFill>
            <a:schemeClr val="accent4">
              <a:alpha val="15000"/>
            </a:schemeClr>
          </a:solidFill>
          <a:ln w="25400">
            <a:solidFill>
              <a:schemeClr val="bg1"/>
            </a:solidFill>
            <a:prstDash val="solid"/>
          </a:ln>
        </p:spPr>
      </p:sp>
      <p:sp>
        <p:nvSpPr>
          <p:cNvPr id="44" name="text-168"/>
          <p:cNvSpPr txBox="1"/>
          <p:nvPr/>
        </p:nvSpPr>
        <p:spPr>
          <a:xfrm>
            <a:off x="3886200" y="466344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45" name="cell-169"/>
          <p:cNvSpPr/>
          <p:nvPr/>
        </p:nvSpPr>
        <p:spPr>
          <a:xfrm>
            <a:off x="4754880" y="4663440"/>
            <a:ext cx="868680" cy="868680"/>
          </a:xfrm>
          <a:prstGeom prst="rect">
            <a:avLst/>
          </a:prstGeom>
          <a:solidFill>
            <a:schemeClr val="accent5"/>
          </a:solidFill>
          <a:ln w="25400">
            <a:solidFill>
              <a:schemeClr val="bg1"/>
            </a:solidFill>
            <a:prstDash val="solid"/>
          </a:ln>
        </p:spPr>
      </p:sp>
      <p:sp>
        <p:nvSpPr>
          <p:cNvPr id="46" name="text-170"/>
          <p:cNvSpPr txBox="1"/>
          <p:nvPr/>
        </p:nvSpPr>
        <p:spPr>
          <a:xfrm>
            <a:off x="4754880" y="466344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rPr>
              <a:t>짝 ✓</a:t>
            </a:r>
            <a:endParaRPr lang="en-US" sz="1400" dirty="0"/>
          </a:p>
        </p:txBody>
      </p:sp>
      <p:sp>
        <p:nvSpPr>
          <p:cNvPr id="47" name="circle-171"/>
          <p:cNvSpPr/>
          <p:nvPr/>
        </p:nvSpPr>
        <p:spPr>
          <a:xfrm>
            <a:off x="6400800" y="1645920"/>
            <a:ext cx="731520" cy="731520"/>
          </a:xfrm>
          <a:prstGeom prst="ellipse">
            <a:avLst/>
          </a:prstGeom>
          <a:solidFill>
            <a:schemeClr val="accent5"/>
          </a:solidFill>
          <a:ln/>
        </p:spPr>
      </p:sp>
      <p:pic>
        <p:nvPicPr>
          <p:cNvPr id="48" name="icon-FaCheck-172" descr="FaCheck">    </p:cNvPr>
          <p:cNvPicPr>
            <a:picLocks noChangeAspect="1"/>
          </p:cNvPicPr>
          <p:nvPr/>
        </p:nvPicPr>
        <p:blipFill>
          <a:blip r:embed="rId5"/>
          <a:stretch>
            <a:fillRect/>
          </a:stretch>
        </p:blipFill>
        <p:spPr>
          <a:xfrm>
            <a:off x="6590995" y="1836115"/>
            <a:ext cx="351130" cy="351130"/>
          </a:xfrm>
          <a:prstGeom prst="rect">
            <a:avLst/>
          </a:prstGeom>
        </p:spPr>
      </p:pic>
      <p:sp>
        <p:nvSpPr>
          <p:cNvPr id="49" name="text-173"/>
          <p:cNvSpPr txBox="1"/>
          <p:nvPr/>
        </p:nvSpPr>
        <p:spPr>
          <a:xfrm>
            <a:off x="7360920" y="1600200"/>
            <a:ext cx="4206240" cy="457200"/>
          </a:xfrm>
          <a:prstGeom prst="rect">
            <a:avLst/>
          </a:prstGeom>
          <a:noFill/>
          <a:ln/>
        </p:spPr>
        <p:txBody>
          <a:bodyPr wrap="square" lIns="0" tIns="0" rIns="0" bIns="0" rtlCol="0" anchor="t"/>
          <a:lstStyle/>
          <a:p>
            <a:pPr indent="0" marL="0">
              <a:buNone/>
            </a:pPr>
            <a:r>
              <a:rPr lang="en-US" sz="2200" b="1" dirty="0">
                <a:solidFill>
                  <a:schemeClr val="accent5"/>
                </a:solidFill>
              </a:rPr>
              <a:t>Positive (대각선)</a:t>
            </a:r>
            <a:endParaRPr lang="en-US" sz="2200" dirty="0"/>
          </a:p>
        </p:txBody>
      </p:sp>
      <p:sp>
        <p:nvSpPr>
          <p:cNvPr id="50" name="text-174"/>
          <p:cNvSpPr txBox="1"/>
          <p:nvPr/>
        </p:nvSpPr>
        <p:spPr>
          <a:xfrm>
            <a:off x="7360920" y="2057400"/>
            <a:ext cx="4206240" cy="457200"/>
          </a:xfrm>
          <a:prstGeom prst="rect">
            <a:avLst/>
          </a:prstGeom>
          <a:noFill/>
          <a:ln/>
        </p:spPr>
        <p:txBody>
          <a:bodyPr wrap="square" lIns="0" tIns="0" rIns="0" bIns="0" rtlCol="0" anchor="t"/>
          <a:lstStyle/>
          <a:p>
            <a:pPr indent="0" marL="0">
              <a:buNone/>
            </a:pPr>
            <a:r>
              <a:rPr lang="en-US" sz="1800" dirty="0">
                <a:solidFill>
                  <a:schemeClr val="tx2"/>
                </a:solidFill>
              </a:rPr>
              <a:t>진짜 짝 → 유사도 ↑</a:t>
            </a:r>
            <a:endParaRPr lang="en-US" sz="1800" dirty="0"/>
          </a:p>
        </p:txBody>
      </p:sp>
      <p:sp>
        <p:nvSpPr>
          <p:cNvPr id="51" name="circle-175"/>
          <p:cNvSpPr/>
          <p:nvPr/>
        </p:nvSpPr>
        <p:spPr>
          <a:xfrm>
            <a:off x="6400800" y="2971800"/>
            <a:ext cx="731520" cy="731520"/>
          </a:xfrm>
          <a:prstGeom prst="ellipse">
            <a:avLst/>
          </a:prstGeom>
          <a:solidFill>
            <a:schemeClr val="accent4"/>
          </a:solidFill>
          <a:ln/>
        </p:spPr>
      </p:sp>
      <p:pic>
        <p:nvPicPr>
          <p:cNvPr id="52" name="icon-FaTimes-176" descr="FaTimes">    </p:cNvPr>
          <p:cNvPicPr>
            <a:picLocks noChangeAspect="1"/>
          </p:cNvPicPr>
          <p:nvPr/>
        </p:nvPicPr>
        <p:blipFill>
          <a:blip r:embed="rId6"/>
          <a:stretch>
            <a:fillRect/>
          </a:stretch>
        </p:blipFill>
        <p:spPr>
          <a:xfrm>
            <a:off x="6590995" y="3161995"/>
            <a:ext cx="351130" cy="351130"/>
          </a:xfrm>
          <a:prstGeom prst="rect">
            <a:avLst/>
          </a:prstGeom>
        </p:spPr>
      </p:pic>
      <p:sp>
        <p:nvSpPr>
          <p:cNvPr id="53" name="text-177"/>
          <p:cNvSpPr txBox="1"/>
          <p:nvPr/>
        </p:nvSpPr>
        <p:spPr>
          <a:xfrm>
            <a:off x="7360920" y="2926080"/>
            <a:ext cx="4206240" cy="457200"/>
          </a:xfrm>
          <a:prstGeom prst="rect">
            <a:avLst/>
          </a:prstGeom>
          <a:noFill/>
          <a:ln/>
        </p:spPr>
        <p:txBody>
          <a:bodyPr wrap="square" lIns="0" tIns="0" rIns="0" bIns="0" rtlCol="0" anchor="t"/>
          <a:lstStyle/>
          <a:p>
            <a:pPr indent="0" marL="0">
              <a:buNone/>
            </a:pPr>
            <a:r>
              <a:rPr lang="en-US" sz="2200" b="1" dirty="0">
                <a:solidFill>
                  <a:schemeClr val="accent4"/>
                </a:solidFill>
              </a:rPr>
              <a:t>Negative (나머지)</a:t>
            </a:r>
            <a:endParaRPr lang="en-US" sz="2200" dirty="0"/>
          </a:p>
        </p:txBody>
      </p:sp>
      <p:sp>
        <p:nvSpPr>
          <p:cNvPr id="54" name="text-178"/>
          <p:cNvSpPr txBox="1"/>
          <p:nvPr/>
        </p:nvSpPr>
        <p:spPr>
          <a:xfrm>
            <a:off x="7360920" y="3383280"/>
            <a:ext cx="4206240" cy="457200"/>
          </a:xfrm>
          <a:prstGeom prst="rect">
            <a:avLst/>
          </a:prstGeom>
          <a:noFill/>
          <a:ln/>
        </p:spPr>
        <p:txBody>
          <a:bodyPr wrap="square" lIns="0" tIns="0" rIns="0" bIns="0" rtlCol="0" anchor="t"/>
          <a:lstStyle/>
          <a:p>
            <a:pPr indent="0" marL="0">
              <a:buNone/>
            </a:pPr>
            <a:r>
              <a:rPr lang="en-US" sz="1800" dirty="0">
                <a:solidFill>
                  <a:schemeClr val="tx2"/>
                </a:solidFill>
              </a:rPr>
              <a:t>가짜 짝 → 유사도 ↓</a:t>
            </a:r>
            <a:endParaRPr lang="en-US" sz="1800" dirty="0"/>
          </a:p>
        </p:txBody>
      </p:sp>
      <p:sp>
        <p:nvSpPr>
          <p:cNvPr id="55" name="card-179"/>
          <p:cNvSpPr/>
          <p:nvPr/>
        </p:nvSpPr>
        <p:spPr>
          <a:xfrm>
            <a:off x="6400800" y="4297680"/>
            <a:ext cx="5120640" cy="1371600"/>
          </a:xfrm>
          <a:prstGeom prst="roundRect">
            <a:avLst>
              <a:gd name="adj" fmla="val 9333"/>
            </a:avLst>
          </a:prstGeom>
          <a:solidFill>
            <a:schemeClr val="bg2"/>
          </a:solidFill>
          <a:ln/>
        </p:spPr>
      </p:sp>
      <p:sp>
        <p:nvSpPr>
          <p:cNvPr id="56" name="text-180"/>
          <p:cNvSpPr txBox="1"/>
          <p:nvPr/>
        </p:nvSpPr>
        <p:spPr>
          <a:xfrm>
            <a:off x="6675120" y="4297680"/>
            <a:ext cx="4663440" cy="1371600"/>
          </a:xfrm>
          <a:prstGeom prst="rect">
            <a:avLst/>
          </a:prstGeom>
          <a:noFill/>
          <a:ln/>
        </p:spPr>
        <p:txBody>
          <a:bodyPr wrap="square" lIns="0" tIns="0" rIns="0" bIns="0" rtlCol="0" anchor="ctr"/>
          <a:lstStyle/>
          <a:p>
            <a:pPr indent="0" marL="0">
              <a:buNone/>
            </a:pPr>
            <a:r>
              <a:rPr lang="en-US" sz="1600" dirty="0">
                <a:solidFill>
                  <a:schemeClr val="tx2"/>
                </a:solidFill>
              </a:rPr>
              <a:t>배치 크기 B일 때</a:t>
            </a:r>
            <a:endParaRPr lang="en-US" sz="2000" dirty="0"/>
          </a:p>
          <a:p>
            <a:pPr indent="0" marL="0">
              <a:buNone/>
            </a:pPr>
            <a:r>
              <a:rPr lang="en-US" sz="2200" b="1" dirty="0">
                <a:solidFill>
                  <a:schemeClr val="tx1"/>
                </a:solidFill>
              </a:rPr>
              <a:t>짝 B개  vs  가짜 짝 B² − B개</a:t>
            </a:r>
            <a:endParaRPr lang="en-US" sz="2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CLIP의 방식 = 객관식 문제 (Softmax)</a:t>
            </a:r>
            <a:endParaRPr lang="en-US" sz="3000" dirty="0"/>
          </a:p>
        </p:txBody>
      </p:sp>
      <p:pic>
        <p:nvPicPr>
          <p:cNvPr id="3" name="photo-cat-181" descr="고양이 사진">    </p:cNvPr>
          <p:cNvPicPr>
            <a:picLocks noChangeAspect="1"/>
          </p:cNvPicPr>
          <p:nvPr/>
        </p:nvPicPr>
        <p:blipFill>
          <a:blip r:embed="rId1"/>
          <a:stretch>
            <a:fillRect/>
          </a:stretch>
        </p:blipFill>
        <p:spPr>
          <a:xfrm>
            <a:off x="822960" y="1645920"/>
            <a:ext cx="2377440" cy="2377440"/>
          </a:xfrm>
          <a:prstGeom prst="ellipse">
            <a:avLst/>
          </a:prstGeom>
        </p:spPr>
      </p:pic>
      <p:sp>
        <p:nvSpPr>
          <p:cNvPr id="4" name="text-182"/>
          <p:cNvSpPr txBox="1"/>
          <p:nvPr/>
        </p:nvSpPr>
        <p:spPr>
          <a:xfrm>
            <a:off x="640080" y="4206240"/>
            <a:ext cx="2743200" cy="457200"/>
          </a:xfrm>
          <a:prstGeom prst="rect">
            <a:avLst/>
          </a:prstGeom>
          <a:noFill/>
          <a:ln/>
        </p:spPr>
        <p:txBody>
          <a:bodyPr wrap="square" lIns="0" tIns="0" rIns="0" bIns="0" rtlCol="0" anchor="t"/>
          <a:lstStyle/>
          <a:p>
            <a:pPr algn="ctr" indent="0" marL="0">
              <a:buNone/>
            </a:pPr>
            <a:r>
              <a:rPr lang="en-US" sz="2000" b="1" dirty="0">
                <a:solidFill>
                  <a:schemeClr val="tx1"/>
                </a:solidFill>
              </a:rPr>
              <a:t>이 사진의 캡션은?</a:t>
            </a:r>
            <a:endParaRPr lang="en-US" sz="2000" dirty="0"/>
          </a:p>
        </p:txBody>
      </p:sp>
      <p:sp>
        <p:nvSpPr>
          <p:cNvPr id="5" name="text-183"/>
          <p:cNvSpPr txBox="1"/>
          <p:nvPr/>
        </p:nvSpPr>
        <p:spPr>
          <a:xfrm>
            <a:off x="3840480" y="1554480"/>
            <a:ext cx="2926080" cy="548640"/>
          </a:xfrm>
          <a:prstGeom prst="rect">
            <a:avLst/>
          </a:prstGeom>
          <a:noFill/>
          <a:ln/>
        </p:spPr>
        <p:txBody>
          <a:bodyPr wrap="square" lIns="0" tIns="0" rIns="0" bIns="0" rtlCol="0" anchor="ctr"/>
          <a:lstStyle/>
          <a:p>
            <a:pPr indent="0" marL="0">
              <a:buNone/>
            </a:pPr>
            <a:r>
              <a:rPr lang="en-US" sz="1800" b="1" dirty="0">
                <a:solidFill>
                  <a:schemeClr val="tx1"/>
                </a:solidFill>
              </a:rPr>
              <a:t>① a photo of a cat</a:t>
            </a:r>
            <a:endParaRPr lang="en-US" sz="1800" dirty="0"/>
          </a:p>
        </p:txBody>
      </p:sp>
      <p:sp>
        <p:nvSpPr>
          <p:cNvPr id="6" name="bar-bg-184"/>
          <p:cNvSpPr/>
          <p:nvPr/>
        </p:nvSpPr>
        <p:spPr>
          <a:xfrm>
            <a:off x="6858000" y="1664208"/>
            <a:ext cx="3657600" cy="329184"/>
          </a:xfrm>
          <a:prstGeom prst="rect">
            <a:avLst/>
          </a:prstGeom>
          <a:solidFill>
            <a:schemeClr val="bg2"/>
          </a:solidFill>
          <a:ln/>
        </p:spPr>
      </p:sp>
      <p:sp>
        <p:nvSpPr>
          <p:cNvPr id="7" name="bar-185"/>
          <p:cNvSpPr/>
          <p:nvPr/>
        </p:nvSpPr>
        <p:spPr>
          <a:xfrm>
            <a:off x="6858000" y="1664208"/>
            <a:ext cx="3108960" cy="329184"/>
          </a:xfrm>
          <a:prstGeom prst="rect">
            <a:avLst/>
          </a:prstGeom>
          <a:solidFill>
            <a:schemeClr val="accent3"/>
          </a:solidFill>
          <a:ln/>
        </p:spPr>
      </p:sp>
      <p:sp>
        <p:nvSpPr>
          <p:cNvPr id="8" name="text-186"/>
          <p:cNvSpPr txBox="1"/>
          <p:nvPr/>
        </p:nvSpPr>
        <p:spPr>
          <a:xfrm>
            <a:off x="10652760" y="1554480"/>
            <a:ext cx="822960" cy="548640"/>
          </a:xfrm>
          <a:prstGeom prst="rect">
            <a:avLst/>
          </a:prstGeom>
          <a:noFill/>
          <a:ln/>
        </p:spPr>
        <p:txBody>
          <a:bodyPr wrap="square" lIns="0" tIns="0" rIns="0" bIns="0" rtlCol="0" anchor="ctr"/>
          <a:lstStyle/>
          <a:p>
            <a:pPr indent="0" marL="0">
              <a:buNone/>
            </a:pPr>
            <a:r>
              <a:rPr lang="en-US" sz="1800" b="1" dirty="0">
                <a:solidFill>
                  <a:schemeClr val="accent3"/>
                </a:solidFill>
              </a:rPr>
              <a:t>0.85</a:t>
            </a:r>
            <a:endParaRPr lang="en-US" sz="1800" dirty="0"/>
          </a:p>
        </p:txBody>
      </p:sp>
      <p:sp>
        <p:nvSpPr>
          <p:cNvPr id="9" name="text-187"/>
          <p:cNvSpPr txBox="1"/>
          <p:nvPr/>
        </p:nvSpPr>
        <p:spPr>
          <a:xfrm>
            <a:off x="3840480" y="2331720"/>
            <a:ext cx="2926080" cy="548640"/>
          </a:xfrm>
          <a:prstGeom prst="rect">
            <a:avLst/>
          </a:prstGeom>
          <a:noFill/>
          <a:ln/>
        </p:spPr>
        <p:txBody>
          <a:bodyPr wrap="square" lIns="0" tIns="0" rIns="0" bIns="0" rtlCol="0" anchor="ctr"/>
          <a:lstStyle/>
          <a:p>
            <a:pPr indent="0" marL="0">
              <a:buNone/>
            </a:pPr>
            <a:r>
              <a:rPr lang="en-US" sz="1800" dirty="0">
                <a:solidFill>
                  <a:schemeClr val="tx1"/>
                </a:solidFill>
              </a:rPr>
              <a:t>② a cup of coffee</a:t>
            </a:r>
            <a:endParaRPr lang="en-US" sz="1800" dirty="0"/>
          </a:p>
        </p:txBody>
      </p:sp>
      <p:sp>
        <p:nvSpPr>
          <p:cNvPr id="10" name="bar-bg-188"/>
          <p:cNvSpPr/>
          <p:nvPr/>
        </p:nvSpPr>
        <p:spPr>
          <a:xfrm>
            <a:off x="6858000" y="2441448"/>
            <a:ext cx="3657600" cy="329184"/>
          </a:xfrm>
          <a:prstGeom prst="rect">
            <a:avLst/>
          </a:prstGeom>
          <a:solidFill>
            <a:schemeClr val="bg2"/>
          </a:solidFill>
          <a:ln/>
        </p:spPr>
      </p:sp>
      <p:sp>
        <p:nvSpPr>
          <p:cNvPr id="11" name="bar-189"/>
          <p:cNvSpPr/>
          <p:nvPr/>
        </p:nvSpPr>
        <p:spPr>
          <a:xfrm>
            <a:off x="6858000" y="2441448"/>
            <a:ext cx="292608" cy="329184"/>
          </a:xfrm>
          <a:prstGeom prst="rect">
            <a:avLst/>
          </a:prstGeom>
          <a:solidFill>
            <a:schemeClr val="accent6"/>
          </a:solidFill>
          <a:ln/>
        </p:spPr>
      </p:sp>
      <p:sp>
        <p:nvSpPr>
          <p:cNvPr id="12" name="text-190"/>
          <p:cNvSpPr txBox="1"/>
          <p:nvPr/>
        </p:nvSpPr>
        <p:spPr>
          <a:xfrm>
            <a:off x="10652760" y="2331720"/>
            <a:ext cx="822960" cy="548640"/>
          </a:xfrm>
          <a:prstGeom prst="rect">
            <a:avLst/>
          </a:prstGeom>
          <a:noFill/>
          <a:ln/>
        </p:spPr>
        <p:txBody>
          <a:bodyPr wrap="square" lIns="0" tIns="0" rIns="0" bIns="0" rtlCol="0" anchor="ctr"/>
          <a:lstStyle/>
          <a:p>
            <a:pPr indent="0" marL="0">
              <a:buNone/>
            </a:pPr>
            <a:r>
              <a:rPr lang="en-US" sz="1800" b="1" dirty="0">
                <a:solidFill>
                  <a:schemeClr val="tx2"/>
                </a:solidFill>
              </a:rPr>
              <a:t>0.08</a:t>
            </a:r>
            <a:endParaRPr lang="en-US" sz="1800" dirty="0"/>
          </a:p>
        </p:txBody>
      </p:sp>
      <p:sp>
        <p:nvSpPr>
          <p:cNvPr id="13" name="text-191"/>
          <p:cNvSpPr txBox="1"/>
          <p:nvPr/>
        </p:nvSpPr>
        <p:spPr>
          <a:xfrm>
            <a:off x="3840480" y="3108960"/>
            <a:ext cx="2926080" cy="548640"/>
          </a:xfrm>
          <a:prstGeom prst="rect">
            <a:avLst/>
          </a:prstGeom>
          <a:noFill/>
          <a:ln/>
        </p:spPr>
        <p:txBody>
          <a:bodyPr wrap="square" lIns="0" tIns="0" rIns="0" bIns="0" rtlCol="0" anchor="ctr"/>
          <a:lstStyle/>
          <a:p>
            <a:pPr indent="0" marL="0">
              <a:buNone/>
            </a:pPr>
            <a:r>
              <a:rPr lang="en-US" sz="1800" dirty="0">
                <a:solidFill>
                  <a:schemeClr val="tx1"/>
                </a:solidFill>
              </a:rPr>
              <a:t>③ a rocket at night</a:t>
            </a:r>
            <a:endParaRPr lang="en-US" sz="1800" dirty="0"/>
          </a:p>
        </p:txBody>
      </p:sp>
      <p:sp>
        <p:nvSpPr>
          <p:cNvPr id="14" name="bar-bg-192"/>
          <p:cNvSpPr/>
          <p:nvPr/>
        </p:nvSpPr>
        <p:spPr>
          <a:xfrm>
            <a:off x="6858000" y="3218688"/>
            <a:ext cx="3657600" cy="329184"/>
          </a:xfrm>
          <a:prstGeom prst="rect">
            <a:avLst/>
          </a:prstGeom>
          <a:solidFill>
            <a:schemeClr val="bg2"/>
          </a:solidFill>
          <a:ln/>
        </p:spPr>
      </p:sp>
      <p:sp>
        <p:nvSpPr>
          <p:cNvPr id="15" name="bar-193"/>
          <p:cNvSpPr/>
          <p:nvPr/>
        </p:nvSpPr>
        <p:spPr>
          <a:xfrm>
            <a:off x="6858000" y="3218688"/>
            <a:ext cx="146304" cy="329184"/>
          </a:xfrm>
          <a:prstGeom prst="rect">
            <a:avLst/>
          </a:prstGeom>
          <a:solidFill>
            <a:schemeClr val="accent6"/>
          </a:solidFill>
          <a:ln/>
        </p:spPr>
      </p:sp>
      <p:sp>
        <p:nvSpPr>
          <p:cNvPr id="16" name="text-194"/>
          <p:cNvSpPr txBox="1"/>
          <p:nvPr/>
        </p:nvSpPr>
        <p:spPr>
          <a:xfrm>
            <a:off x="10652760" y="3108960"/>
            <a:ext cx="822960" cy="548640"/>
          </a:xfrm>
          <a:prstGeom prst="rect">
            <a:avLst/>
          </a:prstGeom>
          <a:noFill/>
          <a:ln/>
        </p:spPr>
        <p:txBody>
          <a:bodyPr wrap="square" lIns="0" tIns="0" rIns="0" bIns="0" rtlCol="0" anchor="ctr"/>
          <a:lstStyle/>
          <a:p>
            <a:pPr indent="0" marL="0">
              <a:buNone/>
            </a:pPr>
            <a:r>
              <a:rPr lang="en-US" sz="1800" b="1" dirty="0">
                <a:solidFill>
                  <a:schemeClr val="tx2"/>
                </a:solidFill>
              </a:rPr>
              <a:t>0.04</a:t>
            </a:r>
            <a:endParaRPr lang="en-US" sz="1800" dirty="0"/>
          </a:p>
        </p:txBody>
      </p:sp>
      <p:sp>
        <p:nvSpPr>
          <p:cNvPr id="17" name="text-195"/>
          <p:cNvSpPr txBox="1"/>
          <p:nvPr/>
        </p:nvSpPr>
        <p:spPr>
          <a:xfrm>
            <a:off x="3840480" y="3886200"/>
            <a:ext cx="2926080" cy="548640"/>
          </a:xfrm>
          <a:prstGeom prst="rect">
            <a:avLst/>
          </a:prstGeom>
          <a:noFill/>
          <a:ln/>
        </p:spPr>
        <p:txBody>
          <a:bodyPr wrap="square" lIns="0" tIns="0" rIns="0" bIns="0" rtlCol="0" anchor="ctr"/>
          <a:lstStyle/>
          <a:p>
            <a:pPr indent="0" marL="0">
              <a:buNone/>
            </a:pPr>
            <a:r>
              <a:rPr lang="en-US" sz="1800" dirty="0">
                <a:solidFill>
                  <a:schemeClr val="tx1"/>
                </a:solidFill>
              </a:rPr>
              <a:t>④ an astronaut</a:t>
            </a:r>
            <a:endParaRPr lang="en-US" sz="1800" dirty="0"/>
          </a:p>
        </p:txBody>
      </p:sp>
      <p:sp>
        <p:nvSpPr>
          <p:cNvPr id="18" name="bar-bg-196"/>
          <p:cNvSpPr/>
          <p:nvPr/>
        </p:nvSpPr>
        <p:spPr>
          <a:xfrm>
            <a:off x="6858000" y="3995928"/>
            <a:ext cx="3657600" cy="329184"/>
          </a:xfrm>
          <a:prstGeom prst="rect">
            <a:avLst/>
          </a:prstGeom>
          <a:solidFill>
            <a:schemeClr val="bg2"/>
          </a:solidFill>
          <a:ln/>
        </p:spPr>
      </p:sp>
      <p:sp>
        <p:nvSpPr>
          <p:cNvPr id="19" name="bar-197"/>
          <p:cNvSpPr/>
          <p:nvPr/>
        </p:nvSpPr>
        <p:spPr>
          <a:xfrm>
            <a:off x="6858000" y="3995928"/>
            <a:ext cx="109728" cy="329184"/>
          </a:xfrm>
          <a:prstGeom prst="rect">
            <a:avLst/>
          </a:prstGeom>
          <a:solidFill>
            <a:schemeClr val="accent6"/>
          </a:solidFill>
          <a:ln/>
        </p:spPr>
      </p:sp>
      <p:sp>
        <p:nvSpPr>
          <p:cNvPr id="20" name="text-198"/>
          <p:cNvSpPr txBox="1"/>
          <p:nvPr/>
        </p:nvSpPr>
        <p:spPr>
          <a:xfrm>
            <a:off x="10652760" y="3886200"/>
            <a:ext cx="822960" cy="548640"/>
          </a:xfrm>
          <a:prstGeom prst="rect">
            <a:avLst/>
          </a:prstGeom>
          <a:noFill/>
          <a:ln/>
        </p:spPr>
        <p:txBody>
          <a:bodyPr wrap="square" lIns="0" tIns="0" rIns="0" bIns="0" rtlCol="0" anchor="ctr"/>
          <a:lstStyle/>
          <a:p>
            <a:pPr indent="0" marL="0">
              <a:buNone/>
            </a:pPr>
            <a:r>
              <a:rPr lang="en-US" sz="1800" b="1" dirty="0">
                <a:solidFill>
                  <a:schemeClr val="tx2"/>
                </a:solidFill>
              </a:rPr>
              <a:t>0.03</a:t>
            </a:r>
            <a:endParaRPr lang="en-US" sz="1800" dirty="0"/>
          </a:p>
        </p:txBody>
      </p:sp>
      <p:sp>
        <p:nvSpPr>
          <p:cNvPr id="21" name="text-199"/>
          <p:cNvSpPr txBox="1"/>
          <p:nvPr/>
        </p:nvSpPr>
        <p:spPr>
          <a:xfrm>
            <a:off x="8778240" y="4709160"/>
            <a:ext cx="2697480" cy="457200"/>
          </a:xfrm>
          <a:prstGeom prst="rect">
            <a:avLst/>
          </a:prstGeom>
          <a:noFill/>
          <a:ln/>
        </p:spPr>
        <p:txBody>
          <a:bodyPr wrap="square" lIns="0" tIns="0" rIns="0" bIns="0" rtlCol="0" anchor="t"/>
          <a:lstStyle/>
          <a:p>
            <a:pPr algn="r" indent="0" marL="0">
              <a:buNone/>
            </a:pPr>
            <a:r>
              <a:rPr lang="en-US" sz="2000" b="1" dirty="0">
                <a:solidFill>
                  <a:schemeClr val="accent3"/>
                </a:solidFill>
              </a:rPr>
              <a:t>합계 = 1.00</a:t>
            </a:r>
            <a:endParaRPr lang="en-US" sz="2000" dirty="0"/>
          </a:p>
        </p:txBody>
      </p:sp>
      <p:sp>
        <p:nvSpPr>
          <p:cNvPr id="22" name="card-200"/>
          <p:cNvSpPr/>
          <p:nvPr/>
        </p:nvSpPr>
        <p:spPr>
          <a:xfrm>
            <a:off x="3840480" y="5349240"/>
            <a:ext cx="7680960" cy="731520"/>
          </a:xfrm>
          <a:prstGeom prst="roundRect">
            <a:avLst>
              <a:gd name="adj" fmla="val 17500"/>
            </a:avLst>
          </a:prstGeom>
          <a:solidFill>
            <a:schemeClr val="bg2"/>
          </a:solidFill>
          <a:ln/>
        </p:spPr>
      </p:sp>
      <p:sp>
        <p:nvSpPr>
          <p:cNvPr id="23" name="text-201"/>
          <p:cNvSpPr txBox="1"/>
          <p:nvPr/>
        </p:nvSpPr>
        <p:spPr>
          <a:xfrm>
            <a:off x="4114800" y="5349240"/>
            <a:ext cx="7223760" cy="731520"/>
          </a:xfrm>
          <a:prstGeom prst="rect">
            <a:avLst/>
          </a:prstGeom>
          <a:noFill/>
          <a:ln/>
        </p:spPr>
        <p:txBody>
          <a:bodyPr wrap="square" lIns="0" tIns="0" rIns="0" bIns="0" rtlCol="0" anchor="ctr"/>
          <a:lstStyle/>
          <a:p>
            <a:pPr indent="0" marL="0">
              <a:buNone/>
            </a:pPr>
            <a:r>
              <a:rPr lang="en-US" sz="1800" dirty="0">
                <a:solidFill>
                  <a:schemeClr val="tx1"/>
                </a:solidFill>
              </a:rPr>
              <a:t>보기 B개 중 정답 1개 고르기 → 확률은 서로 나눠 가짐</a:t>
            </a:r>
            <a:endParaRPr lang="en-US" sz="18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객관식 방식의 약점</a:t>
            </a:r>
            <a:endParaRPr lang="en-US" sz="3000" dirty="0"/>
          </a:p>
        </p:txBody>
      </p:sp>
      <p:sp>
        <p:nvSpPr>
          <p:cNvPr id="3" name="card-202"/>
          <p:cNvSpPr/>
          <p:nvPr/>
        </p:nvSpPr>
        <p:spPr>
          <a:xfrm>
            <a:off x="640080" y="1325880"/>
            <a:ext cx="10881360" cy="1143000"/>
          </a:xfrm>
          <a:prstGeom prst="roundRect">
            <a:avLst>
              <a:gd name="adj" fmla="val 11200"/>
            </a:avLst>
          </a:prstGeom>
          <a:solidFill>
            <a:schemeClr val="tx1"/>
          </a:solidFill>
          <a:ln/>
        </p:spPr>
      </p:sp>
      <p:sp>
        <p:nvSpPr>
          <p:cNvPr id="4" name="text-203"/>
          <p:cNvSpPr txBox="1"/>
          <p:nvPr/>
        </p:nvSpPr>
        <p:spPr>
          <a:xfrm>
            <a:off x="914400" y="1325880"/>
            <a:ext cx="10424160" cy="1143000"/>
          </a:xfrm>
          <a:prstGeom prst="rect">
            <a:avLst/>
          </a:prstGeom>
          <a:noFill/>
          <a:ln/>
        </p:spPr>
        <p:txBody>
          <a:bodyPr wrap="square" lIns="0" tIns="0" rIns="0" bIns="0" rtlCol="0" anchor="ctr"/>
          <a:lstStyle/>
          <a:p>
            <a:pPr indent="0" marL="0">
              <a:buNone/>
            </a:pPr>
            <a:r>
              <a:rPr lang="en-US" sz="2400" dirty="0">
                <a:solidFill>
                  <a:schemeClr val="bg1"/>
                </a:solidFill>
              </a:rPr>
              <a:t>손실 = − log ( 정답 점수 ÷ </a:t>
            </a:r>
            <a:r>
              <a:rPr lang="en-US" sz="2400" b="1" dirty="0">
                <a:solidFill>
                  <a:srgbClr val="FBBF24"/>
                </a:solidFill>
              </a:rPr>
              <a:t>배치 전체 점수의 합</a:t>
            </a:r>
            <a:r>
              <a:rPr lang="en-US" sz="2400" dirty="0">
                <a:solidFill>
                  <a:schemeClr val="bg1"/>
                </a:solidFill>
              </a:rPr>
              <a:t> )</a:t>
            </a:r>
            <a:r>
              <a:rPr lang="en-US" sz="1800" dirty="0">
                <a:solidFill>
                  <a:schemeClr val="accent6"/>
                </a:solidFill>
              </a:rPr>
              <a:t>     ← 분모에 배치 전체가 필요</a:t>
            </a:r>
            <a:endParaRPr lang="en-US" sz="2400" dirty="0"/>
          </a:p>
        </p:txBody>
      </p:sp>
      <p:sp>
        <p:nvSpPr>
          <p:cNvPr id="5" name="card-204"/>
          <p:cNvSpPr/>
          <p:nvPr/>
        </p:nvSpPr>
        <p:spPr>
          <a:xfrm>
            <a:off x="640080" y="2788920"/>
            <a:ext cx="3474720" cy="3108960"/>
          </a:xfrm>
          <a:prstGeom prst="roundRect">
            <a:avLst>
              <a:gd name="adj" fmla="val 4118"/>
            </a:avLst>
          </a:prstGeom>
          <a:solidFill>
            <a:schemeClr val="accent4">
              <a:alpha val="7000"/>
            </a:schemeClr>
          </a:solidFill>
          <a:ln/>
        </p:spPr>
      </p:sp>
      <p:sp>
        <p:nvSpPr>
          <p:cNvPr id="6" name="circle-205"/>
          <p:cNvSpPr/>
          <p:nvPr/>
        </p:nvSpPr>
        <p:spPr>
          <a:xfrm>
            <a:off x="960120" y="3063240"/>
            <a:ext cx="868680" cy="868680"/>
          </a:xfrm>
          <a:prstGeom prst="ellipse">
            <a:avLst/>
          </a:prstGeom>
          <a:solidFill>
            <a:schemeClr val="accent4"/>
          </a:solidFill>
          <a:ln/>
        </p:spPr>
      </p:sp>
      <p:pic>
        <p:nvPicPr>
          <p:cNvPr id="7" name="icon-FaNetworkWired-206" descr="FaNetworkWired">    </p:cNvPr>
          <p:cNvPicPr>
            <a:picLocks noChangeAspect="1"/>
          </p:cNvPicPr>
          <p:nvPr/>
        </p:nvPicPr>
        <p:blipFill>
          <a:blip r:embed="rId1"/>
          <a:stretch>
            <a:fillRect/>
          </a:stretch>
        </p:blipFill>
        <p:spPr>
          <a:xfrm>
            <a:off x="1185977" y="3289097"/>
            <a:ext cx="416966" cy="416966"/>
          </a:xfrm>
          <a:prstGeom prst="rect">
            <a:avLst/>
          </a:prstGeom>
        </p:spPr>
      </p:pic>
      <p:sp>
        <p:nvSpPr>
          <p:cNvPr id="8" name="text-207"/>
          <p:cNvSpPr txBox="1"/>
          <p:nvPr/>
        </p:nvSpPr>
        <p:spPr>
          <a:xfrm>
            <a:off x="960120" y="4114800"/>
            <a:ext cx="2926080" cy="502920"/>
          </a:xfrm>
          <a:prstGeom prst="rect">
            <a:avLst/>
          </a:prstGeom>
          <a:noFill/>
          <a:ln/>
        </p:spPr>
        <p:txBody>
          <a:bodyPr wrap="square" lIns="0" tIns="0" rIns="0" bIns="0" rtlCol="0" anchor="t"/>
          <a:lstStyle/>
          <a:p>
            <a:pPr indent="0" marL="0">
              <a:buNone/>
            </a:pPr>
            <a:r>
              <a:rPr lang="en-US" sz="2200" b="1" dirty="0">
                <a:solidFill>
                  <a:schemeClr val="accent4"/>
                </a:solidFill>
              </a:rPr>
              <a:t>전부 모아야 함</a:t>
            </a:r>
            <a:endParaRPr lang="en-US" sz="2200" dirty="0"/>
          </a:p>
        </p:txBody>
      </p:sp>
      <p:sp>
        <p:nvSpPr>
          <p:cNvPr id="9" name="text-208"/>
          <p:cNvSpPr txBox="1"/>
          <p:nvPr/>
        </p:nvSpPr>
        <p:spPr>
          <a:xfrm>
            <a:off x="960120" y="4663440"/>
            <a:ext cx="2926080" cy="1097280"/>
          </a:xfrm>
          <a:prstGeom prst="rect">
            <a:avLst/>
          </a:prstGeom>
          <a:noFill/>
          <a:ln/>
        </p:spPr>
        <p:txBody>
          <a:bodyPr wrap="square" lIns="0" tIns="0" rIns="0" bIns="0" rtlCol="0" anchor="t"/>
          <a:lstStyle/>
          <a:p>
            <a:pPr indent="0" marL="0">
              <a:buNone/>
            </a:pPr>
            <a:r>
              <a:rPr lang="en-US" sz="1700" dirty="0">
                <a:solidFill>
                  <a:schemeClr val="tx1"/>
                </a:solidFill>
              </a:rPr>
              <a:t>여러 GPU에 흩어진 임베딩을 한곳에 모아 B×B 표 전체 계산</a:t>
            </a:r>
            <a:endParaRPr lang="en-US" sz="1700" dirty="0"/>
          </a:p>
        </p:txBody>
      </p:sp>
      <p:sp>
        <p:nvSpPr>
          <p:cNvPr id="10" name="card-209"/>
          <p:cNvSpPr/>
          <p:nvPr/>
        </p:nvSpPr>
        <p:spPr>
          <a:xfrm>
            <a:off x="4343400" y="2788920"/>
            <a:ext cx="3474720" cy="3108960"/>
          </a:xfrm>
          <a:prstGeom prst="roundRect">
            <a:avLst>
              <a:gd name="adj" fmla="val 4118"/>
            </a:avLst>
          </a:prstGeom>
          <a:solidFill>
            <a:schemeClr val="accent4">
              <a:alpha val="7000"/>
            </a:schemeClr>
          </a:solidFill>
          <a:ln/>
        </p:spPr>
      </p:sp>
      <p:sp>
        <p:nvSpPr>
          <p:cNvPr id="11" name="circle-210"/>
          <p:cNvSpPr/>
          <p:nvPr/>
        </p:nvSpPr>
        <p:spPr>
          <a:xfrm>
            <a:off x="4663440" y="3063240"/>
            <a:ext cx="868680" cy="868680"/>
          </a:xfrm>
          <a:prstGeom prst="ellipse">
            <a:avLst/>
          </a:prstGeom>
          <a:solidFill>
            <a:schemeClr val="accent4"/>
          </a:solidFill>
          <a:ln/>
        </p:spPr>
      </p:sp>
      <p:pic>
        <p:nvPicPr>
          <p:cNvPr id="12" name="icon-FaExpandArrowsAlt-211" descr="FaExpandArrowsAlt">    </p:cNvPr>
          <p:cNvPicPr>
            <a:picLocks noChangeAspect="1"/>
          </p:cNvPicPr>
          <p:nvPr/>
        </p:nvPicPr>
        <p:blipFill>
          <a:blip r:embed="rId2"/>
          <a:stretch>
            <a:fillRect/>
          </a:stretch>
        </p:blipFill>
        <p:spPr>
          <a:xfrm>
            <a:off x="4889297" y="3289097"/>
            <a:ext cx="416966" cy="416966"/>
          </a:xfrm>
          <a:prstGeom prst="rect">
            <a:avLst/>
          </a:prstGeom>
        </p:spPr>
      </p:pic>
      <p:sp>
        <p:nvSpPr>
          <p:cNvPr id="13" name="text-212"/>
          <p:cNvSpPr txBox="1"/>
          <p:nvPr/>
        </p:nvSpPr>
        <p:spPr>
          <a:xfrm>
            <a:off x="4663440" y="4114800"/>
            <a:ext cx="2926080" cy="502920"/>
          </a:xfrm>
          <a:prstGeom prst="rect">
            <a:avLst/>
          </a:prstGeom>
          <a:noFill/>
          <a:ln/>
        </p:spPr>
        <p:txBody>
          <a:bodyPr wrap="square" lIns="0" tIns="0" rIns="0" bIns="0" rtlCol="0" anchor="t"/>
          <a:lstStyle/>
          <a:p>
            <a:pPr indent="0" marL="0">
              <a:buNone/>
            </a:pPr>
            <a:r>
              <a:rPr lang="en-US" sz="2200" b="1" dirty="0">
                <a:solidFill>
                  <a:schemeClr val="accent4"/>
                </a:solidFill>
              </a:rPr>
              <a:t>큰 배치가 필요</a:t>
            </a:r>
            <a:endParaRPr lang="en-US" sz="2200" dirty="0"/>
          </a:p>
        </p:txBody>
      </p:sp>
      <p:sp>
        <p:nvSpPr>
          <p:cNvPr id="14" name="text-213"/>
          <p:cNvSpPr txBox="1"/>
          <p:nvPr/>
        </p:nvSpPr>
        <p:spPr>
          <a:xfrm>
            <a:off x="4663440" y="4663440"/>
            <a:ext cx="2926080" cy="1097280"/>
          </a:xfrm>
          <a:prstGeom prst="rect">
            <a:avLst/>
          </a:prstGeom>
          <a:noFill/>
          <a:ln/>
        </p:spPr>
        <p:txBody>
          <a:bodyPr wrap="square" lIns="0" tIns="0" rIns="0" bIns="0" rtlCol="0" anchor="t"/>
          <a:lstStyle/>
          <a:p>
            <a:pPr indent="0" marL="0">
              <a:buNone/>
            </a:pPr>
            <a:r>
              <a:rPr lang="en-US" sz="1700" dirty="0">
                <a:solidFill>
                  <a:schemeClr val="tx1"/>
                </a:solidFill>
              </a:rPr>
              <a:t>보기가 많아야 잘 배움 (CLIP은 32k)</a:t>
            </a:r>
            <a:endParaRPr lang="en-US" sz="1700" dirty="0"/>
          </a:p>
        </p:txBody>
      </p:sp>
      <p:sp>
        <p:nvSpPr>
          <p:cNvPr id="15" name="card-214"/>
          <p:cNvSpPr/>
          <p:nvPr/>
        </p:nvSpPr>
        <p:spPr>
          <a:xfrm>
            <a:off x="8046720" y="2788920"/>
            <a:ext cx="3474720" cy="3108960"/>
          </a:xfrm>
          <a:prstGeom prst="roundRect">
            <a:avLst>
              <a:gd name="adj" fmla="val 4118"/>
            </a:avLst>
          </a:prstGeom>
          <a:solidFill>
            <a:schemeClr val="accent4">
              <a:alpha val="7000"/>
            </a:schemeClr>
          </a:solidFill>
          <a:ln/>
        </p:spPr>
      </p:sp>
      <p:sp>
        <p:nvSpPr>
          <p:cNvPr id="16" name="circle-215"/>
          <p:cNvSpPr/>
          <p:nvPr/>
        </p:nvSpPr>
        <p:spPr>
          <a:xfrm>
            <a:off x="8366760" y="3063240"/>
            <a:ext cx="868680" cy="868680"/>
          </a:xfrm>
          <a:prstGeom prst="ellipse">
            <a:avLst/>
          </a:prstGeom>
          <a:solidFill>
            <a:schemeClr val="accent4"/>
          </a:solidFill>
          <a:ln/>
        </p:spPr>
      </p:sp>
      <p:pic>
        <p:nvPicPr>
          <p:cNvPr id="17" name="icon-FaCalculator-216" descr="FaCalculator">    </p:cNvPr>
          <p:cNvPicPr>
            <a:picLocks noChangeAspect="1"/>
          </p:cNvPicPr>
          <p:nvPr/>
        </p:nvPicPr>
        <p:blipFill>
          <a:blip r:embed="rId3"/>
          <a:stretch>
            <a:fillRect/>
          </a:stretch>
        </p:blipFill>
        <p:spPr>
          <a:xfrm>
            <a:off x="8592617" y="3289097"/>
            <a:ext cx="416966" cy="416966"/>
          </a:xfrm>
          <a:prstGeom prst="rect">
            <a:avLst/>
          </a:prstGeom>
        </p:spPr>
      </p:pic>
      <p:sp>
        <p:nvSpPr>
          <p:cNvPr id="18" name="text-217"/>
          <p:cNvSpPr txBox="1"/>
          <p:nvPr/>
        </p:nvSpPr>
        <p:spPr>
          <a:xfrm>
            <a:off x="8366760" y="4114800"/>
            <a:ext cx="2926080" cy="502920"/>
          </a:xfrm>
          <a:prstGeom prst="rect">
            <a:avLst/>
          </a:prstGeom>
          <a:noFill/>
          <a:ln/>
        </p:spPr>
        <p:txBody>
          <a:bodyPr wrap="square" lIns="0" tIns="0" rIns="0" bIns="0" rtlCol="0" anchor="t"/>
          <a:lstStyle/>
          <a:p>
            <a:pPr indent="0" marL="0">
              <a:buNone/>
            </a:pPr>
            <a:r>
              <a:rPr lang="en-US" sz="2200" b="1" dirty="0">
                <a:solidFill>
                  <a:schemeClr val="accent4"/>
                </a:solidFill>
              </a:rPr>
              <a:t>계산이 무거움</a:t>
            </a:r>
            <a:endParaRPr lang="en-US" sz="2200" dirty="0"/>
          </a:p>
        </p:txBody>
      </p:sp>
      <p:sp>
        <p:nvSpPr>
          <p:cNvPr id="19" name="text-218"/>
          <p:cNvSpPr txBox="1"/>
          <p:nvPr/>
        </p:nvSpPr>
        <p:spPr>
          <a:xfrm>
            <a:off x="8366760" y="4663440"/>
            <a:ext cx="2926080" cy="1097280"/>
          </a:xfrm>
          <a:prstGeom prst="rect">
            <a:avLst/>
          </a:prstGeom>
          <a:noFill/>
          <a:ln/>
        </p:spPr>
        <p:txBody>
          <a:bodyPr wrap="square" lIns="0" tIns="0" rIns="0" bIns="0" rtlCol="0" anchor="t"/>
          <a:lstStyle/>
          <a:p>
            <a:pPr indent="0" marL="0">
              <a:buNone/>
            </a:pPr>
            <a:r>
              <a:rPr lang="en-US" sz="1700" dirty="0">
                <a:solidFill>
                  <a:schemeClr val="tx1"/>
                </a:solidFill>
              </a:rPr>
              <a:t>메모리·통신 부담, 수치 안정화 처리도 추가</a:t>
            </a:r>
            <a:endParaRPr lang="en-US" sz="17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SigLIP: 객관식을 O/X 퀴즈로 바꾸다</a:t>
            </a:r>
            <a:endParaRPr lang="en-US" sz="3000" dirty="0"/>
          </a:p>
        </p:txBody>
      </p:sp>
      <p:sp>
        <p:nvSpPr>
          <p:cNvPr id="3" name="text-219"/>
          <p:cNvSpPr txBox="1"/>
          <p:nvPr/>
        </p:nvSpPr>
        <p:spPr>
          <a:xfrm>
            <a:off x="640080" y="1280160"/>
            <a:ext cx="10881360" cy="457200"/>
          </a:xfrm>
          <a:prstGeom prst="rect">
            <a:avLst/>
          </a:prstGeom>
          <a:noFill/>
          <a:ln/>
        </p:spPr>
        <p:txBody>
          <a:bodyPr wrap="square" lIns="0" tIns="0" rIns="0" bIns="0" rtlCol="0" anchor="t"/>
          <a:lstStyle/>
          <a:p>
            <a:pPr indent="0" marL="0">
              <a:buNone/>
            </a:pPr>
            <a:r>
              <a:rPr lang="en-US" sz="2000" i="1" dirty="0">
                <a:solidFill>
                  <a:schemeClr val="tx2"/>
                </a:solidFill>
              </a:rPr>
              <a:t>Sigmoid Loss for Language Image Pre-Training</a:t>
            </a:r>
            <a:endParaRPr lang="en-US" sz="2000" dirty="0"/>
          </a:p>
        </p:txBody>
      </p:sp>
      <p:sp>
        <p:nvSpPr>
          <p:cNvPr id="4" name="text-220"/>
          <p:cNvSpPr txBox="1"/>
          <p:nvPr/>
        </p:nvSpPr>
        <p:spPr>
          <a:xfrm>
            <a:off x="640080" y="1737360"/>
            <a:ext cx="10881360" cy="365760"/>
          </a:xfrm>
          <a:prstGeom prst="rect">
            <a:avLst/>
          </a:prstGeom>
          <a:noFill/>
          <a:ln/>
        </p:spPr>
        <p:txBody>
          <a:bodyPr wrap="square" lIns="0" tIns="0" rIns="0" bIns="0" rtlCol="0" anchor="t"/>
          <a:lstStyle/>
          <a:p>
            <a:pPr indent="0" marL="0">
              <a:buNone/>
            </a:pPr>
            <a:r>
              <a:rPr lang="en-US" sz="1500" dirty="0">
                <a:solidFill>
                  <a:schemeClr val="accent6"/>
                </a:solidFill>
              </a:rPr>
              <a:t>Zhai et al. · Google DeepMind · ICCV 2023</a:t>
            </a:r>
            <a:endParaRPr lang="en-US" sz="1500" dirty="0"/>
          </a:p>
        </p:txBody>
      </p:sp>
      <p:sp>
        <p:nvSpPr>
          <p:cNvPr id="5" name="card-221"/>
          <p:cNvSpPr/>
          <p:nvPr/>
        </p:nvSpPr>
        <p:spPr>
          <a:xfrm>
            <a:off x="822960" y="2560320"/>
            <a:ext cx="4206240" cy="2194560"/>
          </a:xfrm>
          <a:prstGeom prst="roundRect">
            <a:avLst>
              <a:gd name="adj" fmla="val 5833"/>
            </a:avLst>
          </a:prstGeom>
          <a:solidFill>
            <a:schemeClr val="bg2"/>
          </a:solidFill>
          <a:ln/>
        </p:spPr>
      </p:sp>
      <p:sp>
        <p:nvSpPr>
          <p:cNvPr id="6" name="circle-222"/>
          <p:cNvSpPr/>
          <p:nvPr/>
        </p:nvSpPr>
        <p:spPr>
          <a:xfrm>
            <a:off x="1143000" y="2880360"/>
            <a:ext cx="822960" cy="822960"/>
          </a:xfrm>
          <a:prstGeom prst="ellipse">
            <a:avLst/>
          </a:prstGeom>
          <a:solidFill>
            <a:schemeClr val="accent6"/>
          </a:solidFill>
          <a:ln/>
        </p:spPr>
      </p:sp>
      <p:pic>
        <p:nvPicPr>
          <p:cNvPr id="7" name="icon-FaListOl-223" descr="FaListOl">    </p:cNvPr>
          <p:cNvPicPr>
            <a:picLocks noChangeAspect="1"/>
          </p:cNvPicPr>
          <p:nvPr/>
        </p:nvPicPr>
        <p:blipFill>
          <a:blip r:embed="rId1"/>
          <a:stretch>
            <a:fillRect/>
          </a:stretch>
        </p:blipFill>
        <p:spPr>
          <a:xfrm>
            <a:off x="1356970" y="3094330"/>
            <a:ext cx="395021" cy="395021"/>
          </a:xfrm>
          <a:prstGeom prst="rect">
            <a:avLst/>
          </a:prstGeom>
        </p:spPr>
      </p:pic>
      <p:sp>
        <p:nvSpPr>
          <p:cNvPr id="8" name="text-224"/>
          <p:cNvSpPr txBox="1"/>
          <p:nvPr/>
        </p:nvSpPr>
        <p:spPr>
          <a:xfrm>
            <a:off x="2148840" y="2880360"/>
            <a:ext cx="2743200" cy="411480"/>
          </a:xfrm>
          <a:prstGeom prst="rect">
            <a:avLst/>
          </a:prstGeom>
          <a:noFill/>
          <a:ln/>
        </p:spPr>
        <p:txBody>
          <a:bodyPr wrap="square" lIns="0" tIns="0" rIns="0" bIns="0" rtlCol="0" anchor="t"/>
          <a:lstStyle/>
          <a:p>
            <a:pPr indent="0" marL="0">
              <a:buNone/>
            </a:pPr>
            <a:r>
              <a:rPr lang="en-US" sz="1800" b="1" dirty="0">
                <a:solidFill>
                  <a:schemeClr val="tx2"/>
                </a:solidFill>
              </a:rPr>
              <a:t>CLIP</a:t>
            </a:r>
            <a:endParaRPr lang="en-US" sz="1800" dirty="0"/>
          </a:p>
        </p:txBody>
      </p:sp>
      <p:sp>
        <p:nvSpPr>
          <p:cNvPr id="9" name="text-225"/>
          <p:cNvSpPr txBox="1"/>
          <p:nvPr/>
        </p:nvSpPr>
        <p:spPr>
          <a:xfrm>
            <a:off x="2148840" y="3246120"/>
            <a:ext cx="2743200" cy="548640"/>
          </a:xfrm>
          <a:prstGeom prst="rect">
            <a:avLst/>
          </a:prstGeom>
          <a:noFill/>
          <a:ln/>
        </p:spPr>
        <p:txBody>
          <a:bodyPr wrap="square" lIns="0" tIns="0" rIns="0" bIns="0" rtlCol="0" anchor="t"/>
          <a:lstStyle/>
          <a:p>
            <a:pPr indent="0" marL="0">
              <a:buNone/>
            </a:pPr>
            <a:r>
              <a:rPr lang="en-US" sz="2800" b="1" dirty="0">
                <a:solidFill>
                  <a:schemeClr val="tx2"/>
                </a:solidFill>
              </a:rPr>
              <a:t>Softmax</a:t>
            </a:r>
            <a:endParaRPr lang="en-US" sz="2800" dirty="0"/>
          </a:p>
        </p:txBody>
      </p:sp>
      <p:sp>
        <p:nvSpPr>
          <p:cNvPr id="10" name="text-226"/>
          <p:cNvSpPr txBox="1"/>
          <p:nvPr/>
        </p:nvSpPr>
        <p:spPr>
          <a:xfrm>
            <a:off x="1143000" y="4069080"/>
            <a:ext cx="3749040" cy="457200"/>
          </a:xfrm>
          <a:prstGeom prst="rect">
            <a:avLst/>
          </a:prstGeom>
          <a:noFill/>
          <a:ln/>
        </p:spPr>
        <p:txBody>
          <a:bodyPr wrap="square" lIns="0" tIns="0" rIns="0" bIns="0" rtlCol="0" anchor="t"/>
          <a:lstStyle/>
          <a:p>
            <a:pPr indent="0" marL="0">
              <a:buNone/>
            </a:pPr>
            <a:r>
              <a:rPr lang="en-US" sz="1700" dirty="0">
                <a:solidFill>
                  <a:schemeClr val="tx1"/>
                </a:solidFill>
              </a:rPr>
              <a:t>객관식: 보기 중 하나 고르기</a:t>
            </a:r>
            <a:endParaRPr lang="en-US" sz="1700" dirty="0"/>
          </a:p>
        </p:txBody>
      </p:sp>
      <p:sp>
        <p:nvSpPr>
          <p:cNvPr id="11" name="arrow-227"/>
          <p:cNvSpPr/>
          <p:nvPr/>
        </p:nvSpPr>
        <p:spPr>
          <a:xfrm>
            <a:off x="5303520" y="3657600"/>
            <a:ext cx="1371600" cy="0"/>
          </a:xfrm>
          <a:prstGeom prst="line">
            <a:avLst/>
          </a:prstGeom>
          <a:noFill/>
          <a:ln w="31750">
            <a:solidFill>
              <a:schemeClr val="accent3"/>
            </a:solidFill>
            <a:prstDash val="solid"/>
            <a:tailEnd type="triangle"/>
          </a:ln>
        </p:spPr>
      </p:sp>
      <p:sp>
        <p:nvSpPr>
          <p:cNvPr id="12" name="card-228"/>
          <p:cNvSpPr/>
          <p:nvPr/>
        </p:nvSpPr>
        <p:spPr>
          <a:xfrm>
            <a:off x="6949440" y="2560320"/>
            <a:ext cx="4389120" cy="2194560"/>
          </a:xfrm>
          <a:prstGeom prst="roundRect">
            <a:avLst>
              <a:gd name="adj" fmla="val 5833"/>
            </a:avLst>
          </a:prstGeom>
          <a:solidFill>
            <a:schemeClr val="accent3">
              <a:alpha val="12000"/>
            </a:schemeClr>
          </a:solidFill>
          <a:ln w="25400">
            <a:solidFill>
              <a:schemeClr val="accent3"/>
            </a:solidFill>
            <a:prstDash val="solid"/>
          </a:ln>
        </p:spPr>
      </p:sp>
      <p:sp>
        <p:nvSpPr>
          <p:cNvPr id="13" name="circle-229"/>
          <p:cNvSpPr/>
          <p:nvPr/>
        </p:nvSpPr>
        <p:spPr>
          <a:xfrm>
            <a:off x="7269480" y="2880360"/>
            <a:ext cx="822960" cy="822960"/>
          </a:xfrm>
          <a:prstGeom prst="ellipse">
            <a:avLst/>
          </a:prstGeom>
          <a:solidFill>
            <a:schemeClr val="accent3"/>
          </a:solidFill>
          <a:ln/>
        </p:spPr>
      </p:sp>
      <p:pic>
        <p:nvPicPr>
          <p:cNvPr id="14" name="icon-FaToggleOn-230" descr="FaToggleOn">    </p:cNvPr>
          <p:cNvPicPr>
            <a:picLocks noChangeAspect="1"/>
          </p:cNvPicPr>
          <p:nvPr/>
        </p:nvPicPr>
        <p:blipFill>
          <a:blip r:embed="rId2"/>
          <a:stretch>
            <a:fillRect/>
          </a:stretch>
        </p:blipFill>
        <p:spPr>
          <a:xfrm>
            <a:off x="7483450" y="3094330"/>
            <a:ext cx="395021" cy="395021"/>
          </a:xfrm>
          <a:prstGeom prst="rect">
            <a:avLst/>
          </a:prstGeom>
        </p:spPr>
      </p:pic>
      <p:sp>
        <p:nvSpPr>
          <p:cNvPr id="15" name="text-231"/>
          <p:cNvSpPr txBox="1"/>
          <p:nvPr/>
        </p:nvSpPr>
        <p:spPr>
          <a:xfrm>
            <a:off x="8275320" y="2880360"/>
            <a:ext cx="2743200" cy="411480"/>
          </a:xfrm>
          <a:prstGeom prst="rect">
            <a:avLst/>
          </a:prstGeom>
          <a:noFill/>
          <a:ln/>
        </p:spPr>
        <p:txBody>
          <a:bodyPr wrap="square" lIns="0" tIns="0" rIns="0" bIns="0" rtlCol="0" anchor="t"/>
          <a:lstStyle/>
          <a:p>
            <a:pPr indent="0" marL="0">
              <a:buNone/>
            </a:pPr>
            <a:r>
              <a:rPr lang="en-US" sz="1800" b="1" dirty="0">
                <a:solidFill>
                  <a:schemeClr val="accent3"/>
                </a:solidFill>
              </a:rPr>
              <a:t>SigLIP</a:t>
            </a:r>
            <a:endParaRPr lang="en-US" sz="1800" dirty="0"/>
          </a:p>
        </p:txBody>
      </p:sp>
      <p:sp>
        <p:nvSpPr>
          <p:cNvPr id="16" name="text-232"/>
          <p:cNvSpPr txBox="1"/>
          <p:nvPr/>
        </p:nvSpPr>
        <p:spPr>
          <a:xfrm>
            <a:off x="8275320" y="3246120"/>
            <a:ext cx="2743200" cy="548640"/>
          </a:xfrm>
          <a:prstGeom prst="rect">
            <a:avLst/>
          </a:prstGeom>
          <a:noFill/>
          <a:ln/>
        </p:spPr>
        <p:txBody>
          <a:bodyPr wrap="square" lIns="0" tIns="0" rIns="0" bIns="0" rtlCol="0" anchor="t"/>
          <a:lstStyle/>
          <a:p>
            <a:pPr indent="0" marL="0">
              <a:buNone/>
            </a:pPr>
            <a:r>
              <a:rPr lang="en-US" sz="2800" b="1" dirty="0">
                <a:solidFill>
                  <a:schemeClr val="accent3"/>
                </a:solidFill>
              </a:rPr>
              <a:t>Sigmoid</a:t>
            </a:r>
            <a:endParaRPr lang="en-US" sz="2800" dirty="0"/>
          </a:p>
        </p:txBody>
      </p:sp>
      <p:sp>
        <p:nvSpPr>
          <p:cNvPr id="17" name="text-233"/>
          <p:cNvSpPr txBox="1"/>
          <p:nvPr/>
        </p:nvSpPr>
        <p:spPr>
          <a:xfrm>
            <a:off x="7269480" y="4069080"/>
            <a:ext cx="3931920" cy="457200"/>
          </a:xfrm>
          <a:prstGeom prst="rect">
            <a:avLst/>
          </a:prstGeom>
          <a:noFill/>
          <a:ln/>
        </p:spPr>
        <p:txBody>
          <a:bodyPr wrap="square" lIns="0" tIns="0" rIns="0" bIns="0" rtlCol="0" anchor="t"/>
          <a:lstStyle/>
          <a:p>
            <a:pPr indent="0" marL="0">
              <a:buNone/>
            </a:pPr>
            <a:r>
              <a:rPr lang="en-US" sz="1700" dirty="0">
                <a:solidFill>
                  <a:schemeClr val="tx1"/>
                </a:solidFill>
              </a:rPr>
              <a:t>O/X: 쌍마다 “짝인가?” 판정</a:t>
            </a:r>
            <a:endParaRPr lang="en-US" sz="1700" dirty="0"/>
          </a:p>
        </p:txBody>
      </p:sp>
      <p:sp>
        <p:nvSpPr>
          <p:cNvPr id="18" name="text-234"/>
          <p:cNvSpPr txBox="1"/>
          <p:nvPr/>
        </p:nvSpPr>
        <p:spPr>
          <a:xfrm>
            <a:off x="640080" y="5257800"/>
            <a:ext cx="10881360" cy="640080"/>
          </a:xfrm>
          <a:prstGeom prst="rect">
            <a:avLst/>
          </a:prstGeom>
          <a:noFill/>
          <a:ln/>
        </p:spPr>
        <p:txBody>
          <a:bodyPr wrap="square" lIns="0" tIns="0" rIns="0" bIns="0" rtlCol="0" anchor="ctr"/>
          <a:lstStyle/>
          <a:p>
            <a:pPr algn="ctr" indent="0" marL="0">
              <a:buNone/>
            </a:pPr>
            <a:r>
              <a:rPr lang="en-US" sz="2100" dirty="0">
                <a:solidFill>
                  <a:schemeClr val="tx1"/>
                </a:solidFill>
              </a:rPr>
              <a:t>모델 구조는 CLIP과 거의 같고 </a:t>
            </a:r>
            <a:r>
              <a:rPr lang="en-US" sz="2100" b="1" dirty="0">
                <a:solidFill>
                  <a:schemeClr val="accent3"/>
                </a:solidFill>
              </a:rPr>
              <a:t>손실 함수만</a:t>
            </a:r>
            <a:r>
              <a:rPr lang="en-US" sz="2100" dirty="0">
                <a:solidFill>
                  <a:schemeClr val="tx1"/>
                </a:solidFill>
              </a:rPr>
              <a:t> 바꿨는데 효율과 성능이 좋아졌다</a:t>
            </a:r>
            <a:endParaRPr lang="en-US" sz="21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O/X 퀴즈: 쌍마다 따로 판정 (Sigmoid)</a:t>
            </a:r>
            <a:endParaRPr lang="en-US" sz="3000" dirty="0"/>
          </a:p>
        </p:txBody>
      </p:sp>
      <p:pic>
        <p:nvPicPr>
          <p:cNvPr id="3" name="photo-cat-235" descr="고양이 사진">    </p:cNvPr>
          <p:cNvPicPr>
            <a:picLocks noChangeAspect="1"/>
          </p:cNvPicPr>
          <p:nvPr/>
        </p:nvPicPr>
        <p:blipFill>
          <a:blip r:embed="rId1"/>
          <a:stretch>
            <a:fillRect/>
          </a:stretch>
        </p:blipFill>
        <p:spPr>
          <a:xfrm>
            <a:off x="822960" y="1645920"/>
            <a:ext cx="2377440" cy="2377440"/>
          </a:xfrm>
          <a:prstGeom prst="ellipse">
            <a:avLst/>
          </a:prstGeom>
        </p:spPr>
      </p:pic>
      <p:sp>
        <p:nvSpPr>
          <p:cNvPr id="4" name="text-236"/>
          <p:cNvSpPr txBox="1"/>
          <p:nvPr/>
        </p:nvSpPr>
        <p:spPr>
          <a:xfrm>
            <a:off x="640080" y="4206240"/>
            <a:ext cx="2743200" cy="457200"/>
          </a:xfrm>
          <a:prstGeom prst="rect">
            <a:avLst/>
          </a:prstGeom>
          <a:noFill/>
          <a:ln/>
        </p:spPr>
        <p:txBody>
          <a:bodyPr wrap="square" lIns="0" tIns="0" rIns="0" bIns="0" rtlCol="0" anchor="t"/>
          <a:lstStyle/>
          <a:p>
            <a:pPr algn="ctr" indent="0" marL="0">
              <a:buNone/>
            </a:pPr>
            <a:r>
              <a:rPr lang="en-US" sz="2000" b="1" dirty="0">
                <a:solidFill>
                  <a:schemeClr val="tx1"/>
                </a:solidFill>
              </a:rPr>
              <a:t>각 캡션과 짝인가?</a:t>
            </a:r>
            <a:endParaRPr lang="en-US" sz="2000" dirty="0"/>
          </a:p>
        </p:txBody>
      </p:sp>
      <p:sp>
        <p:nvSpPr>
          <p:cNvPr id="5" name="circle-237"/>
          <p:cNvSpPr/>
          <p:nvPr/>
        </p:nvSpPr>
        <p:spPr>
          <a:xfrm>
            <a:off x="3840480" y="1600200"/>
            <a:ext cx="457200" cy="457200"/>
          </a:xfrm>
          <a:prstGeom prst="ellipse">
            <a:avLst/>
          </a:prstGeom>
          <a:solidFill>
            <a:schemeClr val="accent5"/>
          </a:solidFill>
          <a:ln/>
        </p:spPr>
      </p:sp>
      <p:pic>
        <p:nvPicPr>
          <p:cNvPr id="6" name="icon-FaCheck-238" descr="FaCheck">    </p:cNvPr>
          <p:cNvPicPr>
            <a:picLocks noChangeAspect="1"/>
          </p:cNvPicPr>
          <p:nvPr/>
        </p:nvPicPr>
        <p:blipFill>
          <a:blip r:embed="rId2"/>
          <a:stretch>
            <a:fillRect/>
          </a:stretch>
        </p:blipFill>
        <p:spPr>
          <a:xfrm>
            <a:off x="3959352" y="1719072"/>
            <a:ext cx="219456" cy="219456"/>
          </a:xfrm>
          <a:prstGeom prst="rect">
            <a:avLst/>
          </a:prstGeom>
        </p:spPr>
      </p:pic>
      <p:sp>
        <p:nvSpPr>
          <p:cNvPr id="7" name="text-239"/>
          <p:cNvSpPr txBox="1"/>
          <p:nvPr/>
        </p:nvSpPr>
        <p:spPr>
          <a:xfrm>
            <a:off x="4434840" y="1554480"/>
            <a:ext cx="2377440" cy="548640"/>
          </a:xfrm>
          <a:prstGeom prst="rect">
            <a:avLst/>
          </a:prstGeom>
          <a:noFill/>
          <a:ln/>
        </p:spPr>
        <p:txBody>
          <a:bodyPr wrap="square" lIns="0" tIns="0" rIns="0" bIns="0" rtlCol="0" anchor="ctr"/>
          <a:lstStyle/>
          <a:p>
            <a:pPr indent="0" marL="0">
              <a:buNone/>
            </a:pPr>
            <a:r>
              <a:rPr lang="en-US" sz="1800" b="1" dirty="0">
                <a:solidFill>
                  <a:schemeClr val="tx1"/>
                </a:solidFill>
              </a:rPr>
              <a:t>a photo of a cat</a:t>
            </a:r>
            <a:endParaRPr lang="en-US" sz="1800" dirty="0"/>
          </a:p>
        </p:txBody>
      </p:sp>
      <p:sp>
        <p:nvSpPr>
          <p:cNvPr id="8" name="bar-bg-240"/>
          <p:cNvSpPr/>
          <p:nvPr/>
        </p:nvSpPr>
        <p:spPr>
          <a:xfrm>
            <a:off x="6858000" y="1664208"/>
            <a:ext cx="3657600" cy="329184"/>
          </a:xfrm>
          <a:prstGeom prst="rect">
            <a:avLst/>
          </a:prstGeom>
          <a:solidFill>
            <a:schemeClr val="bg2"/>
          </a:solidFill>
          <a:ln/>
        </p:spPr>
      </p:sp>
      <p:sp>
        <p:nvSpPr>
          <p:cNvPr id="9" name="bar-241"/>
          <p:cNvSpPr/>
          <p:nvPr/>
        </p:nvSpPr>
        <p:spPr>
          <a:xfrm>
            <a:off x="6858000" y="1664208"/>
            <a:ext cx="3547872" cy="329184"/>
          </a:xfrm>
          <a:prstGeom prst="rect">
            <a:avLst/>
          </a:prstGeom>
          <a:solidFill>
            <a:schemeClr val="accent5"/>
          </a:solidFill>
          <a:ln/>
        </p:spPr>
      </p:sp>
      <p:sp>
        <p:nvSpPr>
          <p:cNvPr id="10" name="text-242"/>
          <p:cNvSpPr txBox="1"/>
          <p:nvPr/>
        </p:nvSpPr>
        <p:spPr>
          <a:xfrm>
            <a:off x="10652760" y="1554480"/>
            <a:ext cx="822960" cy="548640"/>
          </a:xfrm>
          <a:prstGeom prst="rect">
            <a:avLst/>
          </a:prstGeom>
          <a:noFill/>
          <a:ln/>
        </p:spPr>
        <p:txBody>
          <a:bodyPr wrap="square" lIns="0" tIns="0" rIns="0" bIns="0" rtlCol="0" anchor="ctr"/>
          <a:lstStyle/>
          <a:p>
            <a:pPr indent="0" marL="0">
              <a:buNone/>
            </a:pPr>
            <a:r>
              <a:rPr lang="en-US" sz="1800" b="1" dirty="0">
                <a:solidFill>
                  <a:schemeClr val="accent5"/>
                </a:solidFill>
              </a:rPr>
              <a:t>0.97</a:t>
            </a:r>
            <a:endParaRPr lang="en-US" sz="1800" dirty="0"/>
          </a:p>
        </p:txBody>
      </p:sp>
      <p:sp>
        <p:nvSpPr>
          <p:cNvPr id="11" name="circle-243"/>
          <p:cNvSpPr/>
          <p:nvPr/>
        </p:nvSpPr>
        <p:spPr>
          <a:xfrm>
            <a:off x="3840480" y="2377440"/>
            <a:ext cx="457200" cy="457200"/>
          </a:xfrm>
          <a:prstGeom prst="ellipse">
            <a:avLst/>
          </a:prstGeom>
          <a:solidFill>
            <a:schemeClr val="accent4"/>
          </a:solidFill>
          <a:ln/>
        </p:spPr>
      </p:sp>
      <p:pic>
        <p:nvPicPr>
          <p:cNvPr id="12" name="icon-FaTimes-244" descr="FaTimes">    </p:cNvPr>
          <p:cNvPicPr>
            <a:picLocks noChangeAspect="1"/>
          </p:cNvPicPr>
          <p:nvPr/>
        </p:nvPicPr>
        <p:blipFill>
          <a:blip r:embed="rId3"/>
          <a:stretch>
            <a:fillRect/>
          </a:stretch>
        </p:blipFill>
        <p:spPr>
          <a:xfrm>
            <a:off x="3959352" y="2496312"/>
            <a:ext cx="219456" cy="219456"/>
          </a:xfrm>
          <a:prstGeom prst="rect">
            <a:avLst/>
          </a:prstGeom>
        </p:spPr>
      </p:pic>
      <p:sp>
        <p:nvSpPr>
          <p:cNvPr id="13" name="text-245"/>
          <p:cNvSpPr txBox="1"/>
          <p:nvPr/>
        </p:nvSpPr>
        <p:spPr>
          <a:xfrm>
            <a:off x="4434840" y="2331720"/>
            <a:ext cx="2377440" cy="548640"/>
          </a:xfrm>
          <a:prstGeom prst="rect">
            <a:avLst/>
          </a:prstGeom>
          <a:noFill/>
          <a:ln/>
        </p:spPr>
        <p:txBody>
          <a:bodyPr wrap="square" lIns="0" tIns="0" rIns="0" bIns="0" rtlCol="0" anchor="ctr"/>
          <a:lstStyle/>
          <a:p>
            <a:pPr indent="0" marL="0">
              <a:buNone/>
            </a:pPr>
            <a:r>
              <a:rPr lang="en-US" sz="1800" dirty="0">
                <a:solidFill>
                  <a:schemeClr val="tx1"/>
                </a:solidFill>
              </a:rPr>
              <a:t>a cup of coffee</a:t>
            </a:r>
            <a:endParaRPr lang="en-US" sz="1800" dirty="0"/>
          </a:p>
        </p:txBody>
      </p:sp>
      <p:sp>
        <p:nvSpPr>
          <p:cNvPr id="14" name="bar-bg-246"/>
          <p:cNvSpPr/>
          <p:nvPr/>
        </p:nvSpPr>
        <p:spPr>
          <a:xfrm>
            <a:off x="6858000" y="2441448"/>
            <a:ext cx="3657600" cy="329184"/>
          </a:xfrm>
          <a:prstGeom prst="rect">
            <a:avLst/>
          </a:prstGeom>
          <a:solidFill>
            <a:schemeClr val="bg2"/>
          </a:solidFill>
          <a:ln/>
        </p:spPr>
      </p:sp>
      <p:sp>
        <p:nvSpPr>
          <p:cNvPr id="15" name="bar-247"/>
          <p:cNvSpPr/>
          <p:nvPr/>
        </p:nvSpPr>
        <p:spPr>
          <a:xfrm>
            <a:off x="6858000" y="2441448"/>
            <a:ext cx="73152" cy="329184"/>
          </a:xfrm>
          <a:prstGeom prst="rect">
            <a:avLst/>
          </a:prstGeom>
          <a:solidFill>
            <a:schemeClr val="accent4"/>
          </a:solidFill>
          <a:ln/>
        </p:spPr>
      </p:sp>
      <p:sp>
        <p:nvSpPr>
          <p:cNvPr id="16" name="text-248"/>
          <p:cNvSpPr txBox="1"/>
          <p:nvPr/>
        </p:nvSpPr>
        <p:spPr>
          <a:xfrm>
            <a:off x="10652760" y="2331720"/>
            <a:ext cx="822960" cy="548640"/>
          </a:xfrm>
          <a:prstGeom prst="rect">
            <a:avLst/>
          </a:prstGeom>
          <a:noFill/>
          <a:ln/>
        </p:spPr>
        <p:txBody>
          <a:bodyPr wrap="square" lIns="0" tIns="0" rIns="0" bIns="0" rtlCol="0" anchor="ctr"/>
          <a:lstStyle/>
          <a:p>
            <a:pPr indent="0" marL="0">
              <a:buNone/>
            </a:pPr>
            <a:r>
              <a:rPr lang="en-US" sz="1800" b="1" dirty="0">
                <a:solidFill>
                  <a:schemeClr val="tx2"/>
                </a:solidFill>
              </a:rPr>
              <a:t>0.02</a:t>
            </a:r>
            <a:endParaRPr lang="en-US" sz="1800" dirty="0"/>
          </a:p>
        </p:txBody>
      </p:sp>
      <p:sp>
        <p:nvSpPr>
          <p:cNvPr id="17" name="circle-249"/>
          <p:cNvSpPr/>
          <p:nvPr/>
        </p:nvSpPr>
        <p:spPr>
          <a:xfrm>
            <a:off x="3840480" y="3154680"/>
            <a:ext cx="457200" cy="457200"/>
          </a:xfrm>
          <a:prstGeom prst="ellipse">
            <a:avLst/>
          </a:prstGeom>
          <a:solidFill>
            <a:schemeClr val="accent4"/>
          </a:solidFill>
          <a:ln/>
        </p:spPr>
      </p:sp>
      <p:pic>
        <p:nvPicPr>
          <p:cNvPr id="18" name="icon-FaTimes-250" descr="FaTimes">    </p:cNvPr>
          <p:cNvPicPr>
            <a:picLocks noChangeAspect="1"/>
          </p:cNvPicPr>
          <p:nvPr/>
        </p:nvPicPr>
        <p:blipFill>
          <a:blip r:embed="rId4"/>
          <a:stretch>
            <a:fillRect/>
          </a:stretch>
        </p:blipFill>
        <p:spPr>
          <a:xfrm>
            <a:off x="3959352" y="3273552"/>
            <a:ext cx="219456" cy="219456"/>
          </a:xfrm>
          <a:prstGeom prst="rect">
            <a:avLst/>
          </a:prstGeom>
        </p:spPr>
      </p:pic>
      <p:sp>
        <p:nvSpPr>
          <p:cNvPr id="19" name="text-251"/>
          <p:cNvSpPr txBox="1"/>
          <p:nvPr/>
        </p:nvSpPr>
        <p:spPr>
          <a:xfrm>
            <a:off x="4434840" y="3108960"/>
            <a:ext cx="2377440" cy="548640"/>
          </a:xfrm>
          <a:prstGeom prst="rect">
            <a:avLst/>
          </a:prstGeom>
          <a:noFill/>
          <a:ln/>
        </p:spPr>
        <p:txBody>
          <a:bodyPr wrap="square" lIns="0" tIns="0" rIns="0" bIns="0" rtlCol="0" anchor="ctr"/>
          <a:lstStyle/>
          <a:p>
            <a:pPr indent="0" marL="0">
              <a:buNone/>
            </a:pPr>
            <a:r>
              <a:rPr lang="en-US" sz="1800" dirty="0">
                <a:solidFill>
                  <a:schemeClr val="tx1"/>
                </a:solidFill>
              </a:rPr>
              <a:t>a rocket at night</a:t>
            </a:r>
            <a:endParaRPr lang="en-US" sz="1800" dirty="0"/>
          </a:p>
        </p:txBody>
      </p:sp>
      <p:sp>
        <p:nvSpPr>
          <p:cNvPr id="20" name="bar-bg-252"/>
          <p:cNvSpPr/>
          <p:nvPr/>
        </p:nvSpPr>
        <p:spPr>
          <a:xfrm>
            <a:off x="6858000" y="3218688"/>
            <a:ext cx="3657600" cy="329184"/>
          </a:xfrm>
          <a:prstGeom prst="rect">
            <a:avLst/>
          </a:prstGeom>
          <a:solidFill>
            <a:schemeClr val="bg2"/>
          </a:solidFill>
          <a:ln/>
        </p:spPr>
      </p:sp>
      <p:sp>
        <p:nvSpPr>
          <p:cNvPr id="21" name="bar-253"/>
          <p:cNvSpPr/>
          <p:nvPr/>
        </p:nvSpPr>
        <p:spPr>
          <a:xfrm>
            <a:off x="6858000" y="3218688"/>
            <a:ext cx="36576" cy="329184"/>
          </a:xfrm>
          <a:prstGeom prst="rect">
            <a:avLst/>
          </a:prstGeom>
          <a:solidFill>
            <a:schemeClr val="accent4"/>
          </a:solidFill>
          <a:ln/>
        </p:spPr>
      </p:sp>
      <p:sp>
        <p:nvSpPr>
          <p:cNvPr id="22" name="text-254"/>
          <p:cNvSpPr txBox="1"/>
          <p:nvPr/>
        </p:nvSpPr>
        <p:spPr>
          <a:xfrm>
            <a:off x="10652760" y="3108960"/>
            <a:ext cx="822960" cy="548640"/>
          </a:xfrm>
          <a:prstGeom prst="rect">
            <a:avLst/>
          </a:prstGeom>
          <a:noFill/>
          <a:ln/>
        </p:spPr>
        <p:txBody>
          <a:bodyPr wrap="square" lIns="0" tIns="0" rIns="0" bIns="0" rtlCol="0" anchor="ctr"/>
          <a:lstStyle/>
          <a:p>
            <a:pPr indent="0" marL="0">
              <a:buNone/>
            </a:pPr>
            <a:r>
              <a:rPr lang="en-US" sz="1800" b="1" dirty="0">
                <a:solidFill>
                  <a:schemeClr val="tx2"/>
                </a:solidFill>
              </a:rPr>
              <a:t>0.01</a:t>
            </a:r>
            <a:endParaRPr lang="en-US" sz="1800" dirty="0"/>
          </a:p>
        </p:txBody>
      </p:sp>
      <p:sp>
        <p:nvSpPr>
          <p:cNvPr id="23" name="circle-255"/>
          <p:cNvSpPr/>
          <p:nvPr/>
        </p:nvSpPr>
        <p:spPr>
          <a:xfrm>
            <a:off x="3840480" y="3931920"/>
            <a:ext cx="457200" cy="457200"/>
          </a:xfrm>
          <a:prstGeom prst="ellipse">
            <a:avLst/>
          </a:prstGeom>
          <a:solidFill>
            <a:schemeClr val="accent4"/>
          </a:solidFill>
          <a:ln/>
        </p:spPr>
      </p:sp>
      <p:pic>
        <p:nvPicPr>
          <p:cNvPr id="24" name="icon-FaTimes-256" descr="FaTimes">    </p:cNvPr>
          <p:cNvPicPr>
            <a:picLocks noChangeAspect="1"/>
          </p:cNvPicPr>
          <p:nvPr/>
        </p:nvPicPr>
        <p:blipFill>
          <a:blip r:embed="rId5"/>
          <a:stretch>
            <a:fillRect/>
          </a:stretch>
        </p:blipFill>
        <p:spPr>
          <a:xfrm>
            <a:off x="3959352" y="4050792"/>
            <a:ext cx="219456" cy="219456"/>
          </a:xfrm>
          <a:prstGeom prst="rect">
            <a:avLst/>
          </a:prstGeom>
        </p:spPr>
      </p:pic>
      <p:sp>
        <p:nvSpPr>
          <p:cNvPr id="25" name="text-257"/>
          <p:cNvSpPr txBox="1"/>
          <p:nvPr/>
        </p:nvSpPr>
        <p:spPr>
          <a:xfrm>
            <a:off x="4434840" y="3886200"/>
            <a:ext cx="2377440" cy="548640"/>
          </a:xfrm>
          <a:prstGeom prst="rect">
            <a:avLst/>
          </a:prstGeom>
          <a:noFill/>
          <a:ln/>
        </p:spPr>
        <p:txBody>
          <a:bodyPr wrap="square" lIns="0" tIns="0" rIns="0" bIns="0" rtlCol="0" anchor="ctr"/>
          <a:lstStyle/>
          <a:p>
            <a:pPr indent="0" marL="0">
              <a:buNone/>
            </a:pPr>
            <a:r>
              <a:rPr lang="en-US" sz="1800" dirty="0">
                <a:solidFill>
                  <a:schemeClr val="tx1"/>
                </a:solidFill>
              </a:rPr>
              <a:t>an astronaut</a:t>
            </a:r>
            <a:endParaRPr lang="en-US" sz="1800" dirty="0"/>
          </a:p>
        </p:txBody>
      </p:sp>
      <p:sp>
        <p:nvSpPr>
          <p:cNvPr id="26" name="bar-bg-258"/>
          <p:cNvSpPr/>
          <p:nvPr/>
        </p:nvSpPr>
        <p:spPr>
          <a:xfrm>
            <a:off x="6858000" y="3995928"/>
            <a:ext cx="3657600" cy="329184"/>
          </a:xfrm>
          <a:prstGeom prst="rect">
            <a:avLst/>
          </a:prstGeom>
          <a:solidFill>
            <a:schemeClr val="bg2"/>
          </a:solidFill>
          <a:ln/>
        </p:spPr>
      </p:sp>
      <p:sp>
        <p:nvSpPr>
          <p:cNvPr id="27" name="bar-259"/>
          <p:cNvSpPr/>
          <p:nvPr/>
        </p:nvSpPr>
        <p:spPr>
          <a:xfrm>
            <a:off x="6858000" y="3995928"/>
            <a:ext cx="109728" cy="329184"/>
          </a:xfrm>
          <a:prstGeom prst="rect">
            <a:avLst/>
          </a:prstGeom>
          <a:solidFill>
            <a:schemeClr val="accent4"/>
          </a:solidFill>
          <a:ln/>
        </p:spPr>
      </p:sp>
      <p:sp>
        <p:nvSpPr>
          <p:cNvPr id="28" name="text-260"/>
          <p:cNvSpPr txBox="1"/>
          <p:nvPr/>
        </p:nvSpPr>
        <p:spPr>
          <a:xfrm>
            <a:off x="10652760" y="3886200"/>
            <a:ext cx="822960" cy="548640"/>
          </a:xfrm>
          <a:prstGeom prst="rect">
            <a:avLst/>
          </a:prstGeom>
          <a:noFill/>
          <a:ln/>
        </p:spPr>
        <p:txBody>
          <a:bodyPr wrap="square" lIns="0" tIns="0" rIns="0" bIns="0" rtlCol="0" anchor="ctr"/>
          <a:lstStyle/>
          <a:p>
            <a:pPr indent="0" marL="0">
              <a:buNone/>
            </a:pPr>
            <a:r>
              <a:rPr lang="en-US" sz="1800" b="1" dirty="0">
                <a:solidFill>
                  <a:schemeClr val="tx2"/>
                </a:solidFill>
              </a:rPr>
              <a:t>0.03</a:t>
            </a:r>
            <a:endParaRPr lang="en-US" sz="1800" dirty="0"/>
          </a:p>
        </p:txBody>
      </p:sp>
      <p:sp>
        <p:nvSpPr>
          <p:cNvPr id="29" name="text-261"/>
          <p:cNvSpPr txBox="1"/>
          <p:nvPr/>
        </p:nvSpPr>
        <p:spPr>
          <a:xfrm>
            <a:off x="7863840" y="4709160"/>
            <a:ext cx="3611880" cy="457200"/>
          </a:xfrm>
          <a:prstGeom prst="rect">
            <a:avLst/>
          </a:prstGeom>
          <a:noFill/>
          <a:ln/>
        </p:spPr>
        <p:txBody>
          <a:bodyPr wrap="square" lIns="0" tIns="0" rIns="0" bIns="0" rtlCol="0" anchor="t"/>
          <a:lstStyle/>
          <a:p>
            <a:pPr algn="r" indent="0" marL="0">
              <a:buNone/>
            </a:pPr>
            <a:r>
              <a:rPr lang="en-US" sz="2000" b="1" dirty="0">
                <a:solidFill>
                  <a:schemeClr val="accent3"/>
                </a:solidFill>
              </a:rPr>
              <a:t>합이 1일 필요 없음</a:t>
            </a:r>
            <a:endParaRPr lang="en-US" sz="2000" dirty="0"/>
          </a:p>
        </p:txBody>
      </p:sp>
      <p:sp>
        <p:nvSpPr>
          <p:cNvPr id="30" name="card-262"/>
          <p:cNvSpPr/>
          <p:nvPr/>
        </p:nvSpPr>
        <p:spPr>
          <a:xfrm>
            <a:off x="3840480" y="5349240"/>
            <a:ext cx="7680960" cy="731520"/>
          </a:xfrm>
          <a:prstGeom prst="roundRect">
            <a:avLst>
              <a:gd name="adj" fmla="val 17500"/>
            </a:avLst>
          </a:prstGeom>
          <a:solidFill>
            <a:schemeClr val="accent3">
              <a:alpha val="10000"/>
            </a:schemeClr>
          </a:solidFill>
          <a:ln/>
        </p:spPr>
      </p:sp>
      <p:sp>
        <p:nvSpPr>
          <p:cNvPr id="31" name="text-263"/>
          <p:cNvSpPr txBox="1"/>
          <p:nvPr/>
        </p:nvSpPr>
        <p:spPr>
          <a:xfrm>
            <a:off x="4114800" y="5349240"/>
            <a:ext cx="7223760" cy="731520"/>
          </a:xfrm>
          <a:prstGeom prst="rect">
            <a:avLst/>
          </a:prstGeom>
          <a:noFill/>
          <a:ln/>
        </p:spPr>
        <p:txBody>
          <a:bodyPr wrap="square" lIns="0" tIns="0" rIns="0" bIns="0" rtlCol="0" anchor="ctr"/>
          <a:lstStyle/>
          <a:p>
            <a:pPr indent="0" marL="0">
              <a:buNone/>
            </a:pPr>
            <a:r>
              <a:rPr lang="en-US" sz="1800" b="1" dirty="0">
                <a:solidFill>
                  <a:schemeClr val="tx1"/>
                </a:solidFill>
              </a:rPr>
              <a:t>칸 하나를 채점할 때 다른 칸을 볼 필요가 없다</a:t>
            </a:r>
            <a:endParaRPr lang="en-US" sz="18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SigLIP 구조: 두 개의 탑 (듀얼 인코더)</a:t>
            </a:r>
            <a:endParaRPr lang="en-US" sz="3000" dirty="0"/>
          </a:p>
        </p:txBody>
      </p:sp>
      <p:pic>
        <p:nvPicPr>
          <p:cNvPr id="3" name="photo-cat-264" descr="고양이 사진">    </p:cNvPr>
          <p:cNvPicPr>
            <a:picLocks noChangeAspect="1"/>
          </p:cNvPicPr>
          <p:nvPr/>
        </p:nvPicPr>
        <p:blipFill>
          <a:blip r:embed="rId1"/>
          <a:stretch>
            <a:fillRect/>
          </a:stretch>
        </p:blipFill>
        <p:spPr>
          <a:xfrm>
            <a:off x="731520" y="1417320"/>
            <a:ext cx="1188720" cy="1188720"/>
          </a:xfrm>
          <a:prstGeom prst="ellipse">
            <a:avLst/>
          </a:prstGeom>
        </p:spPr>
      </p:pic>
      <p:sp>
        <p:nvSpPr>
          <p:cNvPr id="4" name="arrow-265"/>
          <p:cNvSpPr/>
          <p:nvPr/>
        </p:nvSpPr>
        <p:spPr>
          <a:xfrm>
            <a:off x="2011680" y="2011680"/>
            <a:ext cx="457200" cy="0"/>
          </a:xfrm>
          <a:prstGeom prst="line">
            <a:avLst/>
          </a:prstGeom>
          <a:noFill/>
          <a:ln w="31750">
            <a:solidFill>
              <a:schemeClr val="accent1"/>
            </a:solidFill>
            <a:prstDash val="solid"/>
            <a:tailEnd type="triangle"/>
          </a:ln>
        </p:spPr>
      </p:sp>
      <p:sp>
        <p:nvSpPr>
          <p:cNvPr id="5" name="box-266"/>
          <p:cNvSpPr/>
          <p:nvPr/>
        </p:nvSpPr>
        <p:spPr>
          <a:xfrm>
            <a:off x="2560320" y="1508760"/>
            <a:ext cx="2377440" cy="1005840"/>
          </a:xfrm>
          <a:prstGeom prst="roundRect">
            <a:avLst>
              <a:gd name="adj" fmla="val 9091"/>
            </a:avLst>
          </a:prstGeom>
          <a:solidFill>
            <a:schemeClr val="accent1"/>
          </a:solidFill>
          <a:ln/>
        </p:spPr>
      </p:sp>
      <p:sp>
        <p:nvSpPr>
          <p:cNvPr id="6" name="text-267"/>
          <p:cNvSpPr txBox="1"/>
          <p:nvPr/>
        </p:nvSpPr>
        <p:spPr>
          <a:xfrm>
            <a:off x="2560320" y="1508760"/>
            <a:ext cx="2377440" cy="1005840"/>
          </a:xfrm>
          <a:prstGeom prst="rect">
            <a:avLst/>
          </a:prstGeom>
          <a:noFill/>
          <a:ln/>
        </p:spPr>
        <p:txBody>
          <a:bodyPr wrap="square" lIns="0" tIns="0" rIns="0" bIns="0" rtlCol="0" anchor="ctr"/>
          <a:lstStyle/>
          <a:p>
            <a:pPr algn="ctr" indent="0" marL="0">
              <a:buNone/>
            </a:pPr>
            <a:r>
              <a:rPr lang="en-US" sz="1700" b="1" dirty="0">
                <a:solidFill>
                  <a:schemeClr val="bg1"/>
                </a:solidFill>
              </a:rPr>
              <a:t>이미지 인코더</a:t>
            </a:r>
            <a:endParaRPr lang="en-US" sz="1700" dirty="0"/>
          </a:p>
          <a:p>
            <a:pPr algn="ctr" indent="0" marL="0">
              <a:buNone/>
            </a:pPr>
            <a:r>
              <a:rPr lang="en-US" sz="1700" b="1" dirty="0">
                <a:solidFill>
                  <a:schemeClr val="bg1"/>
                </a:solidFill>
              </a:rPr>
              <a:t>(ViT)</a:t>
            </a:r>
            <a:endParaRPr lang="en-US" sz="1700" dirty="0"/>
          </a:p>
        </p:txBody>
      </p:sp>
      <p:sp>
        <p:nvSpPr>
          <p:cNvPr id="7" name="arrow-268"/>
          <p:cNvSpPr/>
          <p:nvPr/>
        </p:nvSpPr>
        <p:spPr>
          <a:xfrm>
            <a:off x="5029200" y="2011680"/>
            <a:ext cx="457200" cy="0"/>
          </a:xfrm>
          <a:prstGeom prst="line">
            <a:avLst/>
          </a:prstGeom>
          <a:noFill/>
          <a:ln w="31750">
            <a:solidFill>
              <a:schemeClr val="accent1"/>
            </a:solidFill>
            <a:prstDash val="solid"/>
            <a:tailEnd type="triangle"/>
          </a:ln>
        </p:spPr>
      </p:sp>
      <p:sp>
        <p:nvSpPr>
          <p:cNvPr id="8" name="box-269"/>
          <p:cNvSpPr/>
          <p:nvPr/>
        </p:nvSpPr>
        <p:spPr>
          <a:xfrm>
            <a:off x="5577840" y="1645920"/>
            <a:ext cx="2103120" cy="731520"/>
          </a:xfrm>
          <a:prstGeom prst="roundRect">
            <a:avLst>
              <a:gd name="adj" fmla="val 12500"/>
            </a:avLst>
          </a:prstGeom>
          <a:solidFill>
            <a:schemeClr val="accent1"/>
          </a:solidFill>
          <a:ln/>
        </p:spPr>
      </p:sp>
      <p:sp>
        <p:nvSpPr>
          <p:cNvPr id="9" name="text-270"/>
          <p:cNvSpPr txBox="1"/>
          <p:nvPr/>
        </p:nvSpPr>
        <p:spPr>
          <a:xfrm>
            <a:off x="5577840" y="1645920"/>
            <a:ext cx="2103120" cy="731520"/>
          </a:xfrm>
          <a:prstGeom prst="rect">
            <a:avLst/>
          </a:prstGeom>
          <a:noFill/>
          <a:ln/>
        </p:spPr>
        <p:txBody>
          <a:bodyPr wrap="square" lIns="0" tIns="0" rIns="0" bIns="0" rtlCol="0" anchor="ctr"/>
          <a:lstStyle/>
          <a:p>
            <a:pPr algn="ctr" indent="0" marL="0">
              <a:buNone/>
            </a:pPr>
            <a:r>
              <a:rPr lang="en-US" sz="1600" b="1" dirty="0">
                <a:solidFill>
                  <a:schemeClr val="bg1"/>
                </a:solidFill>
              </a:rPr>
              <a:t>이미지 벡터 x</a:t>
            </a:r>
            <a:endParaRPr lang="en-US" sz="1600" dirty="0"/>
          </a:p>
        </p:txBody>
      </p:sp>
      <p:sp>
        <p:nvSpPr>
          <p:cNvPr id="10" name="pill-271"/>
          <p:cNvSpPr/>
          <p:nvPr/>
        </p:nvSpPr>
        <p:spPr>
          <a:xfrm>
            <a:off x="502920" y="3337560"/>
            <a:ext cx="1645920" cy="548640"/>
          </a:xfrm>
          <a:prstGeom prst="roundRect">
            <a:avLst>
              <a:gd name="adj" fmla="val 50000"/>
            </a:avLst>
          </a:prstGeom>
          <a:solidFill>
            <a:schemeClr val="accent2"/>
          </a:solidFill>
          <a:ln/>
        </p:spPr>
      </p:sp>
      <p:sp>
        <p:nvSpPr>
          <p:cNvPr id="11" name="text-272"/>
          <p:cNvSpPr txBox="1"/>
          <p:nvPr/>
        </p:nvSpPr>
        <p:spPr>
          <a:xfrm>
            <a:off x="502920" y="3337560"/>
            <a:ext cx="1645920" cy="548640"/>
          </a:xfrm>
          <a:prstGeom prst="rect">
            <a:avLst/>
          </a:prstGeom>
          <a:noFill/>
          <a:ln/>
        </p:spPr>
        <p:txBody>
          <a:bodyPr wrap="square" lIns="0" tIns="0" rIns="0" bIns="0" rtlCol="0" anchor="ctr"/>
          <a:lstStyle/>
          <a:p>
            <a:pPr algn="ctr" indent="0" marL="0">
              <a:buNone/>
            </a:pPr>
            <a:r>
              <a:rPr lang="en-US" sz="1200" b="1" dirty="0">
                <a:solidFill>
                  <a:schemeClr val="bg1"/>
                </a:solidFill>
              </a:rPr>
              <a:t>a photo of a cat</a:t>
            </a:r>
            <a:endParaRPr lang="en-US" sz="1200" dirty="0"/>
          </a:p>
        </p:txBody>
      </p:sp>
      <p:sp>
        <p:nvSpPr>
          <p:cNvPr id="12" name="arrow-273"/>
          <p:cNvSpPr/>
          <p:nvPr/>
        </p:nvSpPr>
        <p:spPr>
          <a:xfrm>
            <a:off x="2194560" y="3611880"/>
            <a:ext cx="274320" cy="0"/>
          </a:xfrm>
          <a:prstGeom prst="line">
            <a:avLst/>
          </a:prstGeom>
          <a:noFill/>
          <a:ln w="31750">
            <a:solidFill>
              <a:schemeClr val="accent2"/>
            </a:solidFill>
            <a:prstDash val="solid"/>
            <a:tailEnd type="triangle"/>
          </a:ln>
        </p:spPr>
      </p:sp>
      <p:sp>
        <p:nvSpPr>
          <p:cNvPr id="13" name="box-274"/>
          <p:cNvSpPr/>
          <p:nvPr/>
        </p:nvSpPr>
        <p:spPr>
          <a:xfrm>
            <a:off x="2560320" y="3108960"/>
            <a:ext cx="2377440" cy="1005840"/>
          </a:xfrm>
          <a:prstGeom prst="roundRect">
            <a:avLst>
              <a:gd name="adj" fmla="val 9091"/>
            </a:avLst>
          </a:prstGeom>
          <a:solidFill>
            <a:schemeClr val="accent2"/>
          </a:solidFill>
          <a:ln/>
        </p:spPr>
      </p:sp>
      <p:sp>
        <p:nvSpPr>
          <p:cNvPr id="14" name="text-275"/>
          <p:cNvSpPr txBox="1"/>
          <p:nvPr/>
        </p:nvSpPr>
        <p:spPr>
          <a:xfrm>
            <a:off x="2560320" y="3108960"/>
            <a:ext cx="2377440" cy="1005840"/>
          </a:xfrm>
          <a:prstGeom prst="rect">
            <a:avLst/>
          </a:prstGeom>
          <a:noFill/>
          <a:ln/>
        </p:spPr>
        <p:txBody>
          <a:bodyPr wrap="square" lIns="0" tIns="0" rIns="0" bIns="0" rtlCol="0" anchor="ctr"/>
          <a:lstStyle/>
          <a:p>
            <a:pPr algn="ctr" indent="0" marL="0">
              <a:buNone/>
            </a:pPr>
            <a:r>
              <a:rPr lang="en-US" sz="1700" b="1" dirty="0">
                <a:solidFill>
                  <a:schemeClr val="bg1"/>
                </a:solidFill>
              </a:rPr>
              <a:t>텍스트 인코더</a:t>
            </a:r>
            <a:endParaRPr lang="en-US" sz="1700" dirty="0"/>
          </a:p>
          <a:p>
            <a:pPr algn="ctr" indent="0" marL="0">
              <a:buNone/>
            </a:pPr>
            <a:r>
              <a:rPr lang="en-US" sz="1700" b="1" dirty="0">
                <a:solidFill>
                  <a:schemeClr val="bg1"/>
                </a:solidFill>
              </a:rPr>
              <a:t>(Transformer)</a:t>
            </a:r>
            <a:endParaRPr lang="en-US" sz="1700" dirty="0"/>
          </a:p>
        </p:txBody>
      </p:sp>
      <p:sp>
        <p:nvSpPr>
          <p:cNvPr id="15" name="arrow-276"/>
          <p:cNvSpPr/>
          <p:nvPr/>
        </p:nvSpPr>
        <p:spPr>
          <a:xfrm>
            <a:off x="5029200" y="3611880"/>
            <a:ext cx="457200" cy="0"/>
          </a:xfrm>
          <a:prstGeom prst="line">
            <a:avLst/>
          </a:prstGeom>
          <a:noFill/>
          <a:ln w="31750">
            <a:solidFill>
              <a:schemeClr val="accent2"/>
            </a:solidFill>
            <a:prstDash val="solid"/>
            <a:tailEnd type="triangle"/>
          </a:ln>
        </p:spPr>
      </p:sp>
      <p:sp>
        <p:nvSpPr>
          <p:cNvPr id="16" name="box-277"/>
          <p:cNvSpPr/>
          <p:nvPr/>
        </p:nvSpPr>
        <p:spPr>
          <a:xfrm>
            <a:off x="5577840" y="3246120"/>
            <a:ext cx="2103120" cy="731520"/>
          </a:xfrm>
          <a:prstGeom prst="roundRect">
            <a:avLst>
              <a:gd name="adj" fmla="val 12500"/>
            </a:avLst>
          </a:prstGeom>
          <a:solidFill>
            <a:schemeClr val="accent2"/>
          </a:solidFill>
          <a:ln/>
        </p:spPr>
      </p:sp>
      <p:sp>
        <p:nvSpPr>
          <p:cNvPr id="17" name="text-278"/>
          <p:cNvSpPr txBox="1"/>
          <p:nvPr/>
        </p:nvSpPr>
        <p:spPr>
          <a:xfrm>
            <a:off x="5577840" y="3246120"/>
            <a:ext cx="2103120" cy="731520"/>
          </a:xfrm>
          <a:prstGeom prst="rect">
            <a:avLst/>
          </a:prstGeom>
          <a:noFill/>
          <a:ln/>
        </p:spPr>
        <p:txBody>
          <a:bodyPr wrap="square" lIns="0" tIns="0" rIns="0" bIns="0" rtlCol="0" anchor="ctr"/>
          <a:lstStyle/>
          <a:p>
            <a:pPr algn="ctr" indent="0" marL="0">
              <a:buNone/>
            </a:pPr>
            <a:r>
              <a:rPr lang="en-US" sz="1600" b="1" dirty="0">
                <a:solidFill>
                  <a:schemeClr val="bg1"/>
                </a:solidFill>
              </a:rPr>
              <a:t>텍스트 벡터 y</a:t>
            </a:r>
            <a:endParaRPr lang="en-US" sz="1600" dirty="0"/>
          </a:p>
        </p:txBody>
      </p:sp>
      <p:sp>
        <p:nvSpPr>
          <p:cNvPr id="18" name="join-a"/>
          <p:cNvSpPr/>
          <p:nvPr/>
        </p:nvSpPr>
        <p:spPr>
          <a:xfrm>
            <a:off x="7726680" y="2011680"/>
            <a:ext cx="502920" cy="777240"/>
          </a:xfrm>
          <a:prstGeom prst="line">
            <a:avLst/>
          </a:prstGeom>
          <a:noFill/>
          <a:ln w="31750">
            <a:solidFill>
              <a:schemeClr val="accent6"/>
            </a:solidFill>
            <a:prstDash val="solid"/>
          </a:ln>
        </p:spPr>
      </p:sp>
      <p:sp>
        <p:nvSpPr>
          <p:cNvPr id="19" name="join-b"/>
          <p:cNvSpPr/>
          <p:nvPr/>
        </p:nvSpPr>
        <p:spPr>
          <a:xfrm flipV="1">
            <a:off x="7726680" y="2788920"/>
            <a:ext cx="502920" cy="822960"/>
          </a:xfrm>
          <a:prstGeom prst="line">
            <a:avLst/>
          </a:prstGeom>
          <a:noFill/>
          <a:ln w="31750">
            <a:solidFill>
              <a:schemeClr val="accent6"/>
            </a:solidFill>
            <a:prstDash val="solid"/>
          </a:ln>
        </p:spPr>
      </p:sp>
      <p:sp>
        <p:nvSpPr>
          <p:cNvPr id="20" name="box-279"/>
          <p:cNvSpPr/>
          <p:nvPr/>
        </p:nvSpPr>
        <p:spPr>
          <a:xfrm>
            <a:off x="8229600" y="2148840"/>
            <a:ext cx="2011680" cy="1280160"/>
          </a:xfrm>
          <a:prstGeom prst="roundRect">
            <a:avLst>
              <a:gd name="adj" fmla="val 7143"/>
            </a:avLst>
          </a:prstGeom>
          <a:solidFill>
            <a:schemeClr val="accent3"/>
          </a:solidFill>
          <a:ln/>
        </p:spPr>
      </p:sp>
      <p:sp>
        <p:nvSpPr>
          <p:cNvPr id="21" name="text-280"/>
          <p:cNvSpPr txBox="1"/>
          <p:nvPr/>
        </p:nvSpPr>
        <p:spPr>
          <a:xfrm>
            <a:off x="8229600" y="2148840"/>
            <a:ext cx="2011680" cy="1280160"/>
          </a:xfrm>
          <a:prstGeom prst="rect">
            <a:avLst/>
          </a:prstGeom>
          <a:noFill/>
          <a:ln/>
        </p:spPr>
        <p:txBody>
          <a:bodyPr wrap="square" lIns="0" tIns="0" rIns="0" bIns="0" rtlCol="0" anchor="ctr"/>
          <a:lstStyle/>
          <a:p>
            <a:pPr algn="ctr" indent="0" marL="0">
              <a:buNone/>
            </a:pPr>
            <a:r>
              <a:rPr lang="en-US" sz="1600" b="1" dirty="0">
                <a:solidFill>
                  <a:schemeClr val="bg1"/>
                </a:solidFill>
              </a:rPr>
              <a:t>유사도</a:t>
            </a:r>
            <a:endParaRPr lang="en-US" sz="1600" dirty="0"/>
          </a:p>
          <a:p>
            <a:pPr algn="ctr" indent="0" marL="0">
              <a:buNone/>
            </a:pPr>
            <a:r>
              <a:rPr lang="en-US" sz="1600" b="1" dirty="0">
                <a:solidFill>
                  <a:schemeClr val="bg1"/>
                </a:solidFill>
              </a:rPr>
              <a:t>t·x·y + b</a:t>
            </a:r>
            <a:endParaRPr lang="en-US" sz="1600" dirty="0"/>
          </a:p>
          <a:p>
            <a:pPr algn="ctr" indent="0" marL="0">
              <a:buNone/>
            </a:pPr>
            <a:r>
              <a:rPr lang="en-US" sz="1600" b="1" dirty="0">
                <a:solidFill>
                  <a:schemeClr val="bg1"/>
                </a:solidFill>
              </a:rPr>
              <a:t>→ Sigmoid</a:t>
            </a:r>
            <a:endParaRPr lang="en-US" sz="1600" dirty="0"/>
          </a:p>
        </p:txBody>
      </p:sp>
      <p:sp>
        <p:nvSpPr>
          <p:cNvPr id="22" name="card-281"/>
          <p:cNvSpPr/>
          <p:nvPr/>
        </p:nvSpPr>
        <p:spPr>
          <a:xfrm>
            <a:off x="640080" y="4526280"/>
            <a:ext cx="5349240" cy="1463040"/>
          </a:xfrm>
          <a:prstGeom prst="roundRect">
            <a:avLst>
              <a:gd name="adj" fmla="val 8750"/>
            </a:avLst>
          </a:prstGeom>
          <a:solidFill>
            <a:schemeClr val="bg2"/>
          </a:solidFill>
          <a:ln/>
        </p:spPr>
      </p:sp>
      <p:sp>
        <p:nvSpPr>
          <p:cNvPr id="23" name="circle-282"/>
          <p:cNvSpPr/>
          <p:nvPr/>
        </p:nvSpPr>
        <p:spPr>
          <a:xfrm>
            <a:off x="914400" y="4846320"/>
            <a:ext cx="777240" cy="777240"/>
          </a:xfrm>
          <a:prstGeom prst="ellipse">
            <a:avLst/>
          </a:prstGeom>
          <a:solidFill>
            <a:schemeClr val="accent3"/>
          </a:solidFill>
          <a:ln/>
        </p:spPr>
      </p:sp>
      <p:pic>
        <p:nvPicPr>
          <p:cNvPr id="24" name="icon-FaPuzzlePiece-283" descr="FaPuzzlePiece">    </p:cNvPr>
          <p:cNvPicPr>
            <a:picLocks noChangeAspect="1"/>
          </p:cNvPicPr>
          <p:nvPr/>
        </p:nvPicPr>
        <p:blipFill>
          <a:blip r:embed="rId2"/>
          <a:stretch>
            <a:fillRect/>
          </a:stretch>
        </p:blipFill>
        <p:spPr>
          <a:xfrm>
            <a:off x="1116482" y="5048402"/>
            <a:ext cx="373075" cy="373075"/>
          </a:xfrm>
          <a:prstGeom prst="rect">
            <a:avLst/>
          </a:prstGeom>
        </p:spPr>
      </p:pic>
      <p:sp>
        <p:nvSpPr>
          <p:cNvPr id="25" name="text-284"/>
          <p:cNvSpPr txBox="1"/>
          <p:nvPr/>
        </p:nvSpPr>
        <p:spPr>
          <a:xfrm>
            <a:off x="1920240" y="4709160"/>
            <a:ext cx="3931920" cy="502920"/>
          </a:xfrm>
          <a:prstGeom prst="rect">
            <a:avLst/>
          </a:prstGeom>
          <a:noFill/>
          <a:ln/>
        </p:spPr>
        <p:txBody>
          <a:bodyPr wrap="square" lIns="0" tIns="0" rIns="0" bIns="0" rtlCol="0" anchor="t"/>
          <a:lstStyle/>
          <a:p>
            <a:pPr indent="0" marL="0">
              <a:buNone/>
            </a:pPr>
            <a:r>
              <a:rPr lang="en-US" sz="2000" b="1" dirty="0">
                <a:solidFill>
                  <a:schemeClr val="tx1"/>
                </a:solidFill>
              </a:rPr>
              <a:t>두 인코더가 완전히 분리</a:t>
            </a:r>
            <a:endParaRPr lang="en-US" sz="2000" dirty="0"/>
          </a:p>
        </p:txBody>
      </p:sp>
      <p:sp>
        <p:nvSpPr>
          <p:cNvPr id="26" name="text-285"/>
          <p:cNvSpPr txBox="1"/>
          <p:nvPr/>
        </p:nvSpPr>
        <p:spPr>
          <a:xfrm>
            <a:off x="1920240" y="5212080"/>
            <a:ext cx="3931920" cy="640080"/>
          </a:xfrm>
          <a:prstGeom prst="rect">
            <a:avLst/>
          </a:prstGeom>
          <a:noFill/>
          <a:ln/>
        </p:spPr>
        <p:txBody>
          <a:bodyPr wrap="square" lIns="0" tIns="0" rIns="0" bIns="0" rtlCol="0" anchor="t"/>
          <a:lstStyle/>
          <a:p>
            <a:pPr indent="0" marL="0">
              <a:buNone/>
            </a:pPr>
            <a:r>
              <a:rPr lang="en-US" sz="1600" dirty="0">
                <a:solidFill>
                  <a:schemeClr val="tx2"/>
                </a:solidFill>
              </a:rPr>
              <a:t>사진과 문장을 따로 계산할 수 있음 → 검색에서 중요</a:t>
            </a:r>
            <a:endParaRPr lang="en-US" sz="1600" dirty="0"/>
          </a:p>
        </p:txBody>
      </p:sp>
      <p:sp>
        <p:nvSpPr>
          <p:cNvPr id="27" name="card-286"/>
          <p:cNvSpPr/>
          <p:nvPr/>
        </p:nvSpPr>
        <p:spPr>
          <a:xfrm>
            <a:off x="6172200" y="4526280"/>
            <a:ext cx="5349240" cy="1463040"/>
          </a:xfrm>
          <a:prstGeom prst="roundRect">
            <a:avLst>
              <a:gd name="adj" fmla="val 8750"/>
            </a:avLst>
          </a:prstGeom>
          <a:solidFill>
            <a:schemeClr val="bg2"/>
          </a:solidFill>
          <a:ln/>
        </p:spPr>
      </p:sp>
      <p:sp>
        <p:nvSpPr>
          <p:cNvPr id="28" name="circle-287"/>
          <p:cNvSpPr/>
          <p:nvPr/>
        </p:nvSpPr>
        <p:spPr>
          <a:xfrm>
            <a:off x="6446520" y="4846320"/>
            <a:ext cx="777240" cy="777240"/>
          </a:xfrm>
          <a:prstGeom prst="ellipse">
            <a:avLst/>
          </a:prstGeom>
          <a:solidFill>
            <a:schemeClr val="accent3"/>
          </a:solidFill>
          <a:ln/>
        </p:spPr>
      </p:sp>
      <p:pic>
        <p:nvPicPr>
          <p:cNvPr id="29" name="icon-FaRuler-288" descr="FaRuler">    </p:cNvPr>
          <p:cNvPicPr>
            <a:picLocks noChangeAspect="1"/>
          </p:cNvPicPr>
          <p:nvPr/>
        </p:nvPicPr>
        <p:blipFill>
          <a:blip r:embed="rId3"/>
          <a:stretch>
            <a:fillRect/>
          </a:stretch>
        </p:blipFill>
        <p:spPr>
          <a:xfrm>
            <a:off x="6648602" y="5048402"/>
            <a:ext cx="373075" cy="373075"/>
          </a:xfrm>
          <a:prstGeom prst="rect">
            <a:avLst/>
          </a:prstGeom>
        </p:spPr>
      </p:pic>
      <p:sp>
        <p:nvSpPr>
          <p:cNvPr id="30" name="text-289"/>
          <p:cNvSpPr txBox="1"/>
          <p:nvPr/>
        </p:nvSpPr>
        <p:spPr>
          <a:xfrm>
            <a:off x="7452360" y="4709160"/>
            <a:ext cx="3931920" cy="502920"/>
          </a:xfrm>
          <a:prstGeom prst="rect">
            <a:avLst/>
          </a:prstGeom>
          <a:noFill/>
          <a:ln/>
        </p:spPr>
        <p:txBody>
          <a:bodyPr wrap="square" lIns="0" tIns="0" rIns="0" bIns="0" rtlCol="0" anchor="t"/>
          <a:lstStyle/>
          <a:p>
            <a:pPr indent="0" marL="0">
              <a:buNone/>
            </a:pPr>
            <a:r>
              <a:rPr lang="en-US" sz="2000" b="1" dirty="0">
                <a:solidFill>
                  <a:schemeClr val="tx1"/>
                </a:solidFill>
              </a:rPr>
              <a:t>같은 차원으로 맞춘 뒤 정규화</a:t>
            </a:r>
            <a:endParaRPr lang="en-US" sz="2000" dirty="0"/>
          </a:p>
        </p:txBody>
      </p:sp>
      <p:sp>
        <p:nvSpPr>
          <p:cNvPr id="31" name="text-290"/>
          <p:cNvSpPr txBox="1"/>
          <p:nvPr/>
        </p:nvSpPr>
        <p:spPr>
          <a:xfrm>
            <a:off x="7452360" y="5212080"/>
            <a:ext cx="3931920" cy="640080"/>
          </a:xfrm>
          <a:prstGeom prst="rect">
            <a:avLst/>
          </a:prstGeom>
          <a:noFill/>
          <a:ln/>
        </p:spPr>
        <p:txBody>
          <a:bodyPr wrap="square" lIns="0" tIns="0" rIns="0" bIns="0" rtlCol="0" anchor="t"/>
          <a:lstStyle/>
          <a:p>
            <a:pPr indent="0" marL="0">
              <a:buNone/>
            </a:pPr>
            <a:r>
              <a:rPr lang="en-US" sz="1600" dirty="0">
                <a:solidFill>
                  <a:schemeClr val="tx2"/>
                </a:solidFill>
              </a:rPr>
              <a:t>투영(projection) 후 L2 정규화</a:t>
            </a:r>
            <a:endParaRPr 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이미지 인코더(ViT)는 사진을 퍼즐 조각으로 읽는다</a:t>
            </a:r>
            <a:endParaRPr lang="en-US" sz="3000" dirty="0"/>
          </a:p>
        </p:txBody>
      </p:sp>
      <p:pic>
        <p:nvPicPr>
          <p:cNvPr id="3" name="cat-patches" descr="16x16 패치 격자로 나눈 고양이 사진">    </p:cNvPr>
          <p:cNvPicPr>
            <a:picLocks noChangeAspect="1"/>
          </p:cNvPicPr>
          <p:nvPr/>
        </p:nvPicPr>
        <p:blipFill>
          <a:blip r:embed="rId1"/>
          <a:stretch>
            <a:fillRect/>
          </a:stretch>
        </p:blipFill>
        <p:spPr>
          <a:xfrm>
            <a:off x="731520" y="1371600"/>
            <a:ext cx="4480560" cy="4480560"/>
          </a:xfrm>
          <a:prstGeom prst="rect">
            <a:avLst/>
          </a:prstGeom>
        </p:spPr>
      </p:pic>
      <p:sp>
        <p:nvSpPr>
          <p:cNvPr id="4" name="arrow-291"/>
          <p:cNvSpPr/>
          <p:nvPr/>
        </p:nvSpPr>
        <p:spPr>
          <a:xfrm>
            <a:off x="5440680" y="3611880"/>
            <a:ext cx="640080" cy="0"/>
          </a:xfrm>
          <a:prstGeom prst="line">
            <a:avLst/>
          </a:prstGeom>
          <a:noFill/>
          <a:ln w="31750">
            <a:solidFill>
              <a:schemeClr val="accent1"/>
            </a:solidFill>
            <a:prstDash val="solid"/>
            <a:tailEnd type="triangle"/>
          </a:ln>
        </p:spPr>
      </p:sp>
      <p:sp>
        <p:nvSpPr>
          <p:cNvPr id="5" name="text-292"/>
          <p:cNvSpPr txBox="1"/>
          <p:nvPr/>
        </p:nvSpPr>
        <p:spPr>
          <a:xfrm>
            <a:off x="6400800" y="1417320"/>
            <a:ext cx="5120640" cy="502920"/>
          </a:xfrm>
          <a:prstGeom prst="rect">
            <a:avLst/>
          </a:prstGeom>
          <a:noFill/>
          <a:ln/>
        </p:spPr>
        <p:txBody>
          <a:bodyPr wrap="square" lIns="0" tIns="0" rIns="0" bIns="0" rtlCol="0" anchor="t"/>
          <a:lstStyle/>
          <a:p>
            <a:pPr indent="0" marL="0">
              <a:buNone/>
            </a:pPr>
            <a:r>
              <a:rPr lang="en-US" sz="2400" b="1" dirty="0">
                <a:solidFill>
                  <a:schemeClr val="tx1"/>
                </a:solidFill>
              </a:rPr>
              <a:t>224 × 224 사진</a:t>
            </a:r>
            <a:endParaRPr lang="en-US" sz="2400" dirty="0"/>
          </a:p>
        </p:txBody>
      </p:sp>
      <p:sp>
        <p:nvSpPr>
          <p:cNvPr id="6" name="text-293"/>
          <p:cNvSpPr txBox="1"/>
          <p:nvPr/>
        </p:nvSpPr>
        <p:spPr>
          <a:xfrm>
            <a:off x="6400800" y="1920240"/>
            <a:ext cx="5120640" cy="822960"/>
          </a:xfrm>
          <a:prstGeom prst="rect">
            <a:avLst/>
          </a:prstGeom>
          <a:noFill/>
          <a:ln/>
        </p:spPr>
        <p:txBody>
          <a:bodyPr wrap="square" lIns="0" tIns="0" rIns="0" bIns="0" rtlCol="0" anchor="t"/>
          <a:lstStyle/>
          <a:p>
            <a:pPr indent="0" marL="0">
              <a:buNone/>
            </a:pPr>
            <a:r>
              <a:rPr lang="en-US" sz="1800" dirty="0">
                <a:solidFill>
                  <a:schemeClr val="tx2"/>
                </a:solidFill>
              </a:rPr>
              <a:t>→ 16×16 조각으로 자르면 14×14 = 196조각</a:t>
            </a:r>
            <a:endParaRPr lang="en-US" sz="1800" dirty="0"/>
          </a:p>
        </p:txBody>
      </p:sp>
      <p:pic>
        <p:nvPicPr>
          <p:cNvPr id="7" name="patch-294" descr="이미지 패치">    </p:cNvPr>
          <p:cNvPicPr>
            <a:picLocks noChangeAspect="1"/>
          </p:cNvPicPr>
          <p:nvPr/>
        </p:nvPicPr>
        <p:blipFill>
          <a:blip r:embed="rId2"/>
          <a:stretch>
            <a:fillRect/>
          </a:stretch>
        </p:blipFill>
        <p:spPr>
          <a:xfrm>
            <a:off x="6400800" y="3063240"/>
            <a:ext cx="685800" cy="685800"/>
          </a:xfrm>
          <a:prstGeom prst="rect">
            <a:avLst/>
          </a:prstGeom>
        </p:spPr>
      </p:pic>
      <p:pic>
        <p:nvPicPr>
          <p:cNvPr id="8" name="patch-295" descr="이미지 패치">    </p:cNvPr>
          <p:cNvPicPr>
            <a:picLocks noChangeAspect="1"/>
          </p:cNvPicPr>
          <p:nvPr/>
        </p:nvPicPr>
        <p:blipFill>
          <a:blip r:embed="rId3"/>
          <a:stretch>
            <a:fillRect/>
          </a:stretch>
        </p:blipFill>
        <p:spPr>
          <a:xfrm>
            <a:off x="7242048" y="3063240"/>
            <a:ext cx="685800" cy="685800"/>
          </a:xfrm>
          <a:prstGeom prst="rect">
            <a:avLst/>
          </a:prstGeom>
        </p:spPr>
      </p:pic>
      <p:pic>
        <p:nvPicPr>
          <p:cNvPr id="9" name="patch-296" descr="이미지 패치">    </p:cNvPr>
          <p:cNvPicPr>
            <a:picLocks noChangeAspect="1"/>
          </p:cNvPicPr>
          <p:nvPr/>
        </p:nvPicPr>
        <p:blipFill>
          <a:blip r:embed="rId4"/>
          <a:stretch>
            <a:fillRect/>
          </a:stretch>
        </p:blipFill>
        <p:spPr>
          <a:xfrm>
            <a:off x="8083296" y="3063240"/>
            <a:ext cx="685800" cy="685800"/>
          </a:xfrm>
          <a:prstGeom prst="rect">
            <a:avLst/>
          </a:prstGeom>
        </p:spPr>
      </p:pic>
      <p:pic>
        <p:nvPicPr>
          <p:cNvPr id="10" name="patch-297" descr="이미지 패치">    </p:cNvPr>
          <p:cNvPicPr>
            <a:picLocks noChangeAspect="1"/>
          </p:cNvPicPr>
          <p:nvPr/>
        </p:nvPicPr>
        <p:blipFill>
          <a:blip r:embed="rId5"/>
          <a:stretch>
            <a:fillRect/>
          </a:stretch>
        </p:blipFill>
        <p:spPr>
          <a:xfrm>
            <a:off x="8924544" y="3063240"/>
            <a:ext cx="685800" cy="685800"/>
          </a:xfrm>
          <a:prstGeom prst="rect">
            <a:avLst/>
          </a:prstGeom>
        </p:spPr>
      </p:pic>
      <p:pic>
        <p:nvPicPr>
          <p:cNvPr id="11" name="patch-298" descr="이미지 패치">    </p:cNvPr>
          <p:cNvPicPr>
            <a:picLocks noChangeAspect="1"/>
          </p:cNvPicPr>
          <p:nvPr/>
        </p:nvPicPr>
        <p:blipFill>
          <a:blip r:embed="rId6"/>
          <a:stretch>
            <a:fillRect/>
          </a:stretch>
        </p:blipFill>
        <p:spPr>
          <a:xfrm>
            <a:off x="9765792" y="3063240"/>
            <a:ext cx="685800" cy="685800"/>
          </a:xfrm>
          <a:prstGeom prst="rect">
            <a:avLst/>
          </a:prstGeom>
        </p:spPr>
      </p:pic>
      <p:sp>
        <p:nvSpPr>
          <p:cNvPr id="12" name="text-299"/>
          <p:cNvSpPr txBox="1"/>
          <p:nvPr/>
        </p:nvSpPr>
        <p:spPr>
          <a:xfrm>
            <a:off x="10561320" y="3063240"/>
            <a:ext cx="411480" cy="685800"/>
          </a:xfrm>
          <a:prstGeom prst="rect">
            <a:avLst/>
          </a:prstGeom>
          <a:noFill/>
          <a:ln/>
        </p:spPr>
        <p:txBody>
          <a:bodyPr wrap="square" lIns="0" tIns="0" rIns="0" bIns="0" rtlCol="0" anchor="ctr"/>
          <a:lstStyle/>
          <a:p>
            <a:pPr algn="ctr" indent="0" marL="0">
              <a:buNone/>
            </a:pPr>
            <a:r>
              <a:rPr lang="en-US" sz="2400" dirty="0">
                <a:solidFill>
                  <a:schemeClr val="tx2"/>
                </a:solidFill>
              </a:rPr>
              <a:t>…</a:t>
            </a:r>
            <a:endParaRPr lang="en-US" sz="2400" dirty="0"/>
          </a:p>
        </p:txBody>
      </p:sp>
      <p:pic>
        <p:nvPicPr>
          <p:cNvPr id="13" name="patch-300" descr="이미지 패치">    </p:cNvPr>
          <p:cNvPicPr>
            <a:picLocks noChangeAspect="1"/>
          </p:cNvPicPr>
          <p:nvPr/>
        </p:nvPicPr>
        <p:blipFill>
          <a:blip r:embed="rId7"/>
          <a:stretch>
            <a:fillRect/>
          </a:stretch>
        </p:blipFill>
        <p:spPr>
          <a:xfrm>
            <a:off x="11018520" y="3063240"/>
            <a:ext cx="685800" cy="685800"/>
          </a:xfrm>
          <a:prstGeom prst="rect">
            <a:avLst/>
          </a:prstGeom>
        </p:spPr>
      </p:pic>
      <p:sp>
        <p:nvSpPr>
          <p:cNvPr id="14" name="text-301"/>
          <p:cNvSpPr txBox="1"/>
          <p:nvPr/>
        </p:nvSpPr>
        <p:spPr>
          <a:xfrm>
            <a:off x="6400800" y="3931920"/>
            <a:ext cx="5120640" cy="502920"/>
          </a:xfrm>
          <a:prstGeom prst="rect">
            <a:avLst/>
          </a:prstGeom>
          <a:noFill/>
          <a:ln/>
        </p:spPr>
        <p:txBody>
          <a:bodyPr wrap="square" lIns="0" tIns="0" rIns="0" bIns="0" rtlCol="0" anchor="t"/>
          <a:lstStyle/>
          <a:p>
            <a:pPr indent="0" marL="0">
              <a:buNone/>
            </a:pPr>
            <a:r>
              <a:rPr lang="en-US" sz="2200" b="1" dirty="0">
                <a:solidFill>
                  <a:schemeClr val="accent1"/>
                </a:solidFill>
              </a:rPr>
              <a:t>조각 1개 = 토큰 1개</a:t>
            </a:r>
            <a:endParaRPr lang="en-US" sz="2200" dirty="0"/>
          </a:p>
        </p:txBody>
      </p:sp>
      <p:sp>
        <p:nvSpPr>
          <p:cNvPr id="15" name="text-302"/>
          <p:cNvSpPr txBox="1"/>
          <p:nvPr/>
        </p:nvSpPr>
        <p:spPr>
          <a:xfrm>
            <a:off x="6400800" y="4480560"/>
            <a:ext cx="5120640" cy="914400"/>
          </a:xfrm>
          <a:prstGeom prst="rect">
            <a:avLst/>
          </a:prstGeom>
          <a:noFill/>
          <a:ln/>
        </p:spPr>
        <p:txBody>
          <a:bodyPr wrap="square" lIns="0" tIns="0" rIns="0" bIns="0" rtlCol="0" anchor="t"/>
          <a:lstStyle/>
          <a:p>
            <a:pPr indent="0" marL="0">
              <a:buNone/>
            </a:pPr>
            <a:r>
              <a:rPr lang="en-US" sz="1700" dirty="0">
                <a:solidFill>
                  <a:schemeClr val="tx2"/>
                </a:solidFill>
              </a:rPr>
              <a:t>문장의 단어처럼 Transformer에 넣고, 마지막에 하나의 벡터로 요약 (MAP 풀링)</a:t>
            </a:r>
            <a:endParaRPr lang="en-US" sz="1700" dirty="0"/>
          </a:p>
        </p:txBody>
      </p:sp>
      <p:sp>
        <p:nvSpPr>
          <p:cNvPr id="16" name="text-303"/>
          <p:cNvSpPr txBox="1"/>
          <p:nvPr/>
        </p:nvSpPr>
        <p:spPr>
          <a:xfrm>
            <a:off x="731520" y="5897880"/>
            <a:ext cx="4480560" cy="320040"/>
          </a:xfrm>
          <a:prstGeom prst="rect">
            <a:avLst/>
          </a:prstGeom>
          <a:noFill/>
          <a:ln/>
        </p:spPr>
        <p:txBody>
          <a:bodyPr wrap="square" lIns="0" tIns="0" rIns="0" bIns="0" rtlCol="0" anchor="t"/>
          <a:lstStyle/>
          <a:p>
            <a:pPr indent="0" marL="0">
              <a:buNone/>
            </a:pPr>
            <a:r>
              <a:rPr lang="en-US" sz="1200" dirty="0">
                <a:solidFill>
                  <a:schemeClr val="accent6"/>
                </a:solidFill>
              </a:rPr>
              <a:t>그림: 실제 base-patch16-224 설정과 같은 14×14 격자</a:t>
            </a:r>
            <a:endParaRPr 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모델 이름 읽는 법</a:t>
            </a:r>
            <a:endParaRPr lang="en-US" sz="3000" dirty="0"/>
          </a:p>
        </p:txBody>
      </p:sp>
      <p:sp>
        <p:nvSpPr>
          <p:cNvPr id="3" name="text-304"/>
          <p:cNvSpPr txBox="1"/>
          <p:nvPr/>
        </p:nvSpPr>
        <p:spPr>
          <a:xfrm>
            <a:off x="914400" y="1828800"/>
            <a:ext cx="3291840" cy="822960"/>
          </a:xfrm>
          <a:prstGeom prst="rect">
            <a:avLst/>
          </a:prstGeom>
          <a:noFill/>
          <a:ln/>
        </p:spPr>
        <p:txBody>
          <a:bodyPr wrap="square" lIns="0" tIns="0" rIns="0" bIns="0" rtlCol="0" anchor="ctr"/>
          <a:lstStyle/>
          <a:p>
            <a:pPr indent="0" marL="0">
              <a:buNone/>
            </a:pPr>
            <a:r>
              <a:rPr lang="en-US" sz="3000" b="1" dirty="0">
                <a:solidFill>
                  <a:schemeClr val="tx2"/>
                </a:solidFill>
                <a:latin typeface="Courier New" pitchFamily="34" charset="0"/>
                <a:ea typeface="Courier New" pitchFamily="34" charset="-122"/>
                <a:cs typeface="Courier New" pitchFamily="34" charset="-120"/>
              </a:rPr>
              <a:t>google/siglip-</a:t>
            </a:r>
            <a:endParaRPr lang="en-US" sz="3000" dirty="0"/>
          </a:p>
        </p:txBody>
      </p:sp>
      <p:sp>
        <p:nvSpPr>
          <p:cNvPr id="4" name="seg-305"/>
          <p:cNvSpPr/>
          <p:nvPr/>
        </p:nvSpPr>
        <p:spPr>
          <a:xfrm>
            <a:off x="960120" y="2743200"/>
            <a:ext cx="3154680" cy="0"/>
          </a:xfrm>
          <a:prstGeom prst="line">
            <a:avLst/>
          </a:prstGeom>
          <a:noFill/>
          <a:ln w="50800">
            <a:solidFill>
              <a:schemeClr val="tx2"/>
            </a:solidFill>
            <a:prstDash val="solid"/>
          </a:ln>
        </p:spPr>
      </p:sp>
      <p:sp>
        <p:nvSpPr>
          <p:cNvPr id="5" name="text-306"/>
          <p:cNvSpPr txBox="1"/>
          <p:nvPr/>
        </p:nvSpPr>
        <p:spPr>
          <a:xfrm>
            <a:off x="914400" y="2880360"/>
            <a:ext cx="3566160" cy="731520"/>
          </a:xfrm>
          <a:prstGeom prst="rect">
            <a:avLst/>
          </a:prstGeom>
          <a:noFill/>
          <a:ln/>
        </p:spPr>
        <p:txBody>
          <a:bodyPr wrap="square" lIns="0" tIns="0" rIns="0" bIns="0" rtlCol="0" anchor="t"/>
          <a:lstStyle/>
          <a:p>
            <a:pPr indent="0" marL="0">
              <a:buNone/>
            </a:pPr>
            <a:r>
              <a:rPr lang="en-US" sz="1600" b="1" dirty="0">
                <a:solidFill>
                  <a:schemeClr val="tx2"/>
                </a:solidFill>
              </a:rPr>
              <a:t>제작사 / 모델</a:t>
            </a:r>
            <a:endParaRPr lang="en-US" sz="1600" dirty="0"/>
          </a:p>
        </p:txBody>
      </p:sp>
      <p:sp>
        <p:nvSpPr>
          <p:cNvPr id="6" name="text-307"/>
          <p:cNvSpPr txBox="1"/>
          <p:nvPr/>
        </p:nvSpPr>
        <p:spPr>
          <a:xfrm>
            <a:off x="4206240" y="1828800"/>
            <a:ext cx="1188720" cy="822960"/>
          </a:xfrm>
          <a:prstGeom prst="rect">
            <a:avLst/>
          </a:prstGeom>
          <a:noFill/>
          <a:ln/>
        </p:spPr>
        <p:txBody>
          <a:bodyPr wrap="square" lIns="0" tIns="0" rIns="0" bIns="0" rtlCol="0" anchor="ctr"/>
          <a:lstStyle/>
          <a:p>
            <a:pPr indent="0" marL="0">
              <a:buNone/>
            </a:pPr>
            <a:r>
              <a:rPr lang="en-US" sz="3000" b="1" dirty="0">
                <a:solidFill>
                  <a:schemeClr val="accent3"/>
                </a:solidFill>
                <a:latin typeface="Courier New" pitchFamily="34" charset="0"/>
                <a:ea typeface="Courier New" pitchFamily="34" charset="-122"/>
                <a:cs typeface="Courier New" pitchFamily="34" charset="-120"/>
              </a:rPr>
              <a:t>base</a:t>
            </a:r>
            <a:endParaRPr lang="en-US" sz="3000" dirty="0"/>
          </a:p>
        </p:txBody>
      </p:sp>
      <p:sp>
        <p:nvSpPr>
          <p:cNvPr id="7" name="seg-308"/>
          <p:cNvSpPr/>
          <p:nvPr/>
        </p:nvSpPr>
        <p:spPr>
          <a:xfrm>
            <a:off x="4251960" y="2743200"/>
            <a:ext cx="1051560" cy="0"/>
          </a:xfrm>
          <a:prstGeom prst="line">
            <a:avLst/>
          </a:prstGeom>
          <a:noFill/>
          <a:ln w="50800">
            <a:solidFill>
              <a:schemeClr val="accent3"/>
            </a:solidFill>
            <a:prstDash val="solid"/>
          </a:ln>
        </p:spPr>
      </p:sp>
      <p:sp>
        <p:nvSpPr>
          <p:cNvPr id="8" name="text-309"/>
          <p:cNvSpPr txBox="1"/>
          <p:nvPr/>
        </p:nvSpPr>
        <p:spPr>
          <a:xfrm>
            <a:off x="4206240" y="2880360"/>
            <a:ext cx="1463040" cy="731520"/>
          </a:xfrm>
          <a:prstGeom prst="rect">
            <a:avLst/>
          </a:prstGeom>
          <a:noFill/>
          <a:ln/>
        </p:spPr>
        <p:txBody>
          <a:bodyPr wrap="square" lIns="0" tIns="0" rIns="0" bIns="0" rtlCol="0" anchor="t"/>
          <a:lstStyle/>
          <a:p>
            <a:pPr indent="0" marL="0">
              <a:buNone/>
            </a:pPr>
            <a:r>
              <a:rPr lang="en-US" sz="1600" b="1" dirty="0">
                <a:solidFill>
                  <a:schemeClr val="accent3"/>
                </a:solidFill>
              </a:rPr>
              <a:t>모델 크기</a:t>
            </a:r>
            <a:endParaRPr lang="en-US" sz="1600" dirty="0"/>
          </a:p>
        </p:txBody>
      </p:sp>
      <p:sp>
        <p:nvSpPr>
          <p:cNvPr id="9" name="text-310"/>
          <p:cNvSpPr txBox="1"/>
          <p:nvPr/>
        </p:nvSpPr>
        <p:spPr>
          <a:xfrm>
            <a:off x="5394960" y="1828800"/>
            <a:ext cx="2194560" cy="822960"/>
          </a:xfrm>
          <a:prstGeom prst="rect">
            <a:avLst/>
          </a:prstGeom>
          <a:noFill/>
          <a:ln/>
        </p:spPr>
        <p:txBody>
          <a:bodyPr wrap="square" lIns="0" tIns="0" rIns="0" bIns="0" rtlCol="0" anchor="ctr"/>
          <a:lstStyle/>
          <a:p>
            <a:pPr indent="0" marL="0">
              <a:buNone/>
            </a:pPr>
            <a:r>
              <a:rPr lang="en-US" sz="3000" b="1" dirty="0">
                <a:solidFill>
                  <a:schemeClr val="accent1"/>
                </a:solidFill>
                <a:latin typeface="Courier New" pitchFamily="34" charset="0"/>
                <a:ea typeface="Courier New" pitchFamily="34" charset="-122"/>
                <a:cs typeface="Courier New" pitchFamily="34" charset="-120"/>
              </a:rPr>
              <a:t>-patch16</a:t>
            </a:r>
            <a:endParaRPr lang="en-US" sz="3000" dirty="0"/>
          </a:p>
        </p:txBody>
      </p:sp>
      <p:sp>
        <p:nvSpPr>
          <p:cNvPr id="10" name="seg-311"/>
          <p:cNvSpPr/>
          <p:nvPr/>
        </p:nvSpPr>
        <p:spPr>
          <a:xfrm>
            <a:off x="5440680" y="2743200"/>
            <a:ext cx="2057400" cy="0"/>
          </a:xfrm>
          <a:prstGeom prst="line">
            <a:avLst/>
          </a:prstGeom>
          <a:noFill/>
          <a:ln w="50800">
            <a:solidFill>
              <a:schemeClr val="accent1"/>
            </a:solidFill>
            <a:prstDash val="solid"/>
          </a:ln>
        </p:spPr>
      </p:sp>
      <p:sp>
        <p:nvSpPr>
          <p:cNvPr id="11" name="text-312"/>
          <p:cNvSpPr txBox="1"/>
          <p:nvPr/>
        </p:nvSpPr>
        <p:spPr>
          <a:xfrm>
            <a:off x="5394960" y="2880360"/>
            <a:ext cx="2468880" cy="731520"/>
          </a:xfrm>
          <a:prstGeom prst="rect">
            <a:avLst/>
          </a:prstGeom>
          <a:noFill/>
          <a:ln/>
        </p:spPr>
        <p:txBody>
          <a:bodyPr wrap="square" lIns="0" tIns="0" rIns="0" bIns="0" rtlCol="0" anchor="t"/>
          <a:lstStyle/>
          <a:p>
            <a:pPr indent="0" marL="0">
              <a:buNone/>
            </a:pPr>
            <a:r>
              <a:rPr lang="en-US" sz="1600" b="1" dirty="0">
                <a:solidFill>
                  <a:schemeClr val="accent1"/>
                </a:solidFill>
              </a:rPr>
              <a:t>조각 크기 16×16</a:t>
            </a:r>
            <a:endParaRPr lang="en-US" sz="1600" dirty="0"/>
          </a:p>
        </p:txBody>
      </p:sp>
      <p:sp>
        <p:nvSpPr>
          <p:cNvPr id="12" name="text-313"/>
          <p:cNvSpPr txBox="1"/>
          <p:nvPr/>
        </p:nvSpPr>
        <p:spPr>
          <a:xfrm>
            <a:off x="7589520" y="1828800"/>
            <a:ext cx="1097280" cy="822960"/>
          </a:xfrm>
          <a:prstGeom prst="rect">
            <a:avLst/>
          </a:prstGeom>
          <a:noFill/>
          <a:ln/>
        </p:spPr>
        <p:txBody>
          <a:bodyPr wrap="square" lIns="0" tIns="0" rIns="0" bIns="0" rtlCol="0" anchor="ctr"/>
          <a:lstStyle/>
          <a:p>
            <a:pPr indent="0" marL="0">
              <a:buNone/>
            </a:pPr>
            <a:r>
              <a:rPr lang="en-US" sz="3000" b="1" dirty="0">
                <a:solidFill>
                  <a:schemeClr val="accent2"/>
                </a:solidFill>
                <a:latin typeface="Courier New" pitchFamily="34" charset="0"/>
                <a:ea typeface="Courier New" pitchFamily="34" charset="-122"/>
                <a:cs typeface="Courier New" pitchFamily="34" charset="-120"/>
              </a:rPr>
              <a:t>-224</a:t>
            </a:r>
            <a:endParaRPr lang="en-US" sz="3000" dirty="0"/>
          </a:p>
        </p:txBody>
      </p:sp>
      <p:sp>
        <p:nvSpPr>
          <p:cNvPr id="13" name="seg-314"/>
          <p:cNvSpPr/>
          <p:nvPr/>
        </p:nvSpPr>
        <p:spPr>
          <a:xfrm>
            <a:off x="7635240" y="2743200"/>
            <a:ext cx="960120" cy="0"/>
          </a:xfrm>
          <a:prstGeom prst="line">
            <a:avLst/>
          </a:prstGeom>
          <a:noFill/>
          <a:ln w="50800">
            <a:solidFill>
              <a:schemeClr val="accent2"/>
            </a:solidFill>
            <a:prstDash val="solid"/>
          </a:ln>
        </p:spPr>
      </p:sp>
      <p:sp>
        <p:nvSpPr>
          <p:cNvPr id="14" name="text-315"/>
          <p:cNvSpPr txBox="1"/>
          <p:nvPr/>
        </p:nvSpPr>
        <p:spPr>
          <a:xfrm>
            <a:off x="7589520" y="2880360"/>
            <a:ext cx="1371600" cy="731520"/>
          </a:xfrm>
          <a:prstGeom prst="rect">
            <a:avLst/>
          </a:prstGeom>
          <a:noFill/>
          <a:ln/>
        </p:spPr>
        <p:txBody>
          <a:bodyPr wrap="square" lIns="0" tIns="0" rIns="0" bIns="0" rtlCol="0" anchor="t"/>
          <a:lstStyle/>
          <a:p>
            <a:pPr indent="0" marL="0">
              <a:buNone/>
            </a:pPr>
            <a:r>
              <a:rPr lang="en-US" sz="1600" b="1" dirty="0">
                <a:solidFill>
                  <a:schemeClr val="accent2"/>
                </a:solidFill>
              </a:rPr>
              <a:t>입력 해상도 224×224</a:t>
            </a:r>
            <a:endParaRPr lang="en-US" sz="1600" dirty="0"/>
          </a:p>
        </p:txBody>
      </p:sp>
      <p:sp>
        <p:nvSpPr>
          <p:cNvPr id="15" name="card-316"/>
          <p:cNvSpPr/>
          <p:nvPr/>
        </p:nvSpPr>
        <p:spPr>
          <a:xfrm>
            <a:off x="640080" y="4023360"/>
            <a:ext cx="10881360" cy="1737360"/>
          </a:xfrm>
          <a:prstGeom prst="roundRect">
            <a:avLst>
              <a:gd name="adj" fmla="val 7368"/>
            </a:avLst>
          </a:prstGeom>
          <a:solidFill>
            <a:schemeClr val="bg2"/>
          </a:solidFill>
          <a:ln/>
        </p:spPr>
      </p:sp>
      <p:sp>
        <p:nvSpPr>
          <p:cNvPr id="16" name="circle-317"/>
          <p:cNvSpPr/>
          <p:nvPr/>
        </p:nvSpPr>
        <p:spPr>
          <a:xfrm>
            <a:off x="914400" y="4434840"/>
            <a:ext cx="914400" cy="914400"/>
          </a:xfrm>
          <a:prstGeom prst="ellipse">
            <a:avLst/>
          </a:prstGeom>
          <a:solidFill>
            <a:schemeClr val="accent3"/>
          </a:solidFill>
          <a:ln/>
        </p:spPr>
      </p:sp>
      <p:pic>
        <p:nvPicPr>
          <p:cNvPr id="17" name="icon-FaCube-318" descr="FaCube">    </p:cNvPr>
          <p:cNvPicPr>
            <a:picLocks noChangeAspect="1"/>
          </p:cNvPicPr>
          <p:nvPr/>
        </p:nvPicPr>
        <p:blipFill>
          <a:blip r:embed="rId1"/>
          <a:stretch>
            <a:fillRect/>
          </a:stretch>
        </p:blipFill>
        <p:spPr>
          <a:xfrm>
            <a:off x="1152144" y="4672584"/>
            <a:ext cx="438912" cy="438912"/>
          </a:xfrm>
          <a:prstGeom prst="rect">
            <a:avLst/>
          </a:prstGeom>
        </p:spPr>
      </p:pic>
      <p:sp>
        <p:nvSpPr>
          <p:cNvPr id="18" name="text-319"/>
          <p:cNvSpPr txBox="1"/>
          <p:nvPr/>
        </p:nvSpPr>
        <p:spPr>
          <a:xfrm>
            <a:off x="2103120" y="4206240"/>
            <a:ext cx="9235440" cy="640080"/>
          </a:xfrm>
          <a:prstGeom prst="rect">
            <a:avLst/>
          </a:prstGeom>
          <a:noFill/>
          <a:ln/>
        </p:spPr>
        <p:txBody>
          <a:bodyPr wrap="square" lIns="0" tIns="0" rIns="0" bIns="0" rtlCol="0" anchor="ctr"/>
          <a:lstStyle/>
          <a:p>
            <a:pPr indent="0" marL="0">
              <a:buNone/>
            </a:pPr>
            <a:r>
              <a:rPr lang="en-US" sz="2000" b="1" dirty="0">
                <a:solidFill>
                  <a:schemeClr val="accent3"/>
                </a:solidFill>
                <a:latin typeface="Courier New" pitchFamily="34" charset="0"/>
                <a:ea typeface="Courier New" pitchFamily="34" charset="-122"/>
                <a:cs typeface="Courier New" pitchFamily="34" charset="-120"/>
              </a:rPr>
              <a:t>so400m</a:t>
            </a:r>
            <a:r>
              <a:rPr lang="en-US" sz="2000" dirty="0">
                <a:solidFill>
                  <a:schemeClr val="tx1"/>
                </a:solidFill>
              </a:rPr>
              <a:t>  = 계산 효율에 맞춰 모양을 최적화한 약 4억 파라미터 ViT</a:t>
            </a:r>
            <a:endParaRPr lang="en-US" sz="2000" dirty="0"/>
          </a:p>
        </p:txBody>
      </p:sp>
      <p:sp>
        <p:nvSpPr>
          <p:cNvPr id="19" name="text-320"/>
          <p:cNvSpPr txBox="1"/>
          <p:nvPr/>
        </p:nvSpPr>
        <p:spPr>
          <a:xfrm>
            <a:off x="2103120" y="4846320"/>
            <a:ext cx="9235440" cy="548640"/>
          </a:xfrm>
          <a:prstGeom prst="rect">
            <a:avLst/>
          </a:prstGeom>
          <a:noFill/>
          <a:ln/>
        </p:spPr>
        <p:txBody>
          <a:bodyPr wrap="square" lIns="0" tIns="0" rIns="0" bIns="0" rtlCol="0" anchor="t"/>
          <a:lstStyle/>
          <a:p>
            <a:pPr indent="0" marL="0">
              <a:buNone/>
            </a:pPr>
            <a:r>
              <a:rPr lang="en-US" sz="1700" dirty="0">
                <a:solidFill>
                  <a:schemeClr val="tx2"/>
                </a:solidFill>
              </a:rPr>
              <a:t>예: google/siglip-so400m-patch14-384 → 크고 고해상도(384)</a:t>
            </a:r>
            <a:endParaRPr lang="en-US" sz="17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Sigmoid Loss 한 줄 수식</a:t>
            </a:r>
            <a:endParaRPr lang="en-US" sz="3000" dirty="0"/>
          </a:p>
        </p:txBody>
      </p:sp>
      <p:sp>
        <p:nvSpPr>
          <p:cNvPr id="3" name="card-321"/>
          <p:cNvSpPr/>
          <p:nvPr/>
        </p:nvSpPr>
        <p:spPr>
          <a:xfrm>
            <a:off x="640080" y="1371600"/>
            <a:ext cx="10881360" cy="1325880"/>
          </a:xfrm>
          <a:prstGeom prst="roundRect">
            <a:avLst>
              <a:gd name="adj" fmla="val 9655"/>
            </a:avLst>
          </a:prstGeom>
          <a:solidFill>
            <a:schemeClr val="tx1"/>
          </a:solidFill>
          <a:ln/>
        </p:spPr>
      </p:sp>
      <p:sp>
        <p:nvSpPr>
          <p:cNvPr id="4" name="text-322"/>
          <p:cNvSpPr txBox="1"/>
          <p:nvPr/>
        </p:nvSpPr>
        <p:spPr>
          <a:xfrm>
            <a:off x="914400" y="1371600"/>
            <a:ext cx="10332720" cy="1325880"/>
          </a:xfrm>
          <a:prstGeom prst="rect">
            <a:avLst/>
          </a:prstGeom>
          <a:noFill/>
          <a:ln/>
        </p:spPr>
        <p:txBody>
          <a:bodyPr wrap="square" lIns="0" tIns="0" rIns="0" bIns="0" rtlCol="0" anchor="ctr"/>
          <a:lstStyle/>
          <a:p>
            <a:pPr algn="ctr" indent="0" marL="0">
              <a:buNone/>
            </a:pPr>
            <a:r>
              <a:rPr lang="en-US" sz="3000" dirty="0">
                <a:solidFill>
                  <a:schemeClr val="bg1"/>
                </a:solidFill>
                <a:latin typeface="Cambria Math" pitchFamily="34" charset="0"/>
                <a:ea typeface="Cambria Math" pitchFamily="34" charset="-122"/>
                <a:cs typeface="Cambria Math" pitchFamily="34" charset="-120"/>
              </a:rPr>
              <a:t>L = −(1/|B|) Σᵢ Σⱼ log σ( zᵢⱼ · ( t·xᵢ·yⱼ + b ) )</a:t>
            </a:r>
            <a:endParaRPr lang="en-US" sz="3000" dirty="0"/>
          </a:p>
        </p:txBody>
      </p:sp>
      <p:sp>
        <p:nvSpPr>
          <p:cNvPr id="5" name="card-323"/>
          <p:cNvSpPr/>
          <p:nvPr/>
        </p:nvSpPr>
        <p:spPr>
          <a:xfrm>
            <a:off x="640080" y="3017520"/>
            <a:ext cx="5349240" cy="1188720"/>
          </a:xfrm>
          <a:prstGeom prst="roundRect">
            <a:avLst>
              <a:gd name="adj" fmla="val 10769"/>
            </a:avLst>
          </a:prstGeom>
          <a:solidFill>
            <a:schemeClr val="bg2"/>
          </a:solidFill>
          <a:ln/>
        </p:spPr>
      </p:sp>
      <p:sp>
        <p:nvSpPr>
          <p:cNvPr id="6" name="text-324"/>
          <p:cNvSpPr txBox="1"/>
          <p:nvPr/>
        </p:nvSpPr>
        <p:spPr>
          <a:xfrm>
            <a:off x="914400" y="3017520"/>
            <a:ext cx="1188720" cy="1188720"/>
          </a:xfrm>
          <a:prstGeom prst="rect">
            <a:avLst/>
          </a:prstGeom>
          <a:noFill/>
          <a:ln/>
        </p:spPr>
        <p:txBody>
          <a:bodyPr wrap="square" lIns="0" tIns="0" rIns="0" bIns="0" rtlCol="0" anchor="ctr"/>
          <a:lstStyle/>
          <a:p>
            <a:pPr indent="0" marL="0">
              <a:buNone/>
            </a:pPr>
            <a:r>
              <a:rPr lang="en-US" sz="2400" b="1" dirty="0">
                <a:solidFill>
                  <a:schemeClr val="accent1"/>
                </a:solidFill>
                <a:latin typeface="Cambria Math" pitchFamily="34" charset="0"/>
                <a:ea typeface="Cambria Math" pitchFamily="34" charset="-122"/>
                <a:cs typeface="Cambria Math" pitchFamily="34" charset="-120"/>
              </a:rPr>
              <a:t>xᵢ·yⱼ</a:t>
            </a:r>
            <a:endParaRPr lang="en-US" sz="2400" dirty="0"/>
          </a:p>
        </p:txBody>
      </p:sp>
      <p:sp>
        <p:nvSpPr>
          <p:cNvPr id="7" name="text-325"/>
          <p:cNvSpPr txBox="1"/>
          <p:nvPr/>
        </p:nvSpPr>
        <p:spPr>
          <a:xfrm>
            <a:off x="2103120" y="3017520"/>
            <a:ext cx="3749040" cy="1188720"/>
          </a:xfrm>
          <a:prstGeom prst="rect">
            <a:avLst/>
          </a:prstGeom>
          <a:noFill/>
          <a:ln/>
        </p:spPr>
        <p:txBody>
          <a:bodyPr wrap="square" lIns="0" tIns="0" rIns="0" bIns="0" rtlCol="0" anchor="ctr"/>
          <a:lstStyle/>
          <a:p>
            <a:pPr indent="0" marL="0">
              <a:buNone/>
            </a:pPr>
            <a:r>
              <a:rPr lang="en-US" sz="1800" dirty="0">
                <a:solidFill>
                  <a:schemeClr val="tx1"/>
                </a:solidFill>
              </a:rPr>
              <a:t>사진 i와 문장 j의 유사도</a:t>
            </a:r>
            <a:endParaRPr lang="en-US" sz="1800" dirty="0"/>
          </a:p>
        </p:txBody>
      </p:sp>
      <p:sp>
        <p:nvSpPr>
          <p:cNvPr id="8" name="card-326"/>
          <p:cNvSpPr/>
          <p:nvPr/>
        </p:nvSpPr>
        <p:spPr>
          <a:xfrm>
            <a:off x="6172200" y="3017520"/>
            <a:ext cx="5349240" cy="1188720"/>
          </a:xfrm>
          <a:prstGeom prst="roundRect">
            <a:avLst>
              <a:gd name="adj" fmla="val 10769"/>
            </a:avLst>
          </a:prstGeom>
          <a:solidFill>
            <a:schemeClr val="bg2"/>
          </a:solidFill>
          <a:ln/>
        </p:spPr>
      </p:sp>
      <p:sp>
        <p:nvSpPr>
          <p:cNvPr id="9" name="text-327"/>
          <p:cNvSpPr txBox="1"/>
          <p:nvPr/>
        </p:nvSpPr>
        <p:spPr>
          <a:xfrm>
            <a:off x="6446520" y="3017520"/>
            <a:ext cx="1188720" cy="1188720"/>
          </a:xfrm>
          <a:prstGeom prst="rect">
            <a:avLst/>
          </a:prstGeom>
          <a:noFill/>
          <a:ln/>
        </p:spPr>
        <p:txBody>
          <a:bodyPr wrap="square" lIns="0" tIns="0" rIns="0" bIns="0" rtlCol="0" anchor="ctr"/>
          <a:lstStyle/>
          <a:p>
            <a:pPr indent="0" marL="0">
              <a:buNone/>
            </a:pPr>
            <a:r>
              <a:rPr lang="en-US" sz="2400" b="1" dirty="0">
                <a:solidFill>
                  <a:schemeClr val="accent5"/>
                </a:solidFill>
                <a:latin typeface="Cambria Math" pitchFamily="34" charset="0"/>
                <a:ea typeface="Cambria Math" pitchFamily="34" charset="-122"/>
                <a:cs typeface="Cambria Math" pitchFamily="34" charset="-120"/>
              </a:rPr>
              <a:t>zᵢⱼ</a:t>
            </a:r>
            <a:endParaRPr lang="en-US" sz="2400" dirty="0"/>
          </a:p>
        </p:txBody>
      </p:sp>
      <p:sp>
        <p:nvSpPr>
          <p:cNvPr id="10" name="text-328"/>
          <p:cNvSpPr txBox="1"/>
          <p:nvPr/>
        </p:nvSpPr>
        <p:spPr>
          <a:xfrm>
            <a:off x="7635240" y="3017520"/>
            <a:ext cx="3749040" cy="1188720"/>
          </a:xfrm>
          <a:prstGeom prst="rect">
            <a:avLst/>
          </a:prstGeom>
          <a:noFill/>
          <a:ln/>
        </p:spPr>
        <p:txBody>
          <a:bodyPr wrap="square" lIns="0" tIns="0" rIns="0" bIns="0" rtlCol="0" anchor="ctr"/>
          <a:lstStyle/>
          <a:p>
            <a:pPr indent="0" marL="0">
              <a:buNone/>
            </a:pPr>
            <a:r>
              <a:rPr lang="en-US" sz="1800" dirty="0">
                <a:solidFill>
                  <a:schemeClr val="tx1"/>
                </a:solidFill>
              </a:rPr>
              <a:t>O/X 정답: 짝이면 +1, 아니면 −1</a:t>
            </a:r>
            <a:endParaRPr lang="en-US" sz="1800" dirty="0"/>
          </a:p>
        </p:txBody>
      </p:sp>
      <p:sp>
        <p:nvSpPr>
          <p:cNvPr id="11" name="card-329"/>
          <p:cNvSpPr/>
          <p:nvPr/>
        </p:nvSpPr>
        <p:spPr>
          <a:xfrm>
            <a:off x="640080" y="4434840"/>
            <a:ext cx="5349240" cy="1188720"/>
          </a:xfrm>
          <a:prstGeom prst="roundRect">
            <a:avLst>
              <a:gd name="adj" fmla="val 10769"/>
            </a:avLst>
          </a:prstGeom>
          <a:solidFill>
            <a:schemeClr val="bg2"/>
          </a:solidFill>
          <a:ln/>
        </p:spPr>
      </p:sp>
      <p:sp>
        <p:nvSpPr>
          <p:cNvPr id="12" name="text-330"/>
          <p:cNvSpPr txBox="1"/>
          <p:nvPr/>
        </p:nvSpPr>
        <p:spPr>
          <a:xfrm>
            <a:off x="914400" y="4434840"/>
            <a:ext cx="1188720" cy="1188720"/>
          </a:xfrm>
          <a:prstGeom prst="rect">
            <a:avLst/>
          </a:prstGeom>
          <a:noFill/>
          <a:ln/>
        </p:spPr>
        <p:txBody>
          <a:bodyPr wrap="square" lIns="0" tIns="0" rIns="0" bIns="0" rtlCol="0" anchor="ctr"/>
          <a:lstStyle/>
          <a:p>
            <a:pPr indent="0" marL="0">
              <a:buNone/>
            </a:pPr>
            <a:r>
              <a:rPr lang="en-US" sz="2400" b="1" dirty="0">
                <a:solidFill>
                  <a:schemeClr val="accent3"/>
                </a:solidFill>
                <a:latin typeface="Cambria Math" pitchFamily="34" charset="0"/>
                <a:ea typeface="Cambria Math" pitchFamily="34" charset="-122"/>
                <a:cs typeface="Cambria Math" pitchFamily="34" charset="-120"/>
              </a:rPr>
              <a:t>σ</a:t>
            </a:r>
            <a:endParaRPr lang="en-US" sz="2400" dirty="0"/>
          </a:p>
        </p:txBody>
      </p:sp>
      <p:sp>
        <p:nvSpPr>
          <p:cNvPr id="13" name="text-331"/>
          <p:cNvSpPr txBox="1"/>
          <p:nvPr/>
        </p:nvSpPr>
        <p:spPr>
          <a:xfrm>
            <a:off x="2103120" y="4434840"/>
            <a:ext cx="3749040" cy="1188720"/>
          </a:xfrm>
          <a:prstGeom prst="rect">
            <a:avLst/>
          </a:prstGeom>
          <a:noFill/>
          <a:ln/>
        </p:spPr>
        <p:txBody>
          <a:bodyPr wrap="square" lIns="0" tIns="0" rIns="0" bIns="0" rtlCol="0" anchor="ctr"/>
          <a:lstStyle/>
          <a:p>
            <a:pPr indent="0" marL="0">
              <a:buNone/>
            </a:pPr>
            <a:r>
              <a:rPr lang="en-US" sz="1800" dirty="0">
                <a:solidFill>
                  <a:schemeClr val="tx1"/>
                </a:solidFill>
              </a:rPr>
              <a:t>시그모이드 → 0~1 ‘짝일 확률’</a:t>
            </a:r>
            <a:endParaRPr lang="en-US" sz="1800" dirty="0"/>
          </a:p>
        </p:txBody>
      </p:sp>
      <p:sp>
        <p:nvSpPr>
          <p:cNvPr id="14" name="card-332"/>
          <p:cNvSpPr/>
          <p:nvPr/>
        </p:nvSpPr>
        <p:spPr>
          <a:xfrm>
            <a:off x="6172200" y="4434840"/>
            <a:ext cx="5349240" cy="1188720"/>
          </a:xfrm>
          <a:prstGeom prst="roundRect">
            <a:avLst>
              <a:gd name="adj" fmla="val 10769"/>
            </a:avLst>
          </a:prstGeom>
          <a:solidFill>
            <a:schemeClr val="bg2"/>
          </a:solidFill>
          <a:ln/>
        </p:spPr>
      </p:sp>
      <p:sp>
        <p:nvSpPr>
          <p:cNvPr id="15" name="text-333"/>
          <p:cNvSpPr txBox="1"/>
          <p:nvPr/>
        </p:nvSpPr>
        <p:spPr>
          <a:xfrm>
            <a:off x="6446520" y="4434840"/>
            <a:ext cx="1188720" cy="1188720"/>
          </a:xfrm>
          <a:prstGeom prst="rect">
            <a:avLst/>
          </a:prstGeom>
          <a:noFill/>
          <a:ln/>
        </p:spPr>
        <p:txBody>
          <a:bodyPr wrap="square" lIns="0" tIns="0" rIns="0" bIns="0" rtlCol="0" anchor="ctr"/>
          <a:lstStyle/>
          <a:p>
            <a:pPr indent="0" marL="0">
              <a:buNone/>
            </a:pPr>
            <a:r>
              <a:rPr lang="en-US" sz="2400" b="1" dirty="0">
                <a:solidFill>
                  <a:schemeClr val="accent2"/>
                </a:solidFill>
                <a:latin typeface="Cambria Math" pitchFamily="34" charset="0"/>
                <a:ea typeface="Cambria Math" pitchFamily="34" charset="-122"/>
                <a:cs typeface="Cambria Math" pitchFamily="34" charset="-120"/>
              </a:rPr>
              <a:t>t, b</a:t>
            </a:r>
            <a:endParaRPr lang="en-US" sz="2400" dirty="0"/>
          </a:p>
        </p:txBody>
      </p:sp>
      <p:sp>
        <p:nvSpPr>
          <p:cNvPr id="16" name="text-334"/>
          <p:cNvSpPr txBox="1"/>
          <p:nvPr/>
        </p:nvSpPr>
        <p:spPr>
          <a:xfrm>
            <a:off x="7635240" y="4434840"/>
            <a:ext cx="3749040" cy="1188720"/>
          </a:xfrm>
          <a:prstGeom prst="rect">
            <a:avLst/>
          </a:prstGeom>
          <a:noFill/>
          <a:ln/>
        </p:spPr>
        <p:txBody>
          <a:bodyPr wrap="square" lIns="0" tIns="0" rIns="0" bIns="0" rtlCol="0" anchor="ctr"/>
          <a:lstStyle/>
          <a:p>
            <a:pPr indent="0" marL="0">
              <a:buNone/>
            </a:pPr>
            <a:r>
              <a:rPr lang="en-US" sz="1800" dirty="0">
                <a:solidFill>
                  <a:schemeClr val="tx1"/>
                </a:solidFill>
              </a:rPr>
              <a:t>온도·바이어스 (학습되는 숫자)</a:t>
            </a:r>
            <a:endParaRPr lang="en-US" sz="18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같은 점수, 다른 해석</a:t>
            </a:r>
            <a:endParaRPr lang="en-US" sz="3000" dirty="0"/>
          </a:p>
        </p:txBody>
      </p:sp>
      <p:sp>
        <p:nvSpPr>
          <p:cNvPr id="3" name="text-335"/>
          <p:cNvSpPr txBox="1"/>
          <p:nvPr/>
        </p:nvSpPr>
        <p:spPr>
          <a:xfrm>
            <a:off x="640080" y="1280160"/>
            <a:ext cx="10881360" cy="457200"/>
          </a:xfrm>
          <a:prstGeom prst="rect">
            <a:avLst/>
          </a:prstGeom>
          <a:noFill/>
          <a:ln/>
        </p:spPr>
        <p:txBody>
          <a:bodyPr wrap="square" lIns="0" tIns="0" rIns="0" bIns="0" rtlCol="0" anchor="t"/>
          <a:lstStyle/>
          <a:p>
            <a:pPr indent="0" marL="0">
              <a:buNone/>
            </a:pPr>
            <a:r>
              <a:rPr lang="en-US" sz="1800" dirty="0">
                <a:solidFill>
                  <a:schemeClr val="tx2"/>
                </a:solidFill>
              </a:rPr>
              <a:t>사진 I1의 점수가  T1(정답) 5.0 · T2 4.8 · T3 −2.0  일 때</a:t>
            </a:r>
            <a:endParaRPr lang="en-US" sz="1800" dirty="0"/>
          </a:p>
        </p:txBody>
      </p:sp>
      <p:graphicFrame>
        <p:nvGraphicFramePr>
          <p:cNvPr id="4" name="chart-softmax-sigmoid" descr=""/>
          <p:cNvGraphicFramePr/>
          <p:nvPr/>
        </p:nvGraphicFramePr>
        <p:xfrm>
          <a:off x="640080" y="1828800"/>
          <a:ext cx="6583680" cy="4206240"/>
        </p:xfrm>
        <a:graphic xmlns:a="http://schemas.openxmlformats.org/drawingml/2006/main">
          <a:graphicData uri="http://schemas.openxmlformats.org/drawingml/2006/chart">
            <c:chart xmlns:c="http://schemas.openxmlformats.org/drawingml/2006/chart" r:id="rId1"/>
          </a:graphicData>
        </a:graphic>
      </p:graphicFrame>
      <p:sp>
        <p:nvSpPr>
          <p:cNvPr id="5" name="card-336"/>
          <p:cNvSpPr/>
          <p:nvPr/>
        </p:nvSpPr>
        <p:spPr>
          <a:xfrm>
            <a:off x="7589520" y="1828800"/>
            <a:ext cx="3931920" cy="1874520"/>
          </a:xfrm>
          <a:prstGeom prst="roundRect">
            <a:avLst>
              <a:gd name="adj" fmla="val 6829"/>
            </a:avLst>
          </a:prstGeom>
          <a:solidFill>
            <a:schemeClr val="bg2"/>
          </a:solidFill>
          <a:ln/>
        </p:spPr>
      </p:sp>
      <p:sp>
        <p:nvSpPr>
          <p:cNvPr id="6" name="text-337"/>
          <p:cNvSpPr txBox="1"/>
          <p:nvPr/>
        </p:nvSpPr>
        <p:spPr>
          <a:xfrm>
            <a:off x="7863840" y="1965960"/>
            <a:ext cx="3474720" cy="1645920"/>
          </a:xfrm>
          <a:prstGeom prst="rect">
            <a:avLst/>
          </a:prstGeom>
          <a:noFill/>
          <a:ln/>
        </p:spPr>
        <p:txBody>
          <a:bodyPr wrap="square" lIns="0" tIns="0" rIns="0" bIns="0" rtlCol="0" anchor="t"/>
          <a:lstStyle/>
          <a:p>
            <a:pPr indent="0" marL="0">
              <a:buNone/>
            </a:pPr>
            <a:r>
              <a:rPr lang="en-US" sz="2000" b="1" dirty="0">
                <a:solidFill>
                  <a:schemeClr val="tx2"/>
                </a:solidFill>
              </a:rPr>
              <a:t>Softmax</a:t>
            </a:r>
            <a:endParaRPr lang="en-US" sz="2000" dirty="0"/>
          </a:p>
          <a:p>
            <a:pPr indent="0" marL="0">
              <a:buNone/>
            </a:pPr>
            <a:r>
              <a:rPr lang="en-US" sz="1600" dirty="0">
                <a:solidFill>
                  <a:schemeClr val="tx1"/>
                </a:solidFill>
              </a:rPr>
              <a:t>T2도 그럴듯한데 T1과 확률을 나눠 가짐 → 상대 점수</a:t>
            </a:r>
            <a:endParaRPr lang="en-US" sz="2000" dirty="0"/>
          </a:p>
        </p:txBody>
      </p:sp>
      <p:sp>
        <p:nvSpPr>
          <p:cNvPr id="7" name="card-338"/>
          <p:cNvSpPr/>
          <p:nvPr/>
        </p:nvSpPr>
        <p:spPr>
          <a:xfrm>
            <a:off x="7589520" y="3931920"/>
            <a:ext cx="3931920" cy="2103120"/>
          </a:xfrm>
          <a:prstGeom prst="roundRect">
            <a:avLst>
              <a:gd name="adj" fmla="val 6087"/>
            </a:avLst>
          </a:prstGeom>
          <a:solidFill>
            <a:schemeClr val="accent3">
              <a:alpha val="10000"/>
            </a:schemeClr>
          </a:solidFill>
          <a:ln/>
        </p:spPr>
      </p:sp>
      <p:sp>
        <p:nvSpPr>
          <p:cNvPr id="8" name="text-339"/>
          <p:cNvSpPr txBox="1"/>
          <p:nvPr/>
        </p:nvSpPr>
        <p:spPr>
          <a:xfrm>
            <a:off x="7863840" y="4069080"/>
            <a:ext cx="3474720" cy="1828800"/>
          </a:xfrm>
          <a:prstGeom prst="rect">
            <a:avLst/>
          </a:prstGeom>
          <a:noFill/>
          <a:ln/>
        </p:spPr>
        <p:txBody>
          <a:bodyPr wrap="square" lIns="0" tIns="0" rIns="0" bIns="0" rtlCol="0" anchor="t"/>
          <a:lstStyle/>
          <a:p>
            <a:pPr indent="0" marL="0">
              <a:buNone/>
            </a:pPr>
            <a:r>
              <a:rPr lang="en-US" sz="2000" b="1" dirty="0">
                <a:solidFill>
                  <a:schemeClr val="accent3"/>
                </a:solidFill>
              </a:rPr>
              <a:t>Sigmoid</a:t>
            </a:r>
            <a:endParaRPr lang="en-US" sz="2000" dirty="0"/>
          </a:p>
          <a:p>
            <a:pPr indent="0" marL="0">
              <a:buNone/>
            </a:pPr>
            <a:r>
              <a:rPr lang="en-US" sz="1600" dirty="0">
                <a:solidFill>
                  <a:schemeClr val="tx1"/>
                </a:solidFill>
              </a:rPr>
              <a:t>T2가 짝이 아니면 T2 점수를 직접 낮추는 신호를 받음 → 절대 점수</a:t>
            </a:r>
            <a:endParaRPr lang="en-US" sz="2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왜 바이어스 b가 필요할까?</a:t>
            </a:r>
            <a:endParaRPr lang="en-US" sz="3000" dirty="0"/>
          </a:p>
        </p:txBody>
      </p:sp>
      <p:sp>
        <p:nvSpPr>
          <p:cNvPr id="3" name="card-340"/>
          <p:cNvSpPr/>
          <p:nvPr/>
        </p:nvSpPr>
        <p:spPr>
          <a:xfrm>
            <a:off x="640080" y="1371600"/>
            <a:ext cx="4206240" cy="2377440"/>
          </a:xfrm>
          <a:prstGeom prst="roundRect">
            <a:avLst>
              <a:gd name="adj" fmla="val 5385"/>
            </a:avLst>
          </a:prstGeom>
          <a:solidFill>
            <a:schemeClr val="accent4">
              <a:alpha val="8000"/>
            </a:schemeClr>
          </a:solidFill>
          <a:ln/>
        </p:spPr>
      </p:sp>
      <p:sp>
        <p:nvSpPr>
          <p:cNvPr id="4" name="text-341"/>
          <p:cNvSpPr txBox="1"/>
          <p:nvPr/>
        </p:nvSpPr>
        <p:spPr>
          <a:xfrm>
            <a:off x="868680" y="1554480"/>
            <a:ext cx="3840480" cy="868680"/>
          </a:xfrm>
          <a:prstGeom prst="rect">
            <a:avLst/>
          </a:prstGeom>
          <a:noFill/>
          <a:ln/>
        </p:spPr>
        <p:txBody>
          <a:bodyPr wrap="square" lIns="0" tIns="0" rIns="0" bIns="0" rtlCol="0" anchor="t"/>
          <a:lstStyle/>
          <a:p>
            <a:pPr indent="0" marL="0">
              <a:buNone/>
            </a:pPr>
            <a:r>
              <a:rPr lang="en-US" sz="4400" b="1" dirty="0">
                <a:solidFill>
                  <a:schemeClr val="accent4"/>
                </a:solidFill>
              </a:rPr>
              <a:t>1 : 32,000</a:t>
            </a:r>
            <a:endParaRPr lang="en-US" sz="4400" dirty="0"/>
          </a:p>
        </p:txBody>
      </p:sp>
      <p:sp>
        <p:nvSpPr>
          <p:cNvPr id="5" name="text-342"/>
          <p:cNvSpPr txBox="1"/>
          <p:nvPr/>
        </p:nvSpPr>
        <p:spPr>
          <a:xfrm>
            <a:off x="868680" y="2514600"/>
            <a:ext cx="3749040" cy="1005840"/>
          </a:xfrm>
          <a:prstGeom prst="rect">
            <a:avLst/>
          </a:prstGeom>
          <a:noFill/>
          <a:ln/>
        </p:spPr>
        <p:txBody>
          <a:bodyPr wrap="square" lIns="0" tIns="0" rIns="0" bIns="0" rtlCol="0" anchor="t"/>
          <a:lstStyle/>
          <a:p>
            <a:pPr indent="0" marL="0">
              <a:buNone/>
            </a:pPr>
            <a:r>
              <a:rPr lang="en-US" sz="1700" dirty="0">
                <a:solidFill>
                  <a:schemeClr val="tx1"/>
                </a:solidFill>
              </a:rPr>
              <a:t>배치 32k일 때 진짜 짝 1개당 가짜 짝의 수</a:t>
            </a:r>
            <a:endParaRPr lang="en-US" sz="1700" dirty="0"/>
          </a:p>
        </p:txBody>
      </p:sp>
      <p:sp>
        <p:nvSpPr>
          <p:cNvPr id="6" name="text-343"/>
          <p:cNvSpPr txBox="1"/>
          <p:nvPr/>
        </p:nvSpPr>
        <p:spPr>
          <a:xfrm>
            <a:off x="640080" y="4069080"/>
            <a:ext cx="4389120" cy="2103120"/>
          </a:xfrm>
          <a:prstGeom prst="rect">
            <a:avLst/>
          </a:prstGeom>
          <a:noFill/>
          <a:ln/>
        </p:spPr>
        <p:txBody>
          <a:bodyPr wrap="square" lIns="0" tIns="0" rIns="0" bIns="0" rtlCol="0" anchor="t"/>
          <a:lstStyle/>
          <a:p>
            <a:pPr marL="279400" indent="-279400">
              <a:spcAft>
                <a:spcPts val="1200"/>
              </a:spcAft>
              <a:buSzPct val="100000"/>
              <a:buChar char="•"/>
            </a:pPr>
            <a:r>
              <a:rPr lang="en-US" sz="1700" b="1" dirty="0">
                <a:solidFill>
                  <a:schemeClr val="accent4"/>
                </a:solidFill>
              </a:rPr>
              <a:t>문제  </a:t>
            </a:r>
            <a:r>
              <a:rPr lang="en-US" sz="1700" dirty="0">
                <a:solidFill>
                  <a:schemeClr val="tx1"/>
                </a:solidFill>
              </a:rPr>
              <a:t>가짜 짝이 압도적 → 초반 손실 폭주</a:t>
            </a:r>
            <a:endParaRPr lang="en-US" sz="1700" dirty="0"/>
          </a:p>
          <a:p>
            <a:pPr marL="279400" indent="-279400">
              <a:spcAft>
                <a:spcPts val="1200"/>
              </a:spcAft>
              <a:buSzPct val="100000"/>
              <a:buChar char="•"/>
            </a:pPr>
            <a:r>
              <a:rPr lang="en-US" sz="1700" b="1" dirty="0">
                <a:solidFill>
                  <a:schemeClr val="accent3"/>
                </a:solidFill>
              </a:rPr>
              <a:t>해결  </a:t>
            </a:r>
            <a:r>
              <a:rPr lang="en-US" sz="1700" dirty="0">
                <a:solidFill>
                  <a:schemeClr val="tx1"/>
                </a:solidFill>
              </a:rPr>
              <a:t>b = −10에서 출발</a:t>
            </a:r>
            <a:endParaRPr lang="en-US" sz="1700" dirty="0"/>
          </a:p>
          <a:p>
            <a:pPr marL="279400" indent="-279400">
              <a:spcAft>
                <a:spcPts val="1200"/>
              </a:spcAft>
              <a:buSzPct val="100000"/>
              <a:buChar char="•"/>
            </a:pPr>
            <a:r>
              <a:rPr lang="en-US" sz="1700" b="1" dirty="0">
                <a:solidFill>
                  <a:schemeClr val="accent5"/>
                </a:solidFill>
              </a:rPr>
              <a:t>덤  </a:t>
            </a:r>
            <a:r>
              <a:rPr lang="en-US" sz="1700" dirty="0">
                <a:solidFill>
                  <a:schemeClr val="tx1"/>
                </a:solidFill>
              </a:rPr>
              <a:t>출력이 ‘짝일 확률’처럼 보정됨</a:t>
            </a:r>
            <a:endParaRPr lang="en-US" sz="1700" dirty="0"/>
          </a:p>
        </p:txBody>
      </p:sp>
      <p:graphicFrame>
        <p:nvGraphicFramePr>
          <p:cNvPr id="7" name="chart-bias" descr=""/>
          <p:cNvGraphicFramePr/>
          <p:nvPr/>
        </p:nvGraphicFramePr>
        <p:xfrm>
          <a:off x="5303520" y="1371600"/>
          <a:ext cx="6217920" cy="4206240"/>
        </p:xfrm>
        <a:graphic xmlns:a="http://schemas.openxmlformats.org/drawingml/2006/main">
          <a:graphicData uri="http://schemas.openxmlformats.org/drawingml/2006/chart">
            <c:chart xmlns:c="http://schemas.openxmlformats.org/drawingml/2006/chart" r:id="rId1"/>
          </a:graphicData>
        </a:graphic>
      </p:graphicFrame>
      <p:sp>
        <p:nvSpPr>
          <p:cNvPr id="8" name="text-344"/>
          <p:cNvSpPr txBox="1"/>
          <p:nvPr/>
        </p:nvSpPr>
        <p:spPr>
          <a:xfrm>
            <a:off x="5303520" y="5623560"/>
            <a:ext cx="6217920" cy="548640"/>
          </a:xfrm>
          <a:prstGeom prst="rect">
            <a:avLst/>
          </a:prstGeom>
          <a:noFill/>
          <a:ln/>
        </p:spPr>
        <p:txBody>
          <a:bodyPr wrap="square" lIns="0" tIns="0" rIns="0" bIns="0" rtlCol="0" anchor="t"/>
          <a:lstStyle/>
          <a:p>
            <a:pPr indent="0" marL="0">
              <a:buNone/>
            </a:pPr>
            <a:r>
              <a:rPr lang="en-US" sz="1300" dirty="0">
                <a:solidFill>
                  <a:schemeClr val="tx2"/>
                </a:solidFill>
              </a:rPr>
              <a:t>온도 t = 10(초기값)일 때. b = −10이면 유사도가 1에 가까운 쌍만 확률이 올라감</a:t>
            </a:r>
            <a:endParaRPr 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장점 ① 큰 표를 한 번에 만들 필요가 없다</a:t>
            </a:r>
            <a:endParaRPr lang="en-US" sz="3000" dirty="0"/>
          </a:p>
        </p:txBody>
      </p:sp>
      <p:sp>
        <p:nvSpPr>
          <p:cNvPr id="3" name="text-345"/>
          <p:cNvSpPr txBox="1"/>
          <p:nvPr/>
        </p:nvSpPr>
        <p:spPr>
          <a:xfrm>
            <a:off x="548640" y="2011680"/>
            <a:ext cx="822960" cy="1051560"/>
          </a:xfrm>
          <a:prstGeom prst="rect">
            <a:avLst/>
          </a:prstGeom>
          <a:noFill/>
          <a:ln/>
        </p:spPr>
        <p:txBody>
          <a:bodyPr wrap="square" lIns="0" tIns="0" rIns="0" bIns="0" rtlCol="0" anchor="ctr"/>
          <a:lstStyle/>
          <a:p>
            <a:pPr indent="0" marL="0">
              <a:buNone/>
            </a:pPr>
            <a:r>
              <a:rPr lang="en-US" sz="1500" b="1" dirty="0">
                <a:solidFill>
                  <a:schemeClr val="tx2"/>
                </a:solidFill>
              </a:rPr>
              <a:t>GPU 1</a:t>
            </a:r>
            <a:endParaRPr lang="en-US" sz="1500" dirty="0"/>
          </a:p>
        </p:txBody>
      </p:sp>
      <p:sp>
        <p:nvSpPr>
          <p:cNvPr id="4" name="pill-346"/>
          <p:cNvSpPr/>
          <p:nvPr/>
        </p:nvSpPr>
        <p:spPr>
          <a:xfrm>
            <a:off x="1645920" y="1463040"/>
            <a:ext cx="685800" cy="365760"/>
          </a:xfrm>
          <a:prstGeom prst="roundRect">
            <a:avLst>
              <a:gd name="adj" fmla="val 50000"/>
            </a:avLst>
          </a:prstGeom>
          <a:solidFill>
            <a:schemeClr val="accent2"/>
          </a:solidFill>
          <a:ln/>
        </p:spPr>
      </p:sp>
      <p:sp>
        <p:nvSpPr>
          <p:cNvPr id="5" name="text-347"/>
          <p:cNvSpPr txBox="1"/>
          <p:nvPr/>
        </p:nvSpPr>
        <p:spPr>
          <a:xfrm>
            <a:off x="1645920" y="1463040"/>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T1</a:t>
            </a:r>
            <a:endParaRPr lang="en-US" sz="1300" dirty="0"/>
          </a:p>
        </p:txBody>
      </p:sp>
      <p:sp>
        <p:nvSpPr>
          <p:cNvPr id="6" name="text-348"/>
          <p:cNvSpPr txBox="1"/>
          <p:nvPr/>
        </p:nvSpPr>
        <p:spPr>
          <a:xfrm>
            <a:off x="548640" y="3063240"/>
            <a:ext cx="822960" cy="1051560"/>
          </a:xfrm>
          <a:prstGeom prst="rect">
            <a:avLst/>
          </a:prstGeom>
          <a:noFill/>
          <a:ln/>
        </p:spPr>
        <p:txBody>
          <a:bodyPr wrap="square" lIns="0" tIns="0" rIns="0" bIns="0" rtlCol="0" anchor="ctr"/>
          <a:lstStyle/>
          <a:p>
            <a:pPr indent="0" marL="0">
              <a:buNone/>
            </a:pPr>
            <a:r>
              <a:rPr lang="en-US" sz="1500" b="1" dirty="0">
                <a:solidFill>
                  <a:schemeClr val="tx2"/>
                </a:solidFill>
              </a:rPr>
              <a:t>GPU 2</a:t>
            </a:r>
            <a:endParaRPr lang="en-US" sz="1500" dirty="0"/>
          </a:p>
        </p:txBody>
      </p:sp>
      <p:sp>
        <p:nvSpPr>
          <p:cNvPr id="7" name="pill-349"/>
          <p:cNvSpPr/>
          <p:nvPr/>
        </p:nvSpPr>
        <p:spPr>
          <a:xfrm>
            <a:off x="2697480" y="1463040"/>
            <a:ext cx="685800" cy="365760"/>
          </a:xfrm>
          <a:prstGeom prst="roundRect">
            <a:avLst>
              <a:gd name="adj" fmla="val 50000"/>
            </a:avLst>
          </a:prstGeom>
          <a:solidFill>
            <a:schemeClr val="accent2"/>
          </a:solidFill>
          <a:ln/>
        </p:spPr>
      </p:sp>
      <p:sp>
        <p:nvSpPr>
          <p:cNvPr id="8" name="text-350"/>
          <p:cNvSpPr txBox="1"/>
          <p:nvPr/>
        </p:nvSpPr>
        <p:spPr>
          <a:xfrm>
            <a:off x="2697480" y="1463040"/>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T2</a:t>
            </a:r>
            <a:endParaRPr lang="en-US" sz="1300" dirty="0"/>
          </a:p>
        </p:txBody>
      </p:sp>
      <p:sp>
        <p:nvSpPr>
          <p:cNvPr id="9" name="text-351"/>
          <p:cNvSpPr txBox="1"/>
          <p:nvPr/>
        </p:nvSpPr>
        <p:spPr>
          <a:xfrm>
            <a:off x="548640" y="4114800"/>
            <a:ext cx="822960" cy="1051560"/>
          </a:xfrm>
          <a:prstGeom prst="rect">
            <a:avLst/>
          </a:prstGeom>
          <a:noFill/>
          <a:ln/>
        </p:spPr>
        <p:txBody>
          <a:bodyPr wrap="square" lIns="0" tIns="0" rIns="0" bIns="0" rtlCol="0" anchor="ctr"/>
          <a:lstStyle/>
          <a:p>
            <a:pPr indent="0" marL="0">
              <a:buNone/>
            </a:pPr>
            <a:r>
              <a:rPr lang="en-US" sz="1500" b="1" dirty="0">
                <a:solidFill>
                  <a:schemeClr val="tx2"/>
                </a:solidFill>
              </a:rPr>
              <a:t>GPU 3</a:t>
            </a:r>
            <a:endParaRPr lang="en-US" sz="1500" dirty="0"/>
          </a:p>
        </p:txBody>
      </p:sp>
      <p:sp>
        <p:nvSpPr>
          <p:cNvPr id="10" name="pill-352"/>
          <p:cNvSpPr/>
          <p:nvPr/>
        </p:nvSpPr>
        <p:spPr>
          <a:xfrm>
            <a:off x="3749040" y="1463040"/>
            <a:ext cx="685800" cy="365760"/>
          </a:xfrm>
          <a:prstGeom prst="roundRect">
            <a:avLst>
              <a:gd name="adj" fmla="val 50000"/>
            </a:avLst>
          </a:prstGeom>
          <a:solidFill>
            <a:schemeClr val="accent2"/>
          </a:solidFill>
          <a:ln/>
        </p:spPr>
      </p:sp>
      <p:sp>
        <p:nvSpPr>
          <p:cNvPr id="11" name="text-353"/>
          <p:cNvSpPr txBox="1"/>
          <p:nvPr/>
        </p:nvSpPr>
        <p:spPr>
          <a:xfrm>
            <a:off x="3749040" y="1463040"/>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T3</a:t>
            </a:r>
            <a:endParaRPr lang="en-US" sz="1300" dirty="0"/>
          </a:p>
        </p:txBody>
      </p:sp>
      <p:sp>
        <p:nvSpPr>
          <p:cNvPr id="12" name="chunk-354"/>
          <p:cNvSpPr/>
          <p:nvPr/>
        </p:nvSpPr>
        <p:spPr>
          <a:xfrm>
            <a:off x="1463040" y="2011680"/>
            <a:ext cx="1051560" cy="1051560"/>
          </a:xfrm>
          <a:prstGeom prst="rect">
            <a:avLst/>
          </a:prstGeom>
          <a:solidFill>
            <a:schemeClr val="accent3"/>
          </a:solidFill>
          <a:ln w="38100">
            <a:solidFill>
              <a:schemeClr val="bg1"/>
            </a:solidFill>
            <a:prstDash val="solid"/>
          </a:ln>
        </p:spPr>
      </p:sp>
      <p:sp>
        <p:nvSpPr>
          <p:cNvPr id="13" name="text-355"/>
          <p:cNvSpPr txBox="1"/>
          <p:nvPr/>
        </p:nvSpPr>
        <p:spPr>
          <a:xfrm>
            <a:off x="1463040" y="201168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14" name="chunk-356"/>
          <p:cNvSpPr/>
          <p:nvPr/>
        </p:nvSpPr>
        <p:spPr>
          <a:xfrm>
            <a:off x="2514600" y="2011680"/>
            <a:ext cx="1051560" cy="1051560"/>
          </a:xfrm>
          <a:prstGeom prst="rect">
            <a:avLst/>
          </a:prstGeom>
          <a:solidFill>
            <a:schemeClr val="accent1"/>
          </a:solidFill>
          <a:ln w="38100">
            <a:solidFill>
              <a:schemeClr val="bg1"/>
            </a:solidFill>
            <a:prstDash val="solid"/>
          </a:ln>
        </p:spPr>
      </p:sp>
      <p:sp>
        <p:nvSpPr>
          <p:cNvPr id="15" name="text-357"/>
          <p:cNvSpPr txBox="1"/>
          <p:nvPr/>
        </p:nvSpPr>
        <p:spPr>
          <a:xfrm>
            <a:off x="2514600" y="201168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6" name="chunk-358"/>
          <p:cNvSpPr/>
          <p:nvPr/>
        </p:nvSpPr>
        <p:spPr>
          <a:xfrm>
            <a:off x="3566160" y="2011680"/>
            <a:ext cx="1051560" cy="1051560"/>
          </a:xfrm>
          <a:prstGeom prst="rect">
            <a:avLst/>
          </a:prstGeom>
          <a:solidFill>
            <a:schemeClr val="accent2"/>
          </a:solidFill>
          <a:ln w="38100">
            <a:solidFill>
              <a:schemeClr val="bg1"/>
            </a:solidFill>
            <a:prstDash val="solid"/>
          </a:ln>
        </p:spPr>
      </p:sp>
      <p:sp>
        <p:nvSpPr>
          <p:cNvPr id="17" name="text-359"/>
          <p:cNvSpPr txBox="1"/>
          <p:nvPr/>
        </p:nvSpPr>
        <p:spPr>
          <a:xfrm>
            <a:off x="3566160" y="201168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8" name="chunk-360"/>
          <p:cNvSpPr/>
          <p:nvPr/>
        </p:nvSpPr>
        <p:spPr>
          <a:xfrm>
            <a:off x="1463040" y="3063240"/>
            <a:ext cx="1051560" cy="1051560"/>
          </a:xfrm>
          <a:prstGeom prst="rect">
            <a:avLst/>
          </a:prstGeom>
          <a:solidFill>
            <a:schemeClr val="accent2"/>
          </a:solidFill>
          <a:ln w="38100">
            <a:solidFill>
              <a:schemeClr val="bg1"/>
            </a:solidFill>
            <a:prstDash val="solid"/>
          </a:ln>
        </p:spPr>
      </p:sp>
      <p:sp>
        <p:nvSpPr>
          <p:cNvPr id="19" name="text-361"/>
          <p:cNvSpPr txBox="1"/>
          <p:nvPr/>
        </p:nvSpPr>
        <p:spPr>
          <a:xfrm>
            <a:off x="1463040" y="306324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20" name="chunk-362"/>
          <p:cNvSpPr/>
          <p:nvPr/>
        </p:nvSpPr>
        <p:spPr>
          <a:xfrm>
            <a:off x="2514600" y="3063240"/>
            <a:ext cx="1051560" cy="1051560"/>
          </a:xfrm>
          <a:prstGeom prst="rect">
            <a:avLst/>
          </a:prstGeom>
          <a:solidFill>
            <a:schemeClr val="accent3"/>
          </a:solidFill>
          <a:ln w="38100">
            <a:solidFill>
              <a:schemeClr val="bg1"/>
            </a:solidFill>
            <a:prstDash val="solid"/>
          </a:ln>
        </p:spPr>
      </p:sp>
      <p:sp>
        <p:nvSpPr>
          <p:cNvPr id="21" name="text-363"/>
          <p:cNvSpPr txBox="1"/>
          <p:nvPr/>
        </p:nvSpPr>
        <p:spPr>
          <a:xfrm>
            <a:off x="2514600" y="306324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22" name="chunk-364"/>
          <p:cNvSpPr/>
          <p:nvPr/>
        </p:nvSpPr>
        <p:spPr>
          <a:xfrm>
            <a:off x="3566160" y="3063240"/>
            <a:ext cx="1051560" cy="1051560"/>
          </a:xfrm>
          <a:prstGeom prst="rect">
            <a:avLst/>
          </a:prstGeom>
          <a:solidFill>
            <a:schemeClr val="accent1"/>
          </a:solidFill>
          <a:ln w="38100">
            <a:solidFill>
              <a:schemeClr val="bg1"/>
            </a:solidFill>
            <a:prstDash val="solid"/>
          </a:ln>
        </p:spPr>
      </p:sp>
      <p:sp>
        <p:nvSpPr>
          <p:cNvPr id="23" name="text-365"/>
          <p:cNvSpPr txBox="1"/>
          <p:nvPr/>
        </p:nvSpPr>
        <p:spPr>
          <a:xfrm>
            <a:off x="3566160" y="306324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24" name="chunk-366"/>
          <p:cNvSpPr/>
          <p:nvPr/>
        </p:nvSpPr>
        <p:spPr>
          <a:xfrm>
            <a:off x="1463040" y="4114800"/>
            <a:ext cx="1051560" cy="1051560"/>
          </a:xfrm>
          <a:prstGeom prst="rect">
            <a:avLst/>
          </a:prstGeom>
          <a:solidFill>
            <a:schemeClr val="accent1"/>
          </a:solidFill>
          <a:ln w="38100">
            <a:solidFill>
              <a:schemeClr val="bg1"/>
            </a:solidFill>
            <a:prstDash val="solid"/>
          </a:ln>
        </p:spPr>
      </p:sp>
      <p:sp>
        <p:nvSpPr>
          <p:cNvPr id="25" name="text-367"/>
          <p:cNvSpPr txBox="1"/>
          <p:nvPr/>
        </p:nvSpPr>
        <p:spPr>
          <a:xfrm>
            <a:off x="1463040" y="411480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26" name="chunk-368"/>
          <p:cNvSpPr/>
          <p:nvPr/>
        </p:nvSpPr>
        <p:spPr>
          <a:xfrm>
            <a:off x="2514600" y="4114800"/>
            <a:ext cx="1051560" cy="1051560"/>
          </a:xfrm>
          <a:prstGeom prst="rect">
            <a:avLst/>
          </a:prstGeom>
          <a:solidFill>
            <a:schemeClr val="accent2"/>
          </a:solidFill>
          <a:ln w="38100">
            <a:solidFill>
              <a:schemeClr val="bg1"/>
            </a:solidFill>
            <a:prstDash val="solid"/>
          </a:ln>
        </p:spPr>
      </p:sp>
      <p:sp>
        <p:nvSpPr>
          <p:cNvPr id="27" name="text-369"/>
          <p:cNvSpPr txBox="1"/>
          <p:nvPr/>
        </p:nvSpPr>
        <p:spPr>
          <a:xfrm>
            <a:off x="2514600" y="411480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28" name="chunk-370"/>
          <p:cNvSpPr/>
          <p:nvPr/>
        </p:nvSpPr>
        <p:spPr>
          <a:xfrm>
            <a:off x="3566160" y="4114800"/>
            <a:ext cx="1051560" cy="1051560"/>
          </a:xfrm>
          <a:prstGeom prst="rect">
            <a:avLst/>
          </a:prstGeom>
          <a:solidFill>
            <a:schemeClr val="accent3"/>
          </a:solidFill>
          <a:ln w="38100">
            <a:solidFill>
              <a:schemeClr val="bg1"/>
            </a:solidFill>
            <a:prstDash val="solid"/>
          </a:ln>
        </p:spPr>
      </p:sp>
      <p:sp>
        <p:nvSpPr>
          <p:cNvPr id="29" name="text-371"/>
          <p:cNvSpPr txBox="1"/>
          <p:nvPr/>
        </p:nvSpPr>
        <p:spPr>
          <a:xfrm>
            <a:off x="3566160" y="411480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30" name="circle-372"/>
          <p:cNvSpPr/>
          <p:nvPr/>
        </p:nvSpPr>
        <p:spPr>
          <a:xfrm>
            <a:off x="5486400" y="1600200"/>
            <a:ext cx="548640" cy="548640"/>
          </a:xfrm>
          <a:prstGeom prst="ellipse">
            <a:avLst/>
          </a:prstGeom>
          <a:solidFill>
            <a:schemeClr val="accent3"/>
          </a:solidFill>
          <a:ln/>
        </p:spPr>
      </p:sp>
      <p:sp>
        <p:nvSpPr>
          <p:cNvPr id="31" name="text-373"/>
          <p:cNvSpPr txBox="1"/>
          <p:nvPr/>
        </p:nvSpPr>
        <p:spPr>
          <a:xfrm>
            <a:off x="5486400" y="16002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32" name="text-374"/>
          <p:cNvSpPr txBox="1"/>
          <p:nvPr/>
        </p:nvSpPr>
        <p:spPr>
          <a:xfrm>
            <a:off x="6217920" y="1600200"/>
            <a:ext cx="5303520" cy="548640"/>
          </a:xfrm>
          <a:prstGeom prst="rect">
            <a:avLst/>
          </a:prstGeom>
          <a:noFill/>
          <a:ln/>
        </p:spPr>
        <p:txBody>
          <a:bodyPr wrap="square" lIns="0" tIns="0" rIns="0" bIns="0" rtlCol="0" anchor="ctr"/>
          <a:lstStyle/>
          <a:p>
            <a:pPr indent="0" marL="0">
              <a:buNone/>
            </a:pPr>
            <a:r>
              <a:rPr lang="en-US" sz="2000" dirty="0">
                <a:solidFill>
                  <a:schemeClr val="tx1"/>
                </a:solidFill>
              </a:rPr>
              <a:t>각 GPU가 자기 블록만 계산</a:t>
            </a:r>
            <a:endParaRPr lang="en-US" sz="2000" dirty="0"/>
          </a:p>
        </p:txBody>
      </p:sp>
      <p:sp>
        <p:nvSpPr>
          <p:cNvPr id="33" name="circle-375"/>
          <p:cNvSpPr/>
          <p:nvPr/>
        </p:nvSpPr>
        <p:spPr>
          <a:xfrm>
            <a:off x="5486400" y="2514600"/>
            <a:ext cx="548640" cy="548640"/>
          </a:xfrm>
          <a:prstGeom prst="ellipse">
            <a:avLst/>
          </a:prstGeom>
          <a:solidFill>
            <a:schemeClr val="accent1"/>
          </a:solidFill>
          <a:ln/>
        </p:spPr>
      </p:sp>
      <p:sp>
        <p:nvSpPr>
          <p:cNvPr id="34" name="text-376"/>
          <p:cNvSpPr txBox="1"/>
          <p:nvPr/>
        </p:nvSpPr>
        <p:spPr>
          <a:xfrm>
            <a:off x="5486400" y="2514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35" name="text-377"/>
          <p:cNvSpPr txBox="1"/>
          <p:nvPr/>
        </p:nvSpPr>
        <p:spPr>
          <a:xfrm>
            <a:off x="6217920" y="2514600"/>
            <a:ext cx="5303520" cy="548640"/>
          </a:xfrm>
          <a:prstGeom prst="rect">
            <a:avLst/>
          </a:prstGeom>
          <a:noFill/>
          <a:ln/>
        </p:spPr>
        <p:txBody>
          <a:bodyPr wrap="square" lIns="0" tIns="0" rIns="0" bIns="0" rtlCol="0" anchor="ctr"/>
          <a:lstStyle/>
          <a:p>
            <a:pPr indent="0" marL="0">
              <a:buNone/>
            </a:pPr>
            <a:r>
              <a:rPr lang="en-US" sz="2000" dirty="0">
                <a:solidFill>
                  <a:schemeClr val="tx1"/>
                </a:solidFill>
              </a:rPr>
              <a:t>텍스트 벡터를 옆 GPU로 넘김</a:t>
            </a:r>
            <a:endParaRPr lang="en-US" sz="2000" dirty="0"/>
          </a:p>
        </p:txBody>
      </p:sp>
      <p:sp>
        <p:nvSpPr>
          <p:cNvPr id="36" name="circle-378"/>
          <p:cNvSpPr/>
          <p:nvPr/>
        </p:nvSpPr>
        <p:spPr>
          <a:xfrm>
            <a:off x="5486400" y="3429000"/>
            <a:ext cx="548640" cy="548640"/>
          </a:xfrm>
          <a:prstGeom prst="ellipse">
            <a:avLst/>
          </a:prstGeom>
          <a:solidFill>
            <a:schemeClr val="accent2"/>
          </a:solidFill>
          <a:ln/>
        </p:spPr>
      </p:sp>
      <p:sp>
        <p:nvSpPr>
          <p:cNvPr id="37" name="text-379"/>
          <p:cNvSpPr txBox="1"/>
          <p:nvPr/>
        </p:nvSpPr>
        <p:spPr>
          <a:xfrm>
            <a:off x="5486400" y="34290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38" name="text-380"/>
          <p:cNvSpPr txBox="1"/>
          <p:nvPr/>
        </p:nvSpPr>
        <p:spPr>
          <a:xfrm>
            <a:off x="6217920" y="3429000"/>
            <a:ext cx="5303520" cy="548640"/>
          </a:xfrm>
          <a:prstGeom prst="rect">
            <a:avLst/>
          </a:prstGeom>
          <a:noFill/>
          <a:ln/>
        </p:spPr>
        <p:txBody>
          <a:bodyPr wrap="square" lIns="0" tIns="0" rIns="0" bIns="0" rtlCol="0" anchor="ctr"/>
          <a:lstStyle/>
          <a:p>
            <a:pPr indent="0" marL="0">
              <a:buNone/>
            </a:pPr>
            <a:r>
              <a:rPr lang="en-US" sz="2000" dirty="0">
                <a:solidFill>
                  <a:schemeClr val="tx1"/>
                </a:solidFill>
              </a:rPr>
              <a:t>한 번 더 넘기고, 손실만 합산</a:t>
            </a:r>
            <a:endParaRPr lang="en-US" sz="2000" dirty="0"/>
          </a:p>
        </p:txBody>
      </p:sp>
      <p:sp>
        <p:nvSpPr>
          <p:cNvPr id="39" name="card-381"/>
          <p:cNvSpPr/>
          <p:nvPr/>
        </p:nvSpPr>
        <p:spPr>
          <a:xfrm>
            <a:off x="5486400" y="4434840"/>
            <a:ext cx="6035040" cy="1463040"/>
          </a:xfrm>
          <a:prstGeom prst="roundRect">
            <a:avLst>
              <a:gd name="adj" fmla="val 8750"/>
            </a:avLst>
          </a:prstGeom>
          <a:solidFill>
            <a:schemeClr val="bg2"/>
          </a:solidFill>
          <a:ln/>
        </p:spPr>
      </p:sp>
      <p:sp>
        <p:nvSpPr>
          <p:cNvPr id="40" name="circle-382"/>
          <p:cNvSpPr/>
          <p:nvPr/>
        </p:nvSpPr>
        <p:spPr>
          <a:xfrm>
            <a:off x="5760720" y="4754880"/>
            <a:ext cx="822960" cy="822960"/>
          </a:xfrm>
          <a:prstGeom prst="ellipse">
            <a:avLst/>
          </a:prstGeom>
          <a:solidFill>
            <a:schemeClr val="accent3"/>
          </a:solidFill>
          <a:ln/>
        </p:spPr>
      </p:sp>
      <p:pic>
        <p:nvPicPr>
          <p:cNvPr id="41" name="icon-FaMemory-383" descr="FaMemory">    </p:cNvPr>
          <p:cNvPicPr>
            <a:picLocks noChangeAspect="1"/>
          </p:cNvPicPr>
          <p:nvPr/>
        </p:nvPicPr>
        <p:blipFill>
          <a:blip r:embed="rId1"/>
          <a:stretch>
            <a:fillRect/>
          </a:stretch>
        </p:blipFill>
        <p:spPr>
          <a:xfrm>
            <a:off x="5974690" y="4968850"/>
            <a:ext cx="395021" cy="395021"/>
          </a:xfrm>
          <a:prstGeom prst="rect">
            <a:avLst/>
          </a:prstGeom>
        </p:spPr>
      </p:pic>
      <p:sp>
        <p:nvSpPr>
          <p:cNvPr id="42" name="text-384"/>
          <p:cNvSpPr txBox="1"/>
          <p:nvPr/>
        </p:nvSpPr>
        <p:spPr>
          <a:xfrm>
            <a:off x="6812280" y="4434840"/>
            <a:ext cx="4572000" cy="1463040"/>
          </a:xfrm>
          <a:prstGeom prst="rect">
            <a:avLst/>
          </a:prstGeom>
          <a:noFill/>
          <a:ln/>
        </p:spPr>
        <p:txBody>
          <a:bodyPr wrap="square" lIns="0" tIns="0" rIns="0" bIns="0" rtlCol="0" anchor="ctr"/>
          <a:lstStyle/>
          <a:p>
            <a:pPr indent="0" marL="0">
              <a:buNone/>
            </a:pPr>
            <a:r>
              <a:rPr lang="en-US" sz="1800" b="1" dirty="0">
                <a:solidFill>
                  <a:schemeClr val="tx1"/>
                </a:solidFill>
              </a:rPr>
              <a:t>GPU당 메모리</a:t>
            </a:r>
            <a:endParaRPr lang="en-US" sz="1800" dirty="0"/>
          </a:p>
          <a:p>
            <a:pPr indent="0" marL="0">
              <a:buNone/>
            </a:pPr>
            <a:r>
              <a:rPr lang="en-US" sz="2200" b="1" dirty="0">
                <a:solidFill>
                  <a:schemeClr val="accent3"/>
                </a:solidFill>
              </a:rPr>
              <a:t>전체 배치² → 자기 배치²</a:t>
            </a:r>
            <a:endParaRPr lang="en-US" sz="1800" dirty="0"/>
          </a:p>
        </p:txBody>
      </p:sp>
      <p:sp>
        <p:nvSpPr>
          <p:cNvPr id="43" name="text-385"/>
          <p:cNvSpPr txBox="1"/>
          <p:nvPr/>
        </p:nvSpPr>
        <p:spPr>
          <a:xfrm>
            <a:off x="548640" y="5349240"/>
            <a:ext cx="4572000" cy="457200"/>
          </a:xfrm>
          <a:prstGeom prst="rect">
            <a:avLst/>
          </a:prstGeom>
          <a:noFill/>
          <a:ln/>
        </p:spPr>
        <p:txBody>
          <a:bodyPr wrap="square" lIns="0" tIns="0" rIns="0" bIns="0" rtlCol="0" anchor="t"/>
          <a:lstStyle/>
          <a:p>
            <a:pPr indent="0" marL="0">
              <a:buNone/>
            </a:pPr>
            <a:r>
              <a:rPr lang="en-US" sz="1300" dirty="0">
                <a:solidFill>
                  <a:schemeClr val="tx2"/>
                </a:solidFill>
              </a:rPr>
              <a:t>같은 숫자 = 같은 단계에 계산하는 블록</a:t>
            </a:r>
            <a:endParaRPr 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chemeClr val="bg1"/>
                </a:solidFill>
              </a:rPr>
              <a:t>논문이 보여준 효율</a:t>
            </a:r>
            <a:endParaRPr lang="en-US" sz="3200" dirty="0"/>
          </a:p>
        </p:txBody>
      </p:sp>
      <p:sp>
        <p:nvSpPr>
          <p:cNvPr id="3" name="text-386"/>
          <p:cNvSpPr txBox="1"/>
          <p:nvPr/>
        </p:nvSpPr>
        <p:spPr>
          <a:xfrm>
            <a:off x="640080" y="1280160"/>
            <a:ext cx="10881360" cy="457200"/>
          </a:xfrm>
          <a:prstGeom prst="rect">
            <a:avLst/>
          </a:prstGeom>
          <a:noFill/>
          <a:ln/>
        </p:spPr>
        <p:txBody>
          <a:bodyPr wrap="square" lIns="0" tIns="0" rIns="0" bIns="0" rtlCol="0" anchor="t"/>
          <a:lstStyle/>
          <a:p>
            <a:pPr indent="0" marL="0">
              <a:buNone/>
            </a:pPr>
            <a:r>
              <a:rPr lang="en-US" sz="1800" dirty="0">
                <a:solidFill>
                  <a:schemeClr val="accent6"/>
                </a:solidFill>
              </a:rPr>
              <a:t>SigLiT: 이미지 인코더는 고정하고 텍스트 인코더만 학습한 실험</a:t>
            </a:r>
            <a:endParaRPr lang="en-US" sz="1800" dirty="0"/>
          </a:p>
        </p:txBody>
      </p:sp>
      <p:sp>
        <p:nvSpPr>
          <p:cNvPr id="4" name="card-387"/>
          <p:cNvSpPr/>
          <p:nvPr/>
        </p:nvSpPr>
        <p:spPr>
          <a:xfrm>
            <a:off x="640080" y="2103120"/>
            <a:ext cx="3474720" cy="3291840"/>
          </a:xfrm>
          <a:prstGeom prst="roundRect">
            <a:avLst>
              <a:gd name="adj" fmla="val 3889"/>
            </a:avLst>
          </a:prstGeom>
          <a:solidFill>
            <a:schemeClr val="bg1">
              <a:alpha val="8000"/>
            </a:schemeClr>
          </a:solidFill>
          <a:ln/>
        </p:spPr>
      </p:sp>
      <p:sp>
        <p:nvSpPr>
          <p:cNvPr id="5" name="circle-388"/>
          <p:cNvSpPr/>
          <p:nvPr/>
        </p:nvSpPr>
        <p:spPr>
          <a:xfrm>
            <a:off x="960120" y="2377440"/>
            <a:ext cx="777240" cy="777240"/>
          </a:xfrm>
          <a:prstGeom prst="ellipse">
            <a:avLst/>
          </a:prstGeom>
          <a:solidFill>
            <a:schemeClr val="accent3"/>
          </a:solidFill>
          <a:ln/>
        </p:spPr>
      </p:sp>
      <p:pic>
        <p:nvPicPr>
          <p:cNvPr id="6" name="icon-FaEye-389" descr="FaEye">    </p:cNvPr>
          <p:cNvPicPr>
            <a:picLocks noChangeAspect="1"/>
          </p:cNvPicPr>
          <p:nvPr/>
        </p:nvPicPr>
        <p:blipFill>
          <a:blip r:embed="rId1"/>
          <a:stretch>
            <a:fillRect/>
          </a:stretch>
        </p:blipFill>
        <p:spPr>
          <a:xfrm>
            <a:off x="1162202" y="2579522"/>
            <a:ext cx="373075" cy="373075"/>
          </a:xfrm>
          <a:prstGeom prst="rect">
            <a:avLst/>
          </a:prstGeom>
        </p:spPr>
      </p:pic>
      <p:sp>
        <p:nvSpPr>
          <p:cNvPr id="7" name="text-390"/>
          <p:cNvSpPr txBox="1"/>
          <p:nvPr/>
        </p:nvSpPr>
        <p:spPr>
          <a:xfrm>
            <a:off x="960120" y="3337560"/>
            <a:ext cx="3017520" cy="914400"/>
          </a:xfrm>
          <a:prstGeom prst="rect">
            <a:avLst/>
          </a:prstGeom>
          <a:noFill/>
          <a:ln/>
        </p:spPr>
        <p:txBody>
          <a:bodyPr wrap="square" lIns="0" tIns="0" rIns="0" bIns="0" rtlCol="0" anchor="ctr"/>
          <a:lstStyle/>
          <a:p>
            <a:pPr indent="0" marL="0">
              <a:buNone/>
            </a:pPr>
            <a:r>
              <a:rPr lang="en-US" sz="4600" b="1" dirty="0">
                <a:solidFill>
                  <a:schemeClr val="bg1"/>
                </a:solidFill>
              </a:rPr>
              <a:t>84.5%</a:t>
            </a:r>
            <a:endParaRPr lang="en-US" sz="4600" dirty="0"/>
          </a:p>
        </p:txBody>
      </p:sp>
      <p:sp>
        <p:nvSpPr>
          <p:cNvPr id="8" name="text-391"/>
          <p:cNvSpPr txBox="1"/>
          <p:nvPr/>
        </p:nvSpPr>
        <p:spPr>
          <a:xfrm>
            <a:off x="960120" y="4343400"/>
            <a:ext cx="3017520" cy="731520"/>
          </a:xfrm>
          <a:prstGeom prst="rect">
            <a:avLst/>
          </a:prstGeom>
          <a:noFill/>
          <a:ln/>
        </p:spPr>
        <p:txBody>
          <a:bodyPr wrap="square" lIns="0" tIns="0" rIns="0" bIns="0" rtlCol="0" anchor="t"/>
          <a:lstStyle/>
          <a:p>
            <a:pPr indent="0" marL="0">
              <a:buNone/>
            </a:pPr>
            <a:r>
              <a:rPr lang="en-US" sz="1700" dirty="0">
                <a:solidFill>
                  <a:schemeClr val="accent6"/>
                </a:solidFill>
              </a:rPr>
              <a:t>ImageNet zero-shot 정확도</a:t>
            </a:r>
            <a:endParaRPr lang="en-US" sz="1700" dirty="0"/>
          </a:p>
        </p:txBody>
      </p:sp>
      <p:sp>
        <p:nvSpPr>
          <p:cNvPr id="9" name="card-392"/>
          <p:cNvSpPr/>
          <p:nvPr/>
        </p:nvSpPr>
        <p:spPr>
          <a:xfrm>
            <a:off x="4343400" y="2103120"/>
            <a:ext cx="3474720" cy="3291840"/>
          </a:xfrm>
          <a:prstGeom prst="roundRect">
            <a:avLst>
              <a:gd name="adj" fmla="val 3889"/>
            </a:avLst>
          </a:prstGeom>
          <a:solidFill>
            <a:schemeClr val="bg1">
              <a:alpha val="8000"/>
            </a:schemeClr>
          </a:solidFill>
          <a:ln/>
        </p:spPr>
      </p:sp>
      <p:sp>
        <p:nvSpPr>
          <p:cNvPr id="10" name="circle-393"/>
          <p:cNvSpPr/>
          <p:nvPr/>
        </p:nvSpPr>
        <p:spPr>
          <a:xfrm>
            <a:off x="4663440" y="2377440"/>
            <a:ext cx="777240" cy="777240"/>
          </a:xfrm>
          <a:prstGeom prst="ellipse">
            <a:avLst/>
          </a:prstGeom>
          <a:solidFill>
            <a:schemeClr val="accent3"/>
          </a:solidFill>
          <a:ln/>
        </p:spPr>
      </p:sp>
      <p:pic>
        <p:nvPicPr>
          <p:cNvPr id="11" name="icon-FaMicrochip-394" descr="FaMicrochip">    </p:cNvPr>
          <p:cNvPicPr>
            <a:picLocks noChangeAspect="1"/>
          </p:cNvPicPr>
          <p:nvPr/>
        </p:nvPicPr>
        <p:blipFill>
          <a:blip r:embed="rId2"/>
          <a:stretch>
            <a:fillRect/>
          </a:stretch>
        </p:blipFill>
        <p:spPr>
          <a:xfrm>
            <a:off x="4865522" y="2579522"/>
            <a:ext cx="373075" cy="373075"/>
          </a:xfrm>
          <a:prstGeom prst="rect">
            <a:avLst/>
          </a:prstGeom>
        </p:spPr>
      </p:pic>
      <p:sp>
        <p:nvSpPr>
          <p:cNvPr id="12" name="text-395"/>
          <p:cNvSpPr txBox="1"/>
          <p:nvPr/>
        </p:nvSpPr>
        <p:spPr>
          <a:xfrm>
            <a:off x="4663440" y="3337560"/>
            <a:ext cx="3017520" cy="914400"/>
          </a:xfrm>
          <a:prstGeom prst="rect">
            <a:avLst/>
          </a:prstGeom>
          <a:noFill/>
          <a:ln/>
        </p:spPr>
        <p:txBody>
          <a:bodyPr wrap="square" lIns="0" tIns="0" rIns="0" bIns="0" rtlCol="0" anchor="ctr"/>
          <a:lstStyle/>
          <a:p>
            <a:pPr indent="0" marL="0">
              <a:buNone/>
            </a:pPr>
            <a:r>
              <a:rPr lang="en-US" sz="4600" b="1" dirty="0">
                <a:solidFill>
                  <a:schemeClr val="bg1"/>
                </a:solidFill>
              </a:rPr>
              <a:t>2일</a:t>
            </a:r>
            <a:endParaRPr lang="en-US" sz="4600" dirty="0"/>
          </a:p>
        </p:txBody>
      </p:sp>
      <p:sp>
        <p:nvSpPr>
          <p:cNvPr id="13" name="text-396"/>
          <p:cNvSpPr txBox="1"/>
          <p:nvPr/>
        </p:nvSpPr>
        <p:spPr>
          <a:xfrm>
            <a:off x="4663440" y="4343400"/>
            <a:ext cx="3017520" cy="731520"/>
          </a:xfrm>
          <a:prstGeom prst="rect">
            <a:avLst/>
          </a:prstGeom>
          <a:noFill/>
          <a:ln/>
        </p:spPr>
        <p:txBody>
          <a:bodyPr wrap="square" lIns="0" tIns="0" rIns="0" bIns="0" rtlCol="0" anchor="t"/>
          <a:lstStyle/>
          <a:p>
            <a:pPr indent="0" marL="0">
              <a:buNone/>
            </a:pPr>
            <a:r>
              <a:rPr lang="en-US" sz="1700" dirty="0">
                <a:solidFill>
                  <a:schemeClr val="accent6"/>
                </a:solidFill>
              </a:rPr>
              <a:t>TPUv4 칩 4개로 걸린 학습 시간</a:t>
            </a:r>
            <a:endParaRPr lang="en-US" sz="1700" dirty="0"/>
          </a:p>
        </p:txBody>
      </p:sp>
      <p:sp>
        <p:nvSpPr>
          <p:cNvPr id="14" name="card-397"/>
          <p:cNvSpPr/>
          <p:nvPr/>
        </p:nvSpPr>
        <p:spPr>
          <a:xfrm>
            <a:off x="8046720" y="2103120"/>
            <a:ext cx="3474720" cy="3291840"/>
          </a:xfrm>
          <a:prstGeom prst="roundRect">
            <a:avLst>
              <a:gd name="adj" fmla="val 3889"/>
            </a:avLst>
          </a:prstGeom>
          <a:solidFill>
            <a:schemeClr val="bg1">
              <a:alpha val="8000"/>
            </a:schemeClr>
          </a:solidFill>
          <a:ln/>
        </p:spPr>
      </p:sp>
      <p:sp>
        <p:nvSpPr>
          <p:cNvPr id="15" name="circle-398"/>
          <p:cNvSpPr/>
          <p:nvPr/>
        </p:nvSpPr>
        <p:spPr>
          <a:xfrm>
            <a:off x="8366760" y="2377440"/>
            <a:ext cx="777240" cy="777240"/>
          </a:xfrm>
          <a:prstGeom prst="ellipse">
            <a:avLst/>
          </a:prstGeom>
          <a:solidFill>
            <a:schemeClr val="accent3"/>
          </a:solidFill>
          <a:ln/>
        </p:spPr>
      </p:sp>
      <p:pic>
        <p:nvPicPr>
          <p:cNvPr id="16" name="icon-FaExpandArrowsAlt-399" descr="FaExpandArrowsAlt">    </p:cNvPr>
          <p:cNvPicPr>
            <a:picLocks noChangeAspect="1"/>
          </p:cNvPicPr>
          <p:nvPr/>
        </p:nvPicPr>
        <p:blipFill>
          <a:blip r:embed="rId3"/>
          <a:stretch>
            <a:fillRect/>
          </a:stretch>
        </p:blipFill>
        <p:spPr>
          <a:xfrm>
            <a:off x="8568842" y="2579522"/>
            <a:ext cx="373075" cy="373075"/>
          </a:xfrm>
          <a:prstGeom prst="rect">
            <a:avLst/>
          </a:prstGeom>
        </p:spPr>
      </p:pic>
      <p:sp>
        <p:nvSpPr>
          <p:cNvPr id="17" name="text-400"/>
          <p:cNvSpPr txBox="1"/>
          <p:nvPr/>
        </p:nvSpPr>
        <p:spPr>
          <a:xfrm>
            <a:off x="8366760" y="3337560"/>
            <a:ext cx="3017520" cy="914400"/>
          </a:xfrm>
          <a:prstGeom prst="rect">
            <a:avLst/>
          </a:prstGeom>
          <a:noFill/>
          <a:ln/>
        </p:spPr>
        <p:txBody>
          <a:bodyPr wrap="square" lIns="0" tIns="0" rIns="0" bIns="0" rtlCol="0" anchor="ctr"/>
          <a:lstStyle/>
          <a:p>
            <a:pPr indent="0" marL="0">
              <a:buNone/>
            </a:pPr>
            <a:r>
              <a:rPr lang="en-US" sz="4600" b="1" dirty="0">
                <a:solidFill>
                  <a:schemeClr val="bg1"/>
                </a:solidFill>
              </a:rPr>
              <a:t>1M</a:t>
            </a:r>
            <a:endParaRPr lang="en-US" sz="4600" dirty="0"/>
          </a:p>
        </p:txBody>
      </p:sp>
      <p:sp>
        <p:nvSpPr>
          <p:cNvPr id="18" name="text-401"/>
          <p:cNvSpPr txBox="1"/>
          <p:nvPr/>
        </p:nvSpPr>
        <p:spPr>
          <a:xfrm>
            <a:off x="8366760" y="4343400"/>
            <a:ext cx="3017520" cy="731520"/>
          </a:xfrm>
          <a:prstGeom prst="rect">
            <a:avLst/>
          </a:prstGeom>
          <a:noFill/>
          <a:ln/>
        </p:spPr>
        <p:txBody>
          <a:bodyPr wrap="square" lIns="0" tIns="0" rIns="0" bIns="0" rtlCol="0" anchor="t"/>
          <a:lstStyle/>
          <a:p>
            <a:pPr indent="0" marL="0">
              <a:buNone/>
            </a:pPr>
            <a:r>
              <a:rPr lang="en-US" sz="1700" dirty="0">
                <a:solidFill>
                  <a:schemeClr val="accent6"/>
                </a:solidFill>
              </a:rPr>
              <a:t>실험해 본 최대 배치 크기</a:t>
            </a:r>
            <a:endParaRPr lang="en-US" sz="17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장점 ② 배치 크기 실험이 알려준 것</a:t>
            </a:r>
            <a:endParaRPr lang="en-US" sz="3000" dirty="0"/>
          </a:p>
        </p:txBody>
      </p:sp>
      <p:sp>
        <p:nvSpPr>
          <p:cNvPr id="3" name="card-402"/>
          <p:cNvSpPr/>
          <p:nvPr/>
        </p:nvSpPr>
        <p:spPr>
          <a:xfrm>
            <a:off x="640080" y="1417320"/>
            <a:ext cx="3474720" cy="3566160"/>
          </a:xfrm>
          <a:prstGeom prst="roundRect">
            <a:avLst>
              <a:gd name="adj" fmla="val 3684"/>
            </a:avLst>
          </a:prstGeom>
          <a:solidFill>
            <a:schemeClr val="bg2"/>
          </a:solidFill>
          <a:ln/>
        </p:spPr>
      </p:sp>
      <p:sp>
        <p:nvSpPr>
          <p:cNvPr id="4" name="circle-403"/>
          <p:cNvSpPr/>
          <p:nvPr/>
        </p:nvSpPr>
        <p:spPr>
          <a:xfrm>
            <a:off x="960120" y="1691640"/>
            <a:ext cx="914400" cy="914400"/>
          </a:xfrm>
          <a:prstGeom prst="ellipse">
            <a:avLst/>
          </a:prstGeom>
          <a:solidFill>
            <a:schemeClr val="accent3"/>
          </a:solidFill>
          <a:ln/>
        </p:spPr>
      </p:sp>
      <p:pic>
        <p:nvPicPr>
          <p:cNvPr id="5" name="icon-FaBoxes-404" descr="FaBoxes">    </p:cNvPr>
          <p:cNvPicPr>
            <a:picLocks noChangeAspect="1"/>
          </p:cNvPicPr>
          <p:nvPr/>
        </p:nvPicPr>
        <p:blipFill>
          <a:blip r:embed="rId1"/>
          <a:stretch>
            <a:fillRect/>
          </a:stretch>
        </p:blipFill>
        <p:spPr>
          <a:xfrm>
            <a:off x="1197864" y="1929384"/>
            <a:ext cx="438912" cy="438912"/>
          </a:xfrm>
          <a:prstGeom prst="rect">
            <a:avLst/>
          </a:prstGeom>
        </p:spPr>
      </p:pic>
      <p:sp>
        <p:nvSpPr>
          <p:cNvPr id="6" name="text-405"/>
          <p:cNvSpPr txBox="1"/>
          <p:nvPr/>
        </p:nvSpPr>
        <p:spPr>
          <a:xfrm>
            <a:off x="960120" y="2834640"/>
            <a:ext cx="2926080" cy="548640"/>
          </a:xfrm>
          <a:prstGeom prst="rect">
            <a:avLst/>
          </a:prstGeom>
          <a:noFill/>
          <a:ln/>
        </p:spPr>
        <p:txBody>
          <a:bodyPr wrap="square" lIns="0" tIns="0" rIns="0" bIns="0" rtlCol="0" anchor="t"/>
          <a:lstStyle/>
          <a:p>
            <a:pPr indent="0" marL="0">
              <a:buNone/>
            </a:pPr>
            <a:r>
              <a:rPr lang="en-US" sz="2300" b="1" dirty="0">
                <a:solidFill>
                  <a:schemeClr val="accent3"/>
                </a:solidFill>
              </a:rPr>
              <a:t>작은 배치에 강함</a:t>
            </a:r>
            <a:endParaRPr lang="en-US" sz="2300" dirty="0"/>
          </a:p>
        </p:txBody>
      </p:sp>
      <p:sp>
        <p:nvSpPr>
          <p:cNvPr id="7" name="text-406"/>
          <p:cNvSpPr txBox="1"/>
          <p:nvPr/>
        </p:nvSpPr>
        <p:spPr>
          <a:xfrm>
            <a:off x="960120" y="3429000"/>
            <a:ext cx="2880360" cy="1371600"/>
          </a:xfrm>
          <a:prstGeom prst="rect">
            <a:avLst/>
          </a:prstGeom>
          <a:noFill/>
          <a:ln/>
        </p:spPr>
        <p:txBody>
          <a:bodyPr wrap="square" lIns="0" tIns="0" rIns="0" bIns="0" rtlCol="0" anchor="t"/>
          <a:lstStyle/>
          <a:p>
            <a:pPr indent="0" marL="0">
              <a:buNone/>
            </a:pPr>
            <a:r>
              <a:rPr lang="en-US" sz="1800" dirty="0">
                <a:solidFill>
                  <a:schemeClr val="tx1"/>
                </a:solidFill>
              </a:rPr>
              <a:t>4k~16k 배치에서 Softmax보다 확실히 좋음</a:t>
            </a:r>
            <a:endParaRPr lang="en-US" sz="1800" dirty="0"/>
          </a:p>
        </p:txBody>
      </p:sp>
      <p:sp>
        <p:nvSpPr>
          <p:cNvPr id="8" name="card-407"/>
          <p:cNvSpPr/>
          <p:nvPr/>
        </p:nvSpPr>
        <p:spPr>
          <a:xfrm>
            <a:off x="4343400" y="1417320"/>
            <a:ext cx="3474720" cy="3566160"/>
          </a:xfrm>
          <a:prstGeom prst="roundRect">
            <a:avLst>
              <a:gd name="adj" fmla="val 3684"/>
            </a:avLst>
          </a:prstGeom>
          <a:solidFill>
            <a:schemeClr val="bg2"/>
          </a:solidFill>
          <a:ln/>
        </p:spPr>
      </p:sp>
      <p:sp>
        <p:nvSpPr>
          <p:cNvPr id="9" name="circle-408"/>
          <p:cNvSpPr/>
          <p:nvPr/>
        </p:nvSpPr>
        <p:spPr>
          <a:xfrm>
            <a:off x="4663440" y="1691640"/>
            <a:ext cx="914400" cy="914400"/>
          </a:xfrm>
          <a:prstGeom prst="ellipse">
            <a:avLst/>
          </a:prstGeom>
          <a:solidFill>
            <a:schemeClr val="accent1"/>
          </a:solidFill>
          <a:ln/>
        </p:spPr>
      </p:sp>
      <p:pic>
        <p:nvPicPr>
          <p:cNvPr id="10" name="icon-FaRuler-409" descr="FaRuler">    </p:cNvPr>
          <p:cNvPicPr>
            <a:picLocks noChangeAspect="1"/>
          </p:cNvPicPr>
          <p:nvPr/>
        </p:nvPicPr>
        <p:blipFill>
          <a:blip r:embed="rId2"/>
          <a:stretch>
            <a:fillRect/>
          </a:stretch>
        </p:blipFill>
        <p:spPr>
          <a:xfrm>
            <a:off x="4901184" y="1929384"/>
            <a:ext cx="438912" cy="438912"/>
          </a:xfrm>
          <a:prstGeom prst="rect">
            <a:avLst/>
          </a:prstGeom>
        </p:spPr>
      </p:pic>
      <p:sp>
        <p:nvSpPr>
          <p:cNvPr id="11" name="text-410"/>
          <p:cNvSpPr txBox="1"/>
          <p:nvPr/>
        </p:nvSpPr>
        <p:spPr>
          <a:xfrm>
            <a:off x="4663440" y="2834640"/>
            <a:ext cx="2926080" cy="548640"/>
          </a:xfrm>
          <a:prstGeom prst="rect">
            <a:avLst/>
          </a:prstGeom>
          <a:noFill/>
          <a:ln/>
        </p:spPr>
        <p:txBody>
          <a:bodyPr wrap="square" lIns="0" tIns="0" rIns="0" bIns="0" rtlCol="0" anchor="t"/>
          <a:lstStyle/>
          <a:p>
            <a:pPr indent="0" marL="0">
              <a:buNone/>
            </a:pPr>
            <a:r>
              <a:rPr lang="en-US" sz="2300" b="1" dirty="0">
                <a:solidFill>
                  <a:schemeClr val="accent1"/>
                </a:solidFill>
              </a:rPr>
              <a:t>32k 근처에서 포화</a:t>
            </a:r>
            <a:endParaRPr lang="en-US" sz="2300" dirty="0"/>
          </a:p>
        </p:txBody>
      </p:sp>
      <p:sp>
        <p:nvSpPr>
          <p:cNvPr id="12" name="text-411"/>
          <p:cNvSpPr txBox="1"/>
          <p:nvPr/>
        </p:nvSpPr>
        <p:spPr>
          <a:xfrm>
            <a:off x="4663440" y="3429000"/>
            <a:ext cx="2880360" cy="1371600"/>
          </a:xfrm>
          <a:prstGeom prst="rect">
            <a:avLst/>
          </a:prstGeom>
          <a:noFill/>
          <a:ln/>
        </p:spPr>
        <p:txBody>
          <a:bodyPr wrap="square" lIns="0" tIns="0" rIns="0" bIns="0" rtlCol="0" anchor="t"/>
          <a:lstStyle/>
          <a:p>
            <a:pPr indent="0" marL="0">
              <a:buNone/>
            </a:pPr>
            <a:r>
              <a:rPr lang="en-US" sz="1800" dirty="0">
                <a:solidFill>
                  <a:schemeClr val="tx1"/>
                </a:solidFill>
              </a:rPr>
              <a:t>1M까지 키워도 이득이 거의 없음</a:t>
            </a:r>
            <a:endParaRPr lang="en-US" sz="1800" dirty="0"/>
          </a:p>
        </p:txBody>
      </p:sp>
      <p:sp>
        <p:nvSpPr>
          <p:cNvPr id="13" name="card-412"/>
          <p:cNvSpPr/>
          <p:nvPr/>
        </p:nvSpPr>
        <p:spPr>
          <a:xfrm>
            <a:off x="8046720" y="1417320"/>
            <a:ext cx="3474720" cy="3566160"/>
          </a:xfrm>
          <a:prstGeom prst="roundRect">
            <a:avLst>
              <a:gd name="adj" fmla="val 3684"/>
            </a:avLst>
          </a:prstGeom>
          <a:solidFill>
            <a:schemeClr val="bg2"/>
          </a:solidFill>
          <a:ln/>
        </p:spPr>
      </p:sp>
      <p:sp>
        <p:nvSpPr>
          <p:cNvPr id="14" name="circle-413"/>
          <p:cNvSpPr/>
          <p:nvPr/>
        </p:nvSpPr>
        <p:spPr>
          <a:xfrm>
            <a:off x="8366760" y="1691640"/>
            <a:ext cx="914400" cy="914400"/>
          </a:xfrm>
          <a:prstGeom prst="ellipse">
            <a:avLst/>
          </a:prstGeom>
          <a:solidFill>
            <a:schemeClr val="accent2"/>
          </a:solidFill>
          <a:ln/>
        </p:spPr>
      </p:sp>
      <p:pic>
        <p:nvPicPr>
          <p:cNvPr id="15" name="icon-FaShieldAlt-414" descr="FaShieldAlt">    </p:cNvPr>
          <p:cNvPicPr>
            <a:picLocks noChangeAspect="1"/>
          </p:cNvPicPr>
          <p:nvPr/>
        </p:nvPicPr>
        <p:blipFill>
          <a:blip r:embed="rId3"/>
          <a:stretch>
            <a:fillRect/>
          </a:stretch>
        </p:blipFill>
        <p:spPr>
          <a:xfrm>
            <a:off x="8604504" y="1929384"/>
            <a:ext cx="438912" cy="438912"/>
          </a:xfrm>
          <a:prstGeom prst="rect">
            <a:avLst/>
          </a:prstGeom>
        </p:spPr>
      </p:pic>
      <p:sp>
        <p:nvSpPr>
          <p:cNvPr id="16" name="text-415"/>
          <p:cNvSpPr txBox="1"/>
          <p:nvPr/>
        </p:nvSpPr>
        <p:spPr>
          <a:xfrm>
            <a:off x="8366760" y="2834640"/>
            <a:ext cx="2926080" cy="548640"/>
          </a:xfrm>
          <a:prstGeom prst="rect">
            <a:avLst/>
          </a:prstGeom>
          <a:noFill/>
          <a:ln/>
        </p:spPr>
        <p:txBody>
          <a:bodyPr wrap="square" lIns="0" tIns="0" rIns="0" bIns="0" rtlCol="0" anchor="t"/>
          <a:lstStyle/>
          <a:p>
            <a:pPr indent="0" marL="0">
              <a:buNone/>
            </a:pPr>
            <a:r>
              <a:rPr lang="en-US" sz="2300" b="1" dirty="0">
                <a:solidFill>
                  <a:schemeClr val="accent2"/>
                </a:solidFill>
              </a:rPr>
              <a:t>노이즈에 강함</a:t>
            </a:r>
            <a:endParaRPr lang="en-US" sz="2300" dirty="0"/>
          </a:p>
        </p:txBody>
      </p:sp>
      <p:sp>
        <p:nvSpPr>
          <p:cNvPr id="17" name="text-416"/>
          <p:cNvSpPr txBox="1"/>
          <p:nvPr/>
        </p:nvSpPr>
        <p:spPr>
          <a:xfrm>
            <a:off x="8366760" y="3429000"/>
            <a:ext cx="2880360" cy="1371600"/>
          </a:xfrm>
          <a:prstGeom prst="rect">
            <a:avLst/>
          </a:prstGeom>
          <a:noFill/>
          <a:ln/>
        </p:spPr>
        <p:txBody>
          <a:bodyPr wrap="square" lIns="0" tIns="0" rIns="0" bIns="0" rtlCol="0" anchor="t"/>
          <a:lstStyle/>
          <a:p>
            <a:pPr indent="0" marL="0">
              <a:buNone/>
            </a:pPr>
            <a:r>
              <a:rPr lang="en-US" sz="1800" dirty="0">
                <a:solidFill>
                  <a:schemeClr val="tx1"/>
                </a:solidFill>
              </a:rPr>
              <a:t>엉뚱한 캡션이 섞여도 성능이 덜 떨어짐</a:t>
            </a:r>
            <a:endParaRPr lang="en-US" sz="1800" dirty="0"/>
          </a:p>
        </p:txBody>
      </p:sp>
      <p:sp>
        <p:nvSpPr>
          <p:cNvPr id="18" name="card-417"/>
          <p:cNvSpPr/>
          <p:nvPr/>
        </p:nvSpPr>
        <p:spPr>
          <a:xfrm>
            <a:off x="640080" y="5257800"/>
            <a:ext cx="10881360" cy="777240"/>
          </a:xfrm>
          <a:prstGeom prst="roundRect">
            <a:avLst>
              <a:gd name="adj" fmla="val 16471"/>
            </a:avLst>
          </a:prstGeom>
          <a:solidFill>
            <a:schemeClr val="accent3">
              <a:alpha val="10000"/>
            </a:schemeClr>
          </a:solidFill>
          <a:ln/>
        </p:spPr>
      </p:sp>
      <p:sp>
        <p:nvSpPr>
          <p:cNvPr id="19" name="text-418"/>
          <p:cNvSpPr txBox="1"/>
          <p:nvPr/>
        </p:nvSpPr>
        <p:spPr>
          <a:xfrm>
            <a:off x="914400" y="5257800"/>
            <a:ext cx="10424160" cy="777240"/>
          </a:xfrm>
          <a:prstGeom prst="rect">
            <a:avLst/>
          </a:prstGeom>
          <a:noFill/>
          <a:ln/>
        </p:spPr>
        <p:txBody>
          <a:bodyPr wrap="square" lIns="0" tIns="0" rIns="0" bIns="0" rtlCol="0" anchor="ctr"/>
          <a:lstStyle/>
          <a:p>
            <a:pPr indent="0" marL="0">
              <a:buNone/>
            </a:pPr>
            <a:r>
              <a:rPr lang="en-US" sz="1900" b="1" dirty="0">
                <a:solidFill>
                  <a:schemeClr val="accent3"/>
                </a:solidFill>
              </a:rPr>
              <a:t>→ ‘무조건 큰 배치’가 답은 아니다. 자원이 적을 때도 Sigmoid가 유리</a:t>
            </a:r>
            <a:endParaRPr lang="en-US" sz="19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한눈에 비교: CLIP vs SigLIP</a:t>
            </a:r>
            <a:endParaRPr lang="en-US" sz="3000" dirty="0"/>
          </a:p>
        </p:txBody>
      </p:sp>
      <p:graphicFrame>
        <p:nvGraphicFramePr>
          <p:cNvPr id="23" name="compare-table"/>
          <p:cNvGraphicFramePr>
            <a:graphicFrameLocks noGrp="1"/>
          </p:cNvGraphicFramePr>
          <p:nvPr>
            <p:extLst>
              <p:ext uri="{D42A27DB-BD31-4B8C-83A1-F6EECF244321}">
                <p14:modId xmlns:p14="http://schemas.microsoft.com/office/powerpoint/2010/main" val="1579011935"/>
              </p:ext>
            </p:extLst>
          </p:nvPr>
        </p:nvGraphicFramePr>
        <p:xfrm>
          <a:off x="640080" y="1371600"/>
          <a:ext cx="10881360" cy="914400"/>
        </p:xfrm>
        <a:graphic>
          <a:graphicData uri="http://schemas.openxmlformats.org/drawingml/2006/table">
            <a:tbl>
              <a:tblPr/>
              <a:tblGrid>
                <a:gridCol w="2286000"/>
                <a:gridCol w="4297680"/>
                <a:gridCol w="4297680"/>
              </a:tblGrid>
              <a:tr h="585216">
                <a:tc>
                  <a:txBody>
                    <a:bodyPr/>
                    <a:lstStyle/>
                    <a:p>
                      <a:pPr indent="0" marL="0">
                        <a:buNone/>
                      </a:pPr>
                      <a:endParaRPr lang="en-US" sz="18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tx1"/>
                    </a:solidFill>
                  </a:tcPr>
                </a:tc>
                <a:tc>
                  <a:txBody>
                    <a:bodyPr/>
                    <a:lstStyle/>
                    <a:p>
                      <a:pPr indent="0" marL="0">
                        <a:buNone/>
                      </a:pPr>
                      <a:r>
                        <a:rPr lang="en-US" sz="1800" b="1" dirty="0">
                          <a:solidFill>
                            <a:schemeClr val="bg1"/>
                          </a:solidFill>
                        </a:rPr>
                        <a:t>CLIP (Softmax)</a:t>
                      </a:r>
                      <a:endParaRPr lang="en-US" sz="18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accent6"/>
                    </a:solidFill>
                  </a:tcPr>
                </a:tc>
                <a:tc>
                  <a:txBody>
                    <a:bodyPr/>
                    <a:lstStyle/>
                    <a:p>
                      <a:pPr indent="0" marL="0">
                        <a:buNone/>
                      </a:pPr>
                      <a:r>
                        <a:rPr lang="en-US" sz="1800" b="1" dirty="0">
                          <a:solidFill>
                            <a:schemeClr val="bg1"/>
                          </a:solidFill>
                        </a:rPr>
                        <a:t>SigLIP (Sigmoid)</a:t>
                      </a:r>
                      <a:endParaRPr lang="en-US" sz="18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accent3"/>
                    </a:solidFill>
                  </a:tcPr>
                </a:tc>
              </a:tr>
              <a:tr h="585216">
                <a:tc>
                  <a:txBody>
                    <a:bodyPr/>
                    <a:lstStyle/>
                    <a:p>
                      <a:pPr indent="0" marL="0">
                        <a:buNone/>
                      </a:pPr>
                      <a:r>
                        <a:rPr lang="en-US" sz="1800" b="1" dirty="0">
                          <a:solidFill>
                            <a:schemeClr val="tx2"/>
                          </a:solidFill>
                        </a:rPr>
                        <a:t>비유</a:t>
                      </a:r>
                      <a:endParaRPr lang="en-US" sz="18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객관식</a:t>
                      </a:r>
                      <a:endParaRPr lang="en-US" sz="18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800" b="1" dirty="0">
                          <a:solidFill>
                            <a:schemeClr val="accent3"/>
                          </a:solidFill>
                        </a:rPr>
                        <a:t>O/X 퀴즈</a:t>
                      </a:r>
                      <a:endParaRPr lang="en-US" sz="18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r>
              <a:tr h="585216">
                <a:tc>
                  <a:txBody>
                    <a:bodyPr/>
                    <a:lstStyle/>
                    <a:p>
                      <a:pPr indent="0" marL="0">
                        <a:buNone/>
                      </a:pPr>
                      <a:r>
                        <a:rPr lang="en-US" sz="1800" b="1" dirty="0">
                          <a:solidFill>
                            <a:schemeClr val="tx2"/>
                          </a:solidFill>
                        </a:rPr>
                        <a:t>학습 문제</a:t>
                      </a:r>
                      <a:endParaRPr lang="en-US" sz="18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B개 중 하나 고르기</a:t>
                      </a:r>
                      <a:endParaRPr lang="en-US" sz="18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800" b="1" dirty="0">
                          <a:solidFill>
                            <a:schemeClr val="accent3"/>
                          </a:solidFill>
                        </a:rPr>
                        <a:t>B²개 쌍을 각각 판정</a:t>
                      </a:r>
                      <a:endParaRPr lang="en-US" sz="18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r>
              <a:tr h="585216">
                <a:tc>
                  <a:txBody>
                    <a:bodyPr/>
                    <a:lstStyle/>
                    <a:p>
                      <a:pPr indent="0" marL="0">
                        <a:buNone/>
                      </a:pPr>
                      <a:r>
                        <a:rPr lang="en-US" sz="1800" b="1" dirty="0">
                          <a:solidFill>
                            <a:schemeClr val="tx2"/>
                          </a:solidFill>
                        </a:rPr>
                        <a:t>정규화</a:t>
                      </a:r>
                      <a:endParaRPr lang="en-US" sz="18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배치 전체 필요</a:t>
                      </a:r>
                      <a:endParaRPr lang="en-US" sz="18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800" b="1" dirty="0">
                          <a:solidFill>
                            <a:schemeClr val="accent3"/>
                          </a:solidFill>
                        </a:rPr>
                        <a:t>불필요</a:t>
                      </a:r>
                      <a:endParaRPr lang="en-US" sz="18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r>
              <a:tr h="585216">
                <a:tc>
                  <a:txBody>
                    <a:bodyPr/>
                    <a:lstStyle/>
                    <a:p>
                      <a:pPr indent="0" marL="0">
                        <a:buNone/>
                      </a:pPr>
                      <a:r>
                        <a:rPr lang="en-US" sz="1800" b="1" dirty="0">
                          <a:solidFill>
                            <a:schemeClr val="tx2"/>
                          </a:solidFill>
                        </a:rPr>
                        <a:t>메모리</a:t>
                      </a:r>
                      <a:endParaRPr lang="en-US" sz="18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전체 B×B 표</a:t>
                      </a:r>
                      <a:endParaRPr lang="en-US" sz="18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800" b="1" dirty="0">
                          <a:solidFill>
                            <a:schemeClr val="accent3"/>
                          </a:solidFill>
                        </a:rPr>
                        <a:t>GPU별 블록</a:t>
                      </a:r>
                      <a:endParaRPr lang="en-US" sz="18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r>
              <a:tr h="585216">
                <a:tc>
                  <a:txBody>
                    <a:bodyPr/>
                    <a:lstStyle/>
                    <a:p>
                      <a:pPr indent="0" marL="0">
                        <a:buNone/>
                      </a:pPr>
                      <a:r>
                        <a:rPr lang="en-US" sz="1800" b="1" dirty="0">
                          <a:solidFill>
                            <a:schemeClr val="tx2"/>
                          </a:solidFill>
                        </a:rPr>
                        <a:t>작은 배치</a:t>
                      </a:r>
                      <a:endParaRPr lang="en-US" sz="18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약함</a:t>
                      </a:r>
                      <a:endParaRPr lang="en-US" sz="18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800" b="1" dirty="0">
                          <a:solidFill>
                            <a:schemeClr val="accent3"/>
                          </a:solidFill>
                        </a:rPr>
                        <a:t>강함</a:t>
                      </a:r>
                      <a:endParaRPr lang="en-US" sz="18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r>
              <a:tr h="585216">
                <a:tc>
                  <a:txBody>
                    <a:bodyPr/>
                    <a:lstStyle/>
                    <a:p>
                      <a:pPr indent="0" marL="0">
                        <a:buNone/>
                      </a:pPr>
                      <a:r>
                        <a:rPr lang="en-US" sz="1800" b="1" dirty="0">
                          <a:solidFill>
                            <a:schemeClr val="tx2"/>
                          </a:solidFill>
                        </a:rPr>
                        <a:t>출력</a:t>
                      </a:r>
                      <a:endParaRPr lang="en-US" sz="18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상대 확률 (합 = 1)</a:t>
                      </a:r>
                      <a:endParaRPr lang="en-US" sz="18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800" b="1" dirty="0">
                          <a:solidFill>
                            <a:schemeClr val="accent3"/>
                          </a:solidFill>
                        </a:rPr>
                        <a:t>쌍별 절대 확률</a:t>
                      </a:r>
                      <a:endParaRPr lang="en-US" sz="18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r>
              <a:tr h="585216">
                <a:tc>
                  <a:txBody>
                    <a:bodyPr/>
                    <a:lstStyle/>
                    <a:p>
                      <a:pPr indent="0" marL="0">
                        <a:buNone/>
                      </a:pPr>
                      <a:r>
                        <a:rPr lang="en-US" sz="1800" b="1" dirty="0">
                          <a:solidFill>
                            <a:schemeClr val="tx2"/>
                          </a:solidFill>
                        </a:rPr>
                        <a:t>학습 숫자</a:t>
                      </a:r>
                      <a:endParaRPr lang="en-US" sz="18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온도 t</a:t>
                      </a:r>
                      <a:endParaRPr lang="en-US" sz="18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800" b="1" dirty="0">
                          <a:solidFill>
                            <a:schemeClr val="accent3"/>
                          </a:solidFill>
                        </a:rPr>
                        <a:t>온도 t + 바이어스 b</a:t>
                      </a:r>
                      <a:endParaRPr lang="en-US" sz="18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이유 ① 사진은 미리, 질문만 그때그때</a:t>
            </a:r>
            <a:endParaRPr lang="en-US" sz="3000" dirty="0"/>
          </a:p>
        </p:txBody>
      </p:sp>
      <p:sp>
        <p:nvSpPr>
          <p:cNvPr id="3" name="card-419"/>
          <p:cNvSpPr/>
          <p:nvPr/>
        </p:nvSpPr>
        <p:spPr>
          <a:xfrm>
            <a:off x="640080" y="1371600"/>
            <a:ext cx="10881360" cy="2148840"/>
          </a:xfrm>
          <a:prstGeom prst="roundRect">
            <a:avLst>
              <a:gd name="adj" fmla="val 5957"/>
            </a:avLst>
          </a:prstGeom>
          <a:solidFill>
            <a:schemeClr val="accent1">
              <a:alpha val="8000"/>
            </a:schemeClr>
          </a:solidFill>
          <a:ln/>
        </p:spPr>
      </p:sp>
      <p:sp>
        <p:nvSpPr>
          <p:cNvPr id="4" name="text-420"/>
          <p:cNvSpPr txBox="1"/>
          <p:nvPr/>
        </p:nvSpPr>
        <p:spPr>
          <a:xfrm>
            <a:off x="914400" y="1463040"/>
            <a:ext cx="3657600" cy="457200"/>
          </a:xfrm>
          <a:prstGeom prst="rect">
            <a:avLst/>
          </a:prstGeom>
          <a:noFill/>
          <a:ln/>
        </p:spPr>
        <p:txBody>
          <a:bodyPr wrap="square" lIns="0" tIns="0" rIns="0" bIns="0" rtlCol="0" anchor="t"/>
          <a:lstStyle/>
          <a:p>
            <a:pPr indent="0" marL="0">
              <a:buNone/>
            </a:pPr>
            <a:r>
              <a:rPr lang="en-US" sz="1800" b="1" dirty="0">
                <a:solidFill>
                  <a:schemeClr val="accent1"/>
                </a:solidFill>
              </a:rPr>
              <a:t>미리 (한 번만)</a:t>
            </a:r>
            <a:endParaRPr lang="en-US" sz="1800" dirty="0"/>
          </a:p>
        </p:txBody>
      </p:sp>
      <p:pic>
        <p:nvPicPr>
          <p:cNvPr id="5" name="photo-cat-421" descr="고양이 사진">    </p:cNvPr>
          <p:cNvPicPr>
            <a:picLocks noChangeAspect="1"/>
          </p:cNvPicPr>
          <p:nvPr/>
        </p:nvPicPr>
        <p:blipFill>
          <a:blip r:embed="rId1"/>
          <a:stretch>
            <a:fillRect/>
          </a:stretch>
        </p:blipFill>
        <p:spPr>
          <a:xfrm>
            <a:off x="914400" y="2103120"/>
            <a:ext cx="594360" cy="594360"/>
          </a:xfrm>
          <a:prstGeom prst="ellipse">
            <a:avLst/>
          </a:prstGeom>
        </p:spPr>
      </p:pic>
      <p:pic>
        <p:nvPicPr>
          <p:cNvPr id="6" name="photo-coffee-422" descr="커피 사진">    </p:cNvPr>
          <p:cNvPicPr>
            <a:picLocks noChangeAspect="1"/>
          </p:cNvPicPr>
          <p:nvPr/>
        </p:nvPicPr>
        <p:blipFill>
          <a:blip r:embed="rId2"/>
          <a:stretch>
            <a:fillRect/>
          </a:stretch>
        </p:blipFill>
        <p:spPr>
          <a:xfrm>
            <a:off x="1572768" y="2103120"/>
            <a:ext cx="594360" cy="594360"/>
          </a:xfrm>
          <a:prstGeom prst="ellipse">
            <a:avLst/>
          </a:prstGeom>
        </p:spPr>
      </p:pic>
      <p:pic>
        <p:nvPicPr>
          <p:cNvPr id="7" name="photo-rocket-423" descr="로켓 사진">    </p:cNvPr>
          <p:cNvPicPr>
            <a:picLocks noChangeAspect="1"/>
          </p:cNvPicPr>
          <p:nvPr/>
        </p:nvPicPr>
        <p:blipFill>
          <a:blip r:embed="rId3"/>
          <a:stretch>
            <a:fillRect/>
          </a:stretch>
        </p:blipFill>
        <p:spPr>
          <a:xfrm>
            <a:off x="2231136" y="2103120"/>
            <a:ext cx="594360" cy="594360"/>
          </a:xfrm>
          <a:prstGeom prst="ellipse">
            <a:avLst/>
          </a:prstGeom>
        </p:spPr>
      </p:pic>
      <p:pic>
        <p:nvPicPr>
          <p:cNvPr id="8" name="photo-astronaut-424" descr="우주비행사 사진">    </p:cNvPr>
          <p:cNvPicPr>
            <a:picLocks noChangeAspect="1"/>
          </p:cNvPicPr>
          <p:nvPr/>
        </p:nvPicPr>
        <p:blipFill>
          <a:blip r:embed="rId4"/>
          <a:stretch>
            <a:fillRect/>
          </a:stretch>
        </p:blipFill>
        <p:spPr>
          <a:xfrm>
            <a:off x="2889504" y="2103120"/>
            <a:ext cx="594360" cy="594360"/>
          </a:xfrm>
          <a:prstGeom prst="ellipse">
            <a:avLst/>
          </a:prstGeom>
        </p:spPr>
      </p:pic>
      <p:sp>
        <p:nvSpPr>
          <p:cNvPr id="9" name="arrow-425"/>
          <p:cNvSpPr/>
          <p:nvPr/>
        </p:nvSpPr>
        <p:spPr>
          <a:xfrm>
            <a:off x="3611880" y="2395728"/>
            <a:ext cx="548640" cy="0"/>
          </a:xfrm>
          <a:prstGeom prst="line">
            <a:avLst/>
          </a:prstGeom>
          <a:noFill/>
          <a:ln w="31750">
            <a:solidFill>
              <a:schemeClr val="accent1"/>
            </a:solidFill>
            <a:prstDash val="solid"/>
            <a:tailEnd type="triangle"/>
          </a:ln>
        </p:spPr>
      </p:sp>
      <p:sp>
        <p:nvSpPr>
          <p:cNvPr id="10" name="box-426"/>
          <p:cNvSpPr/>
          <p:nvPr/>
        </p:nvSpPr>
        <p:spPr>
          <a:xfrm>
            <a:off x="4297680" y="2011680"/>
            <a:ext cx="2194560" cy="777240"/>
          </a:xfrm>
          <a:prstGeom prst="roundRect">
            <a:avLst>
              <a:gd name="adj" fmla="val 11765"/>
            </a:avLst>
          </a:prstGeom>
          <a:solidFill>
            <a:schemeClr val="accent1"/>
          </a:solidFill>
          <a:ln/>
        </p:spPr>
      </p:sp>
      <p:sp>
        <p:nvSpPr>
          <p:cNvPr id="11" name="text-427"/>
          <p:cNvSpPr txBox="1"/>
          <p:nvPr/>
        </p:nvSpPr>
        <p:spPr>
          <a:xfrm>
            <a:off x="4297680" y="2011680"/>
            <a:ext cx="2194560" cy="777240"/>
          </a:xfrm>
          <a:prstGeom prst="rect">
            <a:avLst/>
          </a:prstGeom>
          <a:noFill/>
          <a:ln/>
        </p:spPr>
        <p:txBody>
          <a:bodyPr wrap="square" lIns="0" tIns="0" rIns="0" bIns="0" rtlCol="0" anchor="ctr"/>
          <a:lstStyle/>
          <a:p>
            <a:pPr algn="ctr" indent="0" marL="0">
              <a:buNone/>
            </a:pPr>
            <a:r>
              <a:rPr lang="en-US" sz="1700" b="1" dirty="0">
                <a:solidFill>
                  <a:schemeClr val="bg1"/>
                </a:solidFill>
              </a:rPr>
              <a:t>이미지 인코더</a:t>
            </a:r>
            <a:endParaRPr lang="en-US" sz="1700" dirty="0"/>
          </a:p>
        </p:txBody>
      </p:sp>
      <p:sp>
        <p:nvSpPr>
          <p:cNvPr id="12" name="arrow-428"/>
          <p:cNvSpPr/>
          <p:nvPr/>
        </p:nvSpPr>
        <p:spPr>
          <a:xfrm>
            <a:off x="6629400" y="2395728"/>
            <a:ext cx="548640" cy="0"/>
          </a:xfrm>
          <a:prstGeom prst="line">
            <a:avLst/>
          </a:prstGeom>
          <a:noFill/>
          <a:ln w="31750">
            <a:solidFill>
              <a:schemeClr val="accent1"/>
            </a:solidFill>
            <a:prstDash val="solid"/>
            <a:tailEnd type="triangle"/>
          </a:ln>
        </p:spPr>
      </p:sp>
      <p:sp>
        <p:nvSpPr>
          <p:cNvPr id="13" name="circle-429"/>
          <p:cNvSpPr/>
          <p:nvPr/>
        </p:nvSpPr>
        <p:spPr>
          <a:xfrm>
            <a:off x="7360920" y="1874520"/>
            <a:ext cx="1051560" cy="1051560"/>
          </a:xfrm>
          <a:prstGeom prst="ellipse">
            <a:avLst/>
          </a:prstGeom>
          <a:solidFill>
            <a:schemeClr val="tx2"/>
          </a:solidFill>
          <a:ln/>
        </p:spPr>
      </p:sp>
      <p:pic>
        <p:nvPicPr>
          <p:cNvPr id="14" name="icon-FaDatabase-430" descr="FaDatabase">    </p:cNvPr>
          <p:cNvPicPr>
            <a:picLocks noChangeAspect="1"/>
          </p:cNvPicPr>
          <p:nvPr/>
        </p:nvPicPr>
        <p:blipFill>
          <a:blip r:embed="rId5"/>
          <a:stretch>
            <a:fillRect/>
          </a:stretch>
        </p:blipFill>
        <p:spPr>
          <a:xfrm>
            <a:off x="7634326" y="2147926"/>
            <a:ext cx="504749" cy="504749"/>
          </a:xfrm>
          <a:prstGeom prst="rect">
            <a:avLst/>
          </a:prstGeom>
        </p:spPr>
      </p:pic>
      <p:sp>
        <p:nvSpPr>
          <p:cNvPr id="15" name="text-431"/>
          <p:cNvSpPr txBox="1"/>
          <p:nvPr/>
        </p:nvSpPr>
        <p:spPr>
          <a:xfrm>
            <a:off x="8595360" y="1874520"/>
            <a:ext cx="2743200" cy="1051560"/>
          </a:xfrm>
          <a:prstGeom prst="rect">
            <a:avLst/>
          </a:prstGeom>
          <a:noFill/>
          <a:ln/>
        </p:spPr>
        <p:txBody>
          <a:bodyPr wrap="square" lIns="0" tIns="0" rIns="0" bIns="0" rtlCol="0" anchor="ctr"/>
          <a:lstStyle/>
          <a:p>
            <a:pPr indent="0" marL="0">
              <a:buNone/>
            </a:pPr>
            <a:r>
              <a:rPr lang="en-US" sz="1700" b="1" dirty="0">
                <a:solidFill>
                  <a:schemeClr val="tx1"/>
                </a:solidFill>
              </a:rPr>
              <a:t>벡터DB</a:t>
            </a:r>
            <a:endParaRPr lang="en-US" sz="1700" dirty="0"/>
          </a:p>
          <a:p>
            <a:pPr indent="0" marL="0">
              <a:buNone/>
            </a:pPr>
            <a:r>
              <a:rPr lang="en-US" sz="1700" b="1" dirty="0">
                <a:solidFill>
                  <a:schemeClr val="tx1"/>
                </a:solidFill>
              </a:rPr>
              <a:t>(FAISS / Chroma)</a:t>
            </a:r>
            <a:endParaRPr lang="en-US" sz="1700" dirty="0"/>
          </a:p>
        </p:txBody>
      </p:sp>
      <p:sp>
        <p:nvSpPr>
          <p:cNvPr id="16" name="card-432"/>
          <p:cNvSpPr/>
          <p:nvPr/>
        </p:nvSpPr>
        <p:spPr>
          <a:xfrm>
            <a:off x="640080" y="3749040"/>
            <a:ext cx="10881360" cy="2148840"/>
          </a:xfrm>
          <a:prstGeom prst="roundRect">
            <a:avLst>
              <a:gd name="adj" fmla="val 5957"/>
            </a:avLst>
          </a:prstGeom>
          <a:solidFill>
            <a:schemeClr val="accent2">
              <a:alpha val="8000"/>
            </a:schemeClr>
          </a:solidFill>
          <a:ln/>
        </p:spPr>
      </p:sp>
      <p:sp>
        <p:nvSpPr>
          <p:cNvPr id="17" name="text-433"/>
          <p:cNvSpPr txBox="1"/>
          <p:nvPr/>
        </p:nvSpPr>
        <p:spPr>
          <a:xfrm>
            <a:off x="914400" y="3840480"/>
            <a:ext cx="3657600" cy="457200"/>
          </a:xfrm>
          <a:prstGeom prst="rect">
            <a:avLst/>
          </a:prstGeom>
          <a:noFill/>
          <a:ln/>
        </p:spPr>
        <p:txBody>
          <a:bodyPr wrap="square" lIns="0" tIns="0" rIns="0" bIns="0" rtlCol="0" anchor="t"/>
          <a:lstStyle/>
          <a:p>
            <a:pPr indent="0" marL="0">
              <a:buNone/>
            </a:pPr>
            <a:r>
              <a:rPr lang="en-US" sz="1800" b="1" dirty="0">
                <a:solidFill>
                  <a:schemeClr val="accent2"/>
                </a:solidFill>
              </a:rPr>
              <a:t>질문이 올 때마다</a:t>
            </a:r>
            <a:endParaRPr lang="en-US" sz="1800" dirty="0"/>
          </a:p>
        </p:txBody>
      </p:sp>
      <p:sp>
        <p:nvSpPr>
          <p:cNvPr id="18" name="pill-434"/>
          <p:cNvSpPr/>
          <p:nvPr/>
        </p:nvSpPr>
        <p:spPr>
          <a:xfrm>
            <a:off x="914400" y="4526280"/>
            <a:ext cx="2560320" cy="548640"/>
          </a:xfrm>
          <a:prstGeom prst="roundRect">
            <a:avLst>
              <a:gd name="adj" fmla="val 50000"/>
            </a:avLst>
          </a:prstGeom>
          <a:solidFill>
            <a:schemeClr val="accent2"/>
          </a:solidFill>
          <a:ln/>
        </p:spPr>
      </p:sp>
      <p:sp>
        <p:nvSpPr>
          <p:cNvPr id="19" name="text-435"/>
          <p:cNvSpPr txBox="1"/>
          <p:nvPr/>
        </p:nvSpPr>
        <p:spPr>
          <a:xfrm>
            <a:off x="914400" y="4526280"/>
            <a:ext cx="2560320" cy="548640"/>
          </a:xfrm>
          <a:prstGeom prst="rect">
            <a:avLst/>
          </a:prstGeom>
          <a:noFill/>
          <a:ln/>
        </p:spPr>
        <p:txBody>
          <a:bodyPr wrap="square" lIns="0" tIns="0" rIns="0" bIns="0" rtlCol="0" anchor="ctr"/>
          <a:lstStyle/>
          <a:p>
            <a:pPr algn="ctr" indent="0" marL="0">
              <a:buNone/>
            </a:pPr>
            <a:r>
              <a:rPr lang="en-US" sz="1500" b="1" dirty="0">
                <a:solidFill>
                  <a:schemeClr val="bg1"/>
                </a:solidFill>
              </a:rPr>
              <a:t>“밤에 발사되는 로켓”</a:t>
            </a:r>
            <a:endParaRPr lang="en-US" sz="1500" dirty="0"/>
          </a:p>
        </p:txBody>
      </p:sp>
      <p:sp>
        <p:nvSpPr>
          <p:cNvPr id="20" name="arrow-436"/>
          <p:cNvSpPr/>
          <p:nvPr/>
        </p:nvSpPr>
        <p:spPr>
          <a:xfrm>
            <a:off x="3611880" y="4800600"/>
            <a:ext cx="548640" cy="0"/>
          </a:xfrm>
          <a:prstGeom prst="line">
            <a:avLst/>
          </a:prstGeom>
          <a:noFill/>
          <a:ln w="31750">
            <a:solidFill>
              <a:schemeClr val="accent2"/>
            </a:solidFill>
            <a:prstDash val="solid"/>
            <a:tailEnd type="triangle"/>
          </a:ln>
        </p:spPr>
      </p:sp>
      <p:sp>
        <p:nvSpPr>
          <p:cNvPr id="21" name="box-437"/>
          <p:cNvSpPr/>
          <p:nvPr/>
        </p:nvSpPr>
        <p:spPr>
          <a:xfrm>
            <a:off x="4297680" y="4407408"/>
            <a:ext cx="2194560" cy="777240"/>
          </a:xfrm>
          <a:prstGeom prst="roundRect">
            <a:avLst>
              <a:gd name="adj" fmla="val 11765"/>
            </a:avLst>
          </a:prstGeom>
          <a:solidFill>
            <a:schemeClr val="accent2"/>
          </a:solidFill>
          <a:ln/>
        </p:spPr>
      </p:sp>
      <p:sp>
        <p:nvSpPr>
          <p:cNvPr id="22" name="text-438"/>
          <p:cNvSpPr txBox="1"/>
          <p:nvPr/>
        </p:nvSpPr>
        <p:spPr>
          <a:xfrm>
            <a:off x="4297680" y="4407408"/>
            <a:ext cx="2194560" cy="777240"/>
          </a:xfrm>
          <a:prstGeom prst="rect">
            <a:avLst/>
          </a:prstGeom>
          <a:noFill/>
          <a:ln/>
        </p:spPr>
        <p:txBody>
          <a:bodyPr wrap="square" lIns="0" tIns="0" rIns="0" bIns="0" rtlCol="0" anchor="ctr"/>
          <a:lstStyle/>
          <a:p>
            <a:pPr algn="ctr" indent="0" marL="0">
              <a:buNone/>
            </a:pPr>
            <a:r>
              <a:rPr lang="en-US" sz="1700" b="1" dirty="0">
                <a:solidFill>
                  <a:schemeClr val="bg1"/>
                </a:solidFill>
              </a:rPr>
              <a:t>텍스트 인코더</a:t>
            </a:r>
            <a:endParaRPr lang="en-US" sz="1700" dirty="0"/>
          </a:p>
        </p:txBody>
      </p:sp>
      <p:sp>
        <p:nvSpPr>
          <p:cNvPr id="23" name="arrow-439"/>
          <p:cNvSpPr/>
          <p:nvPr/>
        </p:nvSpPr>
        <p:spPr>
          <a:xfrm>
            <a:off x="6629400" y="4800600"/>
            <a:ext cx="548640" cy="0"/>
          </a:xfrm>
          <a:prstGeom prst="line">
            <a:avLst/>
          </a:prstGeom>
          <a:noFill/>
          <a:ln w="31750">
            <a:solidFill>
              <a:schemeClr val="accent2"/>
            </a:solidFill>
            <a:prstDash val="solid"/>
            <a:tailEnd type="triangle"/>
          </a:ln>
        </p:spPr>
      </p:sp>
      <p:sp>
        <p:nvSpPr>
          <p:cNvPr id="24" name="circle-440"/>
          <p:cNvSpPr/>
          <p:nvPr/>
        </p:nvSpPr>
        <p:spPr>
          <a:xfrm>
            <a:off x="7360920" y="4270248"/>
            <a:ext cx="1051560" cy="1051560"/>
          </a:xfrm>
          <a:prstGeom prst="ellipse">
            <a:avLst/>
          </a:prstGeom>
          <a:solidFill>
            <a:schemeClr val="accent3"/>
          </a:solidFill>
          <a:ln/>
        </p:spPr>
      </p:sp>
      <p:pic>
        <p:nvPicPr>
          <p:cNvPr id="25" name="icon-FaSearch-441" descr="FaSearch">    </p:cNvPr>
          <p:cNvPicPr>
            <a:picLocks noChangeAspect="1"/>
          </p:cNvPicPr>
          <p:nvPr/>
        </p:nvPicPr>
        <p:blipFill>
          <a:blip r:embed="rId6"/>
          <a:stretch>
            <a:fillRect/>
          </a:stretch>
        </p:blipFill>
        <p:spPr>
          <a:xfrm>
            <a:off x="7634326" y="4543654"/>
            <a:ext cx="504749" cy="504749"/>
          </a:xfrm>
          <a:prstGeom prst="rect">
            <a:avLst/>
          </a:prstGeom>
        </p:spPr>
      </p:pic>
      <p:sp>
        <p:nvSpPr>
          <p:cNvPr id="26" name="arrow-442"/>
          <p:cNvSpPr/>
          <p:nvPr/>
        </p:nvSpPr>
        <p:spPr>
          <a:xfrm>
            <a:off x="8549640" y="4800600"/>
            <a:ext cx="457200" cy="0"/>
          </a:xfrm>
          <a:prstGeom prst="line">
            <a:avLst/>
          </a:prstGeom>
          <a:noFill/>
          <a:ln w="31750">
            <a:solidFill>
              <a:schemeClr val="accent3"/>
            </a:solidFill>
            <a:prstDash val="solid"/>
            <a:tailEnd type="triangle"/>
          </a:ln>
        </p:spPr>
      </p:sp>
      <p:pic>
        <p:nvPicPr>
          <p:cNvPr id="27" name="photo-rocket-443" descr="검색 결과 로켓 사진">    </p:cNvPr>
          <p:cNvPicPr>
            <a:picLocks noChangeAspect="1"/>
          </p:cNvPicPr>
          <p:nvPr/>
        </p:nvPicPr>
        <p:blipFill>
          <a:blip r:embed="rId7"/>
          <a:stretch>
            <a:fillRect/>
          </a:stretch>
        </p:blipFill>
        <p:spPr>
          <a:xfrm>
            <a:off x="9189720" y="4114800"/>
            <a:ext cx="1371600" cy="1371600"/>
          </a:xfrm>
          <a:prstGeom prst="rect">
            <a:avLst/>
          </a:prstGeom>
        </p:spPr>
      </p:pic>
      <p:sp>
        <p:nvSpPr>
          <p:cNvPr id="28" name="text-444"/>
          <p:cNvSpPr txBox="1"/>
          <p:nvPr/>
        </p:nvSpPr>
        <p:spPr>
          <a:xfrm>
            <a:off x="10607040" y="4526280"/>
            <a:ext cx="914400" cy="640080"/>
          </a:xfrm>
          <a:prstGeom prst="rect">
            <a:avLst/>
          </a:prstGeom>
          <a:noFill/>
          <a:ln/>
        </p:spPr>
        <p:txBody>
          <a:bodyPr wrap="square" lIns="0" tIns="0" rIns="0" bIns="0" rtlCol="0" anchor="t"/>
          <a:lstStyle/>
          <a:p>
            <a:pPr indent="0" marL="0">
              <a:buNone/>
            </a:pPr>
            <a:r>
              <a:rPr lang="en-US" sz="1200" dirty="0">
                <a:solidFill>
                  <a:schemeClr val="tx2"/>
                </a:solidFill>
              </a:rPr>
              <a:t>가장 가까운 사진</a:t>
            </a:r>
            <a:endParaRPr 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3주차와 연결: SigLIP은 Bi-encoder</a:t>
            </a:r>
            <a:endParaRPr lang="en-US" sz="3000" dirty="0"/>
          </a:p>
        </p:txBody>
      </p:sp>
      <p:sp>
        <p:nvSpPr>
          <p:cNvPr id="3" name="card-445"/>
          <p:cNvSpPr/>
          <p:nvPr/>
        </p:nvSpPr>
        <p:spPr>
          <a:xfrm>
            <a:off x="640080" y="1371600"/>
            <a:ext cx="5349240" cy="3840480"/>
          </a:xfrm>
          <a:prstGeom prst="roundRect">
            <a:avLst>
              <a:gd name="adj" fmla="val 3333"/>
            </a:avLst>
          </a:prstGeom>
          <a:solidFill>
            <a:schemeClr val="accent3">
              <a:alpha val="10000"/>
            </a:schemeClr>
          </a:solidFill>
          <a:ln w="25400">
            <a:solidFill>
              <a:schemeClr val="accent3"/>
            </a:solidFill>
            <a:prstDash val="solid"/>
          </a:ln>
        </p:spPr>
      </p:sp>
      <p:sp>
        <p:nvSpPr>
          <p:cNvPr id="4" name="text-446"/>
          <p:cNvSpPr txBox="1"/>
          <p:nvPr/>
        </p:nvSpPr>
        <p:spPr>
          <a:xfrm>
            <a:off x="914400" y="1554480"/>
            <a:ext cx="4846320" cy="502920"/>
          </a:xfrm>
          <a:prstGeom prst="rect">
            <a:avLst/>
          </a:prstGeom>
          <a:noFill/>
          <a:ln/>
        </p:spPr>
        <p:txBody>
          <a:bodyPr wrap="square" lIns="0" tIns="0" rIns="0" bIns="0" rtlCol="0" anchor="t"/>
          <a:lstStyle/>
          <a:p>
            <a:pPr indent="0" marL="0">
              <a:buNone/>
            </a:pPr>
            <a:r>
              <a:rPr lang="en-US" sz="2400" b="1" dirty="0">
                <a:solidFill>
                  <a:schemeClr val="accent3"/>
                </a:solidFill>
              </a:rPr>
              <a:t>Bi-encoder</a:t>
            </a:r>
            <a:endParaRPr lang="en-US" sz="2400" dirty="0"/>
          </a:p>
        </p:txBody>
      </p:sp>
      <p:sp>
        <p:nvSpPr>
          <p:cNvPr id="5" name="box-447"/>
          <p:cNvSpPr/>
          <p:nvPr/>
        </p:nvSpPr>
        <p:spPr>
          <a:xfrm>
            <a:off x="1005840" y="2331720"/>
            <a:ext cx="2103120" cy="685800"/>
          </a:xfrm>
          <a:prstGeom prst="roundRect">
            <a:avLst>
              <a:gd name="adj" fmla="val 13333"/>
            </a:avLst>
          </a:prstGeom>
          <a:solidFill>
            <a:schemeClr val="accent2"/>
          </a:solidFill>
          <a:ln/>
        </p:spPr>
      </p:sp>
      <p:sp>
        <p:nvSpPr>
          <p:cNvPr id="6" name="text-448"/>
          <p:cNvSpPr txBox="1"/>
          <p:nvPr/>
        </p:nvSpPr>
        <p:spPr>
          <a:xfrm>
            <a:off x="1005840" y="2331720"/>
            <a:ext cx="2103120" cy="685800"/>
          </a:xfrm>
          <a:prstGeom prst="rect">
            <a:avLst/>
          </a:prstGeom>
          <a:noFill/>
          <a:ln/>
        </p:spPr>
        <p:txBody>
          <a:bodyPr wrap="square" lIns="0" tIns="0" rIns="0" bIns="0" rtlCol="0" anchor="ctr"/>
          <a:lstStyle/>
          <a:p>
            <a:pPr algn="ctr" indent="0" marL="0">
              <a:buNone/>
            </a:pPr>
            <a:r>
              <a:rPr lang="en-US" sz="1500" b="1" dirty="0">
                <a:solidFill>
                  <a:schemeClr val="bg1"/>
                </a:solidFill>
              </a:rPr>
              <a:t>질문 인코더</a:t>
            </a:r>
            <a:endParaRPr lang="en-US" sz="1500" dirty="0"/>
          </a:p>
        </p:txBody>
      </p:sp>
      <p:sp>
        <p:nvSpPr>
          <p:cNvPr id="7" name="box-449"/>
          <p:cNvSpPr/>
          <p:nvPr/>
        </p:nvSpPr>
        <p:spPr>
          <a:xfrm>
            <a:off x="3520440" y="2331720"/>
            <a:ext cx="2103120" cy="685800"/>
          </a:xfrm>
          <a:prstGeom prst="roundRect">
            <a:avLst>
              <a:gd name="adj" fmla="val 13333"/>
            </a:avLst>
          </a:prstGeom>
          <a:solidFill>
            <a:schemeClr val="accent1"/>
          </a:solidFill>
          <a:ln/>
        </p:spPr>
      </p:sp>
      <p:sp>
        <p:nvSpPr>
          <p:cNvPr id="8" name="text-450"/>
          <p:cNvSpPr txBox="1"/>
          <p:nvPr/>
        </p:nvSpPr>
        <p:spPr>
          <a:xfrm>
            <a:off x="3520440" y="2331720"/>
            <a:ext cx="2103120" cy="685800"/>
          </a:xfrm>
          <a:prstGeom prst="rect">
            <a:avLst/>
          </a:prstGeom>
          <a:noFill/>
          <a:ln/>
        </p:spPr>
        <p:txBody>
          <a:bodyPr wrap="square" lIns="0" tIns="0" rIns="0" bIns="0" rtlCol="0" anchor="ctr"/>
          <a:lstStyle/>
          <a:p>
            <a:pPr algn="ctr" indent="0" marL="0">
              <a:buNone/>
            </a:pPr>
            <a:r>
              <a:rPr lang="en-US" sz="1500" b="1" dirty="0">
                <a:solidFill>
                  <a:schemeClr val="bg1"/>
                </a:solidFill>
              </a:rPr>
              <a:t>사진 인코더</a:t>
            </a:r>
            <a:endParaRPr lang="en-US" sz="1500" dirty="0"/>
          </a:p>
        </p:txBody>
      </p:sp>
      <p:sp>
        <p:nvSpPr>
          <p:cNvPr id="9" name="arrow-451"/>
          <p:cNvSpPr/>
          <p:nvPr/>
        </p:nvSpPr>
        <p:spPr>
          <a:xfrm>
            <a:off x="2057400" y="3063240"/>
            <a:ext cx="0" cy="411480"/>
          </a:xfrm>
          <a:prstGeom prst="line">
            <a:avLst/>
          </a:prstGeom>
          <a:noFill/>
          <a:ln w="31750">
            <a:solidFill>
              <a:schemeClr val="accent6"/>
            </a:solidFill>
            <a:prstDash val="solid"/>
            <a:tailEnd type="triangle"/>
          </a:ln>
        </p:spPr>
      </p:sp>
      <p:sp>
        <p:nvSpPr>
          <p:cNvPr id="10" name="arrow-452"/>
          <p:cNvSpPr/>
          <p:nvPr/>
        </p:nvSpPr>
        <p:spPr>
          <a:xfrm>
            <a:off x="4572000" y="3063240"/>
            <a:ext cx="0" cy="411480"/>
          </a:xfrm>
          <a:prstGeom prst="line">
            <a:avLst/>
          </a:prstGeom>
          <a:noFill/>
          <a:ln w="31750">
            <a:solidFill>
              <a:schemeClr val="accent6"/>
            </a:solidFill>
            <a:prstDash val="solid"/>
            <a:tailEnd type="triangle"/>
          </a:ln>
        </p:spPr>
      </p:sp>
      <p:sp>
        <p:nvSpPr>
          <p:cNvPr id="11" name="box-453"/>
          <p:cNvSpPr/>
          <p:nvPr/>
        </p:nvSpPr>
        <p:spPr>
          <a:xfrm>
            <a:off x="1005840" y="3566160"/>
            <a:ext cx="4617720" cy="594360"/>
          </a:xfrm>
          <a:prstGeom prst="roundRect">
            <a:avLst>
              <a:gd name="adj" fmla="val 15385"/>
            </a:avLst>
          </a:prstGeom>
          <a:solidFill>
            <a:schemeClr val="accent3"/>
          </a:solidFill>
          <a:ln/>
        </p:spPr>
      </p:sp>
      <p:sp>
        <p:nvSpPr>
          <p:cNvPr id="12" name="text-454"/>
          <p:cNvSpPr txBox="1"/>
          <p:nvPr/>
        </p:nvSpPr>
        <p:spPr>
          <a:xfrm>
            <a:off x="1005840" y="3566160"/>
            <a:ext cx="4617720" cy="594360"/>
          </a:xfrm>
          <a:prstGeom prst="rect">
            <a:avLst/>
          </a:prstGeom>
          <a:noFill/>
          <a:ln/>
        </p:spPr>
        <p:txBody>
          <a:bodyPr wrap="square" lIns="0" tIns="0" rIns="0" bIns="0" rtlCol="0" anchor="ctr"/>
          <a:lstStyle/>
          <a:p>
            <a:pPr algn="ctr" indent="0" marL="0">
              <a:buNone/>
            </a:pPr>
            <a:r>
              <a:rPr lang="en-US" sz="1500" b="1" dirty="0">
                <a:solidFill>
                  <a:schemeClr val="bg1"/>
                </a:solidFill>
              </a:rPr>
              <a:t>벡터끼리 내적</a:t>
            </a:r>
            <a:endParaRPr lang="en-US" sz="1500" dirty="0"/>
          </a:p>
        </p:txBody>
      </p:sp>
      <p:sp>
        <p:nvSpPr>
          <p:cNvPr id="13" name="text-455"/>
          <p:cNvSpPr txBox="1"/>
          <p:nvPr/>
        </p:nvSpPr>
        <p:spPr>
          <a:xfrm>
            <a:off x="914400" y="4434840"/>
            <a:ext cx="4846320" cy="502920"/>
          </a:xfrm>
          <a:prstGeom prst="rect">
            <a:avLst/>
          </a:prstGeom>
          <a:noFill/>
          <a:ln/>
        </p:spPr>
        <p:txBody>
          <a:bodyPr wrap="square" lIns="0" tIns="0" rIns="0" bIns="0" rtlCol="0" anchor="t"/>
          <a:lstStyle/>
          <a:p>
            <a:pPr indent="0" marL="0">
              <a:buNone/>
            </a:pPr>
            <a:r>
              <a:rPr lang="en-US" sz="1900" b="1" dirty="0">
                <a:solidFill>
                  <a:schemeClr val="tx1"/>
                </a:solidFill>
              </a:rPr>
              <a:t>빠름 → 대량 후보 뽑기</a:t>
            </a:r>
            <a:endParaRPr lang="en-US" sz="1900" dirty="0"/>
          </a:p>
        </p:txBody>
      </p:sp>
      <p:sp>
        <p:nvSpPr>
          <p:cNvPr id="14" name="card-456"/>
          <p:cNvSpPr/>
          <p:nvPr/>
        </p:nvSpPr>
        <p:spPr>
          <a:xfrm>
            <a:off x="6172200" y="1371600"/>
            <a:ext cx="5349240" cy="3840480"/>
          </a:xfrm>
          <a:prstGeom prst="roundRect">
            <a:avLst>
              <a:gd name="adj" fmla="val 3333"/>
            </a:avLst>
          </a:prstGeom>
          <a:solidFill>
            <a:schemeClr val="bg2"/>
          </a:solidFill>
          <a:ln/>
        </p:spPr>
      </p:sp>
      <p:sp>
        <p:nvSpPr>
          <p:cNvPr id="15" name="text-457"/>
          <p:cNvSpPr txBox="1"/>
          <p:nvPr/>
        </p:nvSpPr>
        <p:spPr>
          <a:xfrm>
            <a:off x="6446520" y="1554480"/>
            <a:ext cx="4846320" cy="502920"/>
          </a:xfrm>
          <a:prstGeom prst="rect">
            <a:avLst/>
          </a:prstGeom>
          <a:noFill/>
          <a:ln/>
        </p:spPr>
        <p:txBody>
          <a:bodyPr wrap="square" lIns="0" tIns="0" rIns="0" bIns="0" rtlCol="0" anchor="t"/>
          <a:lstStyle/>
          <a:p>
            <a:pPr indent="0" marL="0">
              <a:buNone/>
            </a:pPr>
            <a:r>
              <a:rPr lang="en-US" sz="2400" b="1" dirty="0">
                <a:solidFill>
                  <a:schemeClr val="tx2"/>
                </a:solidFill>
              </a:rPr>
              <a:t>Cross-encoder</a:t>
            </a:r>
            <a:endParaRPr lang="en-US" sz="2400" dirty="0"/>
          </a:p>
        </p:txBody>
      </p:sp>
      <p:sp>
        <p:nvSpPr>
          <p:cNvPr id="16" name="box-458"/>
          <p:cNvSpPr/>
          <p:nvPr/>
        </p:nvSpPr>
        <p:spPr>
          <a:xfrm>
            <a:off x="6537960" y="2331720"/>
            <a:ext cx="4617720" cy="685800"/>
          </a:xfrm>
          <a:prstGeom prst="roundRect">
            <a:avLst>
              <a:gd name="adj" fmla="val 13333"/>
            </a:avLst>
          </a:prstGeom>
          <a:solidFill>
            <a:schemeClr val="tx2"/>
          </a:solidFill>
          <a:ln/>
        </p:spPr>
      </p:sp>
      <p:sp>
        <p:nvSpPr>
          <p:cNvPr id="17" name="text-459"/>
          <p:cNvSpPr txBox="1"/>
          <p:nvPr/>
        </p:nvSpPr>
        <p:spPr>
          <a:xfrm>
            <a:off x="6537960" y="2331720"/>
            <a:ext cx="4617720" cy="685800"/>
          </a:xfrm>
          <a:prstGeom prst="rect">
            <a:avLst/>
          </a:prstGeom>
          <a:noFill/>
          <a:ln/>
        </p:spPr>
        <p:txBody>
          <a:bodyPr wrap="square" lIns="0" tIns="0" rIns="0" bIns="0" rtlCol="0" anchor="ctr"/>
          <a:lstStyle/>
          <a:p>
            <a:pPr algn="ctr" indent="0" marL="0">
              <a:buNone/>
            </a:pPr>
            <a:r>
              <a:rPr lang="en-US" sz="1500" b="1" dirty="0">
                <a:solidFill>
                  <a:schemeClr val="bg1"/>
                </a:solidFill>
              </a:rPr>
              <a:t>질문 + 사진을 함께 입력</a:t>
            </a:r>
            <a:endParaRPr lang="en-US" sz="1500" dirty="0"/>
          </a:p>
        </p:txBody>
      </p:sp>
      <p:sp>
        <p:nvSpPr>
          <p:cNvPr id="18" name="arrow-460"/>
          <p:cNvSpPr/>
          <p:nvPr/>
        </p:nvSpPr>
        <p:spPr>
          <a:xfrm>
            <a:off x="8842248" y="3063240"/>
            <a:ext cx="0" cy="411480"/>
          </a:xfrm>
          <a:prstGeom prst="line">
            <a:avLst/>
          </a:prstGeom>
          <a:noFill/>
          <a:ln w="31750">
            <a:solidFill>
              <a:schemeClr val="accent6"/>
            </a:solidFill>
            <a:prstDash val="solid"/>
            <a:tailEnd type="triangle"/>
          </a:ln>
        </p:spPr>
      </p:sp>
      <p:sp>
        <p:nvSpPr>
          <p:cNvPr id="19" name="box-461"/>
          <p:cNvSpPr/>
          <p:nvPr/>
        </p:nvSpPr>
        <p:spPr>
          <a:xfrm>
            <a:off x="6537960" y="3566160"/>
            <a:ext cx="4617720" cy="594360"/>
          </a:xfrm>
          <a:prstGeom prst="roundRect">
            <a:avLst>
              <a:gd name="adj" fmla="val 15385"/>
            </a:avLst>
          </a:prstGeom>
          <a:solidFill>
            <a:schemeClr val="accent6"/>
          </a:solidFill>
          <a:ln/>
        </p:spPr>
      </p:sp>
      <p:sp>
        <p:nvSpPr>
          <p:cNvPr id="20" name="text-462"/>
          <p:cNvSpPr txBox="1"/>
          <p:nvPr/>
        </p:nvSpPr>
        <p:spPr>
          <a:xfrm>
            <a:off x="6537960" y="3566160"/>
            <a:ext cx="4617720" cy="594360"/>
          </a:xfrm>
          <a:prstGeom prst="rect">
            <a:avLst/>
          </a:prstGeom>
          <a:noFill/>
          <a:ln/>
        </p:spPr>
        <p:txBody>
          <a:bodyPr wrap="square" lIns="0" tIns="0" rIns="0" bIns="0" rtlCol="0" anchor="ctr"/>
          <a:lstStyle/>
          <a:p>
            <a:pPr algn="ctr" indent="0" marL="0">
              <a:buNone/>
            </a:pPr>
            <a:r>
              <a:rPr lang="en-US" sz="1500" b="1" dirty="0">
                <a:solidFill>
                  <a:schemeClr val="bg1"/>
                </a:solidFill>
              </a:rPr>
              <a:t>관련도 점수</a:t>
            </a:r>
            <a:endParaRPr lang="en-US" sz="1500" dirty="0"/>
          </a:p>
        </p:txBody>
      </p:sp>
      <p:sp>
        <p:nvSpPr>
          <p:cNvPr id="21" name="text-463"/>
          <p:cNvSpPr txBox="1"/>
          <p:nvPr/>
        </p:nvSpPr>
        <p:spPr>
          <a:xfrm>
            <a:off x="6446520" y="4434840"/>
            <a:ext cx="4846320" cy="502920"/>
          </a:xfrm>
          <a:prstGeom prst="rect">
            <a:avLst/>
          </a:prstGeom>
          <a:noFill/>
          <a:ln/>
        </p:spPr>
        <p:txBody>
          <a:bodyPr wrap="square" lIns="0" tIns="0" rIns="0" bIns="0" rtlCol="0" anchor="t"/>
          <a:lstStyle/>
          <a:p>
            <a:pPr indent="0" marL="0">
              <a:buNone/>
            </a:pPr>
            <a:r>
              <a:rPr lang="en-US" sz="1900" b="1" dirty="0">
                <a:solidFill>
                  <a:schemeClr val="tx1"/>
                </a:solidFill>
              </a:rPr>
              <a:t>정확하지만 느림 → 재정렬용</a:t>
            </a:r>
            <a:endParaRPr lang="en-US" sz="1900" dirty="0"/>
          </a:p>
        </p:txBody>
      </p:sp>
      <p:sp>
        <p:nvSpPr>
          <p:cNvPr id="22" name="text-464"/>
          <p:cNvSpPr txBox="1"/>
          <p:nvPr/>
        </p:nvSpPr>
        <p:spPr>
          <a:xfrm>
            <a:off x="640080" y="5440680"/>
            <a:ext cx="10881360" cy="640080"/>
          </a:xfrm>
          <a:prstGeom prst="rect">
            <a:avLst/>
          </a:prstGeom>
          <a:noFill/>
          <a:ln/>
        </p:spPr>
        <p:txBody>
          <a:bodyPr wrap="square" lIns="0" tIns="0" rIns="0" bIns="0" rtlCol="0" anchor="ctr"/>
          <a:lstStyle/>
          <a:p>
            <a:pPr indent="0" marL="0">
              <a:buNone/>
            </a:pPr>
            <a:r>
              <a:rPr lang="en-US" sz="1800" dirty="0">
                <a:solidFill>
                  <a:schemeClr val="tx2"/>
                </a:solidFill>
              </a:rPr>
              <a:t>3주차 Reranking: Bi-encoder로 후보 → Cross-encoder로 재정렬. SigLIP은 그중 앞 단계 담당</a:t>
            </a:r>
            <a:endParaRPr lang="en-US" sz="18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이유 ② 점수를 ‘확률’로 읽을 수 있다</a:t>
            </a:r>
            <a:endParaRPr lang="en-US" sz="3000" dirty="0"/>
          </a:p>
        </p:txBody>
      </p:sp>
      <p:sp>
        <p:nvSpPr>
          <p:cNvPr id="3" name="pill-465"/>
          <p:cNvSpPr/>
          <p:nvPr/>
        </p:nvSpPr>
        <p:spPr>
          <a:xfrm>
            <a:off x="640080" y="1417320"/>
            <a:ext cx="3291840" cy="548640"/>
          </a:xfrm>
          <a:prstGeom prst="roundRect">
            <a:avLst>
              <a:gd name="adj" fmla="val 50000"/>
            </a:avLst>
          </a:prstGeom>
          <a:solidFill>
            <a:schemeClr val="accent2"/>
          </a:solidFill>
          <a:ln/>
        </p:spPr>
      </p:sp>
      <p:sp>
        <p:nvSpPr>
          <p:cNvPr id="4" name="text-466"/>
          <p:cNvSpPr txBox="1"/>
          <p:nvPr/>
        </p:nvSpPr>
        <p:spPr>
          <a:xfrm>
            <a:off x="640080" y="1417320"/>
            <a:ext cx="3291840" cy="548640"/>
          </a:xfrm>
          <a:prstGeom prst="rect">
            <a:avLst/>
          </a:prstGeom>
          <a:noFill/>
          <a:ln/>
        </p:spPr>
        <p:txBody>
          <a:bodyPr wrap="square" lIns="0" tIns="0" rIns="0" bIns="0" rtlCol="0" anchor="ctr"/>
          <a:lstStyle/>
          <a:p>
            <a:pPr algn="ctr" indent="0" marL="0">
              <a:buNone/>
            </a:pPr>
            <a:r>
              <a:rPr lang="en-US" sz="1700" b="1" dirty="0">
                <a:solidFill>
                  <a:schemeClr val="bg1"/>
                </a:solidFill>
              </a:rPr>
              <a:t>“a photo of a cat”</a:t>
            </a:r>
            <a:endParaRPr lang="en-US" sz="1700" dirty="0"/>
          </a:p>
        </p:txBody>
      </p:sp>
      <p:sp>
        <p:nvSpPr>
          <p:cNvPr id="5" name="score-467"/>
          <p:cNvSpPr/>
          <p:nvPr/>
        </p:nvSpPr>
        <p:spPr>
          <a:xfrm>
            <a:off x="1325880" y="2702966"/>
            <a:ext cx="1097280" cy="2417674"/>
          </a:xfrm>
          <a:prstGeom prst="rect">
            <a:avLst/>
          </a:prstGeom>
          <a:solidFill>
            <a:schemeClr val="accent5"/>
          </a:solidFill>
          <a:ln/>
        </p:spPr>
      </p:sp>
      <p:sp>
        <p:nvSpPr>
          <p:cNvPr id="6" name="text-468"/>
          <p:cNvSpPr txBox="1"/>
          <p:nvPr/>
        </p:nvSpPr>
        <p:spPr>
          <a:xfrm>
            <a:off x="1097280" y="2245766"/>
            <a:ext cx="1554480" cy="411480"/>
          </a:xfrm>
          <a:prstGeom prst="rect">
            <a:avLst/>
          </a:prstGeom>
          <a:noFill/>
          <a:ln/>
        </p:spPr>
        <p:txBody>
          <a:bodyPr wrap="square" lIns="0" tIns="0" rIns="0" bIns="0" rtlCol="0" anchor="t"/>
          <a:lstStyle/>
          <a:p>
            <a:pPr algn="ctr" indent="0" marL="0">
              <a:buNone/>
            </a:pPr>
            <a:r>
              <a:rPr lang="en-US" sz="1800" b="1" dirty="0">
                <a:solidFill>
                  <a:schemeClr val="accent5"/>
                </a:solidFill>
              </a:rPr>
              <a:t>0.93</a:t>
            </a:r>
            <a:endParaRPr lang="en-US" sz="1800" dirty="0"/>
          </a:p>
        </p:txBody>
      </p:sp>
      <p:pic>
        <p:nvPicPr>
          <p:cNvPr id="7" name="photo-cat-469" descr="고양이 사진">    </p:cNvPr>
          <p:cNvPicPr>
            <a:picLocks noChangeAspect="1"/>
          </p:cNvPicPr>
          <p:nvPr/>
        </p:nvPicPr>
        <p:blipFill>
          <a:blip r:embed="rId1"/>
          <a:stretch>
            <a:fillRect/>
          </a:stretch>
        </p:blipFill>
        <p:spPr>
          <a:xfrm>
            <a:off x="1371600" y="5257800"/>
            <a:ext cx="1005840" cy="1005840"/>
          </a:xfrm>
          <a:prstGeom prst="ellipse">
            <a:avLst/>
          </a:prstGeom>
        </p:spPr>
      </p:pic>
      <p:sp>
        <p:nvSpPr>
          <p:cNvPr id="8" name="score-470"/>
          <p:cNvSpPr/>
          <p:nvPr/>
        </p:nvSpPr>
        <p:spPr>
          <a:xfrm>
            <a:off x="4069080" y="5007254"/>
            <a:ext cx="1097280" cy="113386"/>
          </a:xfrm>
          <a:prstGeom prst="rect">
            <a:avLst/>
          </a:prstGeom>
          <a:solidFill>
            <a:schemeClr val="accent6"/>
          </a:solidFill>
          <a:ln/>
        </p:spPr>
      </p:sp>
      <p:sp>
        <p:nvSpPr>
          <p:cNvPr id="9" name="text-471"/>
          <p:cNvSpPr txBox="1"/>
          <p:nvPr/>
        </p:nvSpPr>
        <p:spPr>
          <a:xfrm>
            <a:off x="3840480" y="4550054"/>
            <a:ext cx="1554480" cy="411480"/>
          </a:xfrm>
          <a:prstGeom prst="rect">
            <a:avLst/>
          </a:prstGeom>
          <a:noFill/>
          <a:ln/>
        </p:spPr>
        <p:txBody>
          <a:bodyPr wrap="square" lIns="0" tIns="0" rIns="0" bIns="0" rtlCol="0" anchor="t"/>
          <a:lstStyle/>
          <a:p>
            <a:pPr algn="ctr" indent="0" marL="0">
              <a:buNone/>
            </a:pPr>
            <a:r>
              <a:rPr lang="en-US" sz="1800" b="1" dirty="0">
                <a:solidFill>
                  <a:schemeClr val="tx2"/>
                </a:solidFill>
              </a:rPr>
              <a:t>0.03</a:t>
            </a:r>
            <a:endParaRPr lang="en-US" sz="1800" dirty="0"/>
          </a:p>
        </p:txBody>
      </p:sp>
      <p:pic>
        <p:nvPicPr>
          <p:cNvPr id="10" name="photo-coffee-472" descr="커피 사진">    </p:cNvPr>
          <p:cNvPicPr>
            <a:picLocks noChangeAspect="1"/>
          </p:cNvPicPr>
          <p:nvPr/>
        </p:nvPicPr>
        <p:blipFill>
          <a:blip r:embed="rId2"/>
          <a:stretch>
            <a:fillRect/>
          </a:stretch>
        </p:blipFill>
        <p:spPr>
          <a:xfrm>
            <a:off x="4114800" y="5257800"/>
            <a:ext cx="1005840" cy="1005840"/>
          </a:xfrm>
          <a:prstGeom prst="ellipse">
            <a:avLst/>
          </a:prstGeom>
        </p:spPr>
      </p:pic>
      <p:sp>
        <p:nvSpPr>
          <p:cNvPr id="11" name="score-473"/>
          <p:cNvSpPr/>
          <p:nvPr/>
        </p:nvSpPr>
        <p:spPr>
          <a:xfrm>
            <a:off x="6812280" y="5058461"/>
            <a:ext cx="1097280" cy="62179"/>
          </a:xfrm>
          <a:prstGeom prst="rect">
            <a:avLst/>
          </a:prstGeom>
          <a:solidFill>
            <a:schemeClr val="accent6"/>
          </a:solidFill>
          <a:ln/>
        </p:spPr>
      </p:sp>
      <p:sp>
        <p:nvSpPr>
          <p:cNvPr id="12" name="text-474"/>
          <p:cNvSpPr txBox="1"/>
          <p:nvPr/>
        </p:nvSpPr>
        <p:spPr>
          <a:xfrm>
            <a:off x="6583680" y="4601261"/>
            <a:ext cx="1554480" cy="411480"/>
          </a:xfrm>
          <a:prstGeom prst="rect">
            <a:avLst/>
          </a:prstGeom>
          <a:noFill/>
          <a:ln/>
        </p:spPr>
        <p:txBody>
          <a:bodyPr wrap="square" lIns="0" tIns="0" rIns="0" bIns="0" rtlCol="0" anchor="t"/>
          <a:lstStyle/>
          <a:p>
            <a:pPr algn="ctr" indent="0" marL="0">
              <a:buNone/>
            </a:pPr>
            <a:r>
              <a:rPr lang="en-US" sz="1800" b="1" dirty="0">
                <a:solidFill>
                  <a:schemeClr val="tx2"/>
                </a:solidFill>
              </a:rPr>
              <a:t>0.01</a:t>
            </a:r>
            <a:endParaRPr lang="en-US" sz="1800" dirty="0"/>
          </a:p>
        </p:txBody>
      </p:sp>
      <p:pic>
        <p:nvPicPr>
          <p:cNvPr id="13" name="photo-rocket-475" descr="로켓 사진">    </p:cNvPr>
          <p:cNvPicPr>
            <a:picLocks noChangeAspect="1"/>
          </p:cNvPicPr>
          <p:nvPr/>
        </p:nvPicPr>
        <p:blipFill>
          <a:blip r:embed="rId3"/>
          <a:stretch>
            <a:fillRect/>
          </a:stretch>
        </p:blipFill>
        <p:spPr>
          <a:xfrm>
            <a:off x="6858000" y="5257800"/>
            <a:ext cx="1005840" cy="1005840"/>
          </a:xfrm>
          <a:prstGeom prst="ellipse">
            <a:avLst/>
          </a:prstGeom>
        </p:spPr>
      </p:pic>
      <p:sp>
        <p:nvSpPr>
          <p:cNvPr id="14" name="score-476"/>
          <p:cNvSpPr/>
          <p:nvPr/>
        </p:nvSpPr>
        <p:spPr>
          <a:xfrm>
            <a:off x="9555480" y="5032858"/>
            <a:ext cx="1097280" cy="87782"/>
          </a:xfrm>
          <a:prstGeom prst="rect">
            <a:avLst/>
          </a:prstGeom>
          <a:solidFill>
            <a:schemeClr val="accent6"/>
          </a:solidFill>
          <a:ln/>
        </p:spPr>
      </p:sp>
      <p:sp>
        <p:nvSpPr>
          <p:cNvPr id="15" name="text-477"/>
          <p:cNvSpPr txBox="1"/>
          <p:nvPr/>
        </p:nvSpPr>
        <p:spPr>
          <a:xfrm>
            <a:off x="9326880" y="4575658"/>
            <a:ext cx="1554480" cy="411480"/>
          </a:xfrm>
          <a:prstGeom prst="rect">
            <a:avLst/>
          </a:prstGeom>
          <a:noFill/>
          <a:ln/>
        </p:spPr>
        <p:txBody>
          <a:bodyPr wrap="square" lIns="0" tIns="0" rIns="0" bIns="0" rtlCol="0" anchor="t"/>
          <a:lstStyle/>
          <a:p>
            <a:pPr algn="ctr" indent="0" marL="0">
              <a:buNone/>
            </a:pPr>
            <a:r>
              <a:rPr lang="en-US" sz="1800" b="1" dirty="0">
                <a:solidFill>
                  <a:schemeClr val="tx2"/>
                </a:solidFill>
              </a:rPr>
              <a:t>0.02</a:t>
            </a:r>
            <a:endParaRPr lang="en-US" sz="1800" dirty="0"/>
          </a:p>
        </p:txBody>
      </p:sp>
      <p:pic>
        <p:nvPicPr>
          <p:cNvPr id="16" name="photo-astronaut-478" descr="우주비행사 사진">    </p:cNvPr>
          <p:cNvPicPr>
            <a:picLocks noChangeAspect="1"/>
          </p:cNvPicPr>
          <p:nvPr/>
        </p:nvPicPr>
        <p:blipFill>
          <a:blip r:embed="rId4"/>
          <a:stretch>
            <a:fillRect/>
          </a:stretch>
        </p:blipFill>
        <p:spPr>
          <a:xfrm>
            <a:off x="9601200" y="5257800"/>
            <a:ext cx="1005840" cy="1005840"/>
          </a:xfrm>
          <a:prstGeom prst="ellipse">
            <a:avLst/>
          </a:prstGeom>
        </p:spPr>
      </p:pic>
      <p:sp>
        <p:nvSpPr>
          <p:cNvPr id="17" name="threshold"/>
          <p:cNvSpPr/>
          <p:nvPr/>
        </p:nvSpPr>
        <p:spPr>
          <a:xfrm>
            <a:off x="822960" y="3840480"/>
            <a:ext cx="10607040" cy="0"/>
          </a:xfrm>
          <a:prstGeom prst="line">
            <a:avLst/>
          </a:prstGeom>
          <a:noFill/>
          <a:ln w="25400">
            <a:solidFill>
              <a:schemeClr val="accent4"/>
            </a:solidFill>
            <a:prstDash val="dash"/>
          </a:ln>
        </p:spPr>
      </p:sp>
      <p:sp>
        <p:nvSpPr>
          <p:cNvPr id="18" name="text-479"/>
          <p:cNvSpPr txBox="1"/>
          <p:nvPr/>
        </p:nvSpPr>
        <p:spPr>
          <a:xfrm>
            <a:off x="9966960" y="3429000"/>
            <a:ext cx="1463040" cy="365760"/>
          </a:xfrm>
          <a:prstGeom prst="rect">
            <a:avLst/>
          </a:prstGeom>
          <a:noFill/>
          <a:ln/>
        </p:spPr>
        <p:txBody>
          <a:bodyPr wrap="square" lIns="0" tIns="0" rIns="0" bIns="0" rtlCol="0" anchor="t"/>
          <a:lstStyle/>
          <a:p>
            <a:pPr algn="r" indent="0" marL="0">
              <a:buNone/>
            </a:pPr>
            <a:r>
              <a:rPr lang="en-US" sz="1500" b="1" dirty="0">
                <a:solidFill>
                  <a:schemeClr val="accent4"/>
                </a:solidFill>
              </a:rPr>
              <a:t>임계값 0.5</a:t>
            </a:r>
            <a:endParaRPr lang="en-US" sz="1500" dirty="0"/>
          </a:p>
        </p:txBody>
      </p:sp>
      <p:sp>
        <p:nvSpPr>
          <p:cNvPr id="19" name="card-480"/>
          <p:cNvSpPr/>
          <p:nvPr/>
        </p:nvSpPr>
        <p:spPr>
          <a:xfrm>
            <a:off x="4572000" y="1325880"/>
            <a:ext cx="6949440" cy="731520"/>
          </a:xfrm>
          <a:prstGeom prst="roundRect">
            <a:avLst>
              <a:gd name="adj" fmla="val 17500"/>
            </a:avLst>
          </a:prstGeom>
          <a:solidFill>
            <a:schemeClr val="bg2"/>
          </a:solidFill>
          <a:ln/>
        </p:spPr>
      </p:sp>
      <p:sp>
        <p:nvSpPr>
          <p:cNvPr id="20" name="text-481"/>
          <p:cNvSpPr txBox="1"/>
          <p:nvPr/>
        </p:nvSpPr>
        <p:spPr>
          <a:xfrm>
            <a:off x="4800600" y="1325880"/>
            <a:ext cx="6583680" cy="731520"/>
          </a:xfrm>
          <a:prstGeom prst="rect">
            <a:avLst/>
          </a:prstGeom>
          <a:noFill/>
          <a:ln/>
        </p:spPr>
        <p:txBody>
          <a:bodyPr wrap="square" lIns="0" tIns="0" rIns="0" bIns="0" rtlCol="0" anchor="ctr"/>
          <a:lstStyle/>
          <a:p>
            <a:pPr indent="0" marL="0">
              <a:buNone/>
            </a:pPr>
            <a:r>
              <a:rPr lang="en-US" sz="1700" dirty="0">
                <a:solidFill>
                  <a:schemeClr val="tx1"/>
                </a:solidFill>
              </a:rPr>
              <a:t>관련 없으면 아예 안 보여주기가 쉬움  (값은 예시)</a:t>
            </a:r>
            <a:endParaRPr lang="en-US" sz="17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이유 ③ 쓰기 좋은 공개 모델</a:t>
            </a:r>
            <a:endParaRPr lang="en-US" sz="3000" dirty="0"/>
          </a:p>
        </p:txBody>
      </p:sp>
      <p:sp>
        <p:nvSpPr>
          <p:cNvPr id="3" name="card-482"/>
          <p:cNvSpPr/>
          <p:nvPr/>
        </p:nvSpPr>
        <p:spPr>
          <a:xfrm>
            <a:off x="640080" y="1417320"/>
            <a:ext cx="10881360" cy="1325880"/>
          </a:xfrm>
          <a:prstGeom prst="roundRect">
            <a:avLst>
              <a:gd name="adj" fmla="val 9655"/>
            </a:avLst>
          </a:prstGeom>
          <a:solidFill>
            <a:schemeClr val="bg2"/>
          </a:solidFill>
          <a:ln/>
        </p:spPr>
      </p:sp>
      <p:sp>
        <p:nvSpPr>
          <p:cNvPr id="4" name="circle-483"/>
          <p:cNvSpPr/>
          <p:nvPr/>
        </p:nvSpPr>
        <p:spPr>
          <a:xfrm>
            <a:off x="914400" y="1645920"/>
            <a:ext cx="868680" cy="868680"/>
          </a:xfrm>
          <a:prstGeom prst="ellipse">
            <a:avLst/>
          </a:prstGeom>
          <a:solidFill>
            <a:schemeClr val="accent1"/>
          </a:solidFill>
          <a:ln/>
        </p:spPr>
      </p:sp>
      <p:pic>
        <p:nvPicPr>
          <p:cNvPr id="5" name="icon-FaLayerGroup-484" descr="FaLayerGroup">    </p:cNvPr>
          <p:cNvPicPr>
            <a:picLocks noChangeAspect="1"/>
          </p:cNvPicPr>
          <p:nvPr/>
        </p:nvPicPr>
        <p:blipFill>
          <a:blip r:embed="rId1"/>
          <a:stretch>
            <a:fillRect/>
          </a:stretch>
        </p:blipFill>
        <p:spPr>
          <a:xfrm>
            <a:off x="1140257" y="1871777"/>
            <a:ext cx="416966" cy="416966"/>
          </a:xfrm>
          <a:prstGeom prst="rect">
            <a:avLst/>
          </a:prstGeom>
        </p:spPr>
      </p:pic>
      <p:sp>
        <p:nvSpPr>
          <p:cNvPr id="6" name="text-485"/>
          <p:cNvSpPr txBox="1"/>
          <p:nvPr/>
        </p:nvSpPr>
        <p:spPr>
          <a:xfrm>
            <a:off x="2057400" y="1581912"/>
            <a:ext cx="9235440" cy="502920"/>
          </a:xfrm>
          <a:prstGeom prst="rect">
            <a:avLst/>
          </a:prstGeom>
          <a:noFill/>
          <a:ln/>
        </p:spPr>
        <p:txBody>
          <a:bodyPr wrap="square" lIns="0" tIns="0" rIns="0" bIns="0" rtlCol="0" anchor="t"/>
          <a:lstStyle/>
          <a:p>
            <a:pPr indent="0" marL="0">
              <a:buNone/>
            </a:pPr>
            <a:r>
              <a:rPr lang="en-US" sz="2200" b="1" dirty="0">
                <a:solidFill>
                  <a:schemeClr val="tx1"/>
                </a:solidFill>
              </a:rPr>
              <a:t>여러 방향 검색</a:t>
            </a:r>
            <a:endParaRPr lang="en-US" sz="2200" dirty="0"/>
          </a:p>
        </p:txBody>
      </p:sp>
      <p:sp>
        <p:nvSpPr>
          <p:cNvPr id="7" name="text-486"/>
          <p:cNvSpPr txBox="1"/>
          <p:nvPr/>
        </p:nvSpPr>
        <p:spPr>
          <a:xfrm>
            <a:off x="2057400" y="2103120"/>
            <a:ext cx="9235440" cy="502920"/>
          </a:xfrm>
          <a:prstGeom prst="rect">
            <a:avLst/>
          </a:prstGeom>
          <a:noFill/>
          <a:ln/>
        </p:spPr>
        <p:txBody>
          <a:bodyPr wrap="square" lIns="0" tIns="0" rIns="0" bIns="0" rtlCol="0" anchor="t"/>
          <a:lstStyle/>
          <a:p>
            <a:pPr indent="0" marL="0">
              <a:buNone/>
            </a:pPr>
            <a:r>
              <a:rPr lang="en-US" sz="1800" dirty="0">
                <a:solidFill>
                  <a:schemeClr val="tx2"/>
                </a:solidFill>
              </a:rPr>
              <a:t>텍스트→이미지, 이미지→텍스트, 이미지→이미지를 같은 인덱스로</a:t>
            </a:r>
            <a:endParaRPr lang="en-US" sz="1800" dirty="0"/>
          </a:p>
        </p:txBody>
      </p:sp>
      <p:sp>
        <p:nvSpPr>
          <p:cNvPr id="8" name="card-487"/>
          <p:cNvSpPr/>
          <p:nvPr/>
        </p:nvSpPr>
        <p:spPr>
          <a:xfrm>
            <a:off x="640080" y="2971800"/>
            <a:ext cx="10881360" cy="1325880"/>
          </a:xfrm>
          <a:prstGeom prst="roundRect">
            <a:avLst>
              <a:gd name="adj" fmla="val 9655"/>
            </a:avLst>
          </a:prstGeom>
          <a:solidFill>
            <a:schemeClr val="bg2"/>
          </a:solidFill>
          <a:ln/>
        </p:spPr>
      </p:sp>
      <p:sp>
        <p:nvSpPr>
          <p:cNvPr id="9" name="circle-488"/>
          <p:cNvSpPr/>
          <p:nvPr/>
        </p:nvSpPr>
        <p:spPr>
          <a:xfrm>
            <a:off x="914400" y="3200400"/>
            <a:ext cx="868680" cy="868680"/>
          </a:xfrm>
          <a:prstGeom prst="ellipse">
            <a:avLst/>
          </a:prstGeom>
          <a:solidFill>
            <a:schemeClr val="accent1"/>
          </a:solidFill>
          <a:ln/>
        </p:spPr>
      </p:sp>
      <p:pic>
        <p:nvPicPr>
          <p:cNvPr id="10" name="icon-FaShieldAlt-489" descr="FaShieldAlt">    </p:cNvPr>
          <p:cNvPicPr>
            <a:picLocks noChangeAspect="1"/>
          </p:cNvPicPr>
          <p:nvPr/>
        </p:nvPicPr>
        <p:blipFill>
          <a:blip r:embed="rId2"/>
          <a:stretch>
            <a:fillRect/>
          </a:stretch>
        </p:blipFill>
        <p:spPr>
          <a:xfrm>
            <a:off x="1140257" y="3426257"/>
            <a:ext cx="416966" cy="416966"/>
          </a:xfrm>
          <a:prstGeom prst="rect">
            <a:avLst/>
          </a:prstGeom>
        </p:spPr>
      </p:pic>
      <p:sp>
        <p:nvSpPr>
          <p:cNvPr id="11" name="text-490"/>
          <p:cNvSpPr txBox="1"/>
          <p:nvPr/>
        </p:nvSpPr>
        <p:spPr>
          <a:xfrm>
            <a:off x="2057400" y="3136392"/>
            <a:ext cx="9235440" cy="502920"/>
          </a:xfrm>
          <a:prstGeom prst="rect">
            <a:avLst/>
          </a:prstGeom>
          <a:noFill/>
          <a:ln/>
        </p:spPr>
        <p:txBody>
          <a:bodyPr wrap="square" lIns="0" tIns="0" rIns="0" bIns="0" rtlCol="0" anchor="t"/>
          <a:lstStyle/>
          <a:p>
            <a:pPr indent="0" marL="0">
              <a:buNone/>
            </a:pPr>
            <a:r>
              <a:rPr lang="en-US" sz="2200" b="1" dirty="0">
                <a:solidFill>
                  <a:schemeClr val="tx1"/>
                </a:solidFill>
              </a:rPr>
              <a:t>품질 좋은 임베딩</a:t>
            </a:r>
            <a:endParaRPr lang="en-US" sz="2200" dirty="0"/>
          </a:p>
        </p:txBody>
      </p:sp>
      <p:sp>
        <p:nvSpPr>
          <p:cNvPr id="12" name="text-491"/>
          <p:cNvSpPr txBox="1"/>
          <p:nvPr/>
        </p:nvSpPr>
        <p:spPr>
          <a:xfrm>
            <a:off x="2057400" y="3657600"/>
            <a:ext cx="9235440" cy="502920"/>
          </a:xfrm>
          <a:prstGeom prst="rect">
            <a:avLst/>
          </a:prstGeom>
          <a:noFill/>
          <a:ln/>
        </p:spPr>
        <p:txBody>
          <a:bodyPr wrap="square" lIns="0" tIns="0" rIns="0" bIns="0" rtlCol="0" anchor="t"/>
          <a:lstStyle/>
          <a:p>
            <a:pPr indent="0" marL="0">
              <a:buNone/>
            </a:pPr>
            <a:r>
              <a:rPr lang="en-US" sz="1800" dirty="0">
                <a:solidFill>
                  <a:schemeClr val="tx2"/>
                </a:solidFill>
              </a:rPr>
              <a:t>작은 배치·노이즈에도 강하게 학습된 체크포인트</a:t>
            </a:r>
            <a:endParaRPr lang="en-US" sz="1800" dirty="0"/>
          </a:p>
        </p:txBody>
      </p:sp>
      <p:sp>
        <p:nvSpPr>
          <p:cNvPr id="13" name="card-492"/>
          <p:cNvSpPr/>
          <p:nvPr/>
        </p:nvSpPr>
        <p:spPr>
          <a:xfrm>
            <a:off x="640080" y="4526280"/>
            <a:ext cx="10881360" cy="1325880"/>
          </a:xfrm>
          <a:prstGeom prst="roundRect">
            <a:avLst>
              <a:gd name="adj" fmla="val 9655"/>
            </a:avLst>
          </a:prstGeom>
          <a:solidFill>
            <a:schemeClr val="bg2"/>
          </a:solidFill>
          <a:ln/>
        </p:spPr>
      </p:sp>
      <p:sp>
        <p:nvSpPr>
          <p:cNvPr id="14" name="circle-493"/>
          <p:cNvSpPr/>
          <p:nvPr/>
        </p:nvSpPr>
        <p:spPr>
          <a:xfrm>
            <a:off x="914400" y="4754880"/>
            <a:ext cx="868680" cy="868680"/>
          </a:xfrm>
          <a:prstGeom prst="ellipse">
            <a:avLst/>
          </a:prstGeom>
          <a:solidFill>
            <a:schemeClr val="accent1"/>
          </a:solidFill>
          <a:ln/>
        </p:spPr>
      </p:sp>
      <p:pic>
        <p:nvPicPr>
          <p:cNvPr id="15" name="icon-FaGlobe-494" descr="FaGlobe">    </p:cNvPr>
          <p:cNvPicPr>
            <a:picLocks noChangeAspect="1"/>
          </p:cNvPicPr>
          <p:nvPr/>
        </p:nvPicPr>
        <p:blipFill>
          <a:blip r:embed="rId3"/>
          <a:stretch>
            <a:fillRect/>
          </a:stretch>
        </p:blipFill>
        <p:spPr>
          <a:xfrm>
            <a:off x="1140257" y="4980737"/>
            <a:ext cx="416966" cy="416966"/>
          </a:xfrm>
          <a:prstGeom prst="rect">
            <a:avLst/>
          </a:prstGeom>
        </p:spPr>
      </p:pic>
      <p:sp>
        <p:nvSpPr>
          <p:cNvPr id="16" name="text-495"/>
          <p:cNvSpPr txBox="1"/>
          <p:nvPr/>
        </p:nvSpPr>
        <p:spPr>
          <a:xfrm>
            <a:off x="2057400" y="4690872"/>
            <a:ext cx="9235440" cy="502920"/>
          </a:xfrm>
          <a:prstGeom prst="rect">
            <a:avLst/>
          </a:prstGeom>
          <a:noFill/>
          <a:ln/>
        </p:spPr>
        <p:txBody>
          <a:bodyPr wrap="square" lIns="0" tIns="0" rIns="0" bIns="0" rtlCol="0" anchor="t"/>
          <a:lstStyle/>
          <a:p>
            <a:pPr indent="0" marL="0">
              <a:buNone/>
            </a:pPr>
            <a:r>
              <a:rPr lang="en-US" sz="2200" b="1" dirty="0">
                <a:solidFill>
                  <a:schemeClr val="tx1"/>
                </a:solidFill>
              </a:rPr>
              <a:t>선택지가 다양</a:t>
            </a:r>
            <a:endParaRPr lang="en-US" sz="2200" dirty="0"/>
          </a:p>
        </p:txBody>
      </p:sp>
      <p:sp>
        <p:nvSpPr>
          <p:cNvPr id="17" name="text-496"/>
          <p:cNvSpPr txBox="1"/>
          <p:nvPr/>
        </p:nvSpPr>
        <p:spPr>
          <a:xfrm>
            <a:off x="2057400" y="5212080"/>
            <a:ext cx="9235440" cy="502920"/>
          </a:xfrm>
          <a:prstGeom prst="rect">
            <a:avLst/>
          </a:prstGeom>
          <a:noFill/>
          <a:ln/>
        </p:spPr>
        <p:txBody>
          <a:bodyPr wrap="square" lIns="0" tIns="0" rIns="0" bIns="0" rtlCol="0" anchor="t"/>
          <a:lstStyle/>
          <a:p>
            <a:pPr indent="0" marL="0">
              <a:buNone/>
            </a:pPr>
            <a:r>
              <a:rPr lang="en-US" sz="1800" dirty="0">
                <a:solidFill>
                  <a:schemeClr val="tx2"/>
                </a:solidFill>
              </a:rPr>
              <a:t>base부터 so400m, 다국어 버전까지 Hugging Face에서 바로</a:t>
            </a:r>
            <a:endParaRPr lang="en-US" sz="18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실습 ① 이미지 임베딩 뽑기</a:t>
            </a:r>
            <a:endParaRPr lang="en-US" sz="3000" dirty="0"/>
          </a:p>
        </p:txBody>
      </p:sp>
      <p:sp>
        <p:nvSpPr>
          <p:cNvPr id="3" name="codebg-497"/>
          <p:cNvSpPr/>
          <p:nvPr/>
        </p:nvSpPr>
        <p:spPr>
          <a:xfrm>
            <a:off x="640080" y="1325880"/>
            <a:ext cx="7315200" cy="4754880"/>
          </a:xfrm>
          <a:prstGeom prst="roundRect">
            <a:avLst>
              <a:gd name="adj" fmla="val 2308"/>
            </a:avLst>
          </a:prstGeom>
          <a:solidFill>
            <a:schemeClr val="tx1"/>
          </a:solidFill>
          <a:ln/>
        </p:spPr>
      </p:sp>
      <p:sp>
        <p:nvSpPr>
          <p:cNvPr id="4" name="text-498"/>
          <p:cNvSpPr txBox="1"/>
          <p:nvPr/>
        </p:nvSpPr>
        <p:spPr>
          <a:xfrm>
            <a:off x="914400" y="1554480"/>
            <a:ext cx="6766560" cy="4297680"/>
          </a:xfrm>
          <a:prstGeom prst="rect">
            <a:avLst/>
          </a:prstGeom>
          <a:noFill/>
          <a:ln/>
        </p:spPr>
        <p:txBody>
          <a:bodyPr wrap="square" lIns="0" tIns="0" rIns="0" bIns="0" rtlCol="0" anchor="t"/>
          <a:lstStyle/>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from transformers import AutoModel, AutoProcessor</a:t>
            </a:r>
            <a:endParaRPr lang="en-US" sz="1500" dirty="0"/>
          </a:p>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from PIL import Image</a:t>
            </a:r>
            <a:endParaRPr lang="en-US" sz="1500" dirty="0"/>
          </a:p>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import torch</a:t>
            </a:r>
            <a:endParaRPr lang="en-US" sz="1500" dirty="0"/>
          </a:p>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 </a:t>
            </a:r>
            <a:endParaRPr lang="en-US" sz="1500" dirty="0"/>
          </a:p>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ckpt = "google/siglip-base-patch16-224"</a:t>
            </a:r>
            <a:endParaRPr lang="en-US" sz="1500" dirty="0"/>
          </a:p>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model = AutoModel.from_pretrained(ckpt).eval()</a:t>
            </a:r>
            <a:endParaRPr lang="en-US" sz="1500" dirty="0"/>
          </a:p>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processor = AutoProcessor.from_pretrained(ckpt)</a:t>
            </a:r>
            <a:endParaRPr lang="en-US" sz="1500" dirty="0"/>
          </a:p>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 </a:t>
            </a:r>
            <a:endParaRPr lang="en-US" sz="1500" dirty="0"/>
          </a:p>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image = Image.open("cat.jpg")</a:t>
            </a:r>
            <a:endParaRPr lang="en-US" sz="1500" dirty="0"/>
          </a:p>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inputs = processor(images=image, return_tensors="pt")</a:t>
            </a:r>
            <a:endParaRPr lang="en-US" sz="1500" dirty="0"/>
          </a:p>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with torch.no_grad():</a:t>
            </a:r>
            <a:endParaRPr lang="en-US" sz="1500" dirty="0"/>
          </a:p>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    emb = model.get_image_features(**inputs)</a:t>
            </a:r>
            <a:endParaRPr lang="en-US" sz="1500" dirty="0"/>
          </a:p>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emb = emb / emb.norm(dim=-1, keepdim=True)</a:t>
            </a:r>
            <a:r>
              <a:rPr lang="en-US" sz="1500" dirty="0">
                <a:solidFill>
                  <a:srgbClr val="FBBF24"/>
                </a:solidFill>
                <a:latin typeface="Courier New" pitchFamily="34" charset="0"/>
                <a:ea typeface="Courier New" pitchFamily="34" charset="-122"/>
                <a:cs typeface="Courier New" pitchFamily="34" charset="-120"/>
              </a:rPr>
              <a:t>  # L2 정규화</a:t>
            </a:r>
            <a:endParaRPr lang="en-US" sz="1500" dirty="0"/>
          </a:p>
        </p:txBody>
      </p:sp>
      <p:pic>
        <p:nvPicPr>
          <p:cNvPr id="5" name="photo-cat-499" descr="입력 고양이 사진">    </p:cNvPr>
          <p:cNvPicPr>
            <a:picLocks noChangeAspect="1"/>
          </p:cNvPicPr>
          <p:nvPr/>
        </p:nvPicPr>
        <p:blipFill>
          <a:blip r:embed="rId1"/>
          <a:stretch>
            <a:fillRect/>
          </a:stretch>
        </p:blipFill>
        <p:spPr>
          <a:xfrm>
            <a:off x="8595360" y="1371600"/>
            <a:ext cx="2194560" cy="2194560"/>
          </a:xfrm>
          <a:prstGeom prst="rect">
            <a:avLst/>
          </a:prstGeom>
        </p:spPr>
      </p:pic>
      <p:sp>
        <p:nvSpPr>
          <p:cNvPr id="6" name="text-500"/>
          <p:cNvSpPr txBox="1"/>
          <p:nvPr/>
        </p:nvSpPr>
        <p:spPr>
          <a:xfrm>
            <a:off x="8595360" y="3611880"/>
            <a:ext cx="2194560" cy="365760"/>
          </a:xfrm>
          <a:prstGeom prst="rect">
            <a:avLst/>
          </a:prstGeom>
          <a:noFill/>
          <a:ln/>
        </p:spPr>
        <p:txBody>
          <a:bodyPr wrap="square" lIns="0" tIns="0" rIns="0" bIns="0" rtlCol="0" anchor="t"/>
          <a:lstStyle/>
          <a:p>
            <a:pPr algn="ctr" indent="0" marL="0">
              <a:buNone/>
            </a:pPr>
            <a:r>
              <a:rPr lang="en-US" sz="1400" dirty="0">
                <a:solidFill>
                  <a:schemeClr val="tx2"/>
                </a:solidFill>
                <a:latin typeface="Courier New" pitchFamily="34" charset="0"/>
                <a:ea typeface="Courier New" pitchFamily="34" charset="-122"/>
                <a:cs typeface="Courier New" pitchFamily="34" charset="-120"/>
              </a:rPr>
              <a:t>cat.jpg</a:t>
            </a:r>
            <a:endParaRPr lang="en-US" sz="1400" dirty="0"/>
          </a:p>
        </p:txBody>
      </p:sp>
      <p:sp>
        <p:nvSpPr>
          <p:cNvPr id="7" name="arrow-501"/>
          <p:cNvSpPr/>
          <p:nvPr/>
        </p:nvSpPr>
        <p:spPr>
          <a:xfrm>
            <a:off x="9692640" y="4023360"/>
            <a:ext cx="0" cy="411480"/>
          </a:xfrm>
          <a:prstGeom prst="line">
            <a:avLst/>
          </a:prstGeom>
          <a:noFill/>
          <a:ln w="31750">
            <a:solidFill>
              <a:schemeClr val="accent1"/>
            </a:solidFill>
            <a:prstDash val="solid"/>
            <a:tailEnd type="triangle"/>
          </a:ln>
        </p:spPr>
      </p:sp>
      <p:sp>
        <p:nvSpPr>
          <p:cNvPr id="8" name="box-502"/>
          <p:cNvSpPr/>
          <p:nvPr/>
        </p:nvSpPr>
        <p:spPr>
          <a:xfrm>
            <a:off x="8321040" y="4572000"/>
            <a:ext cx="2743200" cy="1005840"/>
          </a:xfrm>
          <a:prstGeom prst="roundRect">
            <a:avLst>
              <a:gd name="adj" fmla="val 9091"/>
            </a:avLst>
          </a:prstGeom>
          <a:solidFill>
            <a:schemeClr val="accent1"/>
          </a:solidFill>
          <a:ln/>
        </p:spPr>
      </p:sp>
      <p:sp>
        <p:nvSpPr>
          <p:cNvPr id="9" name="text-503"/>
          <p:cNvSpPr txBox="1"/>
          <p:nvPr/>
        </p:nvSpPr>
        <p:spPr>
          <a:xfrm>
            <a:off x="8321040" y="4572000"/>
            <a:ext cx="2743200" cy="1005840"/>
          </a:xfrm>
          <a:prstGeom prst="rect">
            <a:avLst/>
          </a:prstGeom>
          <a:noFill/>
          <a:ln/>
        </p:spPr>
        <p:txBody>
          <a:bodyPr wrap="square" lIns="0" tIns="0" rIns="0" bIns="0" rtlCol="0" anchor="ctr"/>
          <a:lstStyle/>
          <a:p>
            <a:pPr algn="ctr" indent="0" marL="0">
              <a:buNone/>
            </a:pPr>
            <a:r>
              <a:rPr lang="en-US" sz="1600" b="1" dirty="0">
                <a:solidFill>
                  <a:schemeClr val="bg1"/>
                </a:solidFill>
              </a:rPr>
              <a:t>벡터 768개 숫자</a:t>
            </a:r>
            <a:endParaRPr lang="en-US" sz="1600" dirty="0"/>
          </a:p>
          <a:p>
            <a:pPr algn="ctr" indent="0" marL="0">
              <a:buNone/>
            </a:pPr>
            <a:r>
              <a:rPr lang="en-US" sz="1600" b="1" dirty="0">
                <a:solidFill>
                  <a:schemeClr val="bg1"/>
                </a:solidFill>
              </a:rPr>
              <a:t>(1, 768)</a:t>
            </a:r>
            <a:endParaRPr 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실습 ② 사진과 문장 짝 확인하기</a:t>
            </a:r>
            <a:endParaRPr lang="en-US" sz="3000" dirty="0"/>
          </a:p>
        </p:txBody>
      </p:sp>
      <p:sp>
        <p:nvSpPr>
          <p:cNvPr id="3" name="codebg-504"/>
          <p:cNvSpPr/>
          <p:nvPr/>
        </p:nvSpPr>
        <p:spPr>
          <a:xfrm>
            <a:off x="640080" y="1325880"/>
            <a:ext cx="6766560" cy="4206240"/>
          </a:xfrm>
          <a:prstGeom prst="roundRect">
            <a:avLst>
              <a:gd name="adj" fmla="val 2609"/>
            </a:avLst>
          </a:prstGeom>
          <a:solidFill>
            <a:schemeClr val="tx1"/>
          </a:solidFill>
          <a:ln/>
        </p:spPr>
      </p:sp>
      <p:sp>
        <p:nvSpPr>
          <p:cNvPr id="4" name="text-505"/>
          <p:cNvSpPr txBox="1"/>
          <p:nvPr/>
        </p:nvSpPr>
        <p:spPr>
          <a:xfrm>
            <a:off x="914400" y="1554480"/>
            <a:ext cx="6217920" cy="3749040"/>
          </a:xfrm>
          <a:prstGeom prst="rect">
            <a:avLst/>
          </a:prstGeom>
          <a:noFill/>
          <a:ln/>
        </p:spPr>
        <p:txBody>
          <a:bodyPr wrap="square" lIns="0" tIns="0" rIns="0" bIns="0" rtlCol="0" anchor="t"/>
          <a:lstStyle/>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texts = ["a photo of a cat",</a:t>
            </a:r>
            <a:endParaRPr lang="en-US" sz="1500" dirty="0"/>
          </a:p>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         "a cup of coffee",</a:t>
            </a:r>
            <a:endParaRPr lang="en-US" sz="1500" dirty="0"/>
          </a:p>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         "a rocket at night"]</a:t>
            </a:r>
            <a:endParaRPr lang="en-US" sz="1500" dirty="0"/>
          </a:p>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 </a:t>
            </a:r>
            <a:endParaRPr lang="en-US" sz="1500" dirty="0"/>
          </a:p>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inputs = processor(text=texts, images=image,</a:t>
            </a:r>
            <a:endParaRPr lang="en-US" sz="1500" dirty="0"/>
          </a:p>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                   padding="max_length",</a:t>
            </a:r>
            <a:r>
              <a:rPr lang="en-US" sz="1500" dirty="0">
                <a:solidFill>
                  <a:srgbClr val="FBBF24"/>
                </a:solidFill>
                <a:latin typeface="Courier New" pitchFamily="34" charset="0"/>
                <a:ea typeface="Courier New" pitchFamily="34" charset="-122"/>
                <a:cs typeface="Courier New" pitchFamily="34" charset="-120"/>
              </a:rPr>
              <a:t>  # ★ 필수</a:t>
            </a:r>
            <a:endParaRPr lang="en-US" sz="1500" dirty="0"/>
          </a:p>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                   return_tensors="pt")</a:t>
            </a:r>
            <a:endParaRPr lang="en-US" sz="1500" dirty="0"/>
          </a:p>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with torch.no_grad():</a:t>
            </a:r>
            <a:endParaRPr lang="en-US" sz="1500" dirty="0"/>
          </a:p>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    out = model(**inputs)</a:t>
            </a:r>
            <a:endParaRPr lang="en-US" sz="1500" dirty="0"/>
          </a:p>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 </a:t>
            </a:r>
            <a:endParaRPr lang="en-US" sz="1500" dirty="0"/>
          </a:p>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probs = torch.sigmoid(out.logits_per_image)</a:t>
            </a:r>
            <a:r>
              <a:rPr lang="en-US" sz="1500" dirty="0">
                <a:solidFill>
                  <a:srgbClr val="FBBF24"/>
                </a:solidFill>
                <a:latin typeface="Courier New" pitchFamily="34" charset="0"/>
                <a:ea typeface="Courier New" pitchFamily="34" charset="-122"/>
                <a:cs typeface="Courier New" pitchFamily="34" charset="-120"/>
              </a:rPr>
              <a:t>  # ★</a:t>
            </a:r>
            <a:endParaRPr lang="en-US" sz="1500" dirty="0"/>
          </a:p>
        </p:txBody>
      </p:sp>
      <p:sp>
        <p:nvSpPr>
          <p:cNvPr id="5" name="text-506"/>
          <p:cNvSpPr txBox="1"/>
          <p:nvPr/>
        </p:nvSpPr>
        <p:spPr>
          <a:xfrm>
            <a:off x="7726680" y="1325880"/>
            <a:ext cx="3840480" cy="457200"/>
          </a:xfrm>
          <a:prstGeom prst="rect">
            <a:avLst/>
          </a:prstGeom>
          <a:noFill/>
          <a:ln/>
        </p:spPr>
        <p:txBody>
          <a:bodyPr wrap="square" lIns="0" tIns="0" rIns="0" bIns="0" rtlCol="0" anchor="t"/>
          <a:lstStyle/>
          <a:p>
            <a:pPr indent="0" marL="0">
              <a:buNone/>
            </a:pPr>
            <a:r>
              <a:rPr lang="en-US" sz="1800" b="1" dirty="0">
                <a:solidFill>
                  <a:schemeClr val="accent4"/>
                </a:solidFill>
              </a:rPr>
              <a:t>CLIP 습관대로 쓰면 틀리는 곳</a:t>
            </a:r>
            <a:endParaRPr lang="en-US" sz="1800" dirty="0"/>
          </a:p>
        </p:txBody>
      </p:sp>
      <p:sp>
        <p:nvSpPr>
          <p:cNvPr id="6" name="card-507"/>
          <p:cNvSpPr/>
          <p:nvPr/>
        </p:nvSpPr>
        <p:spPr>
          <a:xfrm>
            <a:off x="7726680" y="1920240"/>
            <a:ext cx="3794760" cy="1600200"/>
          </a:xfrm>
          <a:prstGeom prst="roundRect">
            <a:avLst>
              <a:gd name="adj" fmla="val 8000"/>
            </a:avLst>
          </a:prstGeom>
          <a:solidFill>
            <a:schemeClr val="accent4">
              <a:alpha val="8000"/>
            </a:schemeClr>
          </a:solidFill>
          <a:ln/>
        </p:spPr>
      </p:sp>
      <p:sp>
        <p:nvSpPr>
          <p:cNvPr id="7" name="text-508"/>
          <p:cNvSpPr txBox="1"/>
          <p:nvPr/>
        </p:nvSpPr>
        <p:spPr>
          <a:xfrm>
            <a:off x="7955280" y="2103120"/>
            <a:ext cx="3474720" cy="411480"/>
          </a:xfrm>
          <a:prstGeom prst="rect">
            <a:avLst/>
          </a:prstGeom>
          <a:noFill/>
          <a:ln/>
        </p:spPr>
        <p:txBody>
          <a:bodyPr wrap="square" lIns="0" tIns="0" rIns="0" bIns="0" rtlCol="0" anchor="t"/>
          <a:lstStyle/>
          <a:p>
            <a:pPr indent="0" marL="0">
              <a:buNone/>
            </a:pPr>
            <a:r>
              <a:rPr lang="en-US" sz="1600" b="1" dirty="0">
                <a:solidFill>
                  <a:schemeClr val="accent4"/>
                </a:solidFill>
                <a:latin typeface="Courier New" pitchFamily="34" charset="0"/>
                <a:ea typeface="Courier New" pitchFamily="34" charset="-122"/>
                <a:cs typeface="Courier New" pitchFamily="34" charset="-120"/>
              </a:rPr>
              <a:t>padding="max_length"</a:t>
            </a:r>
            <a:endParaRPr lang="en-US" sz="1600" dirty="0"/>
          </a:p>
        </p:txBody>
      </p:sp>
      <p:sp>
        <p:nvSpPr>
          <p:cNvPr id="8" name="text-509"/>
          <p:cNvSpPr txBox="1"/>
          <p:nvPr/>
        </p:nvSpPr>
        <p:spPr>
          <a:xfrm>
            <a:off x="7955280" y="2560320"/>
            <a:ext cx="3429000" cy="868680"/>
          </a:xfrm>
          <a:prstGeom prst="rect">
            <a:avLst/>
          </a:prstGeom>
          <a:noFill/>
          <a:ln/>
        </p:spPr>
        <p:txBody>
          <a:bodyPr wrap="square" lIns="0" tIns="0" rIns="0" bIns="0" rtlCol="0" anchor="t"/>
          <a:lstStyle/>
          <a:p>
            <a:pPr indent="0" marL="0">
              <a:buNone/>
            </a:pPr>
            <a:r>
              <a:rPr lang="en-US" sz="1600" dirty="0">
                <a:solidFill>
                  <a:schemeClr val="tx1"/>
                </a:solidFill>
              </a:rPr>
              <a:t>학습 때처럼 64토큰으로 맞춰야 결과가 정상</a:t>
            </a:r>
            <a:endParaRPr lang="en-US" sz="1600" dirty="0"/>
          </a:p>
        </p:txBody>
      </p:sp>
      <p:sp>
        <p:nvSpPr>
          <p:cNvPr id="9" name="card-510"/>
          <p:cNvSpPr/>
          <p:nvPr/>
        </p:nvSpPr>
        <p:spPr>
          <a:xfrm>
            <a:off x="7726680" y="3703320"/>
            <a:ext cx="3794760" cy="1600200"/>
          </a:xfrm>
          <a:prstGeom prst="roundRect">
            <a:avLst>
              <a:gd name="adj" fmla="val 8000"/>
            </a:avLst>
          </a:prstGeom>
          <a:solidFill>
            <a:schemeClr val="accent4">
              <a:alpha val="8000"/>
            </a:schemeClr>
          </a:solidFill>
          <a:ln/>
        </p:spPr>
      </p:sp>
      <p:sp>
        <p:nvSpPr>
          <p:cNvPr id="10" name="text-511"/>
          <p:cNvSpPr txBox="1"/>
          <p:nvPr/>
        </p:nvSpPr>
        <p:spPr>
          <a:xfrm>
            <a:off x="7955280" y="3886200"/>
            <a:ext cx="3474720" cy="411480"/>
          </a:xfrm>
          <a:prstGeom prst="rect">
            <a:avLst/>
          </a:prstGeom>
          <a:noFill/>
          <a:ln/>
        </p:spPr>
        <p:txBody>
          <a:bodyPr wrap="square" lIns="0" tIns="0" rIns="0" bIns="0" rtlCol="0" anchor="t"/>
          <a:lstStyle/>
          <a:p>
            <a:pPr indent="0" marL="0">
              <a:buNone/>
            </a:pPr>
            <a:r>
              <a:rPr lang="en-US" sz="1600" b="1" dirty="0">
                <a:solidFill>
                  <a:schemeClr val="accent4"/>
                </a:solidFill>
                <a:latin typeface="Courier New" pitchFamily="34" charset="0"/>
                <a:ea typeface="Courier New" pitchFamily="34" charset="-122"/>
                <a:cs typeface="Courier New" pitchFamily="34" charset="-120"/>
              </a:rPr>
              <a:t>torch.sigmoid</a:t>
            </a:r>
            <a:endParaRPr lang="en-US" sz="1600" dirty="0"/>
          </a:p>
        </p:txBody>
      </p:sp>
      <p:sp>
        <p:nvSpPr>
          <p:cNvPr id="11" name="text-512"/>
          <p:cNvSpPr txBox="1"/>
          <p:nvPr/>
        </p:nvSpPr>
        <p:spPr>
          <a:xfrm>
            <a:off x="7955280" y="4343400"/>
            <a:ext cx="3429000" cy="868680"/>
          </a:xfrm>
          <a:prstGeom prst="rect">
            <a:avLst/>
          </a:prstGeom>
          <a:noFill/>
          <a:ln/>
        </p:spPr>
        <p:txBody>
          <a:bodyPr wrap="square" lIns="0" tIns="0" rIns="0" bIns="0" rtlCol="0" anchor="t"/>
          <a:lstStyle/>
          <a:p>
            <a:pPr indent="0" marL="0">
              <a:buNone/>
            </a:pPr>
            <a:r>
              <a:rPr lang="en-US" sz="1600" dirty="0">
                <a:solidFill>
                  <a:schemeClr val="tx1"/>
                </a:solidFill>
              </a:rPr>
              <a:t>softmax 아님. 확률 합이 1이 아니어도 정상</a:t>
            </a:r>
            <a:endParaRPr lang="en-US" sz="1600" dirty="0"/>
          </a:p>
        </p:txBody>
      </p:sp>
      <p:sp>
        <p:nvSpPr>
          <p:cNvPr id="12" name="text-513"/>
          <p:cNvSpPr txBox="1"/>
          <p:nvPr/>
        </p:nvSpPr>
        <p:spPr>
          <a:xfrm>
            <a:off x="640080" y="5669280"/>
            <a:ext cx="6766560" cy="411480"/>
          </a:xfrm>
          <a:prstGeom prst="rect">
            <a:avLst/>
          </a:prstGeom>
          <a:noFill/>
          <a:ln/>
        </p:spPr>
        <p:txBody>
          <a:bodyPr wrap="square" lIns="0" tIns="0" rIns="0" bIns="0" rtlCol="0" anchor="t"/>
          <a:lstStyle/>
          <a:p>
            <a:pPr indent="0" marL="0">
              <a:buNone/>
            </a:pPr>
            <a:r>
              <a:rPr lang="en-US" sz="1600" dirty="0">
                <a:solidFill>
                  <a:schemeClr val="tx2"/>
                </a:solidFill>
              </a:rPr>
              <a:t>프롬프트는 “a photo of …” 형태가 잘 동작</a:t>
            </a:r>
            <a:endParaRPr 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실습 ③ 사진 여러 장을 한꺼번에 (5주차 준비)</a:t>
            </a:r>
            <a:endParaRPr lang="en-US" sz="3000" dirty="0"/>
          </a:p>
        </p:txBody>
      </p:sp>
      <p:sp>
        <p:nvSpPr>
          <p:cNvPr id="3" name="codebg-514"/>
          <p:cNvSpPr/>
          <p:nvPr/>
        </p:nvSpPr>
        <p:spPr>
          <a:xfrm>
            <a:off x="640080" y="1325880"/>
            <a:ext cx="7315200" cy="4800600"/>
          </a:xfrm>
          <a:prstGeom prst="roundRect">
            <a:avLst>
              <a:gd name="adj" fmla="val 2286"/>
            </a:avLst>
          </a:prstGeom>
          <a:solidFill>
            <a:schemeClr val="tx1"/>
          </a:solidFill>
          <a:ln/>
        </p:spPr>
      </p:sp>
      <p:sp>
        <p:nvSpPr>
          <p:cNvPr id="4" name="text-515"/>
          <p:cNvSpPr txBox="1"/>
          <p:nvPr/>
        </p:nvSpPr>
        <p:spPr>
          <a:xfrm>
            <a:off x="914400" y="1554480"/>
            <a:ext cx="6766560" cy="4343400"/>
          </a:xfrm>
          <a:prstGeom prst="rect">
            <a:avLst/>
          </a:prstGeom>
          <a:noFill/>
          <a:ln/>
        </p:spPr>
        <p:txBody>
          <a:bodyPr wrap="square" lIns="0" tIns="0" rIns="0" bIns="0" rtlCol="0" anchor="t"/>
          <a:lstStyle/>
          <a:p>
            <a:pPr indent="0" marL="0">
              <a:lnSpc>
                <a:spcPct val="110000"/>
              </a:lnSpc>
              <a:buNone/>
            </a:pPr>
            <a:r>
              <a:rPr lang="en-US" sz="1400" dirty="0">
                <a:solidFill>
                  <a:schemeClr val="bg1"/>
                </a:solidFill>
                <a:latin typeface="Courier New" pitchFamily="34" charset="0"/>
                <a:ea typeface="Courier New" pitchFamily="34" charset="-122"/>
                <a:cs typeface="Courier New" pitchFamily="34" charset="-120"/>
              </a:rPr>
              <a:t>from pathlib import Path</a:t>
            </a:r>
            <a:endParaRPr lang="en-US" sz="1400" dirty="0"/>
          </a:p>
          <a:p>
            <a:pPr indent="0" marL="0">
              <a:lnSpc>
                <a:spcPct val="110000"/>
              </a:lnSpc>
              <a:buNone/>
            </a:pPr>
            <a:r>
              <a:rPr lang="en-US" sz="1400" dirty="0">
                <a:solidFill>
                  <a:schemeClr val="bg1"/>
                </a:solidFill>
                <a:latin typeface="Courier New" pitchFamily="34" charset="0"/>
                <a:ea typeface="Courier New" pitchFamily="34" charset="-122"/>
                <a:cs typeface="Courier New" pitchFamily="34" charset="-120"/>
              </a:rPr>
              <a:t>import numpy as np</a:t>
            </a:r>
            <a:endParaRPr lang="en-US" sz="1400" dirty="0"/>
          </a:p>
          <a:p>
            <a:pPr indent="0" marL="0">
              <a:lnSpc>
                <a:spcPct val="110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indent="0" marL="0">
              <a:lnSpc>
                <a:spcPct val="110000"/>
              </a:lnSpc>
              <a:buNone/>
            </a:pPr>
            <a:r>
              <a:rPr lang="en-US" sz="1400" dirty="0">
                <a:solidFill>
                  <a:schemeClr val="bg1"/>
                </a:solidFill>
                <a:latin typeface="Courier New" pitchFamily="34" charset="0"/>
                <a:ea typeface="Courier New" pitchFamily="34" charset="-122"/>
                <a:cs typeface="Courier New" pitchFamily="34" charset="-120"/>
              </a:rPr>
              <a:t>paths = sorted(Path("images").glob("*.jpg"))</a:t>
            </a:r>
            <a:endParaRPr lang="en-US" sz="1400" dirty="0"/>
          </a:p>
          <a:p>
            <a:pPr indent="0" marL="0">
              <a:lnSpc>
                <a:spcPct val="110000"/>
              </a:lnSpc>
              <a:buNone/>
            </a:pPr>
            <a:r>
              <a:rPr lang="en-US" sz="1400" dirty="0">
                <a:solidFill>
                  <a:schemeClr val="bg1"/>
                </a:solidFill>
                <a:latin typeface="Courier New" pitchFamily="34" charset="0"/>
                <a:ea typeface="Courier New" pitchFamily="34" charset="-122"/>
                <a:cs typeface="Courier New" pitchFamily="34" charset="-120"/>
              </a:rPr>
              <a:t>embs = []</a:t>
            </a:r>
            <a:endParaRPr lang="en-US" sz="1400" dirty="0"/>
          </a:p>
          <a:p>
            <a:pPr indent="0" marL="0">
              <a:lnSpc>
                <a:spcPct val="110000"/>
              </a:lnSpc>
              <a:buNone/>
            </a:pPr>
            <a:r>
              <a:rPr lang="en-US" sz="1400" dirty="0">
                <a:solidFill>
                  <a:schemeClr val="bg1"/>
                </a:solidFill>
                <a:latin typeface="Courier New" pitchFamily="34" charset="0"/>
                <a:ea typeface="Courier New" pitchFamily="34" charset="-122"/>
                <a:cs typeface="Courier New" pitchFamily="34" charset="-120"/>
              </a:rPr>
              <a:t>for i in range(0, len(paths), 32):</a:t>
            </a:r>
            <a:r>
              <a:rPr lang="en-US" sz="1400" dirty="0">
                <a:solidFill>
                  <a:srgbClr val="FBBF24"/>
                </a:solidFill>
                <a:latin typeface="Courier New" pitchFamily="34" charset="0"/>
                <a:ea typeface="Courier New" pitchFamily="34" charset="-122"/>
                <a:cs typeface="Courier New" pitchFamily="34" charset="-120"/>
              </a:rPr>
              <a:t>  # 32장씩</a:t>
            </a:r>
            <a:endParaRPr lang="en-US" sz="1400" dirty="0"/>
          </a:p>
          <a:p>
            <a:pPr indent="0" marL="0">
              <a:lnSpc>
                <a:spcPct val="110000"/>
              </a:lnSpc>
              <a:buNone/>
            </a:pPr>
            <a:r>
              <a:rPr lang="en-US" sz="1400" dirty="0">
                <a:solidFill>
                  <a:schemeClr val="bg1"/>
                </a:solidFill>
                <a:latin typeface="Courier New" pitchFamily="34" charset="0"/>
                <a:ea typeface="Courier New" pitchFamily="34" charset="-122"/>
                <a:cs typeface="Courier New" pitchFamily="34" charset="-120"/>
              </a:rPr>
              <a:t>    batch = [Image.open(p).convert("RGB")</a:t>
            </a:r>
            <a:endParaRPr lang="en-US" sz="1400" dirty="0"/>
          </a:p>
          <a:p>
            <a:pPr indent="0" marL="0">
              <a:lnSpc>
                <a:spcPct val="110000"/>
              </a:lnSpc>
              <a:buNone/>
            </a:pPr>
            <a:r>
              <a:rPr lang="en-US" sz="1400" dirty="0">
                <a:solidFill>
                  <a:schemeClr val="bg1"/>
                </a:solidFill>
                <a:latin typeface="Courier New" pitchFamily="34" charset="0"/>
                <a:ea typeface="Courier New" pitchFamily="34" charset="-122"/>
                <a:cs typeface="Courier New" pitchFamily="34" charset="-120"/>
              </a:rPr>
              <a:t>             for p in paths[i:i+32]]</a:t>
            </a:r>
            <a:endParaRPr lang="en-US" sz="1400" dirty="0"/>
          </a:p>
          <a:p>
            <a:pPr indent="0" marL="0">
              <a:lnSpc>
                <a:spcPct val="110000"/>
              </a:lnSpc>
              <a:buNone/>
            </a:pPr>
            <a:r>
              <a:rPr lang="en-US" sz="1400" dirty="0">
                <a:solidFill>
                  <a:schemeClr val="bg1"/>
                </a:solidFill>
                <a:latin typeface="Courier New" pitchFamily="34" charset="0"/>
                <a:ea typeface="Courier New" pitchFamily="34" charset="-122"/>
                <a:cs typeface="Courier New" pitchFamily="34" charset="-120"/>
              </a:rPr>
              <a:t>    x = processor(images=batch, return_tensors="pt")</a:t>
            </a:r>
            <a:endParaRPr lang="en-US" sz="1400" dirty="0"/>
          </a:p>
          <a:p>
            <a:pPr indent="0" marL="0">
              <a:lnSpc>
                <a:spcPct val="110000"/>
              </a:lnSpc>
              <a:buNone/>
            </a:pPr>
            <a:r>
              <a:rPr lang="en-US" sz="1400" dirty="0">
                <a:solidFill>
                  <a:schemeClr val="bg1"/>
                </a:solidFill>
                <a:latin typeface="Courier New" pitchFamily="34" charset="0"/>
                <a:ea typeface="Courier New" pitchFamily="34" charset="-122"/>
                <a:cs typeface="Courier New" pitchFamily="34" charset="-120"/>
              </a:rPr>
              <a:t>    with torch.no_grad():</a:t>
            </a:r>
            <a:endParaRPr lang="en-US" sz="1400" dirty="0"/>
          </a:p>
          <a:p>
            <a:pPr indent="0" marL="0">
              <a:lnSpc>
                <a:spcPct val="110000"/>
              </a:lnSpc>
              <a:buNone/>
            </a:pPr>
            <a:r>
              <a:rPr lang="en-US" sz="1400" dirty="0">
                <a:solidFill>
                  <a:schemeClr val="bg1"/>
                </a:solidFill>
                <a:latin typeface="Courier New" pitchFamily="34" charset="0"/>
                <a:ea typeface="Courier New" pitchFamily="34" charset="-122"/>
                <a:cs typeface="Courier New" pitchFamily="34" charset="-120"/>
              </a:rPr>
              <a:t>        e = model.get_image_features(**x)</a:t>
            </a:r>
            <a:endParaRPr lang="en-US" sz="1400" dirty="0"/>
          </a:p>
          <a:p>
            <a:pPr indent="0" marL="0">
              <a:lnSpc>
                <a:spcPct val="110000"/>
              </a:lnSpc>
              <a:buNone/>
            </a:pPr>
            <a:r>
              <a:rPr lang="en-US" sz="1400" dirty="0">
                <a:solidFill>
                  <a:schemeClr val="bg1"/>
                </a:solidFill>
                <a:latin typeface="Courier New" pitchFamily="34" charset="0"/>
                <a:ea typeface="Courier New" pitchFamily="34" charset="-122"/>
                <a:cs typeface="Courier New" pitchFamily="34" charset="-120"/>
              </a:rPr>
              <a:t>    e = torch.nn.functional.normalize(e, dim=-1)</a:t>
            </a:r>
            <a:endParaRPr lang="en-US" sz="1400" dirty="0"/>
          </a:p>
          <a:p>
            <a:pPr indent="0" marL="0">
              <a:lnSpc>
                <a:spcPct val="110000"/>
              </a:lnSpc>
              <a:buNone/>
            </a:pPr>
            <a:r>
              <a:rPr lang="en-US" sz="1400" dirty="0">
                <a:solidFill>
                  <a:schemeClr val="bg1"/>
                </a:solidFill>
                <a:latin typeface="Courier New" pitchFamily="34" charset="0"/>
                <a:ea typeface="Courier New" pitchFamily="34" charset="-122"/>
                <a:cs typeface="Courier New" pitchFamily="34" charset="-120"/>
              </a:rPr>
              <a:t>    embs.append(e.numpy())</a:t>
            </a:r>
            <a:endParaRPr lang="en-US" sz="1400" dirty="0"/>
          </a:p>
          <a:p>
            <a:pPr indent="0" marL="0">
              <a:lnSpc>
                <a:spcPct val="110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indent="0" marL="0">
              <a:lnSpc>
                <a:spcPct val="110000"/>
              </a:lnSpc>
              <a:buNone/>
            </a:pPr>
            <a:r>
              <a:rPr lang="en-US" sz="1400" dirty="0">
                <a:solidFill>
                  <a:schemeClr val="bg1"/>
                </a:solidFill>
                <a:latin typeface="Courier New" pitchFamily="34" charset="0"/>
                <a:ea typeface="Courier New" pitchFamily="34" charset="-122"/>
                <a:cs typeface="Courier New" pitchFamily="34" charset="-120"/>
              </a:rPr>
              <a:t>np.save("image_embs.npy", np.concatenate(embs))</a:t>
            </a:r>
            <a:endParaRPr lang="en-US" sz="1400" dirty="0"/>
          </a:p>
        </p:txBody>
      </p:sp>
      <p:pic>
        <p:nvPicPr>
          <p:cNvPr id="5" name="photo-cat-516" descr="고양이 사진">    </p:cNvPr>
          <p:cNvPicPr>
            <a:picLocks noChangeAspect="1"/>
          </p:cNvPicPr>
          <p:nvPr/>
        </p:nvPicPr>
        <p:blipFill>
          <a:blip r:embed="rId1"/>
          <a:stretch>
            <a:fillRect/>
          </a:stretch>
        </p:blipFill>
        <p:spPr>
          <a:xfrm>
            <a:off x="8321040" y="1371600"/>
            <a:ext cx="822960" cy="822960"/>
          </a:xfrm>
          <a:prstGeom prst="rect">
            <a:avLst/>
          </a:prstGeom>
        </p:spPr>
      </p:pic>
      <p:pic>
        <p:nvPicPr>
          <p:cNvPr id="6" name="photo-coffee-517" descr="커피 사진">    </p:cNvPr>
          <p:cNvPicPr>
            <a:picLocks noChangeAspect="1"/>
          </p:cNvPicPr>
          <p:nvPr/>
        </p:nvPicPr>
        <p:blipFill>
          <a:blip r:embed="rId2"/>
          <a:stretch>
            <a:fillRect/>
          </a:stretch>
        </p:blipFill>
        <p:spPr>
          <a:xfrm>
            <a:off x="9235440" y="1371600"/>
            <a:ext cx="822960" cy="822960"/>
          </a:xfrm>
          <a:prstGeom prst="rect">
            <a:avLst/>
          </a:prstGeom>
        </p:spPr>
      </p:pic>
      <p:pic>
        <p:nvPicPr>
          <p:cNvPr id="7" name="photo-rocket-518" descr="로켓 사진">    </p:cNvPr>
          <p:cNvPicPr>
            <a:picLocks noChangeAspect="1"/>
          </p:cNvPicPr>
          <p:nvPr/>
        </p:nvPicPr>
        <p:blipFill>
          <a:blip r:embed="rId3"/>
          <a:stretch>
            <a:fillRect/>
          </a:stretch>
        </p:blipFill>
        <p:spPr>
          <a:xfrm>
            <a:off x="8321040" y="2286000"/>
            <a:ext cx="822960" cy="822960"/>
          </a:xfrm>
          <a:prstGeom prst="rect">
            <a:avLst/>
          </a:prstGeom>
        </p:spPr>
      </p:pic>
      <p:pic>
        <p:nvPicPr>
          <p:cNvPr id="8" name="photo-astronaut-519" descr="우주비행사 사진">    </p:cNvPr>
          <p:cNvPicPr>
            <a:picLocks noChangeAspect="1"/>
          </p:cNvPicPr>
          <p:nvPr/>
        </p:nvPicPr>
        <p:blipFill>
          <a:blip r:embed="rId4"/>
          <a:stretch>
            <a:fillRect/>
          </a:stretch>
        </p:blipFill>
        <p:spPr>
          <a:xfrm>
            <a:off x="9235440" y="2286000"/>
            <a:ext cx="822960" cy="822960"/>
          </a:xfrm>
          <a:prstGeom prst="rect">
            <a:avLst/>
          </a:prstGeom>
        </p:spPr>
      </p:pic>
      <p:sp>
        <p:nvSpPr>
          <p:cNvPr id="9" name="text-520"/>
          <p:cNvSpPr txBox="1"/>
          <p:nvPr/>
        </p:nvSpPr>
        <p:spPr>
          <a:xfrm>
            <a:off x="10241280" y="1783080"/>
            <a:ext cx="1280160" cy="457200"/>
          </a:xfrm>
          <a:prstGeom prst="rect">
            <a:avLst/>
          </a:prstGeom>
          <a:noFill/>
          <a:ln/>
        </p:spPr>
        <p:txBody>
          <a:bodyPr wrap="square" lIns="0" tIns="0" rIns="0" bIns="0" rtlCol="0" anchor="t"/>
          <a:lstStyle/>
          <a:p>
            <a:pPr indent="0" marL="0">
              <a:buNone/>
            </a:pPr>
            <a:r>
              <a:rPr lang="en-US" sz="1500" dirty="0">
                <a:solidFill>
                  <a:schemeClr val="tx2"/>
                </a:solidFill>
                <a:latin typeface="Courier New" pitchFamily="34" charset="0"/>
                <a:ea typeface="Courier New" pitchFamily="34" charset="-122"/>
                <a:cs typeface="Courier New" pitchFamily="34" charset="-120"/>
              </a:rPr>
              <a:t>images/</a:t>
            </a:r>
            <a:endParaRPr lang="en-US" sz="1500" dirty="0"/>
          </a:p>
        </p:txBody>
      </p:sp>
      <p:sp>
        <p:nvSpPr>
          <p:cNvPr id="10" name="arrow-521"/>
          <p:cNvSpPr/>
          <p:nvPr/>
        </p:nvSpPr>
        <p:spPr>
          <a:xfrm>
            <a:off x="9189720" y="3246120"/>
            <a:ext cx="0" cy="365760"/>
          </a:xfrm>
          <a:prstGeom prst="line">
            <a:avLst/>
          </a:prstGeom>
          <a:noFill/>
          <a:ln w="31750">
            <a:solidFill>
              <a:schemeClr val="accent1"/>
            </a:solidFill>
            <a:prstDash val="solid"/>
            <a:tailEnd type="triangle"/>
          </a:ln>
        </p:spPr>
      </p:sp>
      <p:sp>
        <p:nvSpPr>
          <p:cNvPr id="11" name="box-522"/>
          <p:cNvSpPr/>
          <p:nvPr/>
        </p:nvSpPr>
        <p:spPr>
          <a:xfrm>
            <a:off x="8229600" y="3703320"/>
            <a:ext cx="3291840" cy="868680"/>
          </a:xfrm>
          <a:prstGeom prst="roundRect">
            <a:avLst>
              <a:gd name="adj" fmla="val 10526"/>
            </a:avLst>
          </a:prstGeom>
          <a:solidFill>
            <a:schemeClr val="tx2"/>
          </a:solidFill>
          <a:ln/>
        </p:spPr>
      </p:sp>
      <p:sp>
        <p:nvSpPr>
          <p:cNvPr id="12" name="text-523"/>
          <p:cNvSpPr txBox="1"/>
          <p:nvPr/>
        </p:nvSpPr>
        <p:spPr>
          <a:xfrm>
            <a:off x="8229600" y="3703320"/>
            <a:ext cx="3291840" cy="868680"/>
          </a:xfrm>
          <a:prstGeom prst="rect">
            <a:avLst/>
          </a:prstGeom>
          <a:noFill/>
          <a:ln/>
        </p:spPr>
        <p:txBody>
          <a:bodyPr wrap="square" lIns="0" tIns="0" rIns="0" bIns="0" rtlCol="0" anchor="ctr"/>
          <a:lstStyle/>
          <a:p>
            <a:pPr algn="ctr" indent="0" marL="0">
              <a:buNone/>
            </a:pPr>
            <a:r>
              <a:rPr lang="en-US" sz="1500" b="1" dirty="0">
                <a:solidFill>
                  <a:schemeClr val="bg1"/>
                </a:solidFill>
              </a:rPr>
              <a:t>image_embs.npy</a:t>
            </a:r>
            <a:endParaRPr lang="en-US" sz="1500" dirty="0"/>
          </a:p>
          <a:p>
            <a:pPr algn="ctr" indent="0" marL="0">
              <a:buNone/>
            </a:pPr>
            <a:r>
              <a:rPr lang="en-US" sz="1500" b="1" dirty="0">
                <a:solidFill>
                  <a:schemeClr val="bg1"/>
                </a:solidFill>
              </a:rPr>
              <a:t>(N, 768)</a:t>
            </a:r>
            <a:endParaRPr lang="en-US" sz="1500" dirty="0"/>
          </a:p>
        </p:txBody>
      </p:sp>
      <p:sp>
        <p:nvSpPr>
          <p:cNvPr id="13" name="arrow-524"/>
          <p:cNvSpPr/>
          <p:nvPr/>
        </p:nvSpPr>
        <p:spPr>
          <a:xfrm>
            <a:off x="9189720" y="4617720"/>
            <a:ext cx="0" cy="365760"/>
          </a:xfrm>
          <a:prstGeom prst="line">
            <a:avLst/>
          </a:prstGeom>
          <a:noFill/>
          <a:ln w="31750">
            <a:solidFill>
              <a:schemeClr val="accent3"/>
            </a:solidFill>
            <a:prstDash val="solid"/>
            <a:tailEnd type="triangle"/>
          </a:ln>
        </p:spPr>
      </p:sp>
      <p:sp>
        <p:nvSpPr>
          <p:cNvPr id="14" name="box-525"/>
          <p:cNvSpPr/>
          <p:nvPr/>
        </p:nvSpPr>
        <p:spPr>
          <a:xfrm>
            <a:off x="8229600" y="5074920"/>
            <a:ext cx="3291840" cy="777240"/>
          </a:xfrm>
          <a:prstGeom prst="roundRect">
            <a:avLst>
              <a:gd name="adj" fmla="val 11765"/>
            </a:avLst>
          </a:prstGeom>
          <a:solidFill>
            <a:schemeClr val="accent3"/>
          </a:solidFill>
          <a:ln/>
        </p:spPr>
      </p:sp>
      <p:sp>
        <p:nvSpPr>
          <p:cNvPr id="15" name="text-526"/>
          <p:cNvSpPr txBox="1"/>
          <p:nvPr/>
        </p:nvSpPr>
        <p:spPr>
          <a:xfrm>
            <a:off x="8229600" y="5074920"/>
            <a:ext cx="3291840" cy="777240"/>
          </a:xfrm>
          <a:prstGeom prst="rect">
            <a:avLst/>
          </a:prstGeom>
          <a:noFill/>
          <a:ln/>
        </p:spPr>
        <p:txBody>
          <a:bodyPr wrap="square" lIns="0" tIns="0" rIns="0" bIns="0" rtlCol="0" anchor="ctr"/>
          <a:lstStyle/>
          <a:p>
            <a:pPr algn="ctr" indent="0" marL="0">
              <a:buNone/>
            </a:pPr>
            <a:r>
              <a:rPr lang="en-US" sz="1500" b="1" dirty="0">
                <a:solidFill>
                  <a:schemeClr val="bg1"/>
                </a:solidFill>
              </a:rPr>
              <a:t>5주차: 벡터DB 인덱싱</a:t>
            </a:r>
            <a:endParaRPr 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실습 ④ 문장으로 사진 찾기 (맛보기)</a:t>
            </a:r>
            <a:endParaRPr lang="en-US" sz="3000" dirty="0"/>
          </a:p>
        </p:txBody>
      </p:sp>
      <p:sp>
        <p:nvSpPr>
          <p:cNvPr id="3" name="codebg-527"/>
          <p:cNvSpPr/>
          <p:nvPr/>
        </p:nvSpPr>
        <p:spPr>
          <a:xfrm>
            <a:off x="640080" y="1325880"/>
            <a:ext cx="7315200" cy="4206240"/>
          </a:xfrm>
          <a:prstGeom prst="roundRect">
            <a:avLst>
              <a:gd name="adj" fmla="val 2609"/>
            </a:avLst>
          </a:prstGeom>
          <a:solidFill>
            <a:schemeClr val="tx1"/>
          </a:solidFill>
          <a:ln/>
        </p:spPr>
      </p:sp>
      <p:sp>
        <p:nvSpPr>
          <p:cNvPr id="4" name="text-528"/>
          <p:cNvSpPr txBox="1"/>
          <p:nvPr/>
        </p:nvSpPr>
        <p:spPr>
          <a:xfrm>
            <a:off x="914400" y="1554480"/>
            <a:ext cx="6766560" cy="3749040"/>
          </a:xfrm>
          <a:prstGeom prst="rect">
            <a:avLst/>
          </a:prstGeom>
          <a:noFill/>
          <a:ln/>
        </p:spPr>
        <p:txBody>
          <a:bodyPr wrap="square" lIns="0" tIns="0" rIns="0" bIns="0" rtlCol="0" anchor="t"/>
          <a:lstStyle/>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q = processor(text=["a rocket at night"],</a:t>
            </a:r>
            <a:endParaRPr lang="en-US" sz="1500" dirty="0"/>
          </a:p>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              padding="max_length",</a:t>
            </a:r>
            <a:endParaRPr lang="en-US" sz="1500" dirty="0"/>
          </a:p>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              return_tensors="pt")</a:t>
            </a:r>
            <a:endParaRPr lang="en-US" sz="1500" dirty="0"/>
          </a:p>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with torch.no_grad():</a:t>
            </a:r>
            <a:endParaRPr lang="en-US" sz="1500" dirty="0"/>
          </a:p>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    t = model.get_text_features(**q)</a:t>
            </a:r>
            <a:endParaRPr lang="en-US" sz="1500" dirty="0"/>
          </a:p>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t = torch.nn.functional.normalize(t, dim=-1).numpy()</a:t>
            </a:r>
            <a:endParaRPr lang="en-US" sz="1500" dirty="0"/>
          </a:p>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 </a:t>
            </a:r>
            <a:endParaRPr lang="en-US" sz="1500" dirty="0"/>
          </a:p>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image_embs = np.load("image_embs.npy")</a:t>
            </a:r>
            <a:endParaRPr lang="en-US" sz="1500" dirty="0"/>
          </a:p>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scores = (image_embs @ t.T).squeeze()</a:t>
            </a:r>
            <a:r>
              <a:rPr lang="en-US" sz="1500" dirty="0">
                <a:solidFill>
                  <a:srgbClr val="FBBF24"/>
                </a:solidFill>
                <a:latin typeface="Courier New" pitchFamily="34" charset="0"/>
                <a:ea typeface="Courier New" pitchFamily="34" charset="-122"/>
                <a:cs typeface="Courier New" pitchFamily="34" charset="-120"/>
              </a:rPr>
              <a:t>  # 코사인 유사도</a:t>
            </a:r>
            <a:endParaRPr lang="en-US" sz="1500" dirty="0"/>
          </a:p>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top5 = scores.argsort()[::-1][:5]</a:t>
            </a:r>
            <a:endParaRPr lang="en-US" sz="1500" dirty="0"/>
          </a:p>
          <a:p>
            <a:pPr indent="0" marL="0">
              <a:lnSpc>
                <a:spcPct val="110000"/>
              </a:lnSpc>
              <a:buNone/>
            </a:pPr>
            <a:r>
              <a:rPr lang="en-US" sz="1500" dirty="0">
                <a:solidFill>
                  <a:schemeClr val="bg1"/>
                </a:solidFill>
                <a:latin typeface="Courier New" pitchFamily="34" charset="0"/>
                <a:ea typeface="Courier New" pitchFamily="34" charset="-122"/>
                <a:cs typeface="Courier New" pitchFamily="34" charset="-120"/>
              </a:rPr>
              <a:t>print([paths[i].name for i in top5])</a:t>
            </a:r>
            <a:endParaRPr lang="en-US" sz="1500" dirty="0"/>
          </a:p>
        </p:txBody>
      </p:sp>
      <p:sp>
        <p:nvSpPr>
          <p:cNvPr id="5" name="pill-529"/>
          <p:cNvSpPr/>
          <p:nvPr/>
        </p:nvSpPr>
        <p:spPr>
          <a:xfrm>
            <a:off x="8321040" y="1463040"/>
            <a:ext cx="3108960" cy="548640"/>
          </a:xfrm>
          <a:prstGeom prst="roundRect">
            <a:avLst>
              <a:gd name="adj" fmla="val 50000"/>
            </a:avLst>
          </a:prstGeom>
          <a:solidFill>
            <a:schemeClr val="accent2"/>
          </a:solidFill>
          <a:ln/>
        </p:spPr>
      </p:sp>
      <p:sp>
        <p:nvSpPr>
          <p:cNvPr id="6" name="text-530"/>
          <p:cNvSpPr txBox="1"/>
          <p:nvPr/>
        </p:nvSpPr>
        <p:spPr>
          <a:xfrm>
            <a:off x="8321040" y="1463040"/>
            <a:ext cx="3108960" cy="548640"/>
          </a:xfrm>
          <a:prstGeom prst="rect">
            <a:avLst/>
          </a:prstGeom>
          <a:noFill/>
          <a:ln/>
        </p:spPr>
        <p:txBody>
          <a:bodyPr wrap="square" lIns="0" tIns="0" rIns="0" bIns="0" rtlCol="0" anchor="ctr"/>
          <a:lstStyle/>
          <a:p>
            <a:pPr algn="ctr" indent="0" marL="0">
              <a:buNone/>
            </a:pPr>
            <a:r>
              <a:rPr lang="en-US" sz="1500" b="1" dirty="0">
                <a:solidFill>
                  <a:schemeClr val="bg1"/>
                </a:solidFill>
              </a:rPr>
              <a:t>“a rocket at night”</a:t>
            </a:r>
            <a:endParaRPr lang="en-US" sz="1500" dirty="0"/>
          </a:p>
        </p:txBody>
      </p:sp>
      <p:sp>
        <p:nvSpPr>
          <p:cNvPr id="7" name="arrow-531"/>
          <p:cNvSpPr/>
          <p:nvPr/>
        </p:nvSpPr>
        <p:spPr>
          <a:xfrm>
            <a:off x="9875520" y="2103120"/>
            <a:ext cx="0" cy="411480"/>
          </a:xfrm>
          <a:prstGeom prst="line">
            <a:avLst/>
          </a:prstGeom>
          <a:noFill/>
          <a:ln w="31750">
            <a:solidFill>
              <a:schemeClr val="accent3"/>
            </a:solidFill>
            <a:prstDash val="solid"/>
            <a:tailEnd type="triangle"/>
          </a:ln>
        </p:spPr>
      </p:sp>
      <p:sp>
        <p:nvSpPr>
          <p:cNvPr id="8" name="circle-532"/>
          <p:cNvSpPr/>
          <p:nvPr/>
        </p:nvSpPr>
        <p:spPr>
          <a:xfrm>
            <a:off x="9464040" y="2606040"/>
            <a:ext cx="822960" cy="822960"/>
          </a:xfrm>
          <a:prstGeom prst="ellipse">
            <a:avLst/>
          </a:prstGeom>
          <a:solidFill>
            <a:schemeClr val="accent3"/>
          </a:solidFill>
          <a:ln/>
        </p:spPr>
      </p:sp>
      <p:pic>
        <p:nvPicPr>
          <p:cNvPr id="9" name="icon-FaSearch-533" descr="FaSearch">    </p:cNvPr>
          <p:cNvPicPr>
            <a:picLocks noChangeAspect="1"/>
          </p:cNvPicPr>
          <p:nvPr/>
        </p:nvPicPr>
        <p:blipFill>
          <a:blip r:embed="rId1"/>
          <a:stretch>
            <a:fillRect/>
          </a:stretch>
        </p:blipFill>
        <p:spPr>
          <a:xfrm>
            <a:off x="9678010" y="2820010"/>
            <a:ext cx="395021" cy="395021"/>
          </a:xfrm>
          <a:prstGeom prst="rect">
            <a:avLst/>
          </a:prstGeom>
        </p:spPr>
      </p:pic>
      <p:sp>
        <p:nvSpPr>
          <p:cNvPr id="10" name="arrow-534"/>
          <p:cNvSpPr/>
          <p:nvPr/>
        </p:nvSpPr>
        <p:spPr>
          <a:xfrm>
            <a:off x="9875520" y="3520440"/>
            <a:ext cx="0" cy="411480"/>
          </a:xfrm>
          <a:prstGeom prst="line">
            <a:avLst/>
          </a:prstGeom>
          <a:noFill/>
          <a:ln w="31750">
            <a:solidFill>
              <a:schemeClr val="accent3"/>
            </a:solidFill>
            <a:prstDash val="solid"/>
            <a:tailEnd type="triangle"/>
          </a:ln>
        </p:spPr>
      </p:sp>
      <p:pic>
        <p:nvPicPr>
          <p:cNvPr id="11" name="photo-rocket-535" descr="검색된 로켓 사진">    </p:cNvPr>
          <p:cNvPicPr>
            <a:picLocks noChangeAspect="1"/>
          </p:cNvPicPr>
          <p:nvPr/>
        </p:nvPicPr>
        <p:blipFill>
          <a:blip r:embed="rId2"/>
          <a:stretch>
            <a:fillRect/>
          </a:stretch>
        </p:blipFill>
        <p:spPr>
          <a:xfrm>
            <a:off x="9006840" y="4023360"/>
            <a:ext cx="1737360" cy="1737360"/>
          </a:xfrm>
          <a:prstGeom prst="rect">
            <a:avLst/>
          </a:prstGeom>
        </p:spPr>
      </p:pic>
      <p:sp>
        <p:nvSpPr>
          <p:cNvPr id="12" name="text-536"/>
          <p:cNvSpPr txBox="1"/>
          <p:nvPr/>
        </p:nvSpPr>
        <p:spPr>
          <a:xfrm>
            <a:off x="9006840" y="5806440"/>
            <a:ext cx="1737360" cy="320040"/>
          </a:xfrm>
          <a:prstGeom prst="rect">
            <a:avLst/>
          </a:prstGeom>
          <a:noFill/>
          <a:ln/>
        </p:spPr>
        <p:txBody>
          <a:bodyPr wrap="square" lIns="0" tIns="0" rIns="0" bIns="0" rtlCol="0" anchor="t"/>
          <a:lstStyle/>
          <a:p>
            <a:pPr algn="ctr" indent="0" marL="0">
              <a:buNone/>
            </a:pPr>
            <a:r>
              <a:rPr lang="en-US" sz="1400" b="1" dirty="0">
                <a:solidFill>
                  <a:schemeClr val="accent3"/>
                </a:solidFill>
              </a:rPr>
              <a:t>1위</a:t>
            </a:r>
            <a:endParaRPr lang="en-US" sz="1400" dirty="0"/>
          </a:p>
        </p:txBody>
      </p:sp>
      <p:sp>
        <p:nvSpPr>
          <p:cNvPr id="13" name="text-537"/>
          <p:cNvSpPr txBox="1"/>
          <p:nvPr/>
        </p:nvSpPr>
        <p:spPr>
          <a:xfrm>
            <a:off x="640080" y="5669280"/>
            <a:ext cx="7315200" cy="411480"/>
          </a:xfrm>
          <a:prstGeom prst="rect">
            <a:avLst/>
          </a:prstGeom>
          <a:noFill/>
          <a:ln/>
        </p:spPr>
        <p:txBody>
          <a:bodyPr wrap="square" lIns="0" tIns="0" rIns="0" bIns="0" rtlCol="0" anchor="t"/>
          <a:lstStyle/>
          <a:p>
            <a:pPr indent="0" marL="0">
              <a:buNone/>
            </a:pPr>
            <a:r>
              <a:rPr lang="en-US" sz="1600" dirty="0">
                <a:solidFill>
                  <a:schemeClr val="tx2"/>
                </a:solidFill>
              </a:rPr>
              <a:t>순위만 필요하면 sigmoid 없이 내적만으로 충분</a:t>
            </a:r>
            <a:endParaRPr 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어떤 체크포인트를 쓸까?</a:t>
            </a:r>
            <a:endParaRPr lang="en-US" sz="3000" dirty="0"/>
          </a:p>
        </p:txBody>
      </p:sp>
      <p:sp>
        <p:nvSpPr>
          <p:cNvPr id="3" name="card-538"/>
          <p:cNvSpPr/>
          <p:nvPr/>
        </p:nvSpPr>
        <p:spPr>
          <a:xfrm>
            <a:off x="640080" y="1371600"/>
            <a:ext cx="10881360" cy="1005840"/>
          </a:xfrm>
          <a:prstGeom prst="roundRect">
            <a:avLst>
              <a:gd name="adj" fmla="val 12727"/>
            </a:avLst>
          </a:prstGeom>
          <a:solidFill>
            <a:schemeClr val="bg2"/>
          </a:solidFill>
          <a:ln/>
        </p:spPr>
      </p:sp>
      <p:sp>
        <p:nvSpPr>
          <p:cNvPr id="4" name="circle-539"/>
          <p:cNvSpPr/>
          <p:nvPr/>
        </p:nvSpPr>
        <p:spPr>
          <a:xfrm>
            <a:off x="868680" y="1691640"/>
            <a:ext cx="365760" cy="365760"/>
          </a:xfrm>
          <a:prstGeom prst="ellipse">
            <a:avLst/>
          </a:prstGeom>
          <a:solidFill>
            <a:schemeClr val="accent1"/>
          </a:solidFill>
          <a:ln/>
        </p:spPr>
      </p:sp>
      <p:sp>
        <p:nvSpPr>
          <p:cNvPr id="5" name="text-540"/>
          <p:cNvSpPr txBox="1"/>
          <p:nvPr/>
        </p:nvSpPr>
        <p:spPr>
          <a:xfrm>
            <a:off x="1463040" y="1371600"/>
            <a:ext cx="5486400" cy="1005840"/>
          </a:xfrm>
          <a:prstGeom prst="rect">
            <a:avLst/>
          </a:prstGeom>
          <a:noFill/>
          <a:ln/>
        </p:spPr>
        <p:txBody>
          <a:bodyPr wrap="square" lIns="0" tIns="0" rIns="0" bIns="0" rtlCol="0" anchor="ctr"/>
          <a:lstStyle/>
          <a:p>
            <a:pPr indent="0" marL="0">
              <a:buNone/>
            </a:pPr>
            <a:r>
              <a:rPr lang="en-US" sz="1500" b="1" dirty="0">
                <a:solidFill>
                  <a:schemeClr val="tx1"/>
                </a:solidFill>
                <a:latin typeface="Courier New" pitchFamily="34" charset="0"/>
                <a:ea typeface="Courier New" pitchFamily="34" charset="-122"/>
                <a:cs typeface="Courier New" pitchFamily="34" charset="-120"/>
              </a:rPr>
              <a:t>google/siglip-base-patch16-224</a:t>
            </a:r>
            <a:endParaRPr lang="en-US" sz="1500" dirty="0"/>
          </a:p>
        </p:txBody>
      </p:sp>
      <p:sp>
        <p:nvSpPr>
          <p:cNvPr id="6" name="text-541"/>
          <p:cNvSpPr txBox="1"/>
          <p:nvPr/>
        </p:nvSpPr>
        <p:spPr>
          <a:xfrm>
            <a:off x="7040880" y="1371600"/>
            <a:ext cx="2011680" cy="1005840"/>
          </a:xfrm>
          <a:prstGeom prst="rect">
            <a:avLst/>
          </a:prstGeom>
          <a:noFill/>
          <a:ln/>
        </p:spPr>
        <p:txBody>
          <a:bodyPr wrap="square" lIns="0" tIns="0" rIns="0" bIns="0" rtlCol="0" anchor="ctr"/>
          <a:lstStyle/>
          <a:p>
            <a:pPr indent="0" marL="0">
              <a:buNone/>
            </a:pPr>
            <a:r>
              <a:rPr lang="en-US" sz="1800" b="1" dirty="0">
                <a:solidFill>
                  <a:schemeClr val="accent1"/>
                </a:solidFill>
              </a:rPr>
              <a:t>가볍고 빠름</a:t>
            </a:r>
            <a:endParaRPr lang="en-US" sz="1800" dirty="0"/>
          </a:p>
        </p:txBody>
      </p:sp>
      <p:sp>
        <p:nvSpPr>
          <p:cNvPr id="7" name="text-542"/>
          <p:cNvSpPr txBox="1"/>
          <p:nvPr/>
        </p:nvSpPr>
        <p:spPr>
          <a:xfrm>
            <a:off x="9052560" y="1371600"/>
            <a:ext cx="2377440" cy="1005840"/>
          </a:xfrm>
          <a:prstGeom prst="rect">
            <a:avLst/>
          </a:prstGeom>
          <a:noFill/>
          <a:ln/>
        </p:spPr>
        <p:txBody>
          <a:bodyPr wrap="square" lIns="0" tIns="0" rIns="0" bIns="0" rtlCol="0" anchor="ctr"/>
          <a:lstStyle/>
          <a:p>
            <a:pPr indent="0" marL="0">
              <a:buNone/>
            </a:pPr>
            <a:r>
              <a:rPr lang="en-US" sz="1600" dirty="0">
                <a:solidFill>
                  <a:schemeClr val="tx2"/>
                </a:solidFill>
              </a:rPr>
              <a:t>실습용</a:t>
            </a:r>
            <a:endParaRPr lang="en-US" sz="1600" dirty="0"/>
          </a:p>
        </p:txBody>
      </p:sp>
      <p:sp>
        <p:nvSpPr>
          <p:cNvPr id="8" name="card-543"/>
          <p:cNvSpPr/>
          <p:nvPr/>
        </p:nvSpPr>
        <p:spPr>
          <a:xfrm>
            <a:off x="640080" y="2542032"/>
            <a:ext cx="10881360" cy="1005840"/>
          </a:xfrm>
          <a:prstGeom prst="roundRect">
            <a:avLst>
              <a:gd name="adj" fmla="val 12727"/>
            </a:avLst>
          </a:prstGeom>
          <a:solidFill>
            <a:schemeClr val="bg2"/>
          </a:solidFill>
          <a:ln/>
        </p:spPr>
      </p:sp>
      <p:sp>
        <p:nvSpPr>
          <p:cNvPr id="9" name="circle-544"/>
          <p:cNvSpPr/>
          <p:nvPr/>
        </p:nvSpPr>
        <p:spPr>
          <a:xfrm>
            <a:off x="868680" y="2862072"/>
            <a:ext cx="365760" cy="365760"/>
          </a:xfrm>
          <a:prstGeom prst="ellipse">
            <a:avLst/>
          </a:prstGeom>
          <a:solidFill>
            <a:schemeClr val="accent3"/>
          </a:solidFill>
          <a:ln/>
        </p:spPr>
      </p:sp>
      <p:sp>
        <p:nvSpPr>
          <p:cNvPr id="10" name="text-545"/>
          <p:cNvSpPr txBox="1"/>
          <p:nvPr/>
        </p:nvSpPr>
        <p:spPr>
          <a:xfrm>
            <a:off x="1463040" y="2542032"/>
            <a:ext cx="5486400" cy="1005840"/>
          </a:xfrm>
          <a:prstGeom prst="rect">
            <a:avLst/>
          </a:prstGeom>
          <a:noFill/>
          <a:ln/>
        </p:spPr>
        <p:txBody>
          <a:bodyPr wrap="square" lIns="0" tIns="0" rIns="0" bIns="0" rtlCol="0" anchor="ctr"/>
          <a:lstStyle/>
          <a:p>
            <a:pPr indent="0" marL="0">
              <a:buNone/>
            </a:pPr>
            <a:r>
              <a:rPr lang="en-US" sz="1500" b="1" dirty="0">
                <a:solidFill>
                  <a:schemeClr val="tx1"/>
                </a:solidFill>
                <a:latin typeface="Courier New" pitchFamily="34" charset="0"/>
                <a:ea typeface="Courier New" pitchFamily="34" charset="-122"/>
                <a:cs typeface="Courier New" pitchFamily="34" charset="-120"/>
              </a:rPr>
              <a:t>google/siglip-so400m-patch14-384</a:t>
            </a:r>
            <a:endParaRPr lang="en-US" sz="1500" dirty="0"/>
          </a:p>
        </p:txBody>
      </p:sp>
      <p:sp>
        <p:nvSpPr>
          <p:cNvPr id="11" name="text-546"/>
          <p:cNvSpPr txBox="1"/>
          <p:nvPr/>
        </p:nvSpPr>
        <p:spPr>
          <a:xfrm>
            <a:off x="7040880" y="2542032"/>
            <a:ext cx="2011680" cy="1005840"/>
          </a:xfrm>
          <a:prstGeom prst="rect">
            <a:avLst/>
          </a:prstGeom>
          <a:noFill/>
          <a:ln/>
        </p:spPr>
        <p:txBody>
          <a:bodyPr wrap="square" lIns="0" tIns="0" rIns="0" bIns="0" rtlCol="0" anchor="ctr"/>
          <a:lstStyle/>
          <a:p>
            <a:pPr indent="0" marL="0">
              <a:buNone/>
            </a:pPr>
            <a:r>
              <a:rPr lang="en-US" sz="1800" b="1" dirty="0">
                <a:solidFill>
                  <a:schemeClr val="accent3"/>
                </a:solidFill>
              </a:rPr>
              <a:t>크고 고해상도</a:t>
            </a:r>
            <a:endParaRPr lang="en-US" sz="1800" dirty="0"/>
          </a:p>
        </p:txBody>
      </p:sp>
      <p:sp>
        <p:nvSpPr>
          <p:cNvPr id="12" name="text-547"/>
          <p:cNvSpPr txBox="1"/>
          <p:nvPr/>
        </p:nvSpPr>
        <p:spPr>
          <a:xfrm>
            <a:off x="9052560" y="2542032"/>
            <a:ext cx="2377440" cy="1005840"/>
          </a:xfrm>
          <a:prstGeom prst="rect">
            <a:avLst/>
          </a:prstGeom>
          <a:noFill/>
          <a:ln/>
        </p:spPr>
        <p:txBody>
          <a:bodyPr wrap="square" lIns="0" tIns="0" rIns="0" bIns="0" rtlCol="0" anchor="ctr"/>
          <a:lstStyle/>
          <a:p>
            <a:pPr indent="0" marL="0">
              <a:buNone/>
            </a:pPr>
            <a:r>
              <a:rPr lang="en-US" sz="1600" dirty="0">
                <a:solidFill>
                  <a:schemeClr val="tx2"/>
                </a:solidFill>
              </a:rPr>
              <a:t>성능 우선, VLM의 ‘눈’</a:t>
            </a:r>
            <a:endParaRPr lang="en-US" sz="1600" dirty="0"/>
          </a:p>
        </p:txBody>
      </p:sp>
      <p:sp>
        <p:nvSpPr>
          <p:cNvPr id="13" name="card-548"/>
          <p:cNvSpPr/>
          <p:nvPr/>
        </p:nvSpPr>
        <p:spPr>
          <a:xfrm>
            <a:off x="640080" y="3712464"/>
            <a:ext cx="10881360" cy="1005840"/>
          </a:xfrm>
          <a:prstGeom prst="roundRect">
            <a:avLst>
              <a:gd name="adj" fmla="val 12727"/>
            </a:avLst>
          </a:prstGeom>
          <a:solidFill>
            <a:schemeClr val="bg2"/>
          </a:solidFill>
          <a:ln/>
        </p:spPr>
      </p:sp>
      <p:sp>
        <p:nvSpPr>
          <p:cNvPr id="14" name="circle-549"/>
          <p:cNvSpPr/>
          <p:nvPr/>
        </p:nvSpPr>
        <p:spPr>
          <a:xfrm>
            <a:off x="868680" y="4032504"/>
            <a:ext cx="365760" cy="365760"/>
          </a:xfrm>
          <a:prstGeom prst="ellipse">
            <a:avLst/>
          </a:prstGeom>
          <a:solidFill>
            <a:schemeClr val="accent2"/>
          </a:solidFill>
          <a:ln/>
        </p:spPr>
      </p:sp>
      <p:sp>
        <p:nvSpPr>
          <p:cNvPr id="15" name="text-550"/>
          <p:cNvSpPr txBox="1"/>
          <p:nvPr/>
        </p:nvSpPr>
        <p:spPr>
          <a:xfrm>
            <a:off x="1463040" y="3712464"/>
            <a:ext cx="5486400" cy="1005840"/>
          </a:xfrm>
          <a:prstGeom prst="rect">
            <a:avLst/>
          </a:prstGeom>
          <a:noFill/>
          <a:ln/>
        </p:spPr>
        <p:txBody>
          <a:bodyPr wrap="square" lIns="0" tIns="0" rIns="0" bIns="0" rtlCol="0" anchor="ctr"/>
          <a:lstStyle/>
          <a:p>
            <a:pPr indent="0" marL="0">
              <a:buNone/>
            </a:pPr>
            <a:r>
              <a:rPr lang="en-US" sz="1500" b="1" dirty="0">
                <a:solidFill>
                  <a:schemeClr val="tx1"/>
                </a:solidFill>
                <a:latin typeface="Courier New" pitchFamily="34" charset="0"/>
                <a:ea typeface="Courier New" pitchFamily="34" charset="-122"/>
                <a:cs typeface="Courier New" pitchFamily="34" charset="-120"/>
              </a:rPr>
              <a:t>google/siglip-base-patch16-256-multilingual</a:t>
            </a:r>
            <a:endParaRPr lang="en-US" sz="1500" dirty="0"/>
          </a:p>
        </p:txBody>
      </p:sp>
      <p:sp>
        <p:nvSpPr>
          <p:cNvPr id="16" name="text-551"/>
          <p:cNvSpPr txBox="1"/>
          <p:nvPr/>
        </p:nvSpPr>
        <p:spPr>
          <a:xfrm>
            <a:off x="7040880" y="3712464"/>
            <a:ext cx="2011680" cy="1005840"/>
          </a:xfrm>
          <a:prstGeom prst="rect">
            <a:avLst/>
          </a:prstGeom>
          <a:noFill/>
          <a:ln/>
        </p:spPr>
        <p:txBody>
          <a:bodyPr wrap="square" lIns="0" tIns="0" rIns="0" bIns="0" rtlCol="0" anchor="ctr"/>
          <a:lstStyle/>
          <a:p>
            <a:pPr indent="0" marL="0">
              <a:buNone/>
            </a:pPr>
            <a:r>
              <a:rPr lang="en-US" sz="1800" b="1" dirty="0">
                <a:solidFill>
                  <a:schemeClr val="accent2"/>
                </a:solidFill>
              </a:rPr>
              <a:t>다국어</a:t>
            </a:r>
            <a:endParaRPr lang="en-US" sz="1800" dirty="0"/>
          </a:p>
        </p:txBody>
      </p:sp>
      <p:sp>
        <p:nvSpPr>
          <p:cNvPr id="17" name="text-552"/>
          <p:cNvSpPr txBox="1"/>
          <p:nvPr/>
        </p:nvSpPr>
        <p:spPr>
          <a:xfrm>
            <a:off x="9052560" y="3712464"/>
            <a:ext cx="2377440" cy="1005840"/>
          </a:xfrm>
          <a:prstGeom prst="rect">
            <a:avLst/>
          </a:prstGeom>
          <a:noFill/>
          <a:ln/>
        </p:spPr>
        <p:txBody>
          <a:bodyPr wrap="square" lIns="0" tIns="0" rIns="0" bIns="0" rtlCol="0" anchor="ctr"/>
          <a:lstStyle/>
          <a:p>
            <a:pPr indent="0" marL="0">
              <a:buNone/>
            </a:pPr>
            <a:r>
              <a:rPr lang="en-US" sz="1600" dirty="0">
                <a:solidFill>
                  <a:schemeClr val="tx2"/>
                </a:solidFill>
              </a:rPr>
              <a:t>한국어 질의 실험</a:t>
            </a:r>
            <a:endParaRPr lang="en-US" sz="1600" dirty="0"/>
          </a:p>
        </p:txBody>
      </p:sp>
      <p:sp>
        <p:nvSpPr>
          <p:cNvPr id="18" name="card-553"/>
          <p:cNvSpPr/>
          <p:nvPr/>
        </p:nvSpPr>
        <p:spPr>
          <a:xfrm>
            <a:off x="640080" y="4882896"/>
            <a:ext cx="10881360" cy="1005840"/>
          </a:xfrm>
          <a:prstGeom prst="roundRect">
            <a:avLst>
              <a:gd name="adj" fmla="val 12727"/>
            </a:avLst>
          </a:prstGeom>
          <a:solidFill>
            <a:schemeClr val="bg2"/>
          </a:solidFill>
          <a:ln/>
        </p:spPr>
      </p:sp>
      <p:sp>
        <p:nvSpPr>
          <p:cNvPr id="19" name="circle-554"/>
          <p:cNvSpPr/>
          <p:nvPr/>
        </p:nvSpPr>
        <p:spPr>
          <a:xfrm>
            <a:off x="868680" y="5202936"/>
            <a:ext cx="365760" cy="365760"/>
          </a:xfrm>
          <a:prstGeom prst="ellipse">
            <a:avLst/>
          </a:prstGeom>
          <a:solidFill>
            <a:schemeClr val="tx2"/>
          </a:solidFill>
          <a:ln/>
        </p:spPr>
      </p:sp>
      <p:sp>
        <p:nvSpPr>
          <p:cNvPr id="20" name="text-555"/>
          <p:cNvSpPr txBox="1"/>
          <p:nvPr/>
        </p:nvSpPr>
        <p:spPr>
          <a:xfrm>
            <a:off x="1463040" y="4882896"/>
            <a:ext cx="5486400" cy="1005840"/>
          </a:xfrm>
          <a:prstGeom prst="rect">
            <a:avLst/>
          </a:prstGeom>
          <a:noFill/>
          <a:ln/>
        </p:spPr>
        <p:txBody>
          <a:bodyPr wrap="square" lIns="0" tIns="0" rIns="0" bIns="0" rtlCol="0" anchor="ctr"/>
          <a:lstStyle/>
          <a:p>
            <a:pPr indent="0" marL="0">
              <a:buNone/>
            </a:pPr>
            <a:r>
              <a:rPr lang="en-US" sz="1500" b="1" dirty="0">
                <a:solidFill>
                  <a:schemeClr val="tx1"/>
                </a:solidFill>
                <a:latin typeface="Courier New" pitchFamily="34" charset="0"/>
                <a:ea typeface="Courier New" pitchFamily="34" charset="-122"/>
                <a:cs typeface="Courier New" pitchFamily="34" charset="-120"/>
              </a:rPr>
              <a:t>google/siglip2-base-patch16-224 등</a:t>
            </a:r>
            <a:endParaRPr lang="en-US" sz="1500" dirty="0"/>
          </a:p>
        </p:txBody>
      </p:sp>
      <p:sp>
        <p:nvSpPr>
          <p:cNvPr id="21" name="text-556"/>
          <p:cNvSpPr txBox="1"/>
          <p:nvPr/>
        </p:nvSpPr>
        <p:spPr>
          <a:xfrm>
            <a:off x="7040880" y="4882896"/>
            <a:ext cx="2011680" cy="1005840"/>
          </a:xfrm>
          <a:prstGeom prst="rect">
            <a:avLst/>
          </a:prstGeom>
          <a:noFill/>
          <a:ln/>
        </p:spPr>
        <p:txBody>
          <a:bodyPr wrap="square" lIns="0" tIns="0" rIns="0" bIns="0" rtlCol="0" anchor="ctr"/>
          <a:lstStyle/>
          <a:p>
            <a:pPr indent="0" marL="0">
              <a:buNone/>
            </a:pPr>
            <a:r>
              <a:rPr lang="en-US" sz="1800" b="1" dirty="0">
                <a:solidFill>
                  <a:schemeClr val="tx2"/>
                </a:solidFill>
              </a:rPr>
              <a:t>SigLIP 2</a:t>
            </a:r>
            <a:endParaRPr lang="en-US" sz="1800" dirty="0"/>
          </a:p>
        </p:txBody>
      </p:sp>
      <p:sp>
        <p:nvSpPr>
          <p:cNvPr id="22" name="text-557"/>
          <p:cNvSpPr txBox="1"/>
          <p:nvPr/>
        </p:nvSpPr>
        <p:spPr>
          <a:xfrm>
            <a:off x="9052560" y="4882896"/>
            <a:ext cx="2377440" cy="1005840"/>
          </a:xfrm>
          <a:prstGeom prst="rect">
            <a:avLst/>
          </a:prstGeom>
          <a:noFill/>
          <a:ln/>
        </p:spPr>
        <p:txBody>
          <a:bodyPr wrap="square" lIns="0" tIns="0" rIns="0" bIns="0" rtlCol="0" anchor="ctr"/>
          <a:lstStyle/>
          <a:p>
            <a:pPr indent="0" marL="0">
              <a:buNone/>
            </a:pPr>
            <a:r>
              <a:rPr lang="en-US" sz="1600" dirty="0">
                <a:solidFill>
                  <a:schemeClr val="tx2"/>
                </a:solidFill>
              </a:rPr>
              <a:t>2025년 후속 모델</a:t>
            </a:r>
            <a:endParaRPr 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더 알아보기: SigLIP 2 (2025)</a:t>
            </a:r>
            <a:endParaRPr lang="en-US" sz="3000" dirty="0"/>
          </a:p>
        </p:txBody>
      </p:sp>
      <p:sp>
        <p:nvSpPr>
          <p:cNvPr id="3" name="card-558"/>
          <p:cNvSpPr/>
          <p:nvPr/>
        </p:nvSpPr>
        <p:spPr>
          <a:xfrm>
            <a:off x="640080" y="1417320"/>
            <a:ext cx="3474720" cy="3749040"/>
          </a:xfrm>
          <a:prstGeom prst="roundRect">
            <a:avLst>
              <a:gd name="adj" fmla="val 3684"/>
            </a:avLst>
          </a:prstGeom>
          <a:solidFill>
            <a:schemeClr val="accent3">
              <a:alpha val="8000"/>
            </a:schemeClr>
          </a:solidFill>
          <a:ln/>
        </p:spPr>
      </p:sp>
      <p:sp>
        <p:nvSpPr>
          <p:cNvPr id="4" name="circle-559"/>
          <p:cNvSpPr/>
          <p:nvPr/>
        </p:nvSpPr>
        <p:spPr>
          <a:xfrm>
            <a:off x="960120" y="1691640"/>
            <a:ext cx="914400" cy="914400"/>
          </a:xfrm>
          <a:prstGeom prst="ellipse">
            <a:avLst/>
          </a:prstGeom>
          <a:solidFill>
            <a:schemeClr val="accent3"/>
          </a:solidFill>
          <a:ln/>
        </p:spPr>
      </p:sp>
      <p:pic>
        <p:nvPicPr>
          <p:cNvPr id="5" name="icon-FaCrop-560" descr="FaCrop">    </p:cNvPr>
          <p:cNvPicPr>
            <a:picLocks noChangeAspect="1"/>
          </p:cNvPicPr>
          <p:nvPr/>
        </p:nvPicPr>
        <p:blipFill>
          <a:blip r:embed="rId1"/>
          <a:stretch>
            <a:fillRect/>
          </a:stretch>
        </p:blipFill>
        <p:spPr>
          <a:xfrm>
            <a:off x="1197864" y="1929384"/>
            <a:ext cx="438912" cy="438912"/>
          </a:xfrm>
          <a:prstGeom prst="rect">
            <a:avLst/>
          </a:prstGeom>
        </p:spPr>
      </p:pic>
      <p:sp>
        <p:nvSpPr>
          <p:cNvPr id="6" name="text-561"/>
          <p:cNvSpPr txBox="1"/>
          <p:nvPr/>
        </p:nvSpPr>
        <p:spPr>
          <a:xfrm>
            <a:off x="960120" y="2834640"/>
            <a:ext cx="2926080" cy="548640"/>
          </a:xfrm>
          <a:prstGeom prst="rect">
            <a:avLst/>
          </a:prstGeom>
          <a:noFill/>
          <a:ln/>
        </p:spPr>
        <p:txBody>
          <a:bodyPr wrap="square" lIns="0" tIns="0" rIns="0" bIns="0" rtlCol="0" anchor="t"/>
          <a:lstStyle/>
          <a:p>
            <a:pPr indent="0" marL="0">
              <a:buNone/>
            </a:pPr>
            <a:r>
              <a:rPr lang="en-US" sz="2200" b="1" dirty="0">
                <a:solidFill>
                  <a:schemeClr val="accent3"/>
                </a:solidFill>
              </a:rPr>
              <a:t>위치·세부 정보 향상</a:t>
            </a:r>
            <a:endParaRPr lang="en-US" sz="2200" dirty="0"/>
          </a:p>
        </p:txBody>
      </p:sp>
      <p:sp>
        <p:nvSpPr>
          <p:cNvPr id="7" name="text-562"/>
          <p:cNvSpPr txBox="1"/>
          <p:nvPr/>
        </p:nvSpPr>
        <p:spPr>
          <a:xfrm>
            <a:off x="960120" y="3429000"/>
            <a:ext cx="2880360" cy="1645920"/>
          </a:xfrm>
          <a:prstGeom prst="rect">
            <a:avLst/>
          </a:prstGeom>
          <a:noFill/>
          <a:ln/>
        </p:spPr>
        <p:txBody>
          <a:bodyPr wrap="square" lIns="0" tIns="0" rIns="0" bIns="0" rtlCol="0" anchor="t"/>
          <a:lstStyle/>
          <a:p>
            <a:pPr indent="0" marL="0">
              <a:buNone/>
            </a:pPr>
            <a:r>
              <a:rPr lang="en-US" sz="1700" dirty="0">
                <a:solidFill>
                  <a:schemeClr val="tx1"/>
                </a:solidFill>
              </a:rPr>
              <a:t>Sigmoid loss는 그대로 + 캡셔닝(LocCa), 자기 증류, 마스크 예측을 추가</a:t>
            </a:r>
            <a:endParaRPr lang="en-US" sz="1700" dirty="0"/>
          </a:p>
        </p:txBody>
      </p:sp>
      <p:sp>
        <p:nvSpPr>
          <p:cNvPr id="8" name="card-563"/>
          <p:cNvSpPr/>
          <p:nvPr/>
        </p:nvSpPr>
        <p:spPr>
          <a:xfrm>
            <a:off x="4343400" y="1417320"/>
            <a:ext cx="3474720" cy="3749040"/>
          </a:xfrm>
          <a:prstGeom prst="roundRect">
            <a:avLst>
              <a:gd name="adj" fmla="val 3684"/>
            </a:avLst>
          </a:prstGeom>
          <a:solidFill>
            <a:schemeClr val="accent3">
              <a:alpha val="8000"/>
            </a:schemeClr>
          </a:solidFill>
          <a:ln/>
        </p:spPr>
      </p:sp>
      <p:sp>
        <p:nvSpPr>
          <p:cNvPr id="9" name="circle-564"/>
          <p:cNvSpPr/>
          <p:nvPr/>
        </p:nvSpPr>
        <p:spPr>
          <a:xfrm>
            <a:off x="4663440" y="1691640"/>
            <a:ext cx="914400" cy="914400"/>
          </a:xfrm>
          <a:prstGeom prst="ellipse">
            <a:avLst/>
          </a:prstGeom>
          <a:solidFill>
            <a:schemeClr val="accent3"/>
          </a:solidFill>
          <a:ln/>
        </p:spPr>
      </p:sp>
      <p:pic>
        <p:nvPicPr>
          <p:cNvPr id="10" name="icon-FaLanguage-565" descr="FaLanguage">    </p:cNvPr>
          <p:cNvPicPr>
            <a:picLocks noChangeAspect="1"/>
          </p:cNvPicPr>
          <p:nvPr/>
        </p:nvPicPr>
        <p:blipFill>
          <a:blip r:embed="rId2"/>
          <a:stretch>
            <a:fillRect/>
          </a:stretch>
        </p:blipFill>
        <p:spPr>
          <a:xfrm>
            <a:off x="4901184" y="1929384"/>
            <a:ext cx="438912" cy="438912"/>
          </a:xfrm>
          <a:prstGeom prst="rect">
            <a:avLst/>
          </a:prstGeom>
        </p:spPr>
      </p:pic>
      <p:sp>
        <p:nvSpPr>
          <p:cNvPr id="11" name="text-566"/>
          <p:cNvSpPr txBox="1"/>
          <p:nvPr/>
        </p:nvSpPr>
        <p:spPr>
          <a:xfrm>
            <a:off x="4663440" y="2834640"/>
            <a:ext cx="2926080" cy="548640"/>
          </a:xfrm>
          <a:prstGeom prst="rect">
            <a:avLst/>
          </a:prstGeom>
          <a:noFill/>
          <a:ln/>
        </p:spPr>
        <p:txBody>
          <a:bodyPr wrap="square" lIns="0" tIns="0" rIns="0" bIns="0" rtlCol="0" anchor="t"/>
          <a:lstStyle/>
          <a:p>
            <a:pPr indent="0" marL="0">
              <a:buNone/>
            </a:pPr>
            <a:r>
              <a:rPr lang="en-US" sz="2200" b="1" dirty="0">
                <a:solidFill>
                  <a:schemeClr val="accent3"/>
                </a:solidFill>
              </a:rPr>
              <a:t>다국어 강화</a:t>
            </a:r>
            <a:endParaRPr lang="en-US" sz="2200" dirty="0"/>
          </a:p>
        </p:txBody>
      </p:sp>
      <p:sp>
        <p:nvSpPr>
          <p:cNvPr id="12" name="text-567"/>
          <p:cNvSpPr txBox="1"/>
          <p:nvPr/>
        </p:nvSpPr>
        <p:spPr>
          <a:xfrm>
            <a:off x="4663440" y="3429000"/>
            <a:ext cx="2880360" cy="1645920"/>
          </a:xfrm>
          <a:prstGeom prst="rect">
            <a:avLst/>
          </a:prstGeom>
          <a:noFill/>
          <a:ln/>
        </p:spPr>
        <p:txBody>
          <a:bodyPr wrap="square" lIns="0" tIns="0" rIns="0" bIns="0" rtlCol="0" anchor="t"/>
          <a:lstStyle/>
          <a:p>
            <a:pPr indent="0" marL="0">
              <a:buNone/>
            </a:pPr>
            <a:r>
              <a:rPr lang="en-US" sz="1700" dirty="0">
                <a:solidFill>
                  <a:schemeClr val="tx1"/>
                </a:solidFill>
              </a:rPr>
              <a:t>다국어 데이터로 학습 → 다국어 검색 성능 향상</a:t>
            </a:r>
            <a:endParaRPr lang="en-US" sz="1700" dirty="0"/>
          </a:p>
        </p:txBody>
      </p:sp>
      <p:sp>
        <p:nvSpPr>
          <p:cNvPr id="13" name="card-568"/>
          <p:cNvSpPr/>
          <p:nvPr/>
        </p:nvSpPr>
        <p:spPr>
          <a:xfrm>
            <a:off x="8046720" y="1417320"/>
            <a:ext cx="3474720" cy="3749040"/>
          </a:xfrm>
          <a:prstGeom prst="roundRect">
            <a:avLst>
              <a:gd name="adj" fmla="val 3684"/>
            </a:avLst>
          </a:prstGeom>
          <a:solidFill>
            <a:schemeClr val="accent3">
              <a:alpha val="8000"/>
            </a:schemeClr>
          </a:solidFill>
          <a:ln/>
        </p:spPr>
      </p:sp>
      <p:sp>
        <p:nvSpPr>
          <p:cNvPr id="14" name="circle-569"/>
          <p:cNvSpPr/>
          <p:nvPr/>
        </p:nvSpPr>
        <p:spPr>
          <a:xfrm>
            <a:off x="8366760" y="1691640"/>
            <a:ext cx="914400" cy="914400"/>
          </a:xfrm>
          <a:prstGeom prst="ellipse">
            <a:avLst/>
          </a:prstGeom>
          <a:solidFill>
            <a:schemeClr val="accent3"/>
          </a:solidFill>
          <a:ln/>
        </p:spPr>
      </p:sp>
      <p:pic>
        <p:nvPicPr>
          <p:cNvPr id="15" name="icon-FaImage-570" descr="FaImage">    </p:cNvPr>
          <p:cNvPicPr>
            <a:picLocks noChangeAspect="1"/>
          </p:cNvPicPr>
          <p:nvPr/>
        </p:nvPicPr>
        <p:blipFill>
          <a:blip r:embed="rId3"/>
          <a:stretch>
            <a:fillRect/>
          </a:stretch>
        </p:blipFill>
        <p:spPr>
          <a:xfrm>
            <a:off x="8604504" y="1929384"/>
            <a:ext cx="438912" cy="438912"/>
          </a:xfrm>
          <a:prstGeom prst="rect">
            <a:avLst/>
          </a:prstGeom>
        </p:spPr>
      </p:pic>
      <p:sp>
        <p:nvSpPr>
          <p:cNvPr id="16" name="text-571"/>
          <p:cNvSpPr txBox="1"/>
          <p:nvPr/>
        </p:nvSpPr>
        <p:spPr>
          <a:xfrm>
            <a:off x="8366760" y="2834640"/>
            <a:ext cx="2926080" cy="548640"/>
          </a:xfrm>
          <a:prstGeom prst="rect">
            <a:avLst/>
          </a:prstGeom>
          <a:noFill/>
          <a:ln/>
        </p:spPr>
        <p:txBody>
          <a:bodyPr wrap="square" lIns="0" tIns="0" rIns="0" bIns="0" rtlCol="0" anchor="t"/>
          <a:lstStyle/>
          <a:p>
            <a:pPr indent="0" marL="0">
              <a:buNone/>
            </a:pPr>
            <a:r>
              <a:rPr lang="en-US" sz="2200" b="1" dirty="0">
                <a:solidFill>
                  <a:schemeClr val="accent3"/>
                </a:solidFill>
              </a:rPr>
              <a:t>NaFlex</a:t>
            </a:r>
            <a:endParaRPr lang="en-US" sz="2200" dirty="0"/>
          </a:p>
        </p:txBody>
      </p:sp>
      <p:sp>
        <p:nvSpPr>
          <p:cNvPr id="17" name="text-572"/>
          <p:cNvSpPr txBox="1"/>
          <p:nvPr/>
        </p:nvSpPr>
        <p:spPr>
          <a:xfrm>
            <a:off x="8366760" y="3429000"/>
            <a:ext cx="2880360" cy="1645920"/>
          </a:xfrm>
          <a:prstGeom prst="rect">
            <a:avLst/>
          </a:prstGeom>
          <a:noFill/>
          <a:ln/>
        </p:spPr>
        <p:txBody>
          <a:bodyPr wrap="square" lIns="0" tIns="0" rIns="0" bIns="0" rtlCol="0" anchor="t"/>
          <a:lstStyle/>
          <a:p>
            <a:pPr indent="0" marL="0">
              <a:buNone/>
            </a:pPr>
            <a:r>
              <a:rPr lang="en-US" sz="1700" dirty="0">
                <a:solidFill>
                  <a:schemeClr val="tx1"/>
                </a:solidFill>
              </a:rPr>
              <a:t>원본 가로세로 비율을 유지한 채 여러 해상도 입력</a:t>
            </a:r>
            <a:endParaRPr lang="en-US" sz="1700" dirty="0"/>
          </a:p>
        </p:txBody>
      </p:sp>
      <p:sp>
        <p:nvSpPr>
          <p:cNvPr id="18" name="text-573"/>
          <p:cNvSpPr txBox="1"/>
          <p:nvPr/>
        </p:nvSpPr>
        <p:spPr>
          <a:xfrm>
            <a:off x="640080" y="5440680"/>
            <a:ext cx="10881360" cy="548640"/>
          </a:xfrm>
          <a:prstGeom prst="rect">
            <a:avLst/>
          </a:prstGeom>
          <a:noFill/>
          <a:ln/>
        </p:spPr>
        <p:txBody>
          <a:bodyPr wrap="square" lIns="0" tIns="0" rIns="0" bIns="0" rtlCol="0" anchor="ctr"/>
          <a:lstStyle/>
          <a:p>
            <a:pPr indent="0" marL="0">
              <a:buNone/>
            </a:pPr>
            <a:r>
              <a:rPr lang="en-US" sz="1800" b="1" dirty="0">
                <a:solidFill>
                  <a:schemeClr val="accent3"/>
                </a:solidFill>
              </a:rPr>
              <a:t>한국어 질문이 필요하면 multilingual / SigLIP 2 비교 → 5주차 실험 거리</a:t>
            </a:r>
            <a:endParaRPr lang="en-US" sz="18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chemeClr val="bg1"/>
                </a:solidFill>
              </a:rPr>
              <a:t>핵심 3줄 요약</a:t>
            </a:r>
            <a:endParaRPr lang="en-US" sz="3200" dirty="0"/>
          </a:p>
        </p:txBody>
      </p:sp>
      <p:sp>
        <p:nvSpPr>
          <p:cNvPr id="3" name="circle-574"/>
          <p:cNvSpPr/>
          <p:nvPr/>
        </p:nvSpPr>
        <p:spPr>
          <a:xfrm>
            <a:off x="822960" y="1600200"/>
            <a:ext cx="914400" cy="914400"/>
          </a:xfrm>
          <a:prstGeom prst="ellipse">
            <a:avLst/>
          </a:prstGeom>
          <a:solidFill>
            <a:schemeClr val="accent3"/>
          </a:solidFill>
          <a:ln/>
        </p:spPr>
      </p:sp>
      <p:pic>
        <p:nvPicPr>
          <p:cNvPr id="4" name="icon-FaToggleOn-575" descr="FaToggleOn">    </p:cNvPr>
          <p:cNvPicPr>
            <a:picLocks noChangeAspect="1"/>
          </p:cNvPicPr>
          <p:nvPr/>
        </p:nvPicPr>
        <p:blipFill>
          <a:blip r:embed="rId1"/>
          <a:stretch>
            <a:fillRect/>
          </a:stretch>
        </p:blipFill>
        <p:spPr>
          <a:xfrm>
            <a:off x="1060704" y="1837944"/>
            <a:ext cx="438912" cy="438912"/>
          </a:xfrm>
          <a:prstGeom prst="rect">
            <a:avLst/>
          </a:prstGeom>
        </p:spPr>
      </p:pic>
      <p:sp>
        <p:nvSpPr>
          <p:cNvPr id="5" name="text-576"/>
          <p:cNvSpPr txBox="1"/>
          <p:nvPr/>
        </p:nvSpPr>
        <p:spPr>
          <a:xfrm>
            <a:off x="2011680" y="1554480"/>
            <a:ext cx="9509760" cy="594360"/>
          </a:xfrm>
          <a:prstGeom prst="rect">
            <a:avLst/>
          </a:prstGeom>
          <a:noFill/>
          <a:ln/>
        </p:spPr>
        <p:txBody>
          <a:bodyPr wrap="square" lIns="0" tIns="0" rIns="0" bIns="0" rtlCol="0" anchor="t"/>
          <a:lstStyle/>
          <a:p>
            <a:pPr indent="0" marL="0">
              <a:buNone/>
            </a:pPr>
            <a:r>
              <a:rPr lang="en-US" sz="2600" b="1" dirty="0">
                <a:solidFill>
                  <a:schemeClr val="bg1"/>
                </a:solidFill>
              </a:rPr>
              <a:t>SigLIP = CLIP 구조 + 객관식 대신 O/X 퀴즈</a:t>
            </a:r>
            <a:endParaRPr lang="en-US" sz="2600" dirty="0"/>
          </a:p>
        </p:txBody>
      </p:sp>
      <p:sp>
        <p:nvSpPr>
          <p:cNvPr id="6" name="text-577"/>
          <p:cNvSpPr txBox="1"/>
          <p:nvPr/>
        </p:nvSpPr>
        <p:spPr>
          <a:xfrm>
            <a:off x="2011680" y="2194560"/>
            <a:ext cx="9509760" cy="457200"/>
          </a:xfrm>
          <a:prstGeom prst="rect">
            <a:avLst/>
          </a:prstGeom>
          <a:noFill/>
          <a:ln/>
        </p:spPr>
        <p:txBody>
          <a:bodyPr wrap="square" lIns="0" tIns="0" rIns="0" bIns="0" rtlCol="0" anchor="t"/>
          <a:lstStyle/>
          <a:p>
            <a:pPr indent="0" marL="0">
              <a:buNone/>
            </a:pPr>
            <a:r>
              <a:rPr lang="en-US" sz="1900" dirty="0">
                <a:solidFill>
                  <a:schemeClr val="accent6"/>
                </a:solidFill>
              </a:rPr>
              <a:t>Softmax → Sigmoid</a:t>
            </a:r>
            <a:endParaRPr lang="en-US" sz="1900" dirty="0"/>
          </a:p>
        </p:txBody>
      </p:sp>
      <p:sp>
        <p:nvSpPr>
          <p:cNvPr id="7" name="circle-578"/>
          <p:cNvSpPr/>
          <p:nvPr/>
        </p:nvSpPr>
        <p:spPr>
          <a:xfrm>
            <a:off x="822960" y="3154680"/>
            <a:ext cx="914400" cy="914400"/>
          </a:xfrm>
          <a:prstGeom prst="ellipse">
            <a:avLst/>
          </a:prstGeom>
          <a:solidFill>
            <a:schemeClr val="accent1"/>
          </a:solidFill>
          <a:ln/>
        </p:spPr>
      </p:sp>
      <p:pic>
        <p:nvPicPr>
          <p:cNvPr id="8" name="icon-FaMemory-579" descr="FaMemory">    </p:cNvPr>
          <p:cNvPicPr>
            <a:picLocks noChangeAspect="1"/>
          </p:cNvPicPr>
          <p:nvPr/>
        </p:nvPicPr>
        <p:blipFill>
          <a:blip r:embed="rId2"/>
          <a:stretch>
            <a:fillRect/>
          </a:stretch>
        </p:blipFill>
        <p:spPr>
          <a:xfrm>
            <a:off x="1060704" y="3392424"/>
            <a:ext cx="438912" cy="438912"/>
          </a:xfrm>
          <a:prstGeom prst="rect">
            <a:avLst/>
          </a:prstGeom>
        </p:spPr>
      </p:pic>
      <p:sp>
        <p:nvSpPr>
          <p:cNvPr id="9" name="text-580"/>
          <p:cNvSpPr txBox="1"/>
          <p:nvPr/>
        </p:nvSpPr>
        <p:spPr>
          <a:xfrm>
            <a:off x="2011680" y="3108960"/>
            <a:ext cx="9509760" cy="594360"/>
          </a:xfrm>
          <a:prstGeom prst="rect">
            <a:avLst/>
          </a:prstGeom>
          <a:noFill/>
          <a:ln/>
        </p:spPr>
        <p:txBody>
          <a:bodyPr wrap="square" lIns="0" tIns="0" rIns="0" bIns="0" rtlCol="0" anchor="t"/>
          <a:lstStyle/>
          <a:p>
            <a:pPr indent="0" marL="0">
              <a:buNone/>
            </a:pPr>
            <a:r>
              <a:rPr lang="en-US" sz="2600" b="1" dirty="0">
                <a:solidFill>
                  <a:schemeClr val="bg1"/>
                </a:solidFill>
              </a:rPr>
              <a:t>배치 전체를 모을 필요가 사라짐</a:t>
            </a:r>
            <a:endParaRPr lang="en-US" sz="2600" dirty="0"/>
          </a:p>
        </p:txBody>
      </p:sp>
      <p:sp>
        <p:nvSpPr>
          <p:cNvPr id="10" name="text-581"/>
          <p:cNvSpPr txBox="1"/>
          <p:nvPr/>
        </p:nvSpPr>
        <p:spPr>
          <a:xfrm>
            <a:off x="2011680" y="3749040"/>
            <a:ext cx="9509760" cy="457200"/>
          </a:xfrm>
          <a:prstGeom prst="rect">
            <a:avLst/>
          </a:prstGeom>
          <a:noFill/>
          <a:ln/>
        </p:spPr>
        <p:txBody>
          <a:bodyPr wrap="square" lIns="0" tIns="0" rIns="0" bIns="0" rtlCol="0" anchor="t"/>
          <a:lstStyle/>
          <a:p>
            <a:pPr indent="0" marL="0">
              <a:buNone/>
            </a:pPr>
            <a:r>
              <a:rPr lang="en-US" sz="1900" dirty="0">
                <a:solidFill>
                  <a:schemeClr val="accent6"/>
                </a:solidFill>
              </a:rPr>
              <a:t>메모리 ↓ · 작은 배치에 강함 · 노이즈에 강함</a:t>
            </a:r>
            <a:endParaRPr lang="en-US" sz="1900" dirty="0"/>
          </a:p>
        </p:txBody>
      </p:sp>
      <p:sp>
        <p:nvSpPr>
          <p:cNvPr id="11" name="circle-582"/>
          <p:cNvSpPr/>
          <p:nvPr/>
        </p:nvSpPr>
        <p:spPr>
          <a:xfrm>
            <a:off x="822960" y="4709160"/>
            <a:ext cx="914400" cy="914400"/>
          </a:xfrm>
          <a:prstGeom prst="ellipse">
            <a:avLst/>
          </a:prstGeom>
          <a:solidFill>
            <a:schemeClr val="accent2"/>
          </a:solidFill>
          <a:ln/>
        </p:spPr>
      </p:sp>
      <p:pic>
        <p:nvPicPr>
          <p:cNvPr id="12" name="icon-FaSearch-583" descr="FaSearch">    </p:cNvPr>
          <p:cNvPicPr>
            <a:picLocks noChangeAspect="1"/>
          </p:cNvPicPr>
          <p:nvPr/>
        </p:nvPicPr>
        <p:blipFill>
          <a:blip r:embed="rId3"/>
          <a:stretch>
            <a:fillRect/>
          </a:stretch>
        </p:blipFill>
        <p:spPr>
          <a:xfrm>
            <a:off x="1060704" y="4946904"/>
            <a:ext cx="438912" cy="438912"/>
          </a:xfrm>
          <a:prstGeom prst="rect">
            <a:avLst/>
          </a:prstGeom>
        </p:spPr>
      </p:pic>
      <p:sp>
        <p:nvSpPr>
          <p:cNvPr id="13" name="text-584"/>
          <p:cNvSpPr txBox="1"/>
          <p:nvPr/>
        </p:nvSpPr>
        <p:spPr>
          <a:xfrm>
            <a:off x="2011680" y="4663440"/>
            <a:ext cx="9509760" cy="594360"/>
          </a:xfrm>
          <a:prstGeom prst="rect">
            <a:avLst/>
          </a:prstGeom>
          <a:noFill/>
          <a:ln/>
        </p:spPr>
        <p:txBody>
          <a:bodyPr wrap="square" lIns="0" tIns="0" rIns="0" bIns="0" rtlCol="0" anchor="t"/>
          <a:lstStyle/>
          <a:p>
            <a:pPr indent="0" marL="0">
              <a:buNone/>
            </a:pPr>
            <a:r>
              <a:rPr lang="en-US" sz="2600" b="1" dirty="0">
                <a:solidFill>
                  <a:schemeClr val="bg1"/>
                </a:solidFill>
              </a:rPr>
              <a:t>듀얼 인코더 + 공동 임베딩 공간</a:t>
            </a:r>
            <a:endParaRPr lang="en-US" sz="2600" dirty="0"/>
          </a:p>
        </p:txBody>
      </p:sp>
      <p:sp>
        <p:nvSpPr>
          <p:cNvPr id="14" name="text-585"/>
          <p:cNvSpPr txBox="1"/>
          <p:nvPr/>
        </p:nvSpPr>
        <p:spPr>
          <a:xfrm>
            <a:off x="2011680" y="5303520"/>
            <a:ext cx="9509760" cy="457200"/>
          </a:xfrm>
          <a:prstGeom prst="rect">
            <a:avLst/>
          </a:prstGeom>
          <a:noFill/>
          <a:ln/>
        </p:spPr>
        <p:txBody>
          <a:bodyPr wrap="square" lIns="0" tIns="0" rIns="0" bIns="0" rtlCol="0" anchor="t"/>
          <a:lstStyle/>
          <a:p>
            <a:pPr indent="0" marL="0">
              <a:buNone/>
            </a:pPr>
            <a:r>
              <a:rPr lang="en-US" sz="1900" dirty="0">
                <a:solidFill>
                  <a:schemeClr val="accent6"/>
                </a:solidFill>
              </a:rPr>
              <a:t>사진은 미리, 질문만 그때그때 → 대규모 검색에 적합</a:t>
            </a:r>
            <a:endParaRPr lang="en-US" sz="19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함께 생각해 볼 질문</a:t>
            </a:r>
            <a:endParaRPr lang="en-US" sz="3000" dirty="0"/>
          </a:p>
        </p:txBody>
      </p:sp>
      <p:sp>
        <p:nvSpPr>
          <p:cNvPr id="3" name="card-586"/>
          <p:cNvSpPr/>
          <p:nvPr/>
        </p:nvSpPr>
        <p:spPr>
          <a:xfrm>
            <a:off x="640080" y="1417320"/>
            <a:ext cx="5349240" cy="2057400"/>
          </a:xfrm>
          <a:prstGeom prst="roundRect">
            <a:avLst>
              <a:gd name="adj" fmla="val 6222"/>
            </a:avLst>
          </a:prstGeom>
          <a:solidFill>
            <a:schemeClr val="bg2"/>
          </a:solidFill>
          <a:ln/>
        </p:spPr>
      </p:sp>
      <p:sp>
        <p:nvSpPr>
          <p:cNvPr id="4" name="circle-587"/>
          <p:cNvSpPr/>
          <p:nvPr/>
        </p:nvSpPr>
        <p:spPr>
          <a:xfrm>
            <a:off x="960120" y="1783080"/>
            <a:ext cx="777240" cy="777240"/>
          </a:xfrm>
          <a:prstGeom prst="ellipse">
            <a:avLst/>
          </a:prstGeom>
          <a:solidFill>
            <a:schemeClr val="accent3"/>
          </a:solidFill>
          <a:ln/>
        </p:spPr>
      </p:sp>
      <p:pic>
        <p:nvPicPr>
          <p:cNvPr id="5" name="icon-FaComments-588" descr="FaComments">    </p:cNvPr>
          <p:cNvPicPr>
            <a:picLocks noChangeAspect="1"/>
          </p:cNvPicPr>
          <p:nvPr/>
        </p:nvPicPr>
        <p:blipFill>
          <a:blip r:embed="rId1"/>
          <a:stretch>
            <a:fillRect/>
          </a:stretch>
        </p:blipFill>
        <p:spPr>
          <a:xfrm>
            <a:off x="1162202" y="1985162"/>
            <a:ext cx="373075" cy="373075"/>
          </a:xfrm>
          <a:prstGeom prst="rect">
            <a:avLst/>
          </a:prstGeom>
        </p:spPr>
      </p:pic>
      <p:sp>
        <p:nvSpPr>
          <p:cNvPr id="6" name="text-589"/>
          <p:cNvSpPr txBox="1"/>
          <p:nvPr/>
        </p:nvSpPr>
        <p:spPr>
          <a:xfrm>
            <a:off x="1965960" y="1737360"/>
            <a:ext cx="914400" cy="411480"/>
          </a:xfrm>
          <a:prstGeom prst="rect">
            <a:avLst/>
          </a:prstGeom>
          <a:noFill/>
          <a:ln/>
        </p:spPr>
        <p:txBody>
          <a:bodyPr wrap="square" lIns="0" tIns="0" rIns="0" bIns="0" rtlCol="0" anchor="t"/>
          <a:lstStyle/>
          <a:p>
            <a:pPr indent="0" marL="0">
              <a:buNone/>
            </a:pPr>
            <a:r>
              <a:rPr lang="en-US" sz="1800" b="1" dirty="0">
                <a:solidFill>
                  <a:schemeClr val="accent3"/>
                </a:solidFill>
              </a:rPr>
              <a:t>Q1</a:t>
            </a:r>
            <a:endParaRPr lang="en-US" sz="1800" dirty="0"/>
          </a:p>
        </p:txBody>
      </p:sp>
      <p:sp>
        <p:nvSpPr>
          <p:cNvPr id="7" name="text-590"/>
          <p:cNvSpPr txBox="1"/>
          <p:nvPr/>
        </p:nvSpPr>
        <p:spPr>
          <a:xfrm>
            <a:off x="1965960" y="2194560"/>
            <a:ext cx="3794760" cy="1143000"/>
          </a:xfrm>
          <a:prstGeom prst="rect">
            <a:avLst/>
          </a:prstGeom>
          <a:noFill/>
          <a:ln/>
        </p:spPr>
        <p:txBody>
          <a:bodyPr wrap="square" lIns="0" tIns="0" rIns="0" bIns="0" rtlCol="0" anchor="t"/>
          <a:lstStyle/>
          <a:p>
            <a:pPr indent="0" marL="0">
              <a:buNone/>
            </a:pPr>
            <a:r>
              <a:rPr lang="en-US" sz="1800" dirty="0">
                <a:solidFill>
                  <a:schemeClr val="tx1"/>
                </a:solidFill>
              </a:rPr>
              <a:t>Sigmoid 확률을 검색 필터 임계값으로 써도 될까? 몇으로?</a:t>
            </a:r>
            <a:endParaRPr lang="en-US" sz="1800" dirty="0"/>
          </a:p>
        </p:txBody>
      </p:sp>
      <p:sp>
        <p:nvSpPr>
          <p:cNvPr id="8" name="card-591"/>
          <p:cNvSpPr/>
          <p:nvPr/>
        </p:nvSpPr>
        <p:spPr>
          <a:xfrm>
            <a:off x="6172200" y="1417320"/>
            <a:ext cx="5349240" cy="2057400"/>
          </a:xfrm>
          <a:prstGeom prst="roundRect">
            <a:avLst>
              <a:gd name="adj" fmla="val 6222"/>
            </a:avLst>
          </a:prstGeom>
          <a:solidFill>
            <a:schemeClr val="bg2"/>
          </a:solidFill>
          <a:ln/>
        </p:spPr>
      </p:sp>
      <p:sp>
        <p:nvSpPr>
          <p:cNvPr id="9" name="circle-592"/>
          <p:cNvSpPr/>
          <p:nvPr/>
        </p:nvSpPr>
        <p:spPr>
          <a:xfrm>
            <a:off x="6492240" y="1783080"/>
            <a:ext cx="777240" cy="777240"/>
          </a:xfrm>
          <a:prstGeom prst="ellipse">
            <a:avLst/>
          </a:prstGeom>
          <a:solidFill>
            <a:schemeClr val="accent3"/>
          </a:solidFill>
          <a:ln/>
        </p:spPr>
      </p:sp>
      <p:pic>
        <p:nvPicPr>
          <p:cNvPr id="10" name="icon-FaComments-593" descr="FaComments">    </p:cNvPr>
          <p:cNvPicPr>
            <a:picLocks noChangeAspect="1"/>
          </p:cNvPicPr>
          <p:nvPr/>
        </p:nvPicPr>
        <p:blipFill>
          <a:blip r:embed="rId2"/>
          <a:stretch>
            <a:fillRect/>
          </a:stretch>
        </p:blipFill>
        <p:spPr>
          <a:xfrm>
            <a:off x="6694322" y="1985162"/>
            <a:ext cx="373075" cy="373075"/>
          </a:xfrm>
          <a:prstGeom prst="rect">
            <a:avLst/>
          </a:prstGeom>
        </p:spPr>
      </p:pic>
      <p:sp>
        <p:nvSpPr>
          <p:cNvPr id="11" name="text-594"/>
          <p:cNvSpPr txBox="1"/>
          <p:nvPr/>
        </p:nvSpPr>
        <p:spPr>
          <a:xfrm>
            <a:off x="7498080" y="1737360"/>
            <a:ext cx="914400" cy="411480"/>
          </a:xfrm>
          <a:prstGeom prst="rect">
            <a:avLst/>
          </a:prstGeom>
          <a:noFill/>
          <a:ln/>
        </p:spPr>
        <p:txBody>
          <a:bodyPr wrap="square" lIns="0" tIns="0" rIns="0" bIns="0" rtlCol="0" anchor="t"/>
          <a:lstStyle/>
          <a:p>
            <a:pPr indent="0" marL="0">
              <a:buNone/>
            </a:pPr>
            <a:r>
              <a:rPr lang="en-US" sz="1800" b="1" dirty="0">
                <a:solidFill>
                  <a:schemeClr val="accent3"/>
                </a:solidFill>
              </a:rPr>
              <a:t>Q2</a:t>
            </a:r>
            <a:endParaRPr lang="en-US" sz="1800" dirty="0"/>
          </a:p>
        </p:txBody>
      </p:sp>
      <p:sp>
        <p:nvSpPr>
          <p:cNvPr id="12" name="text-595"/>
          <p:cNvSpPr txBox="1"/>
          <p:nvPr/>
        </p:nvSpPr>
        <p:spPr>
          <a:xfrm>
            <a:off x="7498080" y="2194560"/>
            <a:ext cx="3794760" cy="1143000"/>
          </a:xfrm>
          <a:prstGeom prst="rect">
            <a:avLst/>
          </a:prstGeom>
          <a:noFill/>
          <a:ln/>
        </p:spPr>
        <p:txBody>
          <a:bodyPr wrap="square" lIns="0" tIns="0" rIns="0" bIns="0" rtlCol="0" anchor="t"/>
          <a:lstStyle/>
          <a:p>
            <a:pPr indent="0" marL="0">
              <a:buNone/>
            </a:pPr>
            <a:r>
              <a:rPr lang="en-US" sz="1800" dirty="0">
                <a:solidFill>
                  <a:schemeClr val="tx1"/>
                </a:solidFill>
              </a:rPr>
              <a:t>이미지 검색에도 재정렬 단계를 붙인다면 무엇을? (예: 생성형 VLM)</a:t>
            </a:r>
            <a:endParaRPr lang="en-US" sz="1800" dirty="0"/>
          </a:p>
        </p:txBody>
      </p:sp>
      <p:sp>
        <p:nvSpPr>
          <p:cNvPr id="13" name="card-596"/>
          <p:cNvSpPr/>
          <p:nvPr/>
        </p:nvSpPr>
        <p:spPr>
          <a:xfrm>
            <a:off x="640080" y="3749040"/>
            <a:ext cx="5349240" cy="2057400"/>
          </a:xfrm>
          <a:prstGeom prst="roundRect">
            <a:avLst>
              <a:gd name="adj" fmla="val 6222"/>
            </a:avLst>
          </a:prstGeom>
          <a:solidFill>
            <a:schemeClr val="bg2"/>
          </a:solidFill>
          <a:ln/>
        </p:spPr>
      </p:sp>
      <p:sp>
        <p:nvSpPr>
          <p:cNvPr id="14" name="circle-597"/>
          <p:cNvSpPr/>
          <p:nvPr/>
        </p:nvSpPr>
        <p:spPr>
          <a:xfrm>
            <a:off x="960120" y="4114800"/>
            <a:ext cx="777240" cy="777240"/>
          </a:xfrm>
          <a:prstGeom prst="ellipse">
            <a:avLst/>
          </a:prstGeom>
          <a:solidFill>
            <a:schemeClr val="accent3"/>
          </a:solidFill>
          <a:ln/>
        </p:spPr>
      </p:sp>
      <p:pic>
        <p:nvPicPr>
          <p:cNvPr id="15" name="icon-FaComments-598" descr="FaComments">    </p:cNvPr>
          <p:cNvPicPr>
            <a:picLocks noChangeAspect="1"/>
          </p:cNvPicPr>
          <p:nvPr/>
        </p:nvPicPr>
        <p:blipFill>
          <a:blip r:embed="rId3"/>
          <a:stretch>
            <a:fillRect/>
          </a:stretch>
        </p:blipFill>
        <p:spPr>
          <a:xfrm>
            <a:off x="1162202" y="4316882"/>
            <a:ext cx="373075" cy="373075"/>
          </a:xfrm>
          <a:prstGeom prst="rect">
            <a:avLst/>
          </a:prstGeom>
        </p:spPr>
      </p:pic>
      <p:sp>
        <p:nvSpPr>
          <p:cNvPr id="16" name="text-599"/>
          <p:cNvSpPr txBox="1"/>
          <p:nvPr/>
        </p:nvSpPr>
        <p:spPr>
          <a:xfrm>
            <a:off x="1965960" y="4069080"/>
            <a:ext cx="914400" cy="411480"/>
          </a:xfrm>
          <a:prstGeom prst="rect">
            <a:avLst/>
          </a:prstGeom>
          <a:noFill/>
          <a:ln/>
        </p:spPr>
        <p:txBody>
          <a:bodyPr wrap="square" lIns="0" tIns="0" rIns="0" bIns="0" rtlCol="0" anchor="t"/>
          <a:lstStyle/>
          <a:p>
            <a:pPr indent="0" marL="0">
              <a:buNone/>
            </a:pPr>
            <a:r>
              <a:rPr lang="en-US" sz="1800" b="1" dirty="0">
                <a:solidFill>
                  <a:schemeClr val="accent3"/>
                </a:solidFill>
              </a:rPr>
              <a:t>Q3</a:t>
            </a:r>
            <a:endParaRPr lang="en-US" sz="1800" dirty="0"/>
          </a:p>
        </p:txBody>
      </p:sp>
      <p:sp>
        <p:nvSpPr>
          <p:cNvPr id="17" name="text-600"/>
          <p:cNvSpPr txBox="1"/>
          <p:nvPr/>
        </p:nvSpPr>
        <p:spPr>
          <a:xfrm>
            <a:off x="1965960" y="4526280"/>
            <a:ext cx="3794760" cy="1143000"/>
          </a:xfrm>
          <a:prstGeom prst="rect">
            <a:avLst/>
          </a:prstGeom>
          <a:noFill/>
          <a:ln/>
        </p:spPr>
        <p:txBody>
          <a:bodyPr wrap="square" lIns="0" tIns="0" rIns="0" bIns="0" rtlCol="0" anchor="t"/>
          <a:lstStyle/>
          <a:p>
            <a:pPr indent="0" marL="0">
              <a:buNone/>
            </a:pPr>
            <a:r>
              <a:rPr lang="en-US" sz="1800" dirty="0">
                <a:solidFill>
                  <a:schemeClr val="tx1"/>
                </a:solidFill>
              </a:rPr>
              <a:t>한국어 질문: 영어로 번역 vs 다국어 모델, 어느 쪽이 나을까?</a:t>
            </a:r>
            <a:endParaRPr lang="en-US" sz="1800" dirty="0"/>
          </a:p>
        </p:txBody>
      </p:sp>
      <p:sp>
        <p:nvSpPr>
          <p:cNvPr id="18" name="card-601"/>
          <p:cNvSpPr/>
          <p:nvPr/>
        </p:nvSpPr>
        <p:spPr>
          <a:xfrm>
            <a:off x="6172200" y="3749040"/>
            <a:ext cx="5349240" cy="2057400"/>
          </a:xfrm>
          <a:prstGeom prst="roundRect">
            <a:avLst>
              <a:gd name="adj" fmla="val 6222"/>
            </a:avLst>
          </a:prstGeom>
          <a:solidFill>
            <a:schemeClr val="bg2"/>
          </a:solidFill>
          <a:ln/>
        </p:spPr>
      </p:sp>
      <p:sp>
        <p:nvSpPr>
          <p:cNvPr id="19" name="circle-602"/>
          <p:cNvSpPr/>
          <p:nvPr/>
        </p:nvSpPr>
        <p:spPr>
          <a:xfrm>
            <a:off x="6492240" y="4114800"/>
            <a:ext cx="777240" cy="777240"/>
          </a:xfrm>
          <a:prstGeom prst="ellipse">
            <a:avLst/>
          </a:prstGeom>
          <a:solidFill>
            <a:schemeClr val="accent3"/>
          </a:solidFill>
          <a:ln/>
        </p:spPr>
      </p:sp>
      <p:pic>
        <p:nvPicPr>
          <p:cNvPr id="20" name="icon-FaComments-603" descr="FaComments">    </p:cNvPr>
          <p:cNvPicPr>
            <a:picLocks noChangeAspect="1"/>
          </p:cNvPicPr>
          <p:nvPr/>
        </p:nvPicPr>
        <p:blipFill>
          <a:blip r:embed="rId4"/>
          <a:stretch>
            <a:fillRect/>
          </a:stretch>
        </p:blipFill>
        <p:spPr>
          <a:xfrm>
            <a:off x="6694322" y="4316882"/>
            <a:ext cx="373075" cy="373075"/>
          </a:xfrm>
          <a:prstGeom prst="rect">
            <a:avLst/>
          </a:prstGeom>
        </p:spPr>
      </p:pic>
      <p:sp>
        <p:nvSpPr>
          <p:cNvPr id="21" name="text-604"/>
          <p:cNvSpPr txBox="1"/>
          <p:nvPr/>
        </p:nvSpPr>
        <p:spPr>
          <a:xfrm>
            <a:off x="7498080" y="4069080"/>
            <a:ext cx="914400" cy="411480"/>
          </a:xfrm>
          <a:prstGeom prst="rect">
            <a:avLst/>
          </a:prstGeom>
          <a:noFill/>
          <a:ln/>
        </p:spPr>
        <p:txBody>
          <a:bodyPr wrap="square" lIns="0" tIns="0" rIns="0" bIns="0" rtlCol="0" anchor="t"/>
          <a:lstStyle/>
          <a:p>
            <a:pPr indent="0" marL="0">
              <a:buNone/>
            </a:pPr>
            <a:r>
              <a:rPr lang="en-US" sz="1800" b="1" dirty="0">
                <a:solidFill>
                  <a:schemeClr val="accent3"/>
                </a:solidFill>
              </a:rPr>
              <a:t>Q4</a:t>
            </a:r>
            <a:endParaRPr lang="en-US" sz="1800" dirty="0"/>
          </a:p>
        </p:txBody>
      </p:sp>
      <p:sp>
        <p:nvSpPr>
          <p:cNvPr id="22" name="text-605"/>
          <p:cNvSpPr txBox="1"/>
          <p:nvPr/>
        </p:nvSpPr>
        <p:spPr>
          <a:xfrm>
            <a:off x="7498080" y="4526280"/>
            <a:ext cx="3794760" cy="1143000"/>
          </a:xfrm>
          <a:prstGeom prst="rect">
            <a:avLst/>
          </a:prstGeom>
          <a:noFill/>
          <a:ln/>
        </p:spPr>
        <p:txBody>
          <a:bodyPr wrap="square" lIns="0" tIns="0" rIns="0" bIns="0" rtlCol="0" anchor="t"/>
          <a:lstStyle/>
          <a:p>
            <a:pPr indent="0" marL="0">
              <a:buNone/>
            </a:pPr>
            <a:r>
              <a:rPr lang="en-US" sz="1800" dirty="0">
                <a:solidFill>
                  <a:schemeClr val="tx1"/>
                </a:solidFill>
              </a:rPr>
              <a:t>32k에서 포화된다는 결과는 우리 파인튜닝에 어떤 의미일까?</a:t>
            </a:r>
            <a:endParaRPr lang="en-US" sz="18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참고자료 &amp; 이미지 출처</a:t>
            </a:r>
            <a:endParaRPr lang="en-US" sz="3000" dirty="0"/>
          </a:p>
        </p:txBody>
      </p:sp>
      <p:sp>
        <p:nvSpPr>
          <p:cNvPr id="3" name="text-606"/>
          <p:cNvSpPr txBox="1"/>
          <p:nvPr/>
        </p:nvSpPr>
        <p:spPr>
          <a:xfrm>
            <a:off x="640080" y="1325880"/>
            <a:ext cx="10881360" cy="365760"/>
          </a:xfrm>
          <a:prstGeom prst="rect">
            <a:avLst/>
          </a:prstGeom>
          <a:noFill/>
          <a:ln/>
        </p:spPr>
        <p:txBody>
          <a:bodyPr wrap="square" lIns="0" tIns="0" rIns="0" bIns="0" rtlCol="0" anchor="t"/>
          <a:lstStyle/>
          <a:p>
            <a:pPr indent="0" marL="0">
              <a:buNone/>
            </a:pPr>
            <a:r>
              <a:rPr lang="en-US" sz="1700" b="1" dirty="0">
                <a:solidFill>
                  <a:schemeClr val="tx1"/>
                </a:solidFill>
              </a:rPr>
              <a:t>Zhai et al., Sigmoid Loss for Language Image Pre-Training, ICCV 2023</a:t>
            </a:r>
            <a:endParaRPr lang="en-US" sz="1700" dirty="0"/>
          </a:p>
        </p:txBody>
      </p:sp>
      <p:sp>
        <p:nvSpPr>
          <p:cNvPr id="4" name="text-607"/>
          <p:cNvSpPr txBox="1"/>
          <p:nvPr/>
        </p:nvSpPr>
        <p:spPr>
          <a:xfrm>
            <a:off x="640080" y="1691640"/>
            <a:ext cx="10881360" cy="320040"/>
          </a:xfrm>
          <a:prstGeom prst="rect">
            <a:avLst/>
          </a:prstGeom>
          <a:noFill/>
          <a:ln/>
        </p:spPr>
        <p:txBody>
          <a:bodyPr wrap="square" lIns="0" tIns="0" rIns="0" bIns="0" rtlCol="0" anchor="t"/>
          <a:lstStyle/>
          <a:p>
            <a:pPr indent="0" marL="0">
              <a:buNone/>
            </a:pPr>
            <a:r>
              <a:rPr lang="en-US" sz="1400" u="sng" dirty="0">
                <a:solidFill>
                  <a:schemeClr val="accent3"/>
                </a:solidFill>
                <a:hlinkClick r:id="rId1" invalidUrl="" action="" tgtFrame="" tooltip="" history="1" highlightClick="0" endSnd="0">
                  <a:extLst>
                    <a:ext uri="{A12FA001-AC4F-418D-AE19-62706E023703}">
                      <ahyp:hlinkClr xmlns:ahyp="http://schemas.microsoft.com/office/drawing/2018/hyperlinkcolor" val="tx"/>
                    </a:ext>
                  </a:extLst>
                </a:hlinkClick>
              </a:rPr>
              <a:t>https://arxiv.org/abs/2303.15343</a:t>
            </a:r>
            <a:endParaRPr lang="en-US" sz="1400" dirty="0"/>
          </a:p>
        </p:txBody>
      </p:sp>
      <p:sp>
        <p:nvSpPr>
          <p:cNvPr id="5" name="text-608"/>
          <p:cNvSpPr txBox="1"/>
          <p:nvPr/>
        </p:nvSpPr>
        <p:spPr>
          <a:xfrm>
            <a:off x="640080" y="2075688"/>
            <a:ext cx="10881360" cy="365760"/>
          </a:xfrm>
          <a:prstGeom prst="rect">
            <a:avLst/>
          </a:prstGeom>
          <a:noFill/>
          <a:ln/>
        </p:spPr>
        <p:txBody>
          <a:bodyPr wrap="square" lIns="0" tIns="0" rIns="0" bIns="0" rtlCol="0" anchor="t"/>
          <a:lstStyle/>
          <a:p>
            <a:pPr indent="0" marL="0">
              <a:buNone/>
            </a:pPr>
            <a:r>
              <a:rPr lang="en-US" sz="1700" b="1" dirty="0">
                <a:solidFill>
                  <a:schemeClr val="tx1"/>
                </a:solidFill>
              </a:rPr>
              <a:t>Tschannen et al., SigLIP 2, 2025</a:t>
            </a:r>
            <a:endParaRPr lang="en-US" sz="1700" dirty="0"/>
          </a:p>
        </p:txBody>
      </p:sp>
      <p:sp>
        <p:nvSpPr>
          <p:cNvPr id="6" name="text-609"/>
          <p:cNvSpPr txBox="1"/>
          <p:nvPr/>
        </p:nvSpPr>
        <p:spPr>
          <a:xfrm>
            <a:off x="640080" y="2441448"/>
            <a:ext cx="10881360" cy="320040"/>
          </a:xfrm>
          <a:prstGeom prst="rect">
            <a:avLst/>
          </a:prstGeom>
          <a:noFill/>
          <a:ln/>
        </p:spPr>
        <p:txBody>
          <a:bodyPr wrap="square" lIns="0" tIns="0" rIns="0" bIns="0" rtlCol="0" anchor="t"/>
          <a:lstStyle/>
          <a:p>
            <a:pPr indent="0" marL="0">
              <a:buNone/>
            </a:pPr>
            <a:r>
              <a:rPr lang="en-US" sz="1400" u="sng" dirty="0">
                <a:solidFill>
                  <a:schemeClr val="accent3"/>
                </a:solidFill>
                <a:hlinkClick r:id="rId2" invalidUrl="" action="" tgtFrame="" tooltip="" history="1" highlightClick="0" endSnd="0">
                  <a:extLst>
                    <a:ext uri="{A12FA001-AC4F-418D-AE19-62706E023703}">
                      <ahyp:hlinkClr xmlns:ahyp="http://schemas.microsoft.com/office/drawing/2018/hyperlinkcolor" val="tx"/>
                    </a:ext>
                  </a:extLst>
                </a:hlinkClick>
              </a:rPr>
              <a:t>https://arxiv.org/abs/2502.14786</a:t>
            </a:r>
            <a:endParaRPr lang="en-US" sz="1400" dirty="0"/>
          </a:p>
        </p:txBody>
      </p:sp>
      <p:sp>
        <p:nvSpPr>
          <p:cNvPr id="7" name="text-610"/>
          <p:cNvSpPr txBox="1"/>
          <p:nvPr/>
        </p:nvSpPr>
        <p:spPr>
          <a:xfrm>
            <a:off x="640080" y="2825496"/>
            <a:ext cx="10881360" cy="365760"/>
          </a:xfrm>
          <a:prstGeom prst="rect">
            <a:avLst/>
          </a:prstGeom>
          <a:noFill/>
          <a:ln/>
        </p:spPr>
        <p:txBody>
          <a:bodyPr wrap="square" lIns="0" tIns="0" rIns="0" bIns="0" rtlCol="0" anchor="t"/>
          <a:lstStyle/>
          <a:p>
            <a:pPr indent="0" marL="0">
              <a:buNone/>
            </a:pPr>
            <a:r>
              <a:rPr lang="en-US" sz="1700" b="1" dirty="0">
                <a:solidFill>
                  <a:schemeClr val="tx1"/>
                </a:solidFill>
              </a:rPr>
              <a:t>Radford et al., CLIP, 2021</a:t>
            </a:r>
            <a:endParaRPr lang="en-US" sz="1700" dirty="0"/>
          </a:p>
        </p:txBody>
      </p:sp>
      <p:sp>
        <p:nvSpPr>
          <p:cNvPr id="8" name="text-611"/>
          <p:cNvSpPr txBox="1"/>
          <p:nvPr/>
        </p:nvSpPr>
        <p:spPr>
          <a:xfrm>
            <a:off x="640080" y="3191256"/>
            <a:ext cx="10881360" cy="320040"/>
          </a:xfrm>
          <a:prstGeom prst="rect">
            <a:avLst/>
          </a:prstGeom>
          <a:noFill/>
          <a:ln/>
        </p:spPr>
        <p:txBody>
          <a:bodyPr wrap="square" lIns="0" tIns="0" rIns="0" bIns="0" rtlCol="0" anchor="t"/>
          <a:lstStyle/>
          <a:p>
            <a:pPr indent="0" marL="0">
              <a:buNone/>
            </a:pPr>
            <a:r>
              <a:rPr lang="en-US" sz="1400" u="sng" dirty="0">
                <a:solidFill>
                  <a:schemeClr val="accent3"/>
                </a:solidFill>
                <a:hlinkClick r:id="rId3" invalidUrl="" action="" tgtFrame="" tooltip="" history="1" highlightClick="0" endSnd="0">
                  <a:extLst>
                    <a:ext uri="{A12FA001-AC4F-418D-AE19-62706E023703}">
                      <ahyp:hlinkClr xmlns:ahyp="http://schemas.microsoft.com/office/drawing/2018/hyperlinkcolor" val="tx"/>
                    </a:ext>
                  </a:extLst>
                </a:hlinkClick>
              </a:rPr>
              <a:t>https://arxiv.org/abs/2103.00020</a:t>
            </a:r>
            <a:endParaRPr lang="en-US" sz="1400" dirty="0"/>
          </a:p>
        </p:txBody>
      </p:sp>
      <p:sp>
        <p:nvSpPr>
          <p:cNvPr id="9" name="text-612"/>
          <p:cNvSpPr txBox="1"/>
          <p:nvPr/>
        </p:nvSpPr>
        <p:spPr>
          <a:xfrm>
            <a:off x="640080" y="3575304"/>
            <a:ext cx="10881360" cy="365760"/>
          </a:xfrm>
          <a:prstGeom prst="rect">
            <a:avLst/>
          </a:prstGeom>
          <a:noFill/>
          <a:ln/>
        </p:spPr>
        <p:txBody>
          <a:bodyPr wrap="square" lIns="0" tIns="0" rIns="0" bIns="0" rtlCol="0" anchor="t"/>
          <a:lstStyle/>
          <a:p>
            <a:pPr indent="0" marL="0">
              <a:buNone/>
            </a:pPr>
            <a:r>
              <a:rPr lang="en-US" sz="1700" b="1" dirty="0">
                <a:solidFill>
                  <a:schemeClr val="tx1"/>
                </a:solidFill>
              </a:rPr>
              <a:t>Hugging Face Blog — Vision Language Models Explained</a:t>
            </a:r>
            <a:endParaRPr lang="en-US" sz="1700" dirty="0"/>
          </a:p>
        </p:txBody>
      </p:sp>
      <p:sp>
        <p:nvSpPr>
          <p:cNvPr id="10" name="text-613"/>
          <p:cNvSpPr txBox="1"/>
          <p:nvPr/>
        </p:nvSpPr>
        <p:spPr>
          <a:xfrm>
            <a:off x="640080" y="3941064"/>
            <a:ext cx="10881360" cy="320040"/>
          </a:xfrm>
          <a:prstGeom prst="rect">
            <a:avLst/>
          </a:prstGeom>
          <a:noFill/>
          <a:ln/>
        </p:spPr>
        <p:txBody>
          <a:bodyPr wrap="square" lIns="0" tIns="0" rIns="0" bIns="0" rtlCol="0" anchor="t"/>
          <a:lstStyle/>
          <a:p>
            <a:pPr indent="0" marL="0">
              <a:buNone/>
            </a:pPr>
            <a:r>
              <a:rPr lang="en-US" sz="1400" u="sng" dirty="0">
                <a:solidFill>
                  <a:schemeClr val="accent3"/>
                </a:solidFill>
                <a:hlinkClick r:id="rId4" invalidUrl="" action="" tgtFrame="" tooltip="" history="1" highlightClick="0" endSnd="0">
                  <a:extLst>
                    <a:ext uri="{A12FA001-AC4F-418D-AE19-62706E023703}">
                      <ahyp:hlinkClr xmlns:ahyp="http://schemas.microsoft.com/office/drawing/2018/hyperlinkcolor" val="tx"/>
                    </a:ext>
                  </a:extLst>
                </a:hlinkClick>
              </a:rPr>
              <a:t>https://huggingface.co/blog/vlms</a:t>
            </a:r>
            <a:endParaRPr lang="en-US" sz="1400" dirty="0"/>
          </a:p>
        </p:txBody>
      </p:sp>
      <p:sp>
        <p:nvSpPr>
          <p:cNvPr id="11" name="text-614"/>
          <p:cNvSpPr txBox="1"/>
          <p:nvPr/>
        </p:nvSpPr>
        <p:spPr>
          <a:xfrm>
            <a:off x="640080" y="4325112"/>
            <a:ext cx="10881360" cy="365760"/>
          </a:xfrm>
          <a:prstGeom prst="rect">
            <a:avLst/>
          </a:prstGeom>
          <a:noFill/>
          <a:ln/>
        </p:spPr>
        <p:txBody>
          <a:bodyPr wrap="square" lIns="0" tIns="0" rIns="0" bIns="0" rtlCol="0" anchor="t"/>
          <a:lstStyle/>
          <a:p>
            <a:pPr indent="0" marL="0">
              <a:buNone/>
            </a:pPr>
            <a:r>
              <a:rPr lang="en-US" sz="1700" b="1" dirty="0">
                <a:solidFill>
                  <a:schemeClr val="tx1"/>
                </a:solidFill>
              </a:rPr>
              <a:t>Hugging Face SigLIP 문서</a:t>
            </a:r>
            <a:endParaRPr lang="en-US" sz="1700" dirty="0"/>
          </a:p>
        </p:txBody>
      </p:sp>
      <p:sp>
        <p:nvSpPr>
          <p:cNvPr id="12" name="text-615"/>
          <p:cNvSpPr txBox="1"/>
          <p:nvPr/>
        </p:nvSpPr>
        <p:spPr>
          <a:xfrm>
            <a:off x="640080" y="4690872"/>
            <a:ext cx="10881360" cy="320040"/>
          </a:xfrm>
          <a:prstGeom prst="rect">
            <a:avLst/>
          </a:prstGeom>
          <a:noFill/>
          <a:ln/>
        </p:spPr>
        <p:txBody>
          <a:bodyPr wrap="square" lIns="0" tIns="0" rIns="0" bIns="0" rtlCol="0" anchor="t"/>
          <a:lstStyle/>
          <a:p>
            <a:pPr indent="0" marL="0">
              <a:buNone/>
            </a:pPr>
            <a:r>
              <a:rPr lang="en-US" sz="1400" u="sng" dirty="0">
                <a:solidFill>
                  <a:schemeClr val="accent3"/>
                </a:solidFill>
                <a:hlinkClick r:id="rId5" invalidUrl="" action="" tgtFrame="" tooltip="" history="1" highlightClick="0" endSnd="0">
                  <a:extLst>
                    <a:ext uri="{A12FA001-AC4F-418D-AE19-62706E023703}">
                      <ahyp:hlinkClr xmlns:ahyp="http://schemas.microsoft.com/office/drawing/2018/hyperlinkcolor" val="tx"/>
                    </a:ext>
                  </a:extLst>
                </a:hlinkClick>
              </a:rPr>
              <a:t>https://huggingface.co/docs/transformers/model_doc/siglip</a:t>
            </a:r>
            <a:endParaRPr lang="en-US" sz="1400" dirty="0"/>
          </a:p>
        </p:txBody>
      </p:sp>
      <p:sp>
        <p:nvSpPr>
          <p:cNvPr id="13" name="card-616"/>
          <p:cNvSpPr/>
          <p:nvPr/>
        </p:nvSpPr>
        <p:spPr>
          <a:xfrm>
            <a:off x="640080" y="5257800"/>
            <a:ext cx="10881360" cy="868680"/>
          </a:xfrm>
          <a:prstGeom prst="roundRect">
            <a:avLst>
              <a:gd name="adj" fmla="val 14737"/>
            </a:avLst>
          </a:prstGeom>
          <a:solidFill>
            <a:schemeClr val="bg2"/>
          </a:solidFill>
          <a:ln/>
        </p:spPr>
      </p:sp>
      <p:sp>
        <p:nvSpPr>
          <p:cNvPr id="14" name="text-617"/>
          <p:cNvSpPr txBox="1"/>
          <p:nvPr/>
        </p:nvSpPr>
        <p:spPr>
          <a:xfrm>
            <a:off x="868680" y="5257800"/>
            <a:ext cx="10424160" cy="868680"/>
          </a:xfrm>
          <a:prstGeom prst="rect">
            <a:avLst/>
          </a:prstGeom>
          <a:noFill/>
          <a:ln/>
        </p:spPr>
        <p:txBody>
          <a:bodyPr wrap="square" lIns="0" tIns="0" rIns="0" bIns="0" rtlCol="0" anchor="ctr"/>
          <a:lstStyle/>
          <a:p>
            <a:pPr indent="0" marL="0">
              <a:buNone/>
            </a:pPr>
            <a:r>
              <a:rPr lang="en-US" sz="1300" dirty="0">
                <a:solidFill>
                  <a:schemeClr val="tx2"/>
                </a:solidFill>
              </a:rPr>
              <a:t>사진: scikit-image 샘플 데이터 — 고양이(Stefan van der Walt, CC0), 커피(Rachel Michetti, CC0), 로켓(SpaceX, 퍼블릭 도메인), 우주비행사(NASA, 퍼블릭 도메인) · 아이콘: Font Awesome (react-icons)</a:t>
            </a:r>
            <a:endParaRPr 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부록 — 예상 질문 &amp; 답변 (1/2)</a:t>
            </a:r>
            <a:endParaRPr lang="en-US" sz="3000" dirty="0"/>
          </a:p>
        </p:txBody>
      </p:sp>
      <p:sp>
        <p:nvSpPr>
          <p:cNvPr id="3" name="card-618"/>
          <p:cNvSpPr/>
          <p:nvPr/>
        </p:nvSpPr>
        <p:spPr>
          <a:xfrm>
            <a:off x="640080" y="1371600"/>
            <a:ext cx="10881360" cy="1417320"/>
          </a:xfrm>
          <a:prstGeom prst="roundRect">
            <a:avLst>
              <a:gd name="adj" fmla="val 9032"/>
            </a:avLst>
          </a:prstGeom>
          <a:solidFill>
            <a:schemeClr val="bg2"/>
          </a:solidFill>
          <a:ln/>
        </p:spPr>
      </p:sp>
      <p:sp>
        <p:nvSpPr>
          <p:cNvPr id="4" name="circle-619"/>
          <p:cNvSpPr/>
          <p:nvPr/>
        </p:nvSpPr>
        <p:spPr>
          <a:xfrm>
            <a:off x="868680" y="1645920"/>
            <a:ext cx="640080" cy="640080"/>
          </a:xfrm>
          <a:prstGeom prst="ellipse">
            <a:avLst/>
          </a:prstGeom>
          <a:solidFill>
            <a:schemeClr val="accent3"/>
          </a:solidFill>
          <a:ln/>
        </p:spPr>
      </p:sp>
      <p:pic>
        <p:nvPicPr>
          <p:cNvPr id="5" name="icon-FaQuestion-620" descr="FaQuestion">    </p:cNvPr>
          <p:cNvPicPr>
            <a:picLocks noChangeAspect="1"/>
          </p:cNvPicPr>
          <p:nvPr/>
        </p:nvPicPr>
        <p:blipFill>
          <a:blip r:embed="rId1"/>
          <a:stretch>
            <a:fillRect/>
          </a:stretch>
        </p:blipFill>
        <p:spPr>
          <a:xfrm>
            <a:off x="1035101" y="1812341"/>
            <a:ext cx="307238" cy="307238"/>
          </a:xfrm>
          <a:prstGeom prst="rect">
            <a:avLst/>
          </a:prstGeom>
        </p:spPr>
      </p:pic>
      <p:sp>
        <p:nvSpPr>
          <p:cNvPr id="6" name="text-621"/>
          <p:cNvSpPr txBox="1"/>
          <p:nvPr/>
        </p:nvSpPr>
        <p:spPr>
          <a:xfrm>
            <a:off x="1783080" y="1536192"/>
            <a:ext cx="9509760" cy="457200"/>
          </a:xfrm>
          <a:prstGeom prst="rect">
            <a:avLst/>
          </a:prstGeom>
          <a:noFill/>
          <a:ln/>
        </p:spPr>
        <p:txBody>
          <a:bodyPr wrap="square" lIns="0" tIns="0" rIns="0" bIns="0" rtlCol="0" anchor="t"/>
          <a:lstStyle/>
          <a:p>
            <a:pPr indent="0" marL="0">
              <a:buNone/>
            </a:pPr>
            <a:r>
              <a:rPr lang="en-US" sz="1900" b="1" dirty="0">
                <a:solidFill>
                  <a:schemeClr val="tx1"/>
                </a:solidFill>
              </a:rPr>
              <a:t>구조가 같은데 왜 SigLIP 성능이 더 좋나요?</a:t>
            </a:r>
            <a:endParaRPr lang="en-US" sz="1900" dirty="0"/>
          </a:p>
        </p:txBody>
      </p:sp>
      <p:sp>
        <p:nvSpPr>
          <p:cNvPr id="7" name="text-622"/>
          <p:cNvSpPr txBox="1"/>
          <p:nvPr/>
        </p:nvSpPr>
        <p:spPr>
          <a:xfrm>
            <a:off x="1783080" y="2011680"/>
            <a:ext cx="9509760" cy="731520"/>
          </a:xfrm>
          <a:prstGeom prst="rect">
            <a:avLst/>
          </a:prstGeom>
          <a:noFill/>
          <a:ln/>
        </p:spPr>
        <p:txBody>
          <a:bodyPr wrap="square" lIns="0" tIns="0" rIns="0" bIns="0" rtlCol="0" anchor="t"/>
          <a:lstStyle/>
          <a:p>
            <a:pPr indent="0" marL="0">
              <a:buNone/>
            </a:pPr>
            <a:r>
              <a:rPr lang="en-US" sz="1500" dirty="0">
                <a:solidFill>
                  <a:schemeClr val="tx2"/>
                </a:solidFill>
              </a:rPr>
              <a:t>손실 함수 차이. Softmax는 배치가 작으면 비교할 보기가 부족해 학습 신호가 약하고, Sigmoid는 모든 쌍에 독립적인 신호를 줌. 큰 배치(32k 근처)에서는 차이가 줄어듦.</a:t>
            </a:r>
            <a:endParaRPr lang="en-US" sz="1500" dirty="0"/>
          </a:p>
        </p:txBody>
      </p:sp>
      <p:sp>
        <p:nvSpPr>
          <p:cNvPr id="8" name="card-623"/>
          <p:cNvSpPr/>
          <p:nvPr/>
        </p:nvSpPr>
        <p:spPr>
          <a:xfrm>
            <a:off x="640080" y="2971800"/>
            <a:ext cx="10881360" cy="1417320"/>
          </a:xfrm>
          <a:prstGeom prst="roundRect">
            <a:avLst>
              <a:gd name="adj" fmla="val 9032"/>
            </a:avLst>
          </a:prstGeom>
          <a:solidFill>
            <a:schemeClr val="bg2"/>
          </a:solidFill>
          <a:ln/>
        </p:spPr>
      </p:sp>
      <p:sp>
        <p:nvSpPr>
          <p:cNvPr id="9" name="circle-624"/>
          <p:cNvSpPr/>
          <p:nvPr/>
        </p:nvSpPr>
        <p:spPr>
          <a:xfrm>
            <a:off x="868680" y="3246120"/>
            <a:ext cx="640080" cy="640080"/>
          </a:xfrm>
          <a:prstGeom prst="ellipse">
            <a:avLst/>
          </a:prstGeom>
          <a:solidFill>
            <a:schemeClr val="accent3"/>
          </a:solidFill>
          <a:ln/>
        </p:spPr>
      </p:sp>
      <p:pic>
        <p:nvPicPr>
          <p:cNvPr id="10" name="icon-FaQuestion-625" descr="FaQuestion">    </p:cNvPr>
          <p:cNvPicPr>
            <a:picLocks noChangeAspect="1"/>
          </p:cNvPicPr>
          <p:nvPr/>
        </p:nvPicPr>
        <p:blipFill>
          <a:blip r:embed="rId2"/>
          <a:stretch>
            <a:fillRect/>
          </a:stretch>
        </p:blipFill>
        <p:spPr>
          <a:xfrm>
            <a:off x="1035101" y="3412541"/>
            <a:ext cx="307238" cy="307238"/>
          </a:xfrm>
          <a:prstGeom prst="rect">
            <a:avLst/>
          </a:prstGeom>
        </p:spPr>
      </p:pic>
      <p:sp>
        <p:nvSpPr>
          <p:cNvPr id="11" name="text-626"/>
          <p:cNvSpPr txBox="1"/>
          <p:nvPr/>
        </p:nvSpPr>
        <p:spPr>
          <a:xfrm>
            <a:off x="1783080" y="3136392"/>
            <a:ext cx="9509760" cy="457200"/>
          </a:xfrm>
          <a:prstGeom prst="rect">
            <a:avLst/>
          </a:prstGeom>
          <a:noFill/>
          <a:ln/>
        </p:spPr>
        <p:txBody>
          <a:bodyPr wrap="square" lIns="0" tIns="0" rIns="0" bIns="0" rtlCol="0" anchor="t"/>
          <a:lstStyle/>
          <a:p>
            <a:pPr indent="0" marL="0">
              <a:buNone/>
            </a:pPr>
            <a:r>
              <a:rPr lang="en-US" sz="1900" b="1" dirty="0">
                <a:solidFill>
                  <a:schemeClr val="tx1"/>
                </a:solidFill>
              </a:rPr>
              <a:t>가짜 짝이 압도적으로 많은데 괜찮나요?</a:t>
            </a:r>
            <a:endParaRPr lang="en-US" sz="1900" dirty="0"/>
          </a:p>
        </p:txBody>
      </p:sp>
      <p:sp>
        <p:nvSpPr>
          <p:cNvPr id="12" name="text-627"/>
          <p:cNvSpPr txBox="1"/>
          <p:nvPr/>
        </p:nvSpPr>
        <p:spPr>
          <a:xfrm>
            <a:off x="1783080" y="3611880"/>
            <a:ext cx="9509760" cy="731520"/>
          </a:xfrm>
          <a:prstGeom prst="rect">
            <a:avLst/>
          </a:prstGeom>
          <a:noFill/>
          <a:ln/>
        </p:spPr>
        <p:txBody>
          <a:bodyPr wrap="square" lIns="0" tIns="0" rIns="0" bIns="0" rtlCol="0" anchor="t"/>
          <a:lstStyle/>
          <a:p>
            <a:pPr indent="0" marL="0">
              <a:buNone/>
            </a:pPr>
            <a:r>
              <a:rPr lang="en-US" sz="1500" dirty="0">
                <a:solidFill>
                  <a:schemeClr val="tx2"/>
                </a:solidFill>
              </a:rPr>
              <a:t>그래서 바이어스 b를 −10에서 시작. “대부분 짝이 아니다”에서 출발해 초반 손실 폭주를 막음.</a:t>
            </a:r>
            <a:endParaRPr lang="en-US" sz="1500" dirty="0"/>
          </a:p>
        </p:txBody>
      </p:sp>
      <p:sp>
        <p:nvSpPr>
          <p:cNvPr id="13" name="card-628"/>
          <p:cNvSpPr/>
          <p:nvPr/>
        </p:nvSpPr>
        <p:spPr>
          <a:xfrm>
            <a:off x="640080" y="4572000"/>
            <a:ext cx="10881360" cy="1417320"/>
          </a:xfrm>
          <a:prstGeom prst="roundRect">
            <a:avLst>
              <a:gd name="adj" fmla="val 9032"/>
            </a:avLst>
          </a:prstGeom>
          <a:solidFill>
            <a:schemeClr val="bg2"/>
          </a:solidFill>
          <a:ln/>
        </p:spPr>
      </p:sp>
      <p:sp>
        <p:nvSpPr>
          <p:cNvPr id="14" name="circle-629"/>
          <p:cNvSpPr/>
          <p:nvPr/>
        </p:nvSpPr>
        <p:spPr>
          <a:xfrm>
            <a:off x="868680" y="4846320"/>
            <a:ext cx="640080" cy="640080"/>
          </a:xfrm>
          <a:prstGeom prst="ellipse">
            <a:avLst/>
          </a:prstGeom>
          <a:solidFill>
            <a:schemeClr val="accent3"/>
          </a:solidFill>
          <a:ln/>
        </p:spPr>
      </p:sp>
      <p:pic>
        <p:nvPicPr>
          <p:cNvPr id="15" name="icon-FaQuestion-630" descr="FaQuestion">    </p:cNvPr>
          <p:cNvPicPr>
            <a:picLocks noChangeAspect="1"/>
          </p:cNvPicPr>
          <p:nvPr/>
        </p:nvPicPr>
        <p:blipFill>
          <a:blip r:embed="rId3"/>
          <a:stretch>
            <a:fillRect/>
          </a:stretch>
        </p:blipFill>
        <p:spPr>
          <a:xfrm>
            <a:off x="1035101" y="5012741"/>
            <a:ext cx="307238" cy="307238"/>
          </a:xfrm>
          <a:prstGeom prst="rect">
            <a:avLst/>
          </a:prstGeom>
        </p:spPr>
      </p:pic>
      <p:sp>
        <p:nvSpPr>
          <p:cNvPr id="16" name="text-631"/>
          <p:cNvSpPr txBox="1"/>
          <p:nvPr/>
        </p:nvSpPr>
        <p:spPr>
          <a:xfrm>
            <a:off x="1783080" y="4736592"/>
            <a:ext cx="9509760" cy="457200"/>
          </a:xfrm>
          <a:prstGeom prst="rect">
            <a:avLst/>
          </a:prstGeom>
          <a:noFill/>
          <a:ln/>
        </p:spPr>
        <p:txBody>
          <a:bodyPr wrap="square" lIns="0" tIns="0" rIns="0" bIns="0" rtlCol="0" anchor="t"/>
          <a:lstStyle/>
          <a:p>
            <a:pPr indent="0" marL="0">
              <a:buNone/>
            </a:pPr>
            <a:r>
              <a:rPr lang="en-US" sz="1900" b="1" dirty="0">
                <a:solidFill>
                  <a:schemeClr val="tx1"/>
                </a:solidFill>
              </a:rPr>
              <a:t>검색할 때도 Sigmoid를 써야 하나요?</a:t>
            </a:r>
            <a:endParaRPr lang="en-US" sz="1900" dirty="0"/>
          </a:p>
        </p:txBody>
      </p:sp>
      <p:sp>
        <p:nvSpPr>
          <p:cNvPr id="17" name="text-632"/>
          <p:cNvSpPr txBox="1"/>
          <p:nvPr/>
        </p:nvSpPr>
        <p:spPr>
          <a:xfrm>
            <a:off x="1783080" y="5212080"/>
            <a:ext cx="9509760" cy="731520"/>
          </a:xfrm>
          <a:prstGeom prst="rect">
            <a:avLst/>
          </a:prstGeom>
          <a:noFill/>
          <a:ln/>
        </p:spPr>
        <p:txBody>
          <a:bodyPr wrap="square" lIns="0" tIns="0" rIns="0" bIns="0" rtlCol="0" anchor="t"/>
          <a:lstStyle/>
          <a:p>
            <a:pPr indent="0" marL="0">
              <a:buNone/>
            </a:pPr>
            <a:r>
              <a:rPr lang="en-US" sz="1500" dirty="0">
                <a:solidFill>
                  <a:schemeClr val="tx2"/>
                </a:solidFill>
              </a:rPr>
              <a:t>순위만 필요하면 정규화 벡터의 내적(코사인 유사도)으로 충분. 확률값(임계값 필터 등)이 필요할 때만 sigmoid(t·sim + b) 적용.</a:t>
            </a:r>
            <a:endParaRPr 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부록 — 예상 질문 &amp; 답변 (2/2)</a:t>
            </a:r>
            <a:endParaRPr lang="en-US" sz="3000" dirty="0"/>
          </a:p>
        </p:txBody>
      </p:sp>
      <p:sp>
        <p:nvSpPr>
          <p:cNvPr id="3" name="card-633"/>
          <p:cNvSpPr/>
          <p:nvPr/>
        </p:nvSpPr>
        <p:spPr>
          <a:xfrm>
            <a:off x="640080" y="1371600"/>
            <a:ext cx="10881360" cy="1417320"/>
          </a:xfrm>
          <a:prstGeom prst="roundRect">
            <a:avLst>
              <a:gd name="adj" fmla="val 9032"/>
            </a:avLst>
          </a:prstGeom>
          <a:solidFill>
            <a:schemeClr val="bg2"/>
          </a:solidFill>
          <a:ln/>
        </p:spPr>
      </p:sp>
      <p:sp>
        <p:nvSpPr>
          <p:cNvPr id="4" name="circle-634"/>
          <p:cNvSpPr/>
          <p:nvPr/>
        </p:nvSpPr>
        <p:spPr>
          <a:xfrm>
            <a:off x="868680" y="1645920"/>
            <a:ext cx="640080" cy="640080"/>
          </a:xfrm>
          <a:prstGeom prst="ellipse">
            <a:avLst/>
          </a:prstGeom>
          <a:solidFill>
            <a:schemeClr val="accent3"/>
          </a:solidFill>
          <a:ln/>
        </p:spPr>
      </p:sp>
      <p:pic>
        <p:nvPicPr>
          <p:cNvPr id="5" name="icon-FaQuestion-635" descr="FaQuestion">    </p:cNvPr>
          <p:cNvPicPr>
            <a:picLocks noChangeAspect="1"/>
          </p:cNvPicPr>
          <p:nvPr/>
        </p:nvPicPr>
        <p:blipFill>
          <a:blip r:embed="rId1"/>
          <a:stretch>
            <a:fillRect/>
          </a:stretch>
        </p:blipFill>
        <p:spPr>
          <a:xfrm>
            <a:off x="1035101" y="1812341"/>
            <a:ext cx="307238" cy="307238"/>
          </a:xfrm>
          <a:prstGeom prst="rect">
            <a:avLst/>
          </a:prstGeom>
        </p:spPr>
      </p:pic>
      <p:sp>
        <p:nvSpPr>
          <p:cNvPr id="6" name="text-636"/>
          <p:cNvSpPr txBox="1"/>
          <p:nvPr/>
        </p:nvSpPr>
        <p:spPr>
          <a:xfrm>
            <a:off x="1783080" y="1536192"/>
            <a:ext cx="9509760" cy="457200"/>
          </a:xfrm>
          <a:prstGeom prst="rect">
            <a:avLst/>
          </a:prstGeom>
          <a:noFill/>
          <a:ln/>
        </p:spPr>
        <p:txBody>
          <a:bodyPr wrap="square" lIns="0" tIns="0" rIns="0" bIns="0" rtlCol="0" anchor="t"/>
          <a:lstStyle/>
          <a:p>
            <a:pPr indent="0" marL="0">
              <a:buNone/>
            </a:pPr>
            <a:r>
              <a:rPr lang="en-US" sz="1900" b="1" dirty="0">
                <a:solidFill>
                  <a:schemeClr val="tx1"/>
                </a:solidFill>
              </a:rPr>
              <a:t>padding="max_length"는 왜 필수인가요?</a:t>
            </a:r>
            <a:endParaRPr lang="en-US" sz="1900" dirty="0"/>
          </a:p>
        </p:txBody>
      </p:sp>
      <p:sp>
        <p:nvSpPr>
          <p:cNvPr id="7" name="text-637"/>
          <p:cNvSpPr txBox="1"/>
          <p:nvPr/>
        </p:nvSpPr>
        <p:spPr>
          <a:xfrm>
            <a:off x="1783080" y="2011680"/>
            <a:ext cx="9509760" cy="731520"/>
          </a:xfrm>
          <a:prstGeom prst="rect">
            <a:avLst/>
          </a:prstGeom>
          <a:noFill/>
          <a:ln/>
        </p:spPr>
        <p:txBody>
          <a:bodyPr wrap="square" lIns="0" tIns="0" rIns="0" bIns="0" rtlCol="0" anchor="t"/>
          <a:lstStyle/>
          <a:p>
            <a:pPr indent="0" marL="0">
              <a:buNone/>
            </a:pPr>
            <a:r>
              <a:rPr lang="en-US" sz="1500" dirty="0">
                <a:solidFill>
                  <a:schemeClr val="tx2"/>
                </a:solidFill>
              </a:rPr>
              <a:t>학습할 때 항상 64토큰으로 패딩했기 때문. 다르게 패딩하면 텍스트 임베딩 분포가 달라져 성능이 떨어짐.</a:t>
            </a:r>
            <a:endParaRPr lang="en-US" sz="1500" dirty="0"/>
          </a:p>
        </p:txBody>
      </p:sp>
      <p:sp>
        <p:nvSpPr>
          <p:cNvPr id="8" name="card-638"/>
          <p:cNvSpPr/>
          <p:nvPr/>
        </p:nvSpPr>
        <p:spPr>
          <a:xfrm>
            <a:off x="640080" y="2971800"/>
            <a:ext cx="10881360" cy="1417320"/>
          </a:xfrm>
          <a:prstGeom prst="roundRect">
            <a:avLst>
              <a:gd name="adj" fmla="val 9032"/>
            </a:avLst>
          </a:prstGeom>
          <a:solidFill>
            <a:schemeClr val="bg2"/>
          </a:solidFill>
          <a:ln/>
        </p:spPr>
      </p:sp>
      <p:sp>
        <p:nvSpPr>
          <p:cNvPr id="9" name="circle-639"/>
          <p:cNvSpPr/>
          <p:nvPr/>
        </p:nvSpPr>
        <p:spPr>
          <a:xfrm>
            <a:off x="868680" y="3246120"/>
            <a:ext cx="640080" cy="640080"/>
          </a:xfrm>
          <a:prstGeom prst="ellipse">
            <a:avLst/>
          </a:prstGeom>
          <a:solidFill>
            <a:schemeClr val="accent3"/>
          </a:solidFill>
          <a:ln/>
        </p:spPr>
      </p:sp>
      <p:pic>
        <p:nvPicPr>
          <p:cNvPr id="10" name="icon-FaQuestion-640" descr="FaQuestion">    </p:cNvPr>
          <p:cNvPicPr>
            <a:picLocks noChangeAspect="1"/>
          </p:cNvPicPr>
          <p:nvPr/>
        </p:nvPicPr>
        <p:blipFill>
          <a:blip r:embed="rId2"/>
          <a:stretch>
            <a:fillRect/>
          </a:stretch>
        </p:blipFill>
        <p:spPr>
          <a:xfrm>
            <a:off x="1035101" y="3412541"/>
            <a:ext cx="307238" cy="307238"/>
          </a:xfrm>
          <a:prstGeom prst="rect">
            <a:avLst/>
          </a:prstGeom>
        </p:spPr>
      </p:pic>
      <p:sp>
        <p:nvSpPr>
          <p:cNvPr id="11" name="text-641"/>
          <p:cNvSpPr txBox="1"/>
          <p:nvPr/>
        </p:nvSpPr>
        <p:spPr>
          <a:xfrm>
            <a:off x="1783080" y="3136392"/>
            <a:ext cx="9509760" cy="457200"/>
          </a:xfrm>
          <a:prstGeom prst="rect">
            <a:avLst/>
          </a:prstGeom>
          <a:noFill/>
          <a:ln/>
        </p:spPr>
        <p:txBody>
          <a:bodyPr wrap="square" lIns="0" tIns="0" rIns="0" bIns="0" rtlCol="0" anchor="t"/>
          <a:lstStyle/>
          <a:p>
            <a:pPr indent="0" marL="0">
              <a:buNone/>
            </a:pPr>
            <a:r>
              <a:rPr lang="en-US" sz="1900" b="1" dirty="0">
                <a:solidFill>
                  <a:schemeClr val="tx1"/>
                </a:solidFill>
              </a:rPr>
              <a:t>캡션을 만들어 텍스트로 검색하면 안 되나요?</a:t>
            </a:r>
            <a:endParaRPr lang="en-US" sz="1900" dirty="0"/>
          </a:p>
        </p:txBody>
      </p:sp>
      <p:sp>
        <p:nvSpPr>
          <p:cNvPr id="12" name="text-642"/>
          <p:cNvSpPr txBox="1"/>
          <p:nvPr/>
        </p:nvSpPr>
        <p:spPr>
          <a:xfrm>
            <a:off x="1783080" y="3611880"/>
            <a:ext cx="9509760" cy="731520"/>
          </a:xfrm>
          <a:prstGeom prst="rect">
            <a:avLst/>
          </a:prstGeom>
          <a:noFill/>
          <a:ln/>
        </p:spPr>
        <p:txBody>
          <a:bodyPr wrap="square" lIns="0" tIns="0" rIns="0" bIns="0" rtlCol="0" anchor="t"/>
          <a:lstStyle/>
          <a:p>
            <a:pPr indent="0" marL="0">
              <a:buNone/>
            </a:pPr>
            <a:r>
              <a:rPr lang="en-US" sz="1500" dirty="0">
                <a:solidFill>
                  <a:schemeClr val="tx2"/>
                </a:solidFill>
              </a:rPr>
              <a:t>캡션 생성 단계에서 정보가 빠지고 비용이 큼. SigLIP은 사진 자체를 임베딩해 캡션에 없는 색·구도·분위기도 반영. 6주차에 둘을 결합하는 것도 가능.</a:t>
            </a:r>
            <a:endParaRPr 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DRAG SigLIP">
  <a:themeElements>
    <a:clrScheme name="DRAG SigLIP">
      <a:dk1>
        <a:srgbClr val="1B1F3B"/>
      </a:dk1>
      <a:lt1>
        <a:srgbClr val="FFFFFF"/>
      </a:lt1>
      <a:dk2>
        <a:srgbClr val="4A5175"/>
      </a:dk2>
      <a:lt2>
        <a:srgbClr val="F1F3F9"/>
      </a:lt2>
      <a:accent1>
        <a:srgbClr val="0F766E"/>
      </a:accent1>
      <a:accent2>
        <a:srgbClr val="B45309"/>
      </a:accent2>
      <a:accent3>
        <a:srgbClr val="4F46E5"/>
      </a:accent3>
      <a:accent4>
        <a:srgbClr val="B91C1C"/>
      </a:accent4>
      <a:accent5>
        <a:srgbClr val="15803D"/>
      </a:accent5>
      <a:accent6>
        <a:srgbClr val="94A3B8"/>
      </a:accent6>
      <a:hlink>
        <a:srgbClr val="4F46E5"/>
      </a:hlink>
      <a:folHlink>
        <a:srgbClr val="6D28D9"/>
      </a:folHlink>
    </a:clrScheme>
    <a:fontScheme name="DRAG SigLIP">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SigLIP — Sigmoid Loss로 학습하는 비전-언어 임베딩</dc:title>
  <dc:subject>PptxGenJS Presentation</dc:subject>
  <dc:creator>김가은</dc:creator>
  <cp:lastModifiedBy>김가은</cp:lastModifiedBy>
  <cp:revision>1</cp:revision>
  <dcterms:created xsi:type="dcterms:W3CDTF">2026-10-04T07:26:29Z</dcterms:created>
  <dcterms:modified xsi:type="dcterms:W3CDTF">2026-10-04T07:26:29Z</dcterms:modified>
</cp:coreProperties>
</file>