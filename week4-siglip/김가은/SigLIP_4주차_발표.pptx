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39ae13d3-5ce1-8b69-2a31-19c9b2a9c01e}">
          <p14:sldIdLst>
            <p14:sldId id="256"/>
            <p14:sldId id="257"/>
            <p14:sldId id="258"/>
          </p14:sldIdLst>
        </p14:section>
        <p14:section name="배경: 대조학습" id="{a4631b60-7256-86fd-fb77-9d30f9f396b2}">
          <p14:sldIdLst>
            <p14:sldId id="259"/>
            <p14:sldId id="260"/>
            <p14:sldId id="261"/>
            <p14:sldId id="262"/>
          </p14:sldIdLst>
        </p14:section>
        <p14:section name="SigLIP 핵심" id="{44ae4f9e-b9b8-591a-524f-c993ba4ab386}">
          <p14:sldIdLst>
            <p14:sldId id="263"/>
            <p14:sldId id="264"/>
            <p14:sldId id="265"/>
            <p14:sldId id="266"/>
            <p14:sldId id="267"/>
            <p14:sldId id="268"/>
            <p14:sldId id="269"/>
          </p14:sldIdLst>
        </p14:section>
        <p14:section name="검색에 적합한 이유" id="{d7eaa629-3c75-4863-eab6-9e371012d33f}">
          <p14:sldIdLst>
            <p14:sldId id="270"/>
            <p14:sldId id="271"/>
          </p14:sldIdLst>
        </p14:section>
        <p14:section name="실습" id="{1e873515-e7a1-f1ce-f320-4fd73ba0bfc6}">
          <p14:sldIdLst>
            <p14:sldId id="272"/>
            <p14:sldId id="273"/>
            <p14:sldId id="274"/>
            <p14:sldId id="275"/>
            <p14:sldId id="276"/>
            <p14:sldId id="277"/>
          </p14:sldIdLst>
        </p14:section>
        <p14:section name="마무리" id="{fea26faf-d0bc-3f19-8d5c-23b857d722f7}">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 = 0</c:v>
                </c:pt>
              </c:strCache>
            </c:strRef>
          </c:tx>
          <c:spPr>
            <a:solidFill>
              <a:srgbClr val="94A3B8"/>
            </a:solidFill>
            <a:ln w="38100" cap="flat">
              <a:solidFill>
                <a:srgbClr val="94A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4A3B8"/>
              </a:solidFill>
              <a:ln w="9525" cap="flat">
                <a:solidFill>
                  <a:srgbClr val="94A3B8"/>
                </a:solidFill>
                <a:prstDash val="solid"/>
                <a:round/>
              </a:ln>
              <a:effectLst/>
            </c:spPr>
          </c:marker>
          <c:cat>
            <c:multiLvlStrRef>
              <c:f>Sheet1!$A$2:$A$22</c:f>
              <c:multiLvlStrCache>
                <c:ptCount val="21"/>
                <c:lvl>
                  <c:pt idx="0">
                    <c:v>-1</c:v>
                  </c:pt>
                  <c:pt idx="1">
                    <c:v>-0.9</c:v>
                  </c:pt>
                  <c:pt idx="2">
                    <c:v>-0.8</c:v>
                  </c:pt>
                  <c:pt idx="3">
                    <c:v>-0.7</c:v>
                  </c:pt>
                  <c:pt idx="4">
                    <c:v>-0.6</c:v>
                  </c:pt>
                  <c:pt idx="5">
                    <c:v>-0.5</c:v>
                  </c:pt>
                  <c:pt idx="6">
                    <c:v>-0.4</c:v>
                  </c:pt>
                  <c:pt idx="7">
                    <c:v>-0.3</c:v>
                  </c:pt>
                  <c:pt idx="8">
                    <c:v>-0.2</c:v>
                  </c:pt>
                  <c:pt idx="9">
                    <c:v>-0.1</c:v>
                  </c:pt>
                  <c:pt idx="10">
                    <c:v>0</c:v>
                  </c:pt>
                  <c:pt idx="11">
                    <c:v>0.1</c:v>
                  </c:pt>
                  <c:pt idx="12">
                    <c:v>0.2</c:v>
                  </c:pt>
                  <c:pt idx="13">
                    <c:v>0.3</c:v>
                  </c:pt>
                  <c:pt idx="14">
                    <c:v>0.4</c:v>
                  </c:pt>
                  <c:pt idx="15">
                    <c:v>0.5</c:v>
                  </c:pt>
                  <c:pt idx="16">
                    <c:v>0.6</c:v>
                  </c:pt>
                  <c:pt idx="17">
                    <c:v>0.7</c:v>
                  </c:pt>
                  <c:pt idx="18">
                    <c:v>0.8</c:v>
                  </c:pt>
                  <c:pt idx="19">
                    <c:v>0.9</c:v>
                  </c:pt>
                  <c:pt idx="20">
                    <c:v>1</c:v>
                  </c:pt>
                </c:lvl>
              </c:multiLvlStrCache>
            </c:multiLvlStrRef>
          </c:cat>
          <c:val>
            <c:numRef>
              <c:f>Sheet1!$B$2:$B$22</c:f>
              <c:numCache>
                <c:formatCode>General</c:formatCode>
                <c:ptCount val="21"/>
                <c:pt idx="0">
                  <c:v>0</c:v>
                </c:pt>
                <c:pt idx="1">
                  <c:v>0</c:v>
                </c:pt>
                <c:pt idx="2">
                  <c:v>0</c:v>
                </c:pt>
                <c:pt idx="3">
                  <c:v>0.001</c:v>
                </c:pt>
                <c:pt idx="4">
                  <c:v>0.002</c:v>
                </c:pt>
                <c:pt idx="5">
                  <c:v>0.007</c:v>
                </c:pt>
                <c:pt idx="6">
                  <c:v>0.018</c:v>
                </c:pt>
                <c:pt idx="7">
                  <c:v>0.047</c:v>
                </c:pt>
                <c:pt idx="8">
                  <c:v>0.119</c:v>
                </c:pt>
                <c:pt idx="9">
                  <c:v>0.269</c:v>
                </c:pt>
                <c:pt idx="10">
                  <c:v>0.5</c:v>
                </c:pt>
                <c:pt idx="11">
                  <c:v>0.731</c:v>
                </c:pt>
                <c:pt idx="12">
                  <c:v>0.881</c:v>
                </c:pt>
                <c:pt idx="13">
                  <c:v>0.953</c:v>
                </c:pt>
                <c:pt idx="14">
                  <c:v>0.982</c:v>
                </c:pt>
                <c:pt idx="15">
                  <c:v>0.993</c:v>
                </c:pt>
                <c:pt idx="16">
                  <c:v>0.998</c:v>
                </c:pt>
                <c:pt idx="17">
                  <c:v>0.999</c:v>
                </c:pt>
                <c:pt idx="18">
                  <c:v>1</c:v>
                </c:pt>
                <c:pt idx="19">
                  <c:v>1</c:v>
                </c:pt>
                <c:pt idx="20">
                  <c:v>1</c:v>
                </c:pt>
              </c:numCache>
            </c:numRef>
          </c:val>
          <c:smooth val="0"/>
        </c:ser>
        <c:ser>
          <c:idx val="1"/>
          <c:order val="1"/>
          <c:tx>
            <c:strRef>
              <c:f>Sheet1!$C$1</c:f>
              <c:strCache>
                <c:ptCount val="1"/>
                <c:pt idx="0">
                  <c:v>b = −10 (SigLIP 초기값)</c:v>
                </c:pt>
              </c:strCache>
            </c:strRef>
          </c:tx>
          <c:spPr>
            <a:solidFill>
              <a:srgbClr val="4F46E5"/>
            </a:solidFill>
            <a:ln w="38100" cap="flat">
              <a:solidFill>
                <a:srgbClr val="4F46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F46E5"/>
              </a:solidFill>
              <a:ln w="9525" cap="flat">
                <a:solidFill>
                  <a:srgbClr val="4F46E5"/>
                </a:solidFill>
                <a:prstDash val="solid"/>
                <a:round/>
              </a:ln>
              <a:effectLst/>
            </c:spPr>
          </c:marker>
          <c:cat>
            <c:multiLvlStrRef>
              <c:f>Sheet1!$A$2:$A$22</c:f>
              <c:multiLvlStrCache>
                <c:ptCount val="21"/>
                <c:lvl>
                  <c:pt idx="0">
                    <c:v>-1</c:v>
                  </c:pt>
                  <c:pt idx="1">
                    <c:v>-0.9</c:v>
                  </c:pt>
                  <c:pt idx="2">
                    <c:v>-0.8</c:v>
                  </c:pt>
                  <c:pt idx="3">
                    <c:v>-0.7</c:v>
                  </c:pt>
                  <c:pt idx="4">
                    <c:v>-0.6</c:v>
                  </c:pt>
                  <c:pt idx="5">
                    <c:v>-0.5</c:v>
                  </c:pt>
                  <c:pt idx="6">
                    <c:v>-0.4</c:v>
                  </c:pt>
                  <c:pt idx="7">
                    <c:v>-0.3</c:v>
                  </c:pt>
                  <c:pt idx="8">
                    <c:v>-0.2</c:v>
                  </c:pt>
                  <c:pt idx="9">
                    <c:v>-0.1</c:v>
                  </c:pt>
                  <c:pt idx="10">
                    <c:v>0</c:v>
                  </c:pt>
                  <c:pt idx="11">
                    <c:v>0.1</c:v>
                  </c:pt>
                  <c:pt idx="12">
                    <c:v>0.2</c:v>
                  </c:pt>
                  <c:pt idx="13">
                    <c:v>0.3</c:v>
                  </c:pt>
                  <c:pt idx="14">
                    <c:v>0.4</c:v>
                  </c:pt>
                  <c:pt idx="15">
                    <c:v>0.5</c:v>
                  </c:pt>
                  <c:pt idx="16">
                    <c:v>0.6</c:v>
                  </c:pt>
                  <c:pt idx="17">
                    <c:v>0.7</c:v>
                  </c:pt>
                  <c:pt idx="18">
                    <c:v>0.8</c:v>
                  </c:pt>
                  <c:pt idx="19">
                    <c:v>0.9</c:v>
                  </c:pt>
                  <c:pt idx="20">
                    <c:v>1</c:v>
                  </c:pt>
                </c:lvl>
              </c:multiLvlStrCache>
            </c:multiLvl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0.001</c:v>
                </c:pt>
                <c:pt idx="14">
                  <c:v>0.002</c:v>
                </c:pt>
                <c:pt idx="15">
                  <c:v>0.007</c:v>
                </c:pt>
                <c:pt idx="16">
                  <c:v>0.018</c:v>
                </c:pt>
                <c:pt idx="17">
                  <c:v>0.047</c:v>
                </c:pt>
                <c:pt idx="18">
                  <c:v>0.119</c:v>
                </c:pt>
                <c:pt idx="19">
                  <c:v>0.269</c:v>
                </c:pt>
                <c:pt idx="20">
                  <c:v>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4A5175"/>
                    </a:solidFill>
                    <a:latin typeface="+mn-lt"/>
                  </a:defRPr>
                </a:pPr>
                <a:r>
                  <a:rPr sz="1400" b="0" i="0" u="none" strike="noStrike">
                    <a:solidFill>
                      <a:srgbClr val="4A5175"/>
                    </a:solidFill>
                    <a:latin typeface="+mn-lt"/>
                  </a:rPr>
                  <a:t>코사인 유사도</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175"/>
                </a:solidFill>
                <a:latin typeface="+mn-lt"/>
              </a:defRPr>
            </a:pPr>
            <a:endParaRPr lang="en-US"/>
          </a:p>
        </c:txPr>
        <c:crossAx val="2094734552"/>
        <c:crosses val="autoZero"/>
        <c:auto val="1"/>
        <c:lblAlgn val="ctr"/>
        <c:noMultiLvlLbl val="1"/>
        <c:tickLblSkip val="5"/>
      </c:catAx>
      <c:valAx>
        <c:axId val="2094734552"/>
        <c:scaling>
          <c:orientation val="minMax"/>
          <c:max val="1"/>
          <c:min val="0"/>
        </c:scaling>
        <c:delete val="0"/>
        <c:axPos val="l"/>
        <c:majorGridlines>
          <c:spPr>
            <a:ln w="12700" cap="flat">
              <a:solidFill>
                <a:srgbClr val="F1F3F9"/>
              </a:solidFill>
              <a:prstDash val="solid"/>
              <a:round/>
            </a:ln>
          </c:spPr>
        </c:majorGridlines>
        <c:title>
          <c:tx>
            <c:rich>
              <a:bodyPr/>
              <a:lstStyle/>
              <a:p>
                <a:pPr>
                  <a:defRPr sz="1400" b="0" i="0" u="none" strike="noStrike">
                    <a:solidFill>
                      <a:srgbClr val="4A5175"/>
                    </a:solidFill>
                    <a:latin typeface="+mn-lt"/>
                  </a:defRPr>
                </a:pPr>
                <a:r>
                  <a:rPr sz="1400" b="0" i="0" u="none" strike="noStrike">
                    <a:solidFill>
                      <a:srgbClr val="4A5175"/>
                    </a:solidFill>
                    <a:latin typeface="+mn-lt"/>
                  </a:rPr>
                  <a:t>짝일 확률</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4A5175"/>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4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4주차 발표를 맡은 김가은입니다. 오늘 주제는 SigLIP입니다.
제목 그대로 Sigmoid Loss로 학습한 비전-언어 임베딩 모델인데요, 쉽게 말하면 사진과 문장을 같은 숫자 공간에 넣어 주는 모델입니다.
발표 내내 동그란 사진은 이미지, 주황색 말풍선은 텍스트라고 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하나로 시작하겠습니다. 여기 사진이 네 장 있고, '밤에 발사되는 로켓'이라는 문장으로 로켓 사진을 찾고 싶다고 해 볼게요.
1~3주차에 한 텍스트 검색이라면 문서 안에 '로켓'이라는 단어가 있었겠지만, 사진 파일 안에는 글자가 하나도 없습니다.
그래서 단어를 맞춰 보는 게 아니라 의미를 비교해야 하고, 오늘 배울 SigLIP이 바로 이걸 가능하게 해 주는 모델입니다.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주가 전체 흐름에서 어디쯤인지 짚고 가겠습니다.
1주차부터 3주차까지는 텍스트 RAG를 만들었고, 5주차에는 텍스트로 이미지를 찾는 검색을 만듭니다.
오늘은 그 사이에서 RAG 파이프라인의 '임베딩 모델' 칸을 이미지도 다룰 수 있는 모델로 바꾸는 준비를 합니다.
목표는 세 가지입니다. SigLIP의 구조와 학습 방식, 이게 왜 검색에 잘 맞는지, 그리고 노트북을 직접 돌려서 결과를 확인하는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기본 개념인 공동 임베딩 공간입니다.
1주차에 텍스트 임베딩을 배울 때 뜻이 비슷한 문장은 가까운 벡터가 된다고 했죠. 여기서는 그 공간에 사진도 같이 들어갑니다.
고양이 사진과 'a photo of a cat'이라는 문장은 가까이, 고양이 사진과 'a rocket at night'은 멀리 놓이도록 만드는 거예요.
거리는 1주차와 똑같이 코사인 유사도로 잽니다. 그래서 문장 하나를 벡터로 바꾸면 가장 가까운 사진을 찾을 수 있습니다.
참고로, 이렇게 벡터를 만드는 모델 말고 사진을 보고 글로 대답하는 생성형 VLM도 있는데, 그런 모델들도 사진을 읽는 '눈'으로 SigLIP을 많이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이런 공간을 어떻게 학습할까요? 대조학습을 씁니다.
재료는 웹에서 모은 사진과 캡션 쌍인데, 사람이 따로 라벨을 붙이지 않고 원래 같이 있던 쌍을 그대로 씁니다.
학습할 때는 사진 여러 장과 캡션 여러 개를 한 배치로 묶어서 표를 만듭니다. 사진 4장, 캡션 4개면 4×4 표가 되고, 대각선의 초록 칸이 진짜 짝, 나머지 빨간 칸이 가짜 짝입니다.
진짜 짝은 유사도를 높이고 가짜 짝은 낮추도록 학습해요.
하나 기억해 주실 게 있는데, 배치가 B개면 진짜 짝은 B개지만 가짜 짝은 B제곱 빼기 B개라서, 배치가 커질수록 가짜 짝이 훨씬 빠르게 늘어납니다. 이건 뒤에서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대조학습이라도 CLIP과 SigLIP은 채점 방식이 다릅니다.
CLIP은 객관식 문제처럼 학습합니다. 고양이 사진을 하나 주고, 배치 안의 캡션들을 보기로 줘서 '이 중에 정답이 뭐야?'라고 묻는 거예요.
Softmax를 쓰기 때문에 확률을 다 더하면 항상 1이 되고, 보기들이 확률을 나눠 가집니다.
화면의 숫자는 이해를 돕기 위한 예시이고, 실제 CLIP은 보기가 3만 2천 개쯤 되는 아주 큰 객관식을 이미지 쪽, 텍스트 쪽 두 방향으로 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객관식 방식에는 약점이 있습니다.
손실을 말로 풀면 '정답 점수를 배치 전체 점수의 합으로 나눈 값'인데, 문제는 이 분모예요. 칸 하나를 계산하려 해도 배치 전체가 필요합니다.
그래서 첫째, GPU 여러 대로 나눠 학습해도 모든 임베딩을 한곳에 모아 큰 표를 만들어야 합니다.
둘째, 보기가 많아야 잘 배우기 때문에 배치를 아주 크게 잡아야 하고, 셋째, 그만큼 메모리와 통신 부담이 커집니다.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SigLIP은 이 문제를 아주 단순하게 풉니다. 객관식을 O/X 퀴즈로 바꾼 거예요.
캡션 하나하나에 대해 '이 사진이랑 짝이야, 아니야?'를 따로 판정합니다. 그래서 각 캡션이 0에서 1 사이 확률을 따로 갖고, 다 더해도 1일 필요가 없습니다.
2023년에 Google DeepMind가 ICCV에 발표한 논문인데, 재미있는 건 모델 구조는 CLIP과 거의 같고 손실 함수만 바꿨다는 점이에요.
그런데도 효율과 성능이 좋아졌다는 게 이 논문의 핵심 메시지입니다. 여기 숫자도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구조를 보겠습니다. SigLIP은 탑 두 개로 된 듀얼 인코더입니다.
사진은 ViT라는 이미지 인코더로, 문장은 Transformer 텍스트 인코더로 각각 벡터를 만들어요.
두 벡터를 같은 차원으로 맞추고 정규화한 다음 유사도를 계산하고, 여기에 온도 t와 바이어스 b를 적용해서 Sigmoid로 짝일 확률을 냅니다.
중요한 건 두 인코더가 완전히 분리되어 있다는 점입니다. 사진은 사진대로, 문장은 문장대로 따로 계산할 수 있어서, 나중에 검색할 때 사진을 미리 계산해 둘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이미지 인코더인 ViT는 사진을 퍼즐 조각처럼 잘라서 읽습니다.
224×224 사진을 16×16 픽셀 조각으로 자르면 가로세로 14개씩, 모두 196조각이 나와요.
이 조각 하나를 문장의 단어 하나처럼 토큰으로 보고 Transformer에 넣은 다음, 마지막에 하나의 벡터로 요약합니다.
모델 이름에 붙은 patch16, 224가 바로 이 숫자예요. 이따 실습에서 쓰는 모델이 siglip-base-patch16-224라서, 이름만 봐도 어떤 모델인지 알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수식을 한 줄로 보겠습니다. 어려워 보이지만 아까 O/X 퀴즈를 그대로 쓴 거예요.
사진 i와 문장 j의 유사도에 온도 t를 곱하고 b를 더한 다음, 짝이면 +1, 아니면 −1인 z를 곱해서 시그모이드에 넣습니다. 그리고 이걸 모든 쌍에 대해 더합니다.
CLIP 수식과 비교하면 분모에 배치 전체 합이 없다는 게 가장 큰 차이입니다.
그래서 짝이 아닌데 점수가 높은 캡션이 있으면, 그 캡션의 점수를 직접 낮추는 신호가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그런데 왜 바이어스 b가 따로 필요할까요? 아까 가짜 짝이 B제곱으로 늘어난다고 했죠.
배치가 3만 2천이면 진짜 짝 하나당 가짜 짝이 3만 2천 개입니다. 아무 조치 없이 시작하면 처음에 가짜 짝들의 손실이 너무 커서 학습이 흔들려요.
그래서 b를 −10에서 시작합니다. 그래프를 보시면, 회색 선인 b = 0일 때는 유사도가 0만 넘어도 짝일 확률이 절반을 넘는데, 보라색 선인 b = −10일 때는 유사도가 거의 1인 쌍만 확률이 올라갑니다.
즉 '처음엔 거의 다 짝이 아니다'에서 출발하는 거예요. 덤으로 출력이 실제 짝일 확률처럼 보정되는 효과도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이렇게 바꾸면 무엇이 좋아지는지 보겠습니다. Sigmoid는 칸끼리 독립이라서 큰 표를 한 번에 만들 필요가 없어요.
GPU가 세 대라면 먼저 각자 자기 블록, 1번 칸들을 계산합니다. 그다음 텍스트 벡터를 옆 GPU로 넘겨서 2번 칸들을, 한 번 더 넘겨서 3번 칸까지 계산하면 표 전체를 계산한 셈이 돼요. 마지막에 손실만 더하면 끝입니다.
그래서 GPU 한 대가 들고 있어야 하는 메모리가 훨씬 작습니다.
논문에서는 이미지 인코더를 고정한 설정으로 TPU 4개, 이틀 만에 ImageNet zero-shot 84.5%를 냈고, 배치를 100만까지 늘려서 실험할 수 있었다고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내용을 한 표로 정리했습니다.
위쪽 세 줄은 방금 본 구조 차이입니다. 객관식과 O/X, 배치 전체 정규화가 필요한지, 메모리를 어떻게 쓰는지.
아래쪽은 논문의 실험 결과입니다. 4천에서 1만 6천 정도의 작은 배치에서는 SigLIP이 확실히 좋았고, 배치를 키우면 둘 다 3만 2천 근처에서 성능이 거의 멈췄어요. 엉뚱한 캡션이 섞인 노이즈 데이터에서도 SigLIP이 덜 떨어졌습니다.
무조건 큰 배치가 답은 아니라는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이게 왜 검색에 잘 맞는지 보겠습니다. 첫 번째 이유는 아까 말씀드린 듀얼 인코더 구조예요.
사진 벡터는 미리 한 번만 계산해서 FAISS나 Chroma 같은 벡터DB에 넣어 둡니다. 질문이 들어오면 문장 하나만 텍스트 인코더로 바꾸고, 벡터DB에서 가장 가까운 사진을 찾으면 돼요.
사진이 수십만 장이어도 질문마다 다시 계산할 필요가 없습니다.
3주차 용어로 말하면 SigLIP은 bi-encoder고, 질문과 문서를 같이 넣는 cross-encoder는 재정렬할 때 쓰는 쪽입니다.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이유는 점수를 확률처럼 읽을 수 있다는 점입니다.
SigLIP 점수는 쌍마다 독립된 '짝일 확률'이라서, 예를 들어 0.5 넘는 사진만 보여주자 같은 기준을 세우기 쉬워요. Softmax는 후보가 바뀌면 값이 같이 바뀌어서 이런 기준을 잡기 어렵습니다.
다만 화면 숫자는 예시이고, 실제 값은 바로 다음 실습에서 보시겠지만 생각보다 낮게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여기부터는 실습입니다.
이번 주 메인 실습은 'Inference with multilingual SigLIP' 노트북이고, 공식 문서, 5주차 미리보기용 smol-vision 노트북, 논문 저자의 big_vision 데모도 같이 정리해 두었습니다.
저는 메인 노트북을 직접 실행했고, 다음 슬라이드부터 그 코드와 실제 결과를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모델을 불러옵니다.
원래 노트북은 가장 성능이 좋은 so400m 모델을 쓰는데, 저는 가볍게 돌리려고 base-patch16-224로 바꿔서 실행했습니다.
아까 이름 읽는 법을 봤으니까 base 크기에 16픽셀 조각, 224 해상도라는 걸 바로 아실 거예요.
AutoProcessor와 AutoModel 두 줄이면 모델과 전처리기가 같이 준비됩니다. 프로세서가 사진 크기 조절과 문장 토큰화를 한 번에 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입력 준비입니다. 사진은 COCO 데이터셋의 고양이 두 마리 사진이고, 캡션은 고양이 두 마리, 햄버거 두 개, 강아지 두 마리, 이렇게 세 개를 줬습니다.
여기서 꼭 보셔야 할 게 padding="max_length"예요. SigLIP은 학습할 때 문장을 항상 64토큰 길이로 맞췄기 때문에 쓸 때도 똑같이 맞춰야 합니다.
출력된 크기를 보면 input_ids가 3×64, 문장 3개가 64토큰씩이고, pixel_values는 1×3×224×224, 사진 1장이 224 크기로 바뀐 걸 확인할 수 있습니다. ViT 슬라이드에서 본 224가 여기서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모델에 넣고 결과를 봅니다. 여기서 CLIP과 다른 점이 하나 있는데, 확률을 softmax가 아니라 sigmoid로 계산합니다. 오늘 배운 O/X 퀴즈 그대로예요.
제가 돌린 결과는 고양이 두 마리가 32%, 햄버거와 강아지는 0%였습니다.
정답인데 32%면 낮아 보이죠? 노트북 설명에도 나오는데, SigLIP 확률은 쌍마다 따로 해석해야 하고 CLIP보다 값이 평평하게 나옵니다.
그래서 절대값보다는 다른 캡션과 비교해서 읽는 게 맞아요. 정답 캡션만 높고 나머지는 0이니까 제대로 구분한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다국어 예제입니다. 프랑스어, 네덜란드어, 독일어 문장을 넣어 봤고, 프랑스어 '고양이 두 마리 사진'이 29.5%, 나머지는 0%가 나왔습니다.
그런데 짚을 점이 하나 있어요. 노트북의 다국어 셀에서 모델을 새로 불러오는 부분이 주석 처리되어 있어서, 이 결과는 다국어 모델이 아니라 앞에서 불러온 영어 base 모델로 나온 겁니다.
영어 모델인데도 프랑스어 문장을 어느 정도 맞힌 셈이에요.
제대로 비교하려면 google/siglip-base-patch16-256-multilingual을 불러와서 다시 돌려야 하고, 한국어 질문도 이 모델로 실험해 보면 5주차에 바로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Pipeline API입니다. 전처리, 모델 실행, 후처리를 한 번에 묶어 주는 방식이에요. zero-shot-image-classification 태스크로 만들고 후보 라벨만 주면 됩니다.
결과는 '2 cats'가 0.1983, 리모컨과 비행기는 0이었습니다.
앞에서 직접 계산한 32%와 값이 다른데, 문장 형식이 달라서 그렇습니다. 공식 문서에 따르면 pipeline은 라벨을 'This is a photo of 라벨.' 형식의 문장으로 바꿔서 넣기 때문에, 직접 계산과 같은 값을 얻으려면 같은 형식을 써야 합니다.
이렇게 SigLIP 점수는 문장 표현에 따라 달라지니까, 5주차 검색에서도 질문 형식을 맞춰 주는 게 좋습니다. 그리고 사진에 리모컨이 실제로 있는데도 0이 나온 점은 같이 이야기해 보면 재미있을 것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첫째, SigLIP은 CLIP 구조에서 객관식을 O/X 퀴즈로, Softmax를 Sigmoid로 바꾼 모델입니다.
둘째, 그 덕분에 배치 전체를 모을 필요가 없어져서 메모리가 줄고, 작은 배치와 노이즈에도 강해졌습니다.
셋째, 듀얼 인코더와 공동 임베딩 공간 덕분에 사진은 미리 계산하고 질문만 그때그때 계산하는 대규모 검색에 잘 맞습니다.
5주차에는 오늘 뽑은 임베딩을 벡터DB에 넣어서 실제로 텍스트로 이미지를 찾는 검색을 만들겠습니다.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참고한 자료와 실습 링크는 이 슬라이드에 정리해 두었습니다. 이상으로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035040" cy="118872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3" name="Text 0"/>
          <p:cNvSpPr/>
          <p:nvPr>
            <p:ph idx="101" type="body" hasCustomPrompt="1"/>
          </p:nvPr>
        </p:nvSpPr>
        <p:spPr>
          <a:xfrm>
            <a:off x="731520" y="3474720"/>
            <a:ext cx="6583680" cy="164592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640080" y="635508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DRAG 4주차 · SigLIP</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image" Target="../media/image-2-5.jp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4.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3.jpg"/><Relationship Id="rId8" Type="http://schemas.openxmlformats.org/officeDocument/2006/relationships/slideLayout" Target="../slideLayouts/slideLayout4.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colab.research.google.com/github/NielsRogge/Transformers-Tutorials/blob/master/SigLIP/Inference_with_(multilingual)_SigLIP%2C_a_better_CLIP_model.ipynb" TargetMode="External"/><Relationship Id="rId4" Type="http://schemas.openxmlformats.org/officeDocument/2006/relationships/hyperlink" Target="https://huggingface.co/docs/transformers/model_doc/siglip" TargetMode="External"/><Relationship Id="rId6" Type="http://schemas.openxmlformats.org/officeDocument/2006/relationships/hyperlink" Target="https://github.com/merveenoyan/smol-vision/blob/main/Image_Search_with_MetaCLIP2.ipynb" TargetMode="External"/><Relationship Id="rId8" Type="http://schemas.openxmlformats.org/officeDocument/2006/relationships/hyperlink" Target="https://colab.research.google.com/github/google-research/big_vision/blob/main/big_vision/configs/proj/image_text/SigLIP_demo.ipynb" TargetMode="External"/><Relationship Id="rId1" Type="http://schemas.openxmlformats.org/officeDocument/2006/relationships/image" Target="../media/image-17-1.png"/><Relationship Id="rId3" Type="http://schemas.openxmlformats.org/officeDocument/2006/relationships/image" Target="../media/image-17-2.png"/><Relationship Id="rId5" Type="http://schemas.openxmlformats.org/officeDocument/2006/relationships/image" Target="../media/image-17-3.png"/><Relationship Id="rId7" Type="http://schemas.openxmlformats.org/officeDocument/2006/relationships/image" Target="../media/image-17-4.png"/><Relationship Id="rId9" Type="http://schemas.openxmlformats.org/officeDocument/2006/relationships/slideLayout" Target="../slideLayouts/slideLayout4.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colab.research.google.com/github/NielsRogge/Transformers-Tutorials/blob/master/SigLIP/Inference_with_(multilingual)_SigLIP%2C_a_better_CLIP_model.ipynb" TargetMode="Externa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colab.research.google.com/github/NielsRogge/Transformers-Tutorials/blob/master/SigLIP/Inference_with_(multilingual)_SigLIP%2C_a_better_CLIP_model.ipynb" TargetMode="External"/><Relationship Id="rId2" Type="http://schemas.openxmlformats.org/officeDocument/2006/relationships/image" Target="../media/image-20-1.jp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colab.research.google.com/github/NielsRogge/Transformers-Tutorials/blob/master/SigLIP/Inference_with_(multilingual)_SigLIP%2C_a_better_CLIP_model.ipynb" TargetMode="External"/><Relationship Id="rId2" Type="http://schemas.openxmlformats.org/officeDocument/2006/relationships/image" Target="../media/image-21-1.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colab.research.google.com/github/NielsRogge/Transformers-Tutorials/blob/master/SigLIP/Inference_with_(multilingual)_SigLIP%2C_a_better_CLIP_model.ipynb" TargetMode="Externa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colab.research.google.com/github/NielsRogge/Transformers-Tutorials/blob/master/SigLIP/Inference_with_(multilingual)_SigLIP%2C_a_better_CLIP_model.ipynb" TargetMode="External"/><Relationship Id="rId2" Type="http://schemas.openxmlformats.org/officeDocument/2006/relationships/hyperlink" Target="https://huggingface.co/docs/transformers/model_doc/siglip" TargetMode="External"/><Relationship Id="rId3" Type="http://schemas.openxmlformats.org/officeDocument/2006/relationships/hyperlink" Target="https://github.com/merveenoyan/smol-vision/blob/main/Image_Search_with_MetaCLIP2.ipynb" TargetMode="External"/><Relationship Id="rId4" Type="http://schemas.openxmlformats.org/officeDocument/2006/relationships/hyperlink" Target="https://colab.research.google.com/github/google-research/big_vision/blob/main/big_vision/configs/proj/image_text/SigLIP_demo.ipynb" TargetMode="External"/><Relationship Id="rId5" Type="http://schemas.openxmlformats.org/officeDocument/2006/relationships/hyperlink" Target="https://huggingface.co/blog/vlms" TargetMode="External"/><Relationship Id="rId6" Type="http://schemas.openxmlformats.org/officeDocument/2006/relationships/hyperlink" Target="https://arxiv.org/abs/2303.15343" TargetMode="External"/><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035040" cy="1188720"/>
          </a:xfrm>
          <a:prstGeom prst="rect">
            <a:avLst/>
          </a:prstGeom>
          <a:noFill/>
          <a:ln/>
        </p:spPr>
        <p:txBody>
          <a:bodyPr wrap="square" lIns="0" tIns="0" rIns="0" bIns="0" rtlCol="0" anchor="b"/>
          <a:lstStyle/>
          <a:p>
            <a:pPr indent="0" marL="0">
              <a:buNone/>
            </a:pPr>
            <a:r>
              <a:rPr lang="en-US" sz="5400" b="1" dirty="0">
                <a:solidFill>
                  <a:schemeClr val="bg1"/>
                </a:solidFill>
              </a:rPr>
              <a:t>SigLIP</a:t>
            </a:r>
            <a:endParaRPr lang="en-US" sz="5400" dirty="0"/>
          </a:p>
        </p:txBody>
      </p:sp>
      <p:sp>
        <p:nvSpPr>
          <p:cNvPr id="3" name="Text 0"/>
          <p:cNvSpPr/>
          <p:nvPr>
            <p:ph idx="101" type="body" hasCustomPrompt="1"/>
          </p:nvPr>
        </p:nvSpPr>
        <p:spPr>
          <a:xfrm>
            <a:off x="731520" y="3474720"/>
            <a:ext cx="6583680" cy="1645920"/>
          </a:xfrm>
          <a:prstGeom prst="rect">
            <a:avLst/>
          </a:prstGeom>
          <a:noFill/>
          <a:ln/>
        </p:spPr>
        <p:txBody>
          <a:bodyPr wrap="square" lIns="0" tIns="0" rIns="0" bIns="0" rtlCol="0" anchor="t"/>
          <a:lstStyle/>
          <a:p>
            <a:pPr indent="0" marL="0">
              <a:buNone/>
            </a:pPr>
            <a:r>
              <a:rPr lang="en-US" sz="2400" dirty="0">
                <a:solidFill>
                  <a:schemeClr val="bg1"/>
                </a:solidFill>
              </a:rPr>
              <a:t>Sigmoid Loss로 학습하는</a:t>
            </a:r>
            <a:endParaRPr lang="en-US" sz="2000" dirty="0"/>
          </a:p>
          <a:p>
            <a:pPr indent="0" marL="0">
              <a:buNone/>
            </a:pPr>
            <a:r>
              <a:rPr lang="en-US" sz="2400" dirty="0">
                <a:solidFill>
                  <a:schemeClr val="bg1"/>
                </a:solidFill>
              </a:rPr>
              <a:t>비전-언어 임베딩</a:t>
            </a:r>
            <a:endParaRPr lang="en-US" sz="2000" dirty="0"/>
          </a:p>
          <a:p>
            <a:pPr indent="0" marL="0">
              <a:buNone/>
            </a:pPr>
            <a:r>
              <a:rPr lang="en-US" sz="1000" dirty="0">
                <a:solidFill>
                  <a:schemeClr val="accent6"/>
                </a:solidFill>
              </a:rPr>
              <a:t> </a:t>
            </a:r>
            <a:endParaRPr lang="en-US" sz="2000" dirty="0"/>
          </a:p>
          <a:p>
            <a:pPr indent="0" marL="0">
              <a:buNone/>
            </a:pPr>
            <a:r>
              <a:rPr lang="en-US" sz="1800" dirty="0">
                <a:solidFill>
                  <a:schemeClr val="accent6"/>
                </a:solidFill>
              </a:rPr>
              <a:t>DRAG 4주차 · 눈으로 찾는 RAG</a:t>
            </a:r>
            <a:endParaRPr lang="en-US" sz="2000" dirty="0"/>
          </a:p>
          <a:p>
            <a:pPr indent="0" marL="0">
              <a:buNone/>
            </a:pPr>
            <a:r>
              <a:rPr lang="en-US" sz="1800" dirty="0">
                <a:solidFill>
                  <a:schemeClr val="accent6"/>
                </a:solidFill>
              </a:rPr>
              <a:t>발표자: 김가은</a:t>
            </a:r>
            <a:endParaRPr lang="en-US" sz="2000" dirty="0"/>
          </a:p>
        </p:txBody>
      </p:sp>
      <p:pic>
        <p:nvPicPr>
          <p:cNvPr id="4" name="photo-cat-1" descr="고양이 사진">    </p:cNvPr>
          <p:cNvPicPr>
            <a:picLocks noChangeAspect="1"/>
          </p:cNvPicPr>
          <p:nvPr/>
        </p:nvPicPr>
        <p:blipFill>
          <a:blip r:embed="rId1"/>
          <a:stretch>
            <a:fillRect/>
          </a:stretch>
        </p:blipFill>
        <p:spPr>
          <a:xfrm>
            <a:off x="7589520" y="1097280"/>
            <a:ext cx="1737360" cy="1737360"/>
          </a:xfrm>
          <a:prstGeom prst="ellipse">
            <a:avLst/>
          </a:prstGeom>
        </p:spPr>
      </p:pic>
      <p:sp>
        <p:nvSpPr>
          <p:cNvPr id="5" name="pill-2"/>
          <p:cNvSpPr/>
          <p:nvPr/>
        </p:nvSpPr>
        <p:spPr>
          <a:xfrm>
            <a:off x="7543800" y="2926080"/>
            <a:ext cx="1828800" cy="384048"/>
          </a:xfrm>
          <a:prstGeom prst="roundRect">
            <a:avLst>
              <a:gd name="adj" fmla="val 50000"/>
            </a:avLst>
          </a:prstGeom>
          <a:solidFill>
            <a:schemeClr val="accent2"/>
          </a:solidFill>
          <a:ln/>
        </p:spPr>
      </p:sp>
      <p:sp>
        <p:nvSpPr>
          <p:cNvPr id="6" name="text-3"/>
          <p:cNvSpPr txBox="1"/>
          <p:nvPr/>
        </p:nvSpPr>
        <p:spPr>
          <a:xfrm>
            <a:off x="7543800" y="2926080"/>
            <a:ext cx="1828800" cy="384048"/>
          </a:xfrm>
          <a:prstGeom prst="rect">
            <a:avLst/>
          </a:prstGeom>
          <a:noFill/>
          <a:ln/>
        </p:spPr>
        <p:txBody>
          <a:bodyPr wrap="square" lIns="0" tIns="0" rIns="0" bIns="0" rtlCol="0" anchor="ctr"/>
          <a:lstStyle/>
          <a:p>
            <a:pPr algn="ctr" indent="0" marL="0">
              <a:buNone/>
            </a:pPr>
            <a:r>
              <a:rPr lang="en-US" sz="1200" b="1" dirty="0">
                <a:solidFill>
                  <a:schemeClr val="bg1"/>
                </a:solidFill>
              </a:rPr>
              <a:t>a photo of a cat</a:t>
            </a:r>
            <a:endParaRPr lang="en-US" sz="1200" dirty="0"/>
          </a:p>
        </p:txBody>
      </p:sp>
      <p:pic>
        <p:nvPicPr>
          <p:cNvPr id="7" name="photo-coffee-4" descr="커피 사진">    </p:cNvPr>
          <p:cNvPicPr>
            <a:picLocks noChangeAspect="1"/>
          </p:cNvPicPr>
          <p:nvPr/>
        </p:nvPicPr>
        <p:blipFill>
          <a:blip r:embed="rId2"/>
          <a:stretch>
            <a:fillRect/>
          </a:stretch>
        </p:blipFill>
        <p:spPr>
          <a:xfrm>
            <a:off x="9601200" y="1097280"/>
            <a:ext cx="1737360" cy="1737360"/>
          </a:xfrm>
          <a:prstGeom prst="ellipse">
            <a:avLst/>
          </a:prstGeom>
        </p:spPr>
      </p:pic>
      <p:sp>
        <p:nvSpPr>
          <p:cNvPr id="8" name="pill-5"/>
          <p:cNvSpPr/>
          <p:nvPr/>
        </p:nvSpPr>
        <p:spPr>
          <a:xfrm>
            <a:off x="9555480" y="2926080"/>
            <a:ext cx="1828800" cy="384048"/>
          </a:xfrm>
          <a:prstGeom prst="roundRect">
            <a:avLst>
              <a:gd name="adj" fmla="val 50000"/>
            </a:avLst>
          </a:prstGeom>
          <a:solidFill>
            <a:schemeClr val="accent2"/>
          </a:solidFill>
          <a:ln/>
        </p:spPr>
      </p:sp>
      <p:sp>
        <p:nvSpPr>
          <p:cNvPr id="9" name="text-6"/>
          <p:cNvSpPr txBox="1"/>
          <p:nvPr/>
        </p:nvSpPr>
        <p:spPr>
          <a:xfrm>
            <a:off x="9555480" y="2926080"/>
            <a:ext cx="1828800" cy="384048"/>
          </a:xfrm>
          <a:prstGeom prst="rect">
            <a:avLst/>
          </a:prstGeom>
          <a:noFill/>
          <a:ln/>
        </p:spPr>
        <p:txBody>
          <a:bodyPr wrap="square" lIns="0" tIns="0" rIns="0" bIns="0" rtlCol="0" anchor="ctr"/>
          <a:lstStyle/>
          <a:p>
            <a:pPr algn="ctr" indent="0" marL="0">
              <a:buNone/>
            </a:pPr>
            <a:r>
              <a:rPr lang="en-US" sz="1200" b="1" dirty="0">
                <a:solidFill>
                  <a:schemeClr val="bg1"/>
                </a:solidFill>
              </a:rPr>
              <a:t>a cup of coffee</a:t>
            </a:r>
            <a:endParaRPr lang="en-US" sz="1200" dirty="0"/>
          </a:p>
        </p:txBody>
      </p:sp>
      <p:pic>
        <p:nvPicPr>
          <p:cNvPr id="10" name="photo-rocket-7" descr="로켓 사진">    </p:cNvPr>
          <p:cNvPicPr>
            <a:picLocks noChangeAspect="1"/>
          </p:cNvPicPr>
          <p:nvPr/>
        </p:nvPicPr>
        <p:blipFill>
          <a:blip r:embed="rId3"/>
          <a:stretch>
            <a:fillRect/>
          </a:stretch>
        </p:blipFill>
        <p:spPr>
          <a:xfrm>
            <a:off x="7589520" y="3520440"/>
            <a:ext cx="1737360" cy="1737360"/>
          </a:xfrm>
          <a:prstGeom prst="ellipse">
            <a:avLst/>
          </a:prstGeom>
        </p:spPr>
      </p:pic>
      <p:sp>
        <p:nvSpPr>
          <p:cNvPr id="11" name="pill-8"/>
          <p:cNvSpPr/>
          <p:nvPr/>
        </p:nvSpPr>
        <p:spPr>
          <a:xfrm>
            <a:off x="7543800" y="5349240"/>
            <a:ext cx="1828800" cy="384048"/>
          </a:xfrm>
          <a:prstGeom prst="roundRect">
            <a:avLst>
              <a:gd name="adj" fmla="val 50000"/>
            </a:avLst>
          </a:prstGeom>
          <a:solidFill>
            <a:schemeClr val="accent2"/>
          </a:solidFill>
          <a:ln/>
        </p:spPr>
      </p:sp>
      <p:sp>
        <p:nvSpPr>
          <p:cNvPr id="12" name="text-9"/>
          <p:cNvSpPr txBox="1"/>
          <p:nvPr/>
        </p:nvSpPr>
        <p:spPr>
          <a:xfrm>
            <a:off x="7543800" y="5349240"/>
            <a:ext cx="1828800" cy="384048"/>
          </a:xfrm>
          <a:prstGeom prst="rect">
            <a:avLst/>
          </a:prstGeom>
          <a:noFill/>
          <a:ln/>
        </p:spPr>
        <p:txBody>
          <a:bodyPr wrap="square" lIns="0" tIns="0" rIns="0" bIns="0" rtlCol="0" anchor="ctr"/>
          <a:lstStyle/>
          <a:p>
            <a:pPr algn="ctr" indent="0" marL="0">
              <a:buNone/>
            </a:pPr>
            <a:r>
              <a:rPr lang="en-US" sz="1200" b="1" dirty="0">
                <a:solidFill>
                  <a:schemeClr val="bg1"/>
                </a:solidFill>
              </a:rPr>
              <a:t>a rocket at night</a:t>
            </a:r>
            <a:endParaRPr lang="en-US" sz="1200" dirty="0"/>
          </a:p>
        </p:txBody>
      </p:sp>
      <p:pic>
        <p:nvPicPr>
          <p:cNvPr id="13" name="photo-astronaut-10" descr="우주비행사 사진">    </p:cNvPr>
          <p:cNvPicPr>
            <a:picLocks noChangeAspect="1"/>
          </p:cNvPicPr>
          <p:nvPr/>
        </p:nvPicPr>
        <p:blipFill>
          <a:blip r:embed="rId4"/>
          <a:stretch>
            <a:fillRect/>
          </a:stretch>
        </p:blipFill>
        <p:spPr>
          <a:xfrm>
            <a:off x="9601200" y="3520440"/>
            <a:ext cx="1737360" cy="1737360"/>
          </a:xfrm>
          <a:prstGeom prst="ellipse">
            <a:avLst/>
          </a:prstGeom>
        </p:spPr>
      </p:pic>
      <p:sp>
        <p:nvSpPr>
          <p:cNvPr id="14" name="pill-11"/>
          <p:cNvSpPr/>
          <p:nvPr/>
        </p:nvSpPr>
        <p:spPr>
          <a:xfrm>
            <a:off x="9555480" y="5349240"/>
            <a:ext cx="1828800" cy="384048"/>
          </a:xfrm>
          <a:prstGeom prst="roundRect">
            <a:avLst>
              <a:gd name="adj" fmla="val 50000"/>
            </a:avLst>
          </a:prstGeom>
          <a:solidFill>
            <a:schemeClr val="accent2"/>
          </a:solidFill>
          <a:ln/>
        </p:spPr>
      </p:sp>
      <p:sp>
        <p:nvSpPr>
          <p:cNvPr id="15" name="text-12"/>
          <p:cNvSpPr txBox="1"/>
          <p:nvPr/>
        </p:nvSpPr>
        <p:spPr>
          <a:xfrm>
            <a:off x="9555480" y="5349240"/>
            <a:ext cx="1828800" cy="384048"/>
          </a:xfrm>
          <a:prstGeom prst="rect">
            <a:avLst/>
          </a:prstGeom>
          <a:noFill/>
          <a:ln/>
        </p:spPr>
        <p:txBody>
          <a:bodyPr wrap="square" lIns="0" tIns="0" rIns="0" bIns="0" rtlCol="0" anchor="ctr"/>
          <a:lstStyle/>
          <a:p>
            <a:pPr algn="ctr" indent="0" marL="0">
              <a:buNone/>
            </a:pPr>
            <a:r>
              <a:rPr lang="en-US" sz="1200" b="1" dirty="0">
                <a:solidFill>
                  <a:schemeClr val="bg1"/>
                </a:solidFill>
              </a:rPr>
              <a:t>an astronaut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오늘의 질문: 글로 사진을 찾을 수 있을까?</a:t>
            </a:r>
            <a:endParaRPr lang="en-US" sz="3000" dirty="0"/>
          </a:p>
        </p:txBody>
      </p:sp>
      <p:sp>
        <p:nvSpPr>
          <p:cNvPr id="3" name="pill-13"/>
          <p:cNvSpPr/>
          <p:nvPr/>
        </p:nvSpPr>
        <p:spPr>
          <a:xfrm>
            <a:off x="822960" y="1828800"/>
            <a:ext cx="3657600" cy="731520"/>
          </a:xfrm>
          <a:prstGeom prst="roundRect">
            <a:avLst>
              <a:gd name="adj" fmla="val 50000"/>
            </a:avLst>
          </a:prstGeom>
          <a:solidFill>
            <a:schemeClr val="accent2"/>
          </a:solidFill>
          <a:ln/>
        </p:spPr>
      </p:sp>
      <p:sp>
        <p:nvSpPr>
          <p:cNvPr id="4" name="text-14"/>
          <p:cNvSpPr txBox="1"/>
          <p:nvPr/>
        </p:nvSpPr>
        <p:spPr>
          <a:xfrm>
            <a:off x="822960" y="1828800"/>
            <a:ext cx="3657600" cy="731520"/>
          </a:xfrm>
          <a:prstGeom prst="rect">
            <a:avLst/>
          </a:prstGeom>
          <a:noFill/>
          <a:ln/>
        </p:spPr>
        <p:txBody>
          <a:bodyPr wrap="square" lIns="0" tIns="0" rIns="0" bIns="0" rtlCol="0" anchor="ctr"/>
          <a:lstStyle/>
          <a:p>
            <a:pPr algn="ctr" indent="0" marL="0">
              <a:buNone/>
            </a:pPr>
            <a:r>
              <a:rPr lang="en-US" sz="2200" b="1" dirty="0">
                <a:solidFill>
                  <a:schemeClr val="bg1"/>
                </a:solidFill>
              </a:rPr>
              <a:t>“밤에 발사되는 로켓”</a:t>
            </a:r>
            <a:endParaRPr lang="en-US" sz="2200" dirty="0"/>
          </a:p>
        </p:txBody>
      </p:sp>
      <p:sp>
        <p:nvSpPr>
          <p:cNvPr id="5" name="text-15"/>
          <p:cNvSpPr txBox="1"/>
          <p:nvPr/>
        </p:nvSpPr>
        <p:spPr>
          <a:xfrm>
            <a:off x="822960" y="2651760"/>
            <a:ext cx="3657600" cy="365760"/>
          </a:xfrm>
          <a:prstGeom prst="rect">
            <a:avLst/>
          </a:prstGeom>
          <a:noFill/>
          <a:ln/>
        </p:spPr>
        <p:txBody>
          <a:bodyPr wrap="square" lIns="0" tIns="0" rIns="0" bIns="0" rtlCol="0" anchor="t"/>
          <a:lstStyle/>
          <a:p>
            <a:pPr algn="ctr" indent="0" marL="0">
              <a:buNone/>
            </a:pPr>
            <a:r>
              <a:rPr lang="en-US" sz="1600" dirty="0">
                <a:solidFill>
                  <a:schemeClr val="accent2"/>
                </a:solidFill>
              </a:rPr>
              <a:t>텍스트 질문</a:t>
            </a:r>
            <a:endParaRPr lang="en-US" sz="1600" dirty="0"/>
          </a:p>
        </p:txBody>
      </p:sp>
      <p:sp>
        <p:nvSpPr>
          <p:cNvPr id="6" name="arrow-16"/>
          <p:cNvSpPr/>
          <p:nvPr/>
        </p:nvSpPr>
        <p:spPr>
          <a:xfrm>
            <a:off x="4754880" y="2194560"/>
            <a:ext cx="1097280" cy="0"/>
          </a:xfrm>
          <a:prstGeom prst="line">
            <a:avLst/>
          </a:prstGeom>
          <a:noFill/>
          <a:ln w="31750">
            <a:solidFill>
              <a:schemeClr val="accent3"/>
            </a:solidFill>
            <a:prstDash val="solid"/>
            <a:tailEnd type="triangle"/>
          </a:ln>
        </p:spPr>
      </p:sp>
      <p:sp>
        <p:nvSpPr>
          <p:cNvPr id="7" name="text-17"/>
          <p:cNvSpPr txBox="1"/>
          <p:nvPr/>
        </p:nvSpPr>
        <p:spPr>
          <a:xfrm>
            <a:off x="4754880" y="1554480"/>
            <a:ext cx="1097280" cy="548640"/>
          </a:xfrm>
          <a:prstGeom prst="rect">
            <a:avLst/>
          </a:prstGeom>
          <a:noFill/>
          <a:ln/>
        </p:spPr>
        <p:txBody>
          <a:bodyPr wrap="square" lIns="0" tIns="0" rIns="0" bIns="0" rtlCol="0" anchor="t"/>
          <a:lstStyle/>
          <a:p>
            <a:pPr algn="ctr" indent="0" marL="0">
              <a:buNone/>
            </a:pPr>
            <a:r>
              <a:rPr lang="en-US" sz="2800" b="1" dirty="0">
                <a:solidFill>
                  <a:schemeClr val="accent3"/>
                </a:solidFill>
              </a:rPr>
              <a:t>?</a:t>
            </a:r>
            <a:endParaRPr lang="en-US" sz="2800" dirty="0"/>
          </a:p>
        </p:txBody>
      </p:sp>
      <p:pic>
        <p:nvPicPr>
          <p:cNvPr id="8" name="photo-cat-18" descr="고양이 사진">    </p:cNvPr>
          <p:cNvPicPr>
            <a:picLocks noChangeAspect="1"/>
          </p:cNvPicPr>
          <p:nvPr/>
        </p:nvPicPr>
        <p:blipFill>
          <a:blip r:embed="rId1"/>
          <a:stretch>
            <a:fillRect/>
          </a:stretch>
        </p:blipFill>
        <p:spPr>
          <a:xfrm>
            <a:off x="6217920" y="1417320"/>
            <a:ext cx="1828800" cy="1828800"/>
          </a:xfrm>
          <a:prstGeom prst="rect">
            <a:avLst/>
          </a:prstGeom>
        </p:spPr>
      </p:pic>
      <p:pic>
        <p:nvPicPr>
          <p:cNvPr id="9" name="photo-coffee-19" descr="커피 사진">    </p:cNvPr>
          <p:cNvPicPr>
            <a:picLocks noChangeAspect="1"/>
          </p:cNvPicPr>
          <p:nvPr/>
        </p:nvPicPr>
        <p:blipFill>
          <a:blip r:embed="rId2"/>
          <a:stretch>
            <a:fillRect/>
          </a:stretch>
        </p:blipFill>
        <p:spPr>
          <a:xfrm>
            <a:off x="8732520" y="1417320"/>
            <a:ext cx="1828800" cy="1828800"/>
          </a:xfrm>
          <a:prstGeom prst="rect">
            <a:avLst/>
          </a:prstGeom>
        </p:spPr>
      </p:pic>
      <p:pic>
        <p:nvPicPr>
          <p:cNvPr id="10" name="photo-rocket-20" descr="로켓 사진">    </p:cNvPr>
          <p:cNvPicPr>
            <a:picLocks noChangeAspect="1"/>
          </p:cNvPicPr>
          <p:nvPr/>
        </p:nvPicPr>
        <p:blipFill>
          <a:blip r:embed="rId3"/>
          <a:stretch>
            <a:fillRect/>
          </a:stretch>
        </p:blipFill>
        <p:spPr>
          <a:xfrm>
            <a:off x="6217920" y="3566160"/>
            <a:ext cx="1828800" cy="1828800"/>
          </a:xfrm>
          <a:prstGeom prst="rect">
            <a:avLst/>
          </a:prstGeom>
        </p:spPr>
      </p:pic>
      <p:sp>
        <p:nvSpPr>
          <p:cNvPr id="11" name="hit"/>
          <p:cNvSpPr/>
          <p:nvPr/>
        </p:nvSpPr>
        <p:spPr>
          <a:xfrm>
            <a:off x="6163056" y="3511296"/>
            <a:ext cx="1938528" cy="1938528"/>
          </a:xfrm>
          <a:prstGeom prst="rect">
            <a:avLst/>
          </a:prstGeom>
          <a:solidFill>
            <a:schemeClr val="accent3">
              <a:alpha val="0"/>
            </a:schemeClr>
          </a:solidFill>
          <a:ln w="63500">
            <a:solidFill>
              <a:schemeClr val="accent3"/>
            </a:solidFill>
            <a:prstDash val="solid"/>
          </a:ln>
        </p:spPr>
      </p:sp>
      <p:sp>
        <p:nvSpPr>
          <p:cNvPr id="12" name="circle-21"/>
          <p:cNvSpPr/>
          <p:nvPr/>
        </p:nvSpPr>
        <p:spPr>
          <a:xfrm>
            <a:off x="7726680" y="3337560"/>
            <a:ext cx="548640" cy="548640"/>
          </a:xfrm>
          <a:prstGeom prst="ellipse">
            <a:avLst/>
          </a:prstGeom>
          <a:solidFill>
            <a:schemeClr val="accent3"/>
          </a:solidFill>
          <a:ln/>
        </p:spPr>
      </p:sp>
      <p:pic>
        <p:nvPicPr>
          <p:cNvPr id="13" name="icon-FaCheck-22" descr="FaCheck">    </p:cNvPr>
          <p:cNvPicPr>
            <a:picLocks noChangeAspect="1"/>
          </p:cNvPicPr>
          <p:nvPr/>
        </p:nvPicPr>
        <p:blipFill>
          <a:blip r:embed="rId4"/>
          <a:stretch>
            <a:fillRect/>
          </a:stretch>
        </p:blipFill>
        <p:spPr>
          <a:xfrm>
            <a:off x="7869326" y="3480206"/>
            <a:ext cx="263347" cy="263347"/>
          </a:xfrm>
          <a:prstGeom prst="rect">
            <a:avLst/>
          </a:prstGeom>
        </p:spPr>
      </p:pic>
      <p:pic>
        <p:nvPicPr>
          <p:cNvPr id="14" name="photo-astronaut-23" descr="우주비행사 사진">    </p:cNvPr>
          <p:cNvPicPr>
            <a:picLocks noChangeAspect="1"/>
          </p:cNvPicPr>
          <p:nvPr/>
        </p:nvPicPr>
        <p:blipFill>
          <a:blip r:embed="rId5"/>
          <a:stretch>
            <a:fillRect/>
          </a:stretch>
        </p:blipFill>
        <p:spPr>
          <a:xfrm>
            <a:off x="8732520" y="3566160"/>
            <a:ext cx="1828800" cy="1828800"/>
          </a:xfrm>
          <a:prstGeom prst="rect">
            <a:avLst/>
          </a:prstGeom>
        </p:spPr>
      </p:pic>
      <p:sp>
        <p:nvSpPr>
          <p:cNvPr id="15" name="card-24"/>
          <p:cNvSpPr/>
          <p:nvPr/>
        </p:nvSpPr>
        <p:spPr>
          <a:xfrm>
            <a:off x="822960" y="3840480"/>
            <a:ext cx="4480560" cy="1737360"/>
          </a:xfrm>
          <a:prstGeom prst="roundRect">
            <a:avLst>
              <a:gd name="adj" fmla="val 7368"/>
            </a:avLst>
          </a:prstGeom>
          <a:solidFill>
            <a:schemeClr val="accent3">
              <a:alpha val="10000"/>
            </a:schemeClr>
          </a:solidFill>
          <a:ln/>
        </p:spPr>
      </p:sp>
      <p:sp>
        <p:nvSpPr>
          <p:cNvPr id="16" name="text-25"/>
          <p:cNvSpPr txBox="1"/>
          <p:nvPr/>
        </p:nvSpPr>
        <p:spPr>
          <a:xfrm>
            <a:off x="1097280" y="3840480"/>
            <a:ext cx="4023360" cy="1737360"/>
          </a:xfrm>
          <a:prstGeom prst="rect">
            <a:avLst/>
          </a:prstGeom>
          <a:noFill/>
          <a:ln/>
        </p:spPr>
        <p:txBody>
          <a:bodyPr wrap="square" lIns="0" tIns="0" rIns="0" bIns="0" rtlCol="0" anchor="ctr"/>
          <a:lstStyle/>
          <a:p>
            <a:pPr indent="0" marL="0">
              <a:buNone/>
            </a:pPr>
            <a:r>
              <a:rPr lang="en-US" sz="2000" b="1" dirty="0">
                <a:solidFill>
                  <a:schemeClr val="accent3"/>
                </a:solidFill>
              </a:rPr>
              <a:t>단어가 아닌 ‘의미’로</a:t>
            </a:r>
            <a:endParaRPr lang="en-US" sz="2000" dirty="0"/>
          </a:p>
          <a:p>
            <a:pPr indent="0" marL="0">
              <a:buNone/>
            </a:pPr>
            <a:r>
              <a:rPr lang="en-US" sz="1700" dirty="0">
                <a:solidFill>
                  <a:schemeClr val="tx1"/>
                </a:solidFill>
              </a:rPr>
              <a:t>사진에 글자가 없어도 찾아야 함</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이번 주의 위치와 목표</a:t>
            </a:r>
            <a:endParaRPr lang="en-US" sz="3000" dirty="0"/>
          </a:p>
        </p:txBody>
      </p:sp>
      <p:sp>
        <p:nvSpPr>
          <p:cNvPr id="3" name="card-26"/>
          <p:cNvSpPr/>
          <p:nvPr/>
        </p:nvSpPr>
        <p:spPr>
          <a:xfrm>
            <a:off x="640080" y="1371600"/>
            <a:ext cx="3383280" cy="1280160"/>
          </a:xfrm>
          <a:prstGeom prst="roundRect">
            <a:avLst>
              <a:gd name="adj" fmla="val 10000"/>
            </a:avLst>
          </a:prstGeom>
          <a:solidFill>
            <a:schemeClr val="bg2"/>
          </a:solidFill>
          <a:ln/>
        </p:spPr>
      </p:sp>
      <p:sp>
        <p:nvSpPr>
          <p:cNvPr id="4" name="text-27"/>
          <p:cNvSpPr txBox="1"/>
          <p:nvPr/>
        </p:nvSpPr>
        <p:spPr>
          <a:xfrm>
            <a:off x="914400" y="1481328"/>
            <a:ext cx="2834640" cy="411480"/>
          </a:xfrm>
          <a:prstGeom prst="rect">
            <a:avLst/>
          </a:prstGeom>
          <a:noFill/>
          <a:ln/>
        </p:spPr>
        <p:txBody>
          <a:bodyPr wrap="square" lIns="0" tIns="0" rIns="0" bIns="0" rtlCol="0" anchor="t"/>
          <a:lstStyle/>
          <a:p>
            <a:pPr indent="0" marL="0">
              <a:buNone/>
            </a:pPr>
            <a:r>
              <a:rPr lang="en-US" sz="1600" b="1" dirty="0">
                <a:solidFill>
                  <a:schemeClr val="accent6"/>
                </a:solidFill>
              </a:rPr>
              <a:t>1~3주차</a:t>
            </a:r>
            <a:endParaRPr lang="en-US" sz="1600" dirty="0"/>
          </a:p>
        </p:txBody>
      </p:sp>
      <p:sp>
        <p:nvSpPr>
          <p:cNvPr id="5" name="text-28"/>
          <p:cNvSpPr txBox="1"/>
          <p:nvPr/>
        </p:nvSpPr>
        <p:spPr>
          <a:xfrm>
            <a:off x="914400" y="1920240"/>
            <a:ext cx="2834640" cy="548640"/>
          </a:xfrm>
          <a:prstGeom prst="rect">
            <a:avLst/>
          </a:prstGeom>
          <a:noFill/>
          <a:ln/>
        </p:spPr>
        <p:txBody>
          <a:bodyPr wrap="square" lIns="0" tIns="0" rIns="0" bIns="0" rtlCol="0" anchor="t"/>
          <a:lstStyle/>
          <a:p>
            <a:pPr indent="0" marL="0">
              <a:buNone/>
            </a:pPr>
            <a:r>
              <a:rPr lang="en-US" sz="2200" b="1" dirty="0">
                <a:solidFill>
                  <a:schemeClr val="tx1"/>
                </a:solidFill>
              </a:rPr>
              <a:t>텍스트 RAG</a:t>
            </a:r>
            <a:endParaRPr lang="en-US" sz="2200" dirty="0"/>
          </a:p>
        </p:txBody>
      </p:sp>
      <p:sp>
        <p:nvSpPr>
          <p:cNvPr id="6" name="arrow-29"/>
          <p:cNvSpPr/>
          <p:nvPr/>
        </p:nvSpPr>
        <p:spPr>
          <a:xfrm>
            <a:off x="4069080" y="2011680"/>
            <a:ext cx="274320" cy="0"/>
          </a:xfrm>
          <a:prstGeom prst="line">
            <a:avLst/>
          </a:prstGeom>
          <a:noFill/>
          <a:ln w="31750">
            <a:solidFill>
              <a:schemeClr val="accent6"/>
            </a:solidFill>
            <a:prstDash val="solid"/>
            <a:tailEnd type="triangle"/>
          </a:ln>
        </p:spPr>
      </p:sp>
      <p:sp>
        <p:nvSpPr>
          <p:cNvPr id="7" name="card-30"/>
          <p:cNvSpPr/>
          <p:nvPr/>
        </p:nvSpPr>
        <p:spPr>
          <a:xfrm>
            <a:off x="4389120" y="1371600"/>
            <a:ext cx="3383280" cy="1280160"/>
          </a:xfrm>
          <a:prstGeom prst="roundRect">
            <a:avLst>
              <a:gd name="adj" fmla="val 10000"/>
            </a:avLst>
          </a:prstGeom>
          <a:solidFill>
            <a:schemeClr val="accent3">
              <a:alpha val="10000"/>
            </a:schemeClr>
          </a:solidFill>
          <a:ln w="25400">
            <a:solidFill>
              <a:schemeClr val="accent3"/>
            </a:solidFill>
            <a:prstDash val="solid"/>
          </a:ln>
        </p:spPr>
      </p:sp>
      <p:sp>
        <p:nvSpPr>
          <p:cNvPr id="8" name="text-31"/>
          <p:cNvSpPr txBox="1"/>
          <p:nvPr/>
        </p:nvSpPr>
        <p:spPr>
          <a:xfrm>
            <a:off x="4663440" y="1481328"/>
            <a:ext cx="2834640" cy="411480"/>
          </a:xfrm>
          <a:prstGeom prst="rect">
            <a:avLst/>
          </a:prstGeom>
          <a:noFill/>
          <a:ln/>
        </p:spPr>
        <p:txBody>
          <a:bodyPr wrap="square" lIns="0" tIns="0" rIns="0" bIns="0" rtlCol="0" anchor="t"/>
          <a:lstStyle/>
          <a:p>
            <a:pPr indent="0" marL="0">
              <a:buNone/>
            </a:pPr>
            <a:r>
              <a:rPr lang="en-US" sz="1600" b="1" dirty="0">
                <a:solidFill>
                  <a:schemeClr val="accent3"/>
                </a:solidFill>
              </a:rPr>
              <a:t>4주차 · 오늘</a:t>
            </a:r>
            <a:endParaRPr lang="en-US" sz="1600" dirty="0"/>
          </a:p>
        </p:txBody>
      </p:sp>
      <p:sp>
        <p:nvSpPr>
          <p:cNvPr id="9" name="text-32"/>
          <p:cNvSpPr txBox="1"/>
          <p:nvPr/>
        </p:nvSpPr>
        <p:spPr>
          <a:xfrm>
            <a:off x="4663440" y="1920240"/>
            <a:ext cx="2834640" cy="548640"/>
          </a:xfrm>
          <a:prstGeom prst="rect">
            <a:avLst/>
          </a:prstGeom>
          <a:noFill/>
          <a:ln/>
        </p:spPr>
        <p:txBody>
          <a:bodyPr wrap="square" lIns="0" tIns="0" rIns="0" bIns="0" rtlCol="0" anchor="t"/>
          <a:lstStyle/>
          <a:p>
            <a:pPr indent="0" marL="0">
              <a:buNone/>
            </a:pPr>
            <a:r>
              <a:rPr lang="en-US" sz="2200" b="1" dirty="0">
                <a:solidFill>
                  <a:schemeClr val="tx1"/>
                </a:solidFill>
              </a:rPr>
              <a:t>SigLIP 이해</a:t>
            </a:r>
            <a:endParaRPr lang="en-US" sz="2200" dirty="0"/>
          </a:p>
        </p:txBody>
      </p:sp>
      <p:sp>
        <p:nvSpPr>
          <p:cNvPr id="10" name="arrow-33"/>
          <p:cNvSpPr/>
          <p:nvPr/>
        </p:nvSpPr>
        <p:spPr>
          <a:xfrm>
            <a:off x="7818120" y="2011680"/>
            <a:ext cx="274320" cy="0"/>
          </a:xfrm>
          <a:prstGeom prst="line">
            <a:avLst/>
          </a:prstGeom>
          <a:noFill/>
          <a:ln w="31750">
            <a:solidFill>
              <a:schemeClr val="accent6"/>
            </a:solidFill>
            <a:prstDash val="solid"/>
            <a:tailEnd type="triangle"/>
          </a:ln>
        </p:spPr>
      </p:sp>
      <p:sp>
        <p:nvSpPr>
          <p:cNvPr id="11" name="card-34"/>
          <p:cNvSpPr/>
          <p:nvPr/>
        </p:nvSpPr>
        <p:spPr>
          <a:xfrm>
            <a:off x="8138160" y="1371600"/>
            <a:ext cx="3383280" cy="1280160"/>
          </a:xfrm>
          <a:prstGeom prst="roundRect">
            <a:avLst>
              <a:gd name="adj" fmla="val 10000"/>
            </a:avLst>
          </a:prstGeom>
          <a:solidFill>
            <a:schemeClr val="bg2"/>
          </a:solidFill>
          <a:ln/>
        </p:spPr>
      </p:sp>
      <p:sp>
        <p:nvSpPr>
          <p:cNvPr id="12" name="text-35"/>
          <p:cNvSpPr txBox="1"/>
          <p:nvPr/>
        </p:nvSpPr>
        <p:spPr>
          <a:xfrm>
            <a:off x="8412480" y="1481328"/>
            <a:ext cx="2834640" cy="411480"/>
          </a:xfrm>
          <a:prstGeom prst="rect">
            <a:avLst/>
          </a:prstGeom>
          <a:noFill/>
          <a:ln/>
        </p:spPr>
        <p:txBody>
          <a:bodyPr wrap="square" lIns="0" tIns="0" rIns="0" bIns="0" rtlCol="0" anchor="t"/>
          <a:lstStyle/>
          <a:p>
            <a:pPr indent="0" marL="0">
              <a:buNone/>
            </a:pPr>
            <a:r>
              <a:rPr lang="en-US" sz="1600" b="1" dirty="0">
                <a:solidFill>
                  <a:schemeClr val="accent1"/>
                </a:solidFill>
              </a:rPr>
              <a:t>5주차</a:t>
            </a:r>
            <a:endParaRPr lang="en-US" sz="1600" dirty="0"/>
          </a:p>
        </p:txBody>
      </p:sp>
      <p:sp>
        <p:nvSpPr>
          <p:cNvPr id="13" name="text-36"/>
          <p:cNvSpPr txBox="1"/>
          <p:nvPr/>
        </p:nvSpPr>
        <p:spPr>
          <a:xfrm>
            <a:off x="8412480" y="1920240"/>
            <a:ext cx="2834640" cy="548640"/>
          </a:xfrm>
          <a:prstGeom prst="rect">
            <a:avLst/>
          </a:prstGeom>
          <a:noFill/>
          <a:ln/>
        </p:spPr>
        <p:txBody>
          <a:bodyPr wrap="square" lIns="0" tIns="0" rIns="0" bIns="0" rtlCol="0" anchor="t"/>
          <a:lstStyle/>
          <a:p>
            <a:pPr indent="0" marL="0">
              <a:buNone/>
            </a:pPr>
            <a:r>
              <a:rPr lang="en-US" sz="2200" b="1" dirty="0">
                <a:solidFill>
                  <a:schemeClr val="tx1"/>
                </a:solidFill>
              </a:rPr>
              <a:t>텍스트→이미지 검색</a:t>
            </a:r>
            <a:endParaRPr lang="en-US" sz="2200" dirty="0"/>
          </a:p>
        </p:txBody>
      </p:sp>
      <p:sp>
        <p:nvSpPr>
          <p:cNvPr id="14" name="card-37"/>
          <p:cNvSpPr/>
          <p:nvPr/>
        </p:nvSpPr>
        <p:spPr>
          <a:xfrm>
            <a:off x="640080" y="3017520"/>
            <a:ext cx="3383280" cy="2926080"/>
          </a:xfrm>
          <a:prstGeom prst="roundRect">
            <a:avLst>
              <a:gd name="adj" fmla="val 4375"/>
            </a:avLst>
          </a:prstGeom>
          <a:solidFill>
            <a:schemeClr val="bg2"/>
          </a:solidFill>
          <a:ln/>
        </p:spPr>
      </p:sp>
      <p:sp>
        <p:nvSpPr>
          <p:cNvPr id="15" name="circle-38"/>
          <p:cNvSpPr/>
          <p:nvPr/>
        </p:nvSpPr>
        <p:spPr>
          <a:xfrm>
            <a:off x="914400" y="3291840"/>
            <a:ext cx="868680" cy="868680"/>
          </a:xfrm>
          <a:prstGeom prst="ellipse">
            <a:avLst/>
          </a:prstGeom>
          <a:solidFill>
            <a:schemeClr val="accent3"/>
          </a:solidFill>
          <a:ln/>
        </p:spPr>
      </p:sp>
      <p:pic>
        <p:nvPicPr>
          <p:cNvPr id="16" name="icon-FaToggleOn-39" descr="FaToggleOn">    </p:cNvPr>
          <p:cNvPicPr>
            <a:picLocks noChangeAspect="1"/>
          </p:cNvPicPr>
          <p:nvPr/>
        </p:nvPicPr>
        <p:blipFill>
          <a:blip r:embed="rId1"/>
          <a:stretch>
            <a:fillRect/>
          </a:stretch>
        </p:blipFill>
        <p:spPr>
          <a:xfrm>
            <a:off x="1140257" y="3517697"/>
            <a:ext cx="416966" cy="416966"/>
          </a:xfrm>
          <a:prstGeom prst="rect">
            <a:avLst/>
          </a:prstGeom>
        </p:spPr>
      </p:pic>
      <p:sp>
        <p:nvSpPr>
          <p:cNvPr id="17" name="text-40"/>
          <p:cNvSpPr txBox="1"/>
          <p:nvPr/>
        </p:nvSpPr>
        <p:spPr>
          <a:xfrm>
            <a:off x="914400" y="4343400"/>
            <a:ext cx="2926080" cy="502920"/>
          </a:xfrm>
          <a:prstGeom prst="rect">
            <a:avLst/>
          </a:prstGeom>
          <a:noFill/>
          <a:ln/>
        </p:spPr>
        <p:txBody>
          <a:bodyPr wrap="square" lIns="0" tIns="0" rIns="0" bIns="0" rtlCol="0" anchor="t"/>
          <a:lstStyle/>
          <a:p>
            <a:pPr indent="0" marL="0">
              <a:buNone/>
            </a:pPr>
            <a:r>
              <a:rPr lang="en-US" sz="2100" b="1" dirty="0">
                <a:solidFill>
                  <a:schemeClr val="tx1"/>
                </a:solidFill>
              </a:rPr>
              <a:t>구조와 학습 방식</a:t>
            </a:r>
            <a:endParaRPr lang="en-US" sz="2100" dirty="0"/>
          </a:p>
        </p:txBody>
      </p:sp>
      <p:sp>
        <p:nvSpPr>
          <p:cNvPr id="18" name="text-41"/>
          <p:cNvSpPr txBox="1"/>
          <p:nvPr/>
        </p:nvSpPr>
        <p:spPr>
          <a:xfrm>
            <a:off x="914400" y="4892040"/>
            <a:ext cx="2926080" cy="822960"/>
          </a:xfrm>
          <a:prstGeom prst="rect">
            <a:avLst/>
          </a:prstGeom>
          <a:noFill/>
          <a:ln/>
        </p:spPr>
        <p:txBody>
          <a:bodyPr wrap="square" lIns="0" tIns="0" rIns="0" bIns="0" rtlCol="0" anchor="t"/>
          <a:lstStyle/>
          <a:p>
            <a:pPr indent="0" marL="0">
              <a:buNone/>
            </a:pPr>
            <a:r>
              <a:rPr lang="en-US" sz="1600" dirty="0">
                <a:solidFill>
                  <a:schemeClr val="tx2"/>
                </a:solidFill>
              </a:rPr>
              <a:t>CLIP의 Softmax vs SigLIP의 Sigmoid</a:t>
            </a:r>
            <a:endParaRPr lang="en-US" sz="1600" dirty="0"/>
          </a:p>
        </p:txBody>
      </p:sp>
      <p:sp>
        <p:nvSpPr>
          <p:cNvPr id="19" name="card-42"/>
          <p:cNvSpPr/>
          <p:nvPr/>
        </p:nvSpPr>
        <p:spPr>
          <a:xfrm>
            <a:off x="4389120" y="3017520"/>
            <a:ext cx="3383280" cy="2926080"/>
          </a:xfrm>
          <a:prstGeom prst="roundRect">
            <a:avLst>
              <a:gd name="adj" fmla="val 4375"/>
            </a:avLst>
          </a:prstGeom>
          <a:solidFill>
            <a:schemeClr val="bg2"/>
          </a:solidFill>
          <a:ln/>
        </p:spPr>
      </p:sp>
      <p:sp>
        <p:nvSpPr>
          <p:cNvPr id="20" name="circle-43"/>
          <p:cNvSpPr/>
          <p:nvPr/>
        </p:nvSpPr>
        <p:spPr>
          <a:xfrm>
            <a:off x="4663440" y="3291840"/>
            <a:ext cx="868680" cy="868680"/>
          </a:xfrm>
          <a:prstGeom prst="ellipse">
            <a:avLst/>
          </a:prstGeom>
          <a:solidFill>
            <a:schemeClr val="accent3"/>
          </a:solidFill>
          <a:ln/>
        </p:spPr>
      </p:sp>
      <p:pic>
        <p:nvPicPr>
          <p:cNvPr id="21" name="icon-FaSearch-44" descr="FaSearch">    </p:cNvPr>
          <p:cNvPicPr>
            <a:picLocks noChangeAspect="1"/>
          </p:cNvPicPr>
          <p:nvPr/>
        </p:nvPicPr>
        <p:blipFill>
          <a:blip r:embed="rId2"/>
          <a:stretch>
            <a:fillRect/>
          </a:stretch>
        </p:blipFill>
        <p:spPr>
          <a:xfrm>
            <a:off x="4889297" y="3517697"/>
            <a:ext cx="416966" cy="416966"/>
          </a:xfrm>
          <a:prstGeom prst="rect">
            <a:avLst/>
          </a:prstGeom>
        </p:spPr>
      </p:pic>
      <p:sp>
        <p:nvSpPr>
          <p:cNvPr id="22" name="text-45"/>
          <p:cNvSpPr txBox="1"/>
          <p:nvPr/>
        </p:nvSpPr>
        <p:spPr>
          <a:xfrm>
            <a:off x="4663440" y="4343400"/>
            <a:ext cx="2926080" cy="502920"/>
          </a:xfrm>
          <a:prstGeom prst="rect">
            <a:avLst/>
          </a:prstGeom>
          <a:noFill/>
          <a:ln/>
        </p:spPr>
        <p:txBody>
          <a:bodyPr wrap="square" lIns="0" tIns="0" rIns="0" bIns="0" rtlCol="0" anchor="t"/>
          <a:lstStyle/>
          <a:p>
            <a:pPr indent="0" marL="0">
              <a:buNone/>
            </a:pPr>
            <a:r>
              <a:rPr lang="en-US" sz="2100" b="1" dirty="0">
                <a:solidFill>
                  <a:schemeClr val="tx1"/>
                </a:solidFill>
              </a:rPr>
              <a:t>검색에 적합한 이유</a:t>
            </a:r>
            <a:endParaRPr lang="en-US" sz="2100" dirty="0"/>
          </a:p>
        </p:txBody>
      </p:sp>
      <p:sp>
        <p:nvSpPr>
          <p:cNvPr id="23" name="text-46"/>
          <p:cNvSpPr txBox="1"/>
          <p:nvPr/>
        </p:nvSpPr>
        <p:spPr>
          <a:xfrm>
            <a:off x="4663440" y="4892040"/>
            <a:ext cx="2926080" cy="822960"/>
          </a:xfrm>
          <a:prstGeom prst="rect">
            <a:avLst/>
          </a:prstGeom>
          <a:noFill/>
          <a:ln/>
        </p:spPr>
        <p:txBody>
          <a:bodyPr wrap="square" lIns="0" tIns="0" rIns="0" bIns="0" rtlCol="0" anchor="t"/>
          <a:lstStyle/>
          <a:p>
            <a:pPr indent="0" marL="0">
              <a:buNone/>
            </a:pPr>
            <a:r>
              <a:rPr lang="en-US" sz="1600" dirty="0">
                <a:solidFill>
                  <a:schemeClr val="tx2"/>
                </a:solidFill>
              </a:rPr>
              <a:t>왜 5주차에 SigLIP을 쓰는가</a:t>
            </a:r>
            <a:endParaRPr lang="en-US" sz="1600" dirty="0"/>
          </a:p>
        </p:txBody>
      </p:sp>
      <p:sp>
        <p:nvSpPr>
          <p:cNvPr id="24" name="card-47"/>
          <p:cNvSpPr/>
          <p:nvPr/>
        </p:nvSpPr>
        <p:spPr>
          <a:xfrm>
            <a:off x="8138160" y="3017520"/>
            <a:ext cx="3383280" cy="2926080"/>
          </a:xfrm>
          <a:prstGeom prst="roundRect">
            <a:avLst>
              <a:gd name="adj" fmla="val 4375"/>
            </a:avLst>
          </a:prstGeom>
          <a:solidFill>
            <a:schemeClr val="bg2"/>
          </a:solidFill>
          <a:ln/>
        </p:spPr>
      </p:sp>
      <p:sp>
        <p:nvSpPr>
          <p:cNvPr id="25" name="circle-48"/>
          <p:cNvSpPr/>
          <p:nvPr/>
        </p:nvSpPr>
        <p:spPr>
          <a:xfrm>
            <a:off x="8412480" y="3291840"/>
            <a:ext cx="868680" cy="868680"/>
          </a:xfrm>
          <a:prstGeom prst="ellipse">
            <a:avLst/>
          </a:prstGeom>
          <a:solidFill>
            <a:schemeClr val="accent1"/>
          </a:solidFill>
          <a:ln/>
        </p:spPr>
      </p:sp>
      <p:pic>
        <p:nvPicPr>
          <p:cNvPr id="26" name="icon-FaCode-49" descr="FaCode">    </p:cNvPr>
          <p:cNvPicPr>
            <a:picLocks noChangeAspect="1"/>
          </p:cNvPicPr>
          <p:nvPr/>
        </p:nvPicPr>
        <p:blipFill>
          <a:blip r:embed="rId3"/>
          <a:stretch>
            <a:fillRect/>
          </a:stretch>
        </p:blipFill>
        <p:spPr>
          <a:xfrm>
            <a:off x="8638337" y="3517697"/>
            <a:ext cx="416966" cy="416966"/>
          </a:xfrm>
          <a:prstGeom prst="rect">
            <a:avLst/>
          </a:prstGeom>
        </p:spPr>
      </p:pic>
      <p:sp>
        <p:nvSpPr>
          <p:cNvPr id="27" name="text-50"/>
          <p:cNvSpPr txBox="1"/>
          <p:nvPr/>
        </p:nvSpPr>
        <p:spPr>
          <a:xfrm>
            <a:off x="8412480" y="4343400"/>
            <a:ext cx="2926080" cy="502920"/>
          </a:xfrm>
          <a:prstGeom prst="rect">
            <a:avLst/>
          </a:prstGeom>
          <a:noFill/>
          <a:ln/>
        </p:spPr>
        <p:txBody>
          <a:bodyPr wrap="square" lIns="0" tIns="0" rIns="0" bIns="0" rtlCol="0" anchor="t"/>
          <a:lstStyle/>
          <a:p>
            <a:pPr indent="0" marL="0">
              <a:buNone/>
            </a:pPr>
            <a:r>
              <a:rPr lang="en-US" sz="2100" b="1" dirty="0">
                <a:solidFill>
                  <a:schemeClr val="tx1"/>
                </a:solidFill>
              </a:rPr>
              <a:t>임베딩 추출 실습</a:t>
            </a:r>
            <a:endParaRPr lang="en-US" sz="2100" dirty="0"/>
          </a:p>
        </p:txBody>
      </p:sp>
      <p:sp>
        <p:nvSpPr>
          <p:cNvPr id="28" name="text-51"/>
          <p:cNvSpPr txBox="1"/>
          <p:nvPr/>
        </p:nvSpPr>
        <p:spPr>
          <a:xfrm>
            <a:off x="8412480" y="4892040"/>
            <a:ext cx="2926080" cy="822960"/>
          </a:xfrm>
          <a:prstGeom prst="rect">
            <a:avLst/>
          </a:prstGeom>
          <a:noFill/>
          <a:ln/>
        </p:spPr>
        <p:txBody>
          <a:bodyPr wrap="square" lIns="0" tIns="0" rIns="0" bIns="0" rtlCol="0" anchor="t"/>
          <a:lstStyle/>
          <a:p>
            <a:pPr indent="0" marL="0">
              <a:buNone/>
            </a:pPr>
            <a:r>
              <a:rPr lang="en-US" sz="1600" dirty="0">
                <a:solidFill>
                  <a:schemeClr val="tx2"/>
                </a:solidFill>
              </a:rPr>
              <a:t>5주차 코드로 그대로 이어 쓰기</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공동 임베딩 공간: 사진과 문장이 한 지도 위에</a:t>
            </a:r>
            <a:endParaRPr lang="en-US" sz="3000" dirty="0"/>
          </a:p>
        </p:txBody>
      </p:sp>
      <p:sp>
        <p:nvSpPr>
          <p:cNvPr id="3" name="card-52"/>
          <p:cNvSpPr/>
          <p:nvPr/>
        </p:nvSpPr>
        <p:spPr>
          <a:xfrm>
            <a:off x="640080" y="1371600"/>
            <a:ext cx="6949440" cy="4663440"/>
          </a:xfrm>
          <a:prstGeom prst="roundRect">
            <a:avLst>
              <a:gd name="adj" fmla="val 2745"/>
            </a:avLst>
          </a:prstGeom>
          <a:solidFill>
            <a:schemeClr val="bg2"/>
          </a:solidFill>
          <a:ln/>
        </p:spPr>
      </p:sp>
      <p:sp>
        <p:nvSpPr>
          <p:cNvPr id="4" name="axis-x"/>
          <p:cNvSpPr/>
          <p:nvPr/>
        </p:nvSpPr>
        <p:spPr>
          <a:xfrm>
            <a:off x="914400" y="5760720"/>
            <a:ext cx="6400800" cy="0"/>
          </a:xfrm>
          <a:prstGeom prst="line">
            <a:avLst/>
          </a:prstGeom>
          <a:noFill/>
          <a:ln w="12700">
            <a:solidFill>
              <a:schemeClr val="accent6"/>
            </a:solidFill>
            <a:prstDash val="dash"/>
          </a:ln>
        </p:spPr>
      </p:sp>
      <p:sp>
        <p:nvSpPr>
          <p:cNvPr id="5" name="axis-y"/>
          <p:cNvSpPr/>
          <p:nvPr/>
        </p:nvSpPr>
        <p:spPr>
          <a:xfrm>
            <a:off x="914400" y="1645920"/>
            <a:ext cx="0" cy="4114800"/>
          </a:xfrm>
          <a:prstGeom prst="line">
            <a:avLst/>
          </a:prstGeom>
          <a:noFill/>
          <a:ln w="12700">
            <a:solidFill>
              <a:schemeClr val="accent6"/>
            </a:solidFill>
            <a:prstDash val="dash"/>
          </a:ln>
        </p:spPr>
      </p:sp>
      <p:pic>
        <p:nvPicPr>
          <p:cNvPr id="6" name="photo-cat-53" descr="고양이 사진">    </p:cNvPr>
          <p:cNvPicPr>
            <a:picLocks noChangeAspect="1"/>
          </p:cNvPicPr>
          <p:nvPr/>
        </p:nvPicPr>
        <p:blipFill>
          <a:blip r:embed="rId1"/>
          <a:stretch>
            <a:fillRect/>
          </a:stretch>
        </p:blipFill>
        <p:spPr>
          <a:xfrm>
            <a:off x="1280160" y="1783080"/>
            <a:ext cx="1051560" cy="1051560"/>
          </a:xfrm>
          <a:prstGeom prst="ellipse">
            <a:avLst/>
          </a:prstGeom>
        </p:spPr>
      </p:pic>
      <p:sp>
        <p:nvSpPr>
          <p:cNvPr id="7" name="pill-54"/>
          <p:cNvSpPr/>
          <p:nvPr/>
        </p:nvSpPr>
        <p:spPr>
          <a:xfrm>
            <a:off x="2103120" y="2834640"/>
            <a:ext cx="2011680" cy="384048"/>
          </a:xfrm>
          <a:prstGeom prst="roundRect">
            <a:avLst>
              <a:gd name="adj" fmla="val 50000"/>
            </a:avLst>
          </a:prstGeom>
          <a:solidFill>
            <a:schemeClr val="accent2"/>
          </a:solidFill>
          <a:ln/>
        </p:spPr>
      </p:sp>
      <p:sp>
        <p:nvSpPr>
          <p:cNvPr id="8" name="text-55"/>
          <p:cNvSpPr txBox="1"/>
          <p:nvPr/>
        </p:nvSpPr>
        <p:spPr>
          <a:xfrm>
            <a:off x="2103120" y="283464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a photo of a cat</a:t>
            </a:r>
            <a:endParaRPr lang="en-US" sz="1300" dirty="0"/>
          </a:p>
        </p:txBody>
      </p:sp>
      <p:pic>
        <p:nvPicPr>
          <p:cNvPr id="9" name="photo-coffee-56" descr="커피 사진">    </p:cNvPr>
          <p:cNvPicPr>
            <a:picLocks noChangeAspect="1"/>
          </p:cNvPicPr>
          <p:nvPr/>
        </p:nvPicPr>
        <p:blipFill>
          <a:blip r:embed="rId2"/>
          <a:stretch>
            <a:fillRect/>
          </a:stretch>
        </p:blipFill>
        <p:spPr>
          <a:xfrm>
            <a:off x="4480560" y="2011680"/>
            <a:ext cx="1051560" cy="1051560"/>
          </a:xfrm>
          <a:prstGeom prst="ellipse">
            <a:avLst/>
          </a:prstGeom>
        </p:spPr>
      </p:pic>
      <p:sp>
        <p:nvSpPr>
          <p:cNvPr id="10" name="pill-57"/>
          <p:cNvSpPr/>
          <p:nvPr/>
        </p:nvSpPr>
        <p:spPr>
          <a:xfrm>
            <a:off x="5303520" y="3063240"/>
            <a:ext cx="2011680" cy="384048"/>
          </a:xfrm>
          <a:prstGeom prst="roundRect">
            <a:avLst>
              <a:gd name="adj" fmla="val 50000"/>
            </a:avLst>
          </a:prstGeom>
          <a:solidFill>
            <a:schemeClr val="accent2"/>
          </a:solidFill>
          <a:ln/>
        </p:spPr>
      </p:sp>
      <p:sp>
        <p:nvSpPr>
          <p:cNvPr id="11" name="text-58"/>
          <p:cNvSpPr txBox="1"/>
          <p:nvPr/>
        </p:nvSpPr>
        <p:spPr>
          <a:xfrm>
            <a:off x="5303520" y="306324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a cup of coffee</a:t>
            </a:r>
            <a:endParaRPr lang="en-US" sz="1300" dirty="0"/>
          </a:p>
        </p:txBody>
      </p:sp>
      <p:pic>
        <p:nvPicPr>
          <p:cNvPr id="12" name="photo-rocket-59" descr="로켓 사진">    </p:cNvPr>
          <p:cNvPicPr>
            <a:picLocks noChangeAspect="1"/>
          </p:cNvPicPr>
          <p:nvPr/>
        </p:nvPicPr>
        <p:blipFill>
          <a:blip r:embed="rId3"/>
          <a:stretch>
            <a:fillRect/>
          </a:stretch>
        </p:blipFill>
        <p:spPr>
          <a:xfrm>
            <a:off x="1463040" y="4160520"/>
            <a:ext cx="1051560" cy="1051560"/>
          </a:xfrm>
          <a:prstGeom prst="ellipse">
            <a:avLst/>
          </a:prstGeom>
        </p:spPr>
      </p:pic>
      <p:sp>
        <p:nvSpPr>
          <p:cNvPr id="13" name="pill-60"/>
          <p:cNvSpPr/>
          <p:nvPr/>
        </p:nvSpPr>
        <p:spPr>
          <a:xfrm>
            <a:off x="2286000" y="5212080"/>
            <a:ext cx="2011680" cy="384048"/>
          </a:xfrm>
          <a:prstGeom prst="roundRect">
            <a:avLst>
              <a:gd name="adj" fmla="val 50000"/>
            </a:avLst>
          </a:prstGeom>
          <a:solidFill>
            <a:schemeClr val="accent2"/>
          </a:solidFill>
          <a:ln/>
        </p:spPr>
      </p:sp>
      <p:sp>
        <p:nvSpPr>
          <p:cNvPr id="14" name="text-61"/>
          <p:cNvSpPr txBox="1"/>
          <p:nvPr/>
        </p:nvSpPr>
        <p:spPr>
          <a:xfrm>
            <a:off x="2286000" y="521208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a rocket at night</a:t>
            </a:r>
            <a:endParaRPr lang="en-US" sz="1300" dirty="0"/>
          </a:p>
        </p:txBody>
      </p:sp>
      <p:pic>
        <p:nvPicPr>
          <p:cNvPr id="15" name="photo-astronaut-62" descr="우주비행사 사진">    </p:cNvPr>
          <p:cNvPicPr>
            <a:picLocks noChangeAspect="1"/>
          </p:cNvPicPr>
          <p:nvPr/>
        </p:nvPicPr>
        <p:blipFill>
          <a:blip r:embed="rId4"/>
          <a:stretch>
            <a:fillRect/>
          </a:stretch>
        </p:blipFill>
        <p:spPr>
          <a:xfrm>
            <a:off x="4572000" y="4206240"/>
            <a:ext cx="1051560" cy="1051560"/>
          </a:xfrm>
          <a:prstGeom prst="ellipse">
            <a:avLst/>
          </a:prstGeom>
        </p:spPr>
      </p:pic>
      <p:sp>
        <p:nvSpPr>
          <p:cNvPr id="16" name="pill-63"/>
          <p:cNvSpPr/>
          <p:nvPr/>
        </p:nvSpPr>
        <p:spPr>
          <a:xfrm>
            <a:off x="5394960" y="5257800"/>
            <a:ext cx="2011680" cy="384048"/>
          </a:xfrm>
          <a:prstGeom prst="roundRect">
            <a:avLst>
              <a:gd name="adj" fmla="val 50000"/>
            </a:avLst>
          </a:prstGeom>
          <a:solidFill>
            <a:schemeClr val="accent2"/>
          </a:solidFill>
          <a:ln/>
        </p:spPr>
      </p:sp>
      <p:sp>
        <p:nvSpPr>
          <p:cNvPr id="17" name="text-64"/>
          <p:cNvSpPr txBox="1"/>
          <p:nvPr/>
        </p:nvSpPr>
        <p:spPr>
          <a:xfrm>
            <a:off x="5394960" y="525780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an astronaut</a:t>
            </a:r>
            <a:endParaRPr lang="en-US" sz="1300" dirty="0"/>
          </a:p>
        </p:txBody>
      </p:sp>
      <p:sp>
        <p:nvSpPr>
          <p:cNvPr id="18" name="text-65"/>
          <p:cNvSpPr txBox="1"/>
          <p:nvPr/>
        </p:nvSpPr>
        <p:spPr>
          <a:xfrm>
            <a:off x="7955280" y="1554480"/>
            <a:ext cx="3657600" cy="548640"/>
          </a:xfrm>
          <a:prstGeom prst="rect">
            <a:avLst/>
          </a:prstGeom>
          <a:noFill/>
          <a:ln/>
        </p:spPr>
        <p:txBody>
          <a:bodyPr wrap="square" lIns="0" tIns="0" rIns="0" bIns="0" rtlCol="0" anchor="t"/>
          <a:lstStyle/>
          <a:p>
            <a:pPr indent="0" marL="0">
              <a:buNone/>
            </a:pPr>
            <a:r>
              <a:rPr lang="en-US" sz="2400" b="1" dirty="0">
                <a:solidFill>
                  <a:schemeClr val="accent3"/>
                </a:solidFill>
              </a:rPr>
              <a:t>의미가 같으면 가깝게</a:t>
            </a:r>
            <a:endParaRPr lang="en-US" sz="2400" dirty="0"/>
          </a:p>
        </p:txBody>
      </p:sp>
      <p:sp>
        <p:nvSpPr>
          <p:cNvPr id="19" name="text-66"/>
          <p:cNvSpPr txBox="1"/>
          <p:nvPr/>
        </p:nvSpPr>
        <p:spPr>
          <a:xfrm>
            <a:off x="7955280" y="2103120"/>
            <a:ext cx="3657600" cy="457200"/>
          </a:xfrm>
          <a:prstGeom prst="rect">
            <a:avLst/>
          </a:prstGeom>
          <a:noFill/>
          <a:ln/>
        </p:spPr>
        <p:txBody>
          <a:bodyPr wrap="square" lIns="0" tIns="0" rIns="0" bIns="0" rtlCol="0" anchor="t"/>
          <a:lstStyle/>
          <a:p>
            <a:pPr indent="0" marL="0">
              <a:buNone/>
            </a:pPr>
            <a:r>
              <a:rPr lang="en-US" sz="1700" dirty="0">
                <a:solidFill>
                  <a:schemeClr val="tx2"/>
                </a:solidFill>
              </a:rPr>
              <a:t>고양이 사진 ↔ “a photo of a cat”</a:t>
            </a:r>
            <a:endParaRPr lang="en-US" sz="1700" dirty="0"/>
          </a:p>
        </p:txBody>
      </p:sp>
      <p:sp>
        <p:nvSpPr>
          <p:cNvPr id="20" name="text-67"/>
          <p:cNvSpPr txBox="1"/>
          <p:nvPr/>
        </p:nvSpPr>
        <p:spPr>
          <a:xfrm>
            <a:off x="7955280" y="2926080"/>
            <a:ext cx="3657600" cy="548640"/>
          </a:xfrm>
          <a:prstGeom prst="rect">
            <a:avLst/>
          </a:prstGeom>
          <a:noFill/>
          <a:ln/>
        </p:spPr>
        <p:txBody>
          <a:bodyPr wrap="square" lIns="0" tIns="0" rIns="0" bIns="0" rtlCol="0" anchor="t"/>
          <a:lstStyle/>
          <a:p>
            <a:pPr indent="0" marL="0">
              <a:buNone/>
            </a:pPr>
            <a:r>
              <a:rPr lang="en-US" sz="2400" b="1" dirty="0">
                <a:solidFill>
                  <a:schemeClr val="accent4"/>
                </a:solidFill>
              </a:rPr>
              <a:t>의미가 다르면 멀게</a:t>
            </a:r>
            <a:endParaRPr lang="en-US" sz="2400" dirty="0"/>
          </a:p>
        </p:txBody>
      </p:sp>
      <p:sp>
        <p:nvSpPr>
          <p:cNvPr id="21" name="text-68"/>
          <p:cNvSpPr txBox="1"/>
          <p:nvPr/>
        </p:nvSpPr>
        <p:spPr>
          <a:xfrm>
            <a:off x="7955280" y="3474720"/>
            <a:ext cx="3657600" cy="457200"/>
          </a:xfrm>
          <a:prstGeom prst="rect">
            <a:avLst/>
          </a:prstGeom>
          <a:noFill/>
          <a:ln/>
        </p:spPr>
        <p:txBody>
          <a:bodyPr wrap="square" lIns="0" tIns="0" rIns="0" bIns="0" rtlCol="0" anchor="t"/>
          <a:lstStyle/>
          <a:p>
            <a:pPr indent="0" marL="0">
              <a:buNone/>
            </a:pPr>
            <a:r>
              <a:rPr lang="en-US" sz="1700" dirty="0">
                <a:solidFill>
                  <a:schemeClr val="tx2"/>
                </a:solidFill>
              </a:rPr>
              <a:t>고양이 사진 ↔ “a rocket at night”</a:t>
            </a:r>
            <a:endParaRPr lang="en-US" sz="1700" dirty="0"/>
          </a:p>
        </p:txBody>
      </p:sp>
      <p:sp>
        <p:nvSpPr>
          <p:cNvPr id="22" name="card-69"/>
          <p:cNvSpPr/>
          <p:nvPr/>
        </p:nvSpPr>
        <p:spPr>
          <a:xfrm>
            <a:off x="7955280" y="4297680"/>
            <a:ext cx="3566160" cy="1463040"/>
          </a:xfrm>
          <a:prstGeom prst="roundRect">
            <a:avLst>
              <a:gd name="adj" fmla="val 8750"/>
            </a:avLst>
          </a:prstGeom>
          <a:solidFill>
            <a:schemeClr val="accent3">
              <a:alpha val="10000"/>
            </a:schemeClr>
          </a:solidFill>
          <a:ln/>
        </p:spPr>
      </p:sp>
      <p:sp>
        <p:nvSpPr>
          <p:cNvPr id="23" name="text-70"/>
          <p:cNvSpPr txBox="1"/>
          <p:nvPr/>
        </p:nvSpPr>
        <p:spPr>
          <a:xfrm>
            <a:off x="8183880" y="4297680"/>
            <a:ext cx="3200400" cy="1463040"/>
          </a:xfrm>
          <a:prstGeom prst="rect">
            <a:avLst/>
          </a:prstGeom>
          <a:noFill/>
          <a:ln/>
        </p:spPr>
        <p:txBody>
          <a:bodyPr wrap="square" lIns="0" tIns="0" rIns="0" bIns="0" rtlCol="0" anchor="ctr"/>
          <a:lstStyle/>
          <a:p>
            <a:pPr indent="0" marL="0">
              <a:buNone/>
            </a:pPr>
            <a:r>
              <a:rPr lang="en-US" sz="1800" b="1" dirty="0">
                <a:solidFill>
                  <a:schemeClr val="tx1"/>
                </a:solidFill>
              </a:rPr>
              <a:t>거리 = 코사인 유사도</a:t>
            </a:r>
            <a:endParaRPr lang="en-US" sz="1800" dirty="0"/>
          </a:p>
          <a:p>
            <a:pPr indent="0" marL="0">
              <a:buNone/>
            </a:pPr>
            <a:r>
              <a:rPr lang="en-US" sz="1500" dirty="0">
                <a:solidFill>
                  <a:schemeClr val="tx2"/>
                </a:solidFill>
              </a:rPr>
              <a:t>(L2 정규화한 벡터의 내적)</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대조학습: 배치 안에서 짝 맞추기</a:t>
            </a:r>
            <a:endParaRPr lang="en-US" sz="3000" dirty="0"/>
          </a:p>
        </p:txBody>
      </p:sp>
      <p:sp>
        <p:nvSpPr>
          <p:cNvPr id="3" name="text-7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700" dirty="0">
                <a:solidFill>
                  <a:schemeClr val="tx2"/>
                </a:solidFill>
              </a:rPr>
              <a:t>웹에서 모은 (이미지, 캡션) 쌍 수억 개를 라벨링 없이 그대로 사용</a:t>
            </a:r>
            <a:endParaRPr lang="en-US" sz="1700" dirty="0"/>
          </a:p>
        </p:txBody>
      </p:sp>
      <p:sp>
        <p:nvSpPr>
          <p:cNvPr id="4" name="pill-72"/>
          <p:cNvSpPr/>
          <p:nvPr/>
        </p:nvSpPr>
        <p:spPr>
          <a:xfrm>
            <a:off x="2167128" y="1828800"/>
            <a:ext cx="832104" cy="384048"/>
          </a:xfrm>
          <a:prstGeom prst="roundRect">
            <a:avLst>
              <a:gd name="adj" fmla="val 50000"/>
            </a:avLst>
          </a:prstGeom>
          <a:solidFill>
            <a:schemeClr val="accent2"/>
          </a:solidFill>
          <a:ln/>
        </p:spPr>
      </p:sp>
      <p:sp>
        <p:nvSpPr>
          <p:cNvPr id="5" name="text-73"/>
          <p:cNvSpPr txBox="1"/>
          <p:nvPr/>
        </p:nvSpPr>
        <p:spPr>
          <a:xfrm>
            <a:off x="2167128" y="1828800"/>
            <a:ext cx="832104" cy="384048"/>
          </a:xfrm>
          <a:prstGeom prst="rect">
            <a:avLst/>
          </a:prstGeom>
          <a:noFill/>
          <a:ln/>
        </p:spPr>
        <p:txBody>
          <a:bodyPr wrap="square" lIns="0" tIns="0" rIns="0" bIns="0" rtlCol="0" anchor="ctr"/>
          <a:lstStyle/>
          <a:p>
            <a:pPr algn="ctr" indent="0" marL="0">
              <a:buNone/>
            </a:pPr>
            <a:r>
              <a:rPr lang="en-US" sz="1200" b="1" dirty="0">
                <a:solidFill>
                  <a:schemeClr val="bg1"/>
                </a:solidFill>
              </a:rPr>
              <a:t>cat</a:t>
            </a:r>
            <a:endParaRPr lang="en-US" sz="1200" dirty="0"/>
          </a:p>
        </p:txBody>
      </p:sp>
      <p:sp>
        <p:nvSpPr>
          <p:cNvPr id="6" name="pill-74"/>
          <p:cNvSpPr/>
          <p:nvPr/>
        </p:nvSpPr>
        <p:spPr>
          <a:xfrm>
            <a:off x="3035808" y="1828800"/>
            <a:ext cx="832104" cy="384048"/>
          </a:xfrm>
          <a:prstGeom prst="roundRect">
            <a:avLst>
              <a:gd name="adj" fmla="val 50000"/>
            </a:avLst>
          </a:prstGeom>
          <a:solidFill>
            <a:schemeClr val="accent2"/>
          </a:solidFill>
          <a:ln/>
        </p:spPr>
      </p:sp>
      <p:sp>
        <p:nvSpPr>
          <p:cNvPr id="7" name="text-75"/>
          <p:cNvSpPr txBox="1"/>
          <p:nvPr/>
        </p:nvSpPr>
        <p:spPr>
          <a:xfrm>
            <a:off x="3035808" y="1828800"/>
            <a:ext cx="832104" cy="384048"/>
          </a:xfrm>
          <a:prstGeom prst="rect">
            <a:avLst/>
          </a:prstGeom>
          <a:noFill/>
          <a:ln/>
        </p:spPr>
        <p:txBody>
          <a:bodyPr wrap="square" lIns="0" tIns="0" rIns="0" bIns="0" rtlCol="0" anchor="ctr"/>
          <a:lstStyle/>
          <a:p>
            <a:pPr algn="ctr" indent="0" marL="0">
              <a:buNone/>
            </a:pPr>
            <a:r>
              <a:rPr lang="en-US" sz="1200" b="1" dirty="0">
                <a:solidFill>
                  <a:schemeClr val="bg1"/>
                </a:solidFill>
              </a:rPr>
              <a:t>coffee</a:t>
            </a:r>
            <a:endParaRPr lang="en-US" sz="1200" dirty="0"/>
          </a:p>
        </p:txBody>
      </p:sp>
      <p:sp>
        <p:nvSpPr>
          <p:cNvPr id="8" name="pill-76"/>
          <p:cNvSpPr/>
          <p:nvPr/>
        </p:nvSpPr>
        <p:spPr>
          <a:xfrm>
            <a:off x="3904488" y="1828800"/>
            <a:ext cx="832104" cy="384048"/>
          </a:xfrm>
          <a:prstGeom prst="roundRect">
            <a:avLst>
              <a:gd name="adj" fmla="val 50000"/>
            </a:avLst>
          </a:prstGeom>
          <a:solidFill>
            <a:schemeClr val="accent2"/>
          </a:solidFill>
          <a:ln/>
        </p:spPr>
      </p:sp>
      <p:sp>
        <p:nvSpPr>
          <p:cNvPr id="9" name="text-77"/>
          <p:cNvSpPr txBox="1"/>
          <p:nvPr/>
        </p:nvSpPr>
        <p:spPr>
          <a:xfrm>
            <a:off x="3904488" y="1828800"/>
            <a:ext cx="832104" cy="384048"/>
          </a:xfrm>
          <a:prstGeom prst="rect">
            <a:avLst/>
          </a:prstGeom>
          <a:noFill/>
          <a:ln/>
        </p:spPr>
        <p:txBody>
          <a:bodyPr wrap="square" lIns="0" tIns="0" rIns="0" bIns="0" rtlCol="0" anchor="ctr"/>
          <a:lstStyle/>
          <a:p>
            <a:pPr algn="ctr" indent="0" marL="0">
              <a:buNone/>
            </a:pPr>
            <a:r>
              <a:rPr lang="en-US" sz="1200" b="1" dirty="0">
                <a:solidFill>
                  <a:schemeClr val="bg1"/>
                </a:solidFill>
              </a:rPr>
              <a:t>rocket</a:t>
            </a:r>
            <a:endParaRPr lang="en-US" sz="1200" dirty="0"/>
          </a:p>
        </p:txBody>
      </p:sp>
      <p:sp>
        <p:nvSpPr>
          <p:cNvPr id="10" name="pill-78"/>
          <p:cNvSpPr/>
          <p:nvPr/>
        </p:nvSpPr>
        <p:spPr>
          <a:xfrm>
            <a:off x="4773168" y="1828800"/>
            <a:ext cx="832104" cy="384048"/>
          </a:xfrm>
          <a:prstGeom prst="roundRect">
            <a:avLst>
              <a:gd name="adj" fmla="val 50000"/>
            </a:avLst>
          </a:prstGeom>
          <a:solidFill>
            <a:schemeClr val="accent2"/>
          </a:solidFill>
          <a:ln/>
        </p:spPr>
      </p:sp>
      <p:sp>
        <p:nvSpPr>
          <p:cNvPr id="11" name="text-79"/>
          <p:cNvSpPr txBox="1"/>
          <p:nvPr/>
        </p:nvSpPr>
        <p:spPr>
          <a:xfrm>
            <a:off x="4773168" y="1828800"/>
            <a:ext cx="832104" cy="384048"/>
          </a:xfrm>
          <a:prstGeom prst="rect">
            <a:avLst/>
          </a:prstGeom>
          <a:noFill/>
          <a:ln/>
        </p:spPr>
        <p:txBody>
          <a:bodyPr wrap="square" lIns="0" tIns="0" rIns="0" bIns="0" rtlCol="0" anchor="ctr"/>
          <a:lstStyle/>
          <a:p>
            <a:pPr algn="ctr" indent="0" marL="0">
              <a:buNone/>
            </a:pPr>
            <a:r>
              <a:rPr lang="en-US" sz="1000" b="1" dirty="0">
                <a:solidFill>
                  <a:schemeClr val="bg1"/>
                </a:solidFill>
              </a:rPr>
              <a:t>astronaut</a:t>
            </a:r>
            <a:endParaRPr lang="en-US" sz="1000" dirty="0"/>
          </a:p>
        </p:txBody>
      </p:sp>
      <p:pic>
        <p:nvPicPr>
          <p:cNvPr id="12" name="photo-cat-80" descr="고양이 사진">    </p:cNvPr>
          <p:cNvPicPr>
            <a:picLocks noChangeAspect="1"/>
          </p:cNvPicPr>
          <p:nvPr/>
        </p:nvPicPr>
        <p:blipFill>
          <a:blip r:embed="rId1"/>
          <a:stretch>
            <a:fillRect/>
          </a:stretch>
        </p:blipFill>
        <p:spPr>
          <a:xfrm>
            <a:off x="1188720" y="2395728"/>
            <a:ext cx="731520" cy="731520"/>
          </a:xfrm>
          <a:prstGeom prst="ellipse">
            <a:avLst/>
          </a:prstGeom>
        </p:spPr>
      </p:pic>
      <p:pic>
        <p:nvPicPr>
          <p:cNvPr id="13" name="photo-coffee-81" descr="커피 사진">    </p:cNvPr>
          <p:cNvPicPr>
            <a:picLocks noChangeAspect="1"/>
          </p:cNvPicPr>
          <p:nvPr/>
        </p:nvPicPr>
        <p:blipFill>
          <a:blip r:embed="rId2"/>
          <a:stretch>
            <a:fillRect/>
          </a:stretch>
        </p:blipFill>
        <p:spPr>
          <a:xfrm>
            <a:off x="1188720" y="3264408"/>
            <a:ext cx="731520" cy="731520"/>
          </a:xfrm>
          <a:prstGeom prst="ellipse">
            <a:avLst/>
          </a:prstGeom>
        </p:spPr>
      </p:pic>
      <p:pic>
        <p:nvPicPr>
          <p:cNvPr id="14" name="photo-rocket-82" descr="로켓 사진">    </p:cNvPr>
          <p:cNvPicPr>
            <a:picLocks noChangeAspect="1"/>
          </p:cNvPicPr>
          <p:nvPr/>
        </p:nvPicPr>
        <p:blipFill>
          <a:blip r:embed="rId3"/>
          <a:stretch>
            <a:fillRect/>
          </a:stretch>
        </p:blipFill>
        <p:spPr>
          <a:xfrm>
            <a:off x="1188720" y="4133088"/>
            <a:ext cx="731520" cy="731520"/>
          </a:xfrm>
          <a:prstGeom prst="ellipse">
            <a:avLst/>
          </a:prstGeom>
        </p:spPr>
      </p:pic>
      <p:pic>
        <p:nvPicPr>
          <p:cNvPr id="15" name="photo-astronaut-83" descr="우주비행사 사진">    </p:cNvPr>
          <p:cNvPicPr>
            <a:picLocks noChangeAspect="1"/>
          </p:cNvPicPr>
          <p:nvPr/>
        </p:nvPicPr>
        <p:blipFill>
          <a:blip r:embed="rId4"/>
          <a:stretch>
            <a:fillRect/>
          </a:stretch>
        </p:blipFill>
        <p:spPr>
          <a:xfrm>
            <a:off x="1188720" y="5001768"/>
            <a:ext cx="731520" cy="731520"/>
          </a:xfrm>
          <a:prstGeom prst="ellipse">
            <a:avLst/>
          </a:prstGeom>
        </p:spPr>
      </p:pic>
      <p:sp>
        <p:nvSpPr>
          <p:cNvPr id="16" name="cell-84"/>
          <p:cNvSpPr/>
          <p:nvPr/>
        </p:nvSpPr>
        <p:spPr>
          <a:xfrm>
            <a:off x="2148840" y="2331720"/>
            <a:ext cx="868680" cy="868680"/>
          </a:xfrm>
          <a:prstGeom prst="rect">
            <a:avLst/>
          </a:prstGeom>
          <a:solidFill>
            <a:schemeClr val="accent5"/>
          </a:solidFill>
          <a:ln w="25400">
            <a:solidFill>
              <a:schemeClr val="bg1"/>
            </a:solidFill>
            <a:prstDash val="solid"/>
          </a:ln>
        </p:spPr>
      </p:sp>
      <p:sp>
        <p:nvSpPr>
          <p:cNvPr id="17" name="text-85"/>
          <p:cNvSpPr txBox="1"/>
          <p:nvPr/>
        </p:nvSpPr>
        <p:spPr>
          <a:xfrm>
            <a:off x="2148840" y="23317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rPr>
              <a:t>짝 ✓</a:t>
            </a:r>
            <a:endParaRPr lang="en-US" sz="1400" dirty="0"/>
          </a:p>
        </p:txBody>
      </p:sp>
      <p:sp>
        <p:nvSpPr>
          <p:cNvPr id="18" name="cell-86"/>
          <p:cNvSpPr/>
          <p:nvPr/>
        </p:nvSpPr>
        <p:spPr>
          <a:xfrm>
            <a:off x="3017520" y="2331720"/>
            <a:ext cx="868680" cy="868680"/>
          </a:xfrm>
          <a:prstGeom prst="rect">
            <a:avLst/>
          </a:prstGeom>
          <a:solidFill>
            <a:schemeClr val="accent4">
              <a:alpha val="15000"/>
            </a:schemeClr>
          </a:solidFill>
          <a:ln w="25400">
            <a:solidFill>
              <a:schemeClr val="bg1"/>
            </a:solidFill>
            <a:prstDash val="solid"/>
          </a:ln>
        </p:spPr>
      </p:sp>
      <p:sp>
        <p:nvSpPr>
          <p:cNvPr id="19" name="text-87"/>
          <p:cNvSpPr txBox="1"/>
          <p:nvPr/>
        </p:nvSpPr>
        <p:spPr>
          <a:xfrm>
            <a:off x="3017520" y="233172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20" name="cell-88"/>
          <p:cNvSpPr/>
          <p:nvPr/>
        </p:nvSpPr>
        <p:spPr>
          <a:xfrm>
            <a:off x="3886200" y="2331720"/>
            <a:ext cx="868680" cy="868680"/>
          </a:xfrm>
          <a:prstGeom prst="rect">
            <a:avLst/>
          </a:prstGeom>
          <a:solidFill>
            <a:schemeClr val="accent4">
              <a:alpha val="15000"/>
            </a:schemeClr>
          </a:solidFill>
          <a:ln w="25400">
            <a:solidFill>
              <a:schemeClr val="bg1"/>
            </a:solidFill>
            <a:prstDash val="solid"/>
          </a:ln>
        </p:spPr>
      </p:sp>
      <p:sp>
        <p:nvSpPr>
          <p:cNvPr id="21" name="text-89"/>
          <p:cNvSpPr txBox="1"/>
          <p:nvPr/>
        </p:nvSpPr>
        <p:spPr>
          <a:xfrm>
            <a:off x="3886200" y="233172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22" name="cell-90"/>
          <p:cNvSpPr/>
          <p:nvPr/>
        </p:nvSpPr>
        <p:spPr>
          <a:xfrm>
            <a:off x="4754880" y="2331720"/>
            <a:ext cx="868680" cy="868680"/>
          </a:xfrm>
          <a:prstGeom prst="rect">
            <a:avLst/>
          </a:prstGeom>
          <a:solidFill>
            <a:schemeClr val="accent4">
              <a:alpha val="15000"/>
            </a:schemeClr>
          </a:solidFill>
          <a:ln w="25400">
            <a:solidFill>
              <a:schemeClr val="bg1"/>
            </a:solidFill>
            <a:prstDash val="solid"/>
          </a:ln>
        </p:spPr>
      </p:sp>
      <p:sp>
        <p:nvSpPr>
          <p:cNvPr id="23" name="text-91"/>
          <p:cNvSpPr txBox="1"/>
          <p:nvPr/>
        </p:nvSpPr>
        <p:spPr>
          <a:xfrm>
            <a:off x="4754880" y="233172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24" name="cell-92"/>
          <p:cNvSpPr/>
          <p:nvPr/>
        </p:nvSpPr>
        <p:spPr>
          <a:xfrm>
            <a:off x="2148840" y="3200400"/>
            <a:ext cx="868680" cy="868680"/>
          </a:xfrm>
          <a:prstGeom prst="rect">
            <a:avLst/>
          </a:prstGeom>
          <a:solidFill>
            <a:schemeClr val="accent4">
              <a:alpha val="15000"/>
            </a:schemeClr>
          </a:solidFill>
          <a:ln w="25400">
            <a:solidFill>
              <a:schemeClr val="bg1"/>
            </a:solidFill>
            <a:prstDash val="solid"/>
          </a:ln>
        </p:spPr>
      </p:sp>
      <p:sp>
        <p:nvSpPr>
          <p:cNvPr id="25" name="text-93"/>
          <p:cNvSpPr txBox="1"/>
          <p:nvPr/>
        </p:nvSpPr>
        <p:spPr>
          <a:xfrm>
            <a:off x="2148840" y="320040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26" name="cell-94"/>
          <p:cNvSpPr/>
          <p:nvPr/>
        </p:nvSpPr>
        <p:spPr>
          <a:xfrm>
            <a:off x="3017520" y="3200400"/>
            <a:ext cx="868680" cy="868680"/>
          </a:xfrm>
          <a:prstGeom prst="rect">
            <a:avLst/>
          </a:prstGeom>
          <a:solidFill>
            <a:schemeClr val="accent5"/>
          </a:solidFill>
          <a:ln w="25400">
            <a:solidFill>
              <a:schemeClr val="bg1"/>
            </a:solidFill>
            <a:prstDash val="solid"/>
          </a:ln>
        </p:spPr>
      </p:sp>
      <p:sp>
        <p:nvSpPr>
          <p:cNvPr id="27" name="text-95"/>
          <p:cNvSpPr txBox="1"/>
          <p:nvPr/>
        </p:nvSpPr>
        <p:spPr>
          <a:xfrm>
            <a:off x="3017520" y="320040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rPr>
              <a:t>짝 ✓</a:t>
            </a:r>
            <a:endParaRPr lang="en-US" sz="1400" dirty="0"/>
          </a:p>
        </p:txBody>
      </p:sp>
      <p:sp>
        <p:nvSpPr>
          <p:cNvPr id="28" name="cell-96"/>
          <p:cNvSpPr/>
          <p:nvPr/>
        </p:nvSpPr>
        <p:spPr>
          <a:xfrm>
            <a:off x="3886200" y="3200400"/>
            <a:ext cx="868680" cy="868680"/>
          </a:xfrm>
          <a:prstGeom prst="rect">
            <a:avLst/>
          </a:prstGeom>
          <a:solidFill>
            <a:schemeClr val="accent4">
              <a:alpha val="15000"/>
            </a:schemeClr>
          </a:solidFill>
          <a:ln w="25400">
            <a:solidFill>
              <a:schemeClr val="bg1"/>
            </a:solidFill>
            <a:prstDash val="solid"/>
          </a:ln>
        </p:spPr>
      </p:sp>
      <p:sp>
        <p:nvSpPr>
          <p:cNvPr id="29" name="text-97"/>
          <p:cNvSpPr txBox="1"/>
          <p:nvPr/>
        </p:nvSpPr>
        <p:spPr>
          <a:xfrm>
            <a:off x="3886200" y="320040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30" name="cell-98"/>
          <p:cNvSpPr/>
          <p:nvPr/>
        </p:nvSpPr>
        <p:spPr>
          <a:xfrm>
            <a:off x="4754880" y="3200400"/>
            <a:ext cx="868680" cy="868680"/>
          </a:xfrm>
          <a:prstGeom prst="rect">
            <a:avLst/>
          </a:prstGeom>
          <a:solidFill>
            <a:schemeClr val="accent4">
              <a:alpha val="15000"/>
            </a:schemeClr>
          </a:solidFill>
          <a:ln w="25400">
            <a:solidFill>
              <a:schemeClr val="bg1"/>
            </a:solidFill>
            <a:prstDash val="solid"/>
          </a:ln>
        </p:spPr>
      </p:sp>
      <p:sp>
        <p:nvSpPr>
          <p:cNvPr id="31" name="text-99"/>
          <p:cNvSpPr txBox="1"/>
          <p:nvPr/>
        </p:nvSpPr>
        <p:spPr>
          <a:xfrm>
            <a:off x="4754880" y="320040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32" name="cell-100"/>
          <p:cNvSpPr/>
          <p:nvPr/>
        </p:nvSpPr>
        <p:spPr>
          <a:xfrm>
            <a:off x="2148840" y="4069080"/>
            <a:ext cx="868680" cy="868680"/>
          </a:xfrm>
          <a:prstGeom prst="rect">
            <a:avLst/>
          </a:prstGeom>
          <a:solidFill>
            <a:schemeClr val="accent4">
              <a:alpha val="15000"/>
            </a:schemeClr>
          </a:solidFill>
          <a:ln w="25400">
            <a:solidFill>
              <a:schemeClr val="bg1"/>
            </a:solidFill>
            <a:prstDash val="solid"/>
          </a:ln>
        </p:spPr>
      </p:sp>
      <p:sp>
        <p:nvSpPr>
          <p:cNvPr id="33" name="text-101"/>
          <p:cNvSpPr txBox="1"/>
          <p:nvPr/>
        </p:nvSpPr>
        <p:spPr>
          <a:xfrm>
            <a:off x="2148840" y="406908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34" name="cell-102"/>
          <p:cNvSpPr/>
          <p:nvPr/>
        </p:nvSpPr>
        <p:spPr>
          <a:xfrm>
            <a:off x="3017520" y="4069080"/>
            <a:ext cx="868680" cy="868680"/>
          </a:xfrm>
          <a:prstGeom prst="rect">
            <a:avLst/>
          </a:prstGeom>
          <a:solidFill>
            <a:schemeClr val="accent4">
              <a:alpha val="15000"/>
            </a:schemeClr>
          </a:solidFill>
          <a:ln w="25400">
            <a:solidFill>
              <a:schemeClr val="bg1"/>
            </a:solidFill>
            <a:prstDash val="solid"/>
          </a:ln>
        </p:spPr>
      </p:sp>
      <p:sp>
        <p:nvSpPr>
          <p:cNvPr id="35" name="text-103"/>
          <p:cNvSpPr txBox="1"/>
          <p:nvPr/>
        </p:nvSpPr>
        <p:spPr>
          <a:xfrm>
            <a:off x="3017520" y="406908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36" name="cell-104"/>
          <p:cNvSpPr/>
          <p:nvPr/>
        </p:nvSpPr>
        <p:spPr>
          <a:xfrm>
            <a:off x="3886200" y="4069080"/>
            <a:ext cx="868680" cy="868680"/>
          </a:xfrm>
          <a:prstGeom prst="rect">
            <a:avLst/>
          </a:prstGeom>
          <a:solidFill>
            <a:schemeClr val="accent5"/>
          </a:solidFill>
          <a:ln w="25400">
            <a:solidFill>
              <a:schemeClr val="bg1"/>
            </a:solidFill>
            <a:prstDash val="solid"/>
          </a:ln>
        </p:spPr>
      </p:sp>
      <p:sp>
        <p:nvSpPr>
          <p:cNvPr id="37" name="text-105"/>
          <p:cNvSpPr txBox="1"/>
          <p:nvPr/>
        </p:nvSpPr>
        <p:spPr>
          <a:xfrm>
            <a:off x="3886200" y="406908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rPr>
              <a:t>짝 ✓</a:t>
            </a:r>
            <a:endParaRPr lang="en-US" sz="1400" dirty="0"/>
          </a:p>
        </p:txBody>
      </p:sp>
      <p:sp>
        <p:nvSpPr>
          <p:cNvPr id="38" name="cell-106"/>
          <p:cNvSpPr/>
          <p:nvPr/>
        </p:nvSpPr>
        <p:spPr>
          <a:xfrm>
            <a:off x="4754880" y="4069080"/>
            <a:ext cx="868680" cy="868680"/>
          </a:xfrm>
          <a:prstGeom prst="rect">
            <a:avLst/>
          </a:prstGeom>
          <a:solidFill>
            <a:schemeClr val="accent4">
              <a:alpha val="15000"/>
            </a:schemeClr>
          </a:solidFill>
          <a:ln w="25400">
            <a:solidFill>
              <a:schemeClr val="bg1"/>
            </a:solidFill>
            <a:prstDash val="solid"/>
          </a:ln>
        </p:spPr>
      </p:sp>
      <p:sp>
        <p:nvSpPr>
          <p:cNvPr id="39" name="text-107"/>
          <p:cNvSpPr txBox="1"/>
          <p:nvPr/>
        </p:nvSpPr>
        <p:spPr>
          <a:xfrm>
            <a:off x="4754880" y="406908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40" name="cell-108"/>
          <p:cNvSpPr/>
          <p:nvPr/>
        </p:nvSpPr>
        <p:spPr>
          <a:xfrm>
            <a:off x="2148840" y="4937760"/>
            <a:ext cx="868680" cy="868680"/>
          </a:xfrm>
          <a:prstGeom prst="rect">
            <a:avLst/>
          </a:prstGeom>
          <a:solidFill>
            <a:schemeClr val="accent4">
              <a:alpha val="15000"/>
            </a:schemeClr>
          </a:solidFill>
          <a:ln w="25400">
            <a:solidFill>
              <a:schemeClr val="bg1"/>
            </a:solidFill>
            <a:prstDash val="solid"/>
          </a:ln>
        </p:spPr>
      </p:sp>
      <p:sp>
        <p:nvSpPr>
          <p:cNvPr id="41" name="text-109"/>
          <p:cNvSpPr txBox="1"/>
          <p:nvPr/>
        </p:nvSpPr>
        <p:spPr>
          <a:xfrm>
            <a:off x="2148840" y="493776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42" name="cell-110"/>
          <p:cNvSpPr/>
          <p:nvPr/>
        </p:nvSpPr>
        <p:spPr>
          <a:xfrm>
            <a:off x="3017520" y="4937760"/>
            <a:ext cx="868680" cy="868680"/>
          </a:xfrm>
          <a:prstGeom prst="rect">
            <a:avLst/>
          </a:prstGeom>
          <a:solidFill>
            <a:schemeClr val="accent4">
              <a:alpha val="15000"/>
            </a:schemeClr>
          </a:solidFill>
          <a:ln w="25400">
            <a:solidFill>
              <a:schemeClr val="bg1"/>
            </a:solidFill>
            <a:prstDash val="solid"/>
          </a:ln>
        </p:spPr>
      </p:sp>
      <p:sp>
        <p:nvSpPr>
          <p:cNvPr id="43" name="text-111"/>
          <p:cNvSpPr txBox="1"/>
          <p:nvPr/>
        </p:nvSpPr>
        <p:spPr>
          <a:xfrm>
            <a:off x="3017520" y="493776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44" name="cell-112"/>
          <p:cNvSpPr/>
          <p:nvPr/>
        </p:nvSpPr>
        <p:spPr>
          <a:xfrm>
            <a:off x="3886200" y="4937760"/>
            <a:ext cx="868680" cy="868680"/>
          </a:xfrm>
          <a:prstGeom prst="rect">
            <a:avLst/>
          </a:prstGeom>
          <a:solidFill>
            <a:schemeClr val="accent4">
              <a:alpha val="15000"/>
            </a:schemeClr>
          </a:solidFill>
          <a:ln w="25400">
            <a:solidFill>
              <a:schemeClr val="bg1"/>
            </a:solidFill>
            <a:prstDash val="solid"/>
          </a:ln>
        </p:spPr>
      </p:sp>
      <p:sp>
        <p:nvSpPr>
          <p:cNvPr id="45" name="text-113"/>
          <p:cNvSpPr txBox="1"/>
          <p:nvPr/>
        </p:nvSpPr>
        <p:spPr>
          <a:xfrm>
            <a:off x="3886200" y="4937760"/>
            <a:ext cx="868680" cy="86868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46" name="cell-114"/>
          <p:cNvSpPr/>
          <p:nvPr/>
        </p:nvSpPr>
        <p:spPr>
          <a:xfrm>
            <a:off x="4754880" y="4937760"/>
            <a:ext cx="868680" cy="868680"/>
          </a:xfrm>
          <a:prstGeom prst="rect">
            <a:avLst/>
          </a:prstGeom>
          <a:solidFill>
            <a:schemeClr val="accent5"/>
          </a:solidFill>
          <a:ln w="25400">
            <a:solidFill>
              <a:schemeClr val="bg1"/>
            </a:solidFill>
            <a:prstDash val="solid"/>
          </a:ln>
        </p:spPr>
      </p:sp>
      <p:sp>
        <p:nvSpPr>
          <p:cNvPr id="47" name="text-115"/>
          <p:cNvSpPr txBox="1"/>
          <p:nvPr/>
        </p:nvSpPr>
        <p:spPr>
          <a:xfrm>
            <a:off x="4754880" y="493776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rPr>
              <a:t>짝 ✓</a:t>
            </a:r>
            <a:endParaRPr lang="en-US" sz="1400" dirty="0"/>
          </a:p>
        </p:txBody>
      </p:sp>
      <p:sp>
        <p:nvSpPr>
          <p:cNvPr id="48" name="circle-116"/>
          <p:cNvSpPr/>
          <p:nvPr/>
        </p:nvSpPr>
        <p:spPr>
          <a:xfrm>
            <a:off x="6400800" y="1874520"/>
            <a:ext cx="731520" cy="731520"/>
          </a:xfrm>
          <a:prstGeom prst="ellipse">
            <a:avLst/>
          </a:prstGeom>
          <a:solidFill>
            <a:schemeClr val="accent5"/>
          </a:solidFill>
          <a:ln/>
        </p:spPr>
      </p:sp>
      <p:pic>
        <p:nvPicPr>
          <p:cNvPr id="49" name="icon-FaCheck-117" descr="FaCheck">    </p:cNvPr>
          <p:cNvPicPr>
            <a:picLocks noChangeAspect="1"/>
          </p:cNvPicPr>
          <p:nvPr/>
        </p:nvPicPr>
        <p:blipFill>
          <a:blip r:embed="rId5"/>
          <a:stretch>
            <a:fillRect/>
          </a:stretch>
        </p:blipFill>
        <p:spPr>
          <a:xfrm>
            <a:off x="6590995" y="2064715"/>
            <a:ext cx="351130" cy="351130"/>
          </a:xfrm>
          <a:prstGeom prst="rect">
            <a:avLst/>
          </a:prstGeom>
        </p:spPr>
      </p:pic>
      <p:sp>
        <p:nvSpPr>
          <p:cNvPr id="50" name="text-118"/>
          <p:cNvSpPr txBox="1"/>
          <p:nvPr/>
        </p:nvSpPr>
        <p:spPr>
          <a:xfrm>
            <a:off x="7360920" y="1828800"/>
            <a:ext cx="4206240" cy="457200"/>
          </a:xfrm>
          <a:prstGeom prst="rect">
            <a:avLst/>
          </a:prstGeom>
          <a:noFill/>
          <a:ln/>
        </p:spPr>
        <p:txBody>
          <a:bodyPr wrap="square" lIns="0" tIns="0" rIns="0" bIns="0" rtlCol="0" anchor="t"/>
          <a:lstStyle/>
          <a:p>
            <a:pPr indent="0" marL="0">
              <a:buNone/>
            </a:pPr>
            <a:r>
              <a:rPr lang="en-US" sz="2200" b="1" dirty="0">
                <a:solidFill>
                  <a:schemeClr val="accent5"/>
                </a:solidFill>
              </a:rPr>
              <a:t>Positive (대각선)</a:t>
            </a:r>
            <a:endParaRPr lang="en-US" sz="2200" dirty="0"/>
          </a:p>
        </p:txBody>
      </p:sp>
      <p:sp>
        <p:nvSpPr>
          <p:cNvPr id="51" name="text-119"/>
          <p:cNvSpPr txBox="1"/>
          <p:nvPr/>
        </p:nvSpPr>
        <p:spPr>
          <a:xfrm>
            <a:off x="7360920" y="2286000"/>
            <a:ext cx="4206240" cy="457200"/>
          </a:xfrm>
          <a:prstGeom prst="rect">
            <a:avLst/>
          </a:prstGeom>
          <a:noFill/>
          <a:ln/>
        </p:spPr>
        <p:txBody>
          <a:bodyPr wrap="square" lIns="0" tIns="0" rIns="0" bIns="0" rtlCol="0" anchor="t"/>
          <a:lstStyle/>
          <a:p>
            <a:pPr indent="0" marL="0">
              <a:buNone/>
            </a:pPr>
            <a:r>
              <a:rPr lang="en-US" sz="1800" dirty="0">
                <a:solidFill>
                  <a:schemeClr val="tx2"/>
                </a:solidFill>
              </a:rPr>
              <a:t>진짜 짝 → 유사도 ↑</a:t>
            </a:r>
            <a:endParaRPr lang="en-US" sz="1800" dirty="0"/>
          </a:p>
        </p:txBody>
      </p:sp>
      <p:sp>
        <p:nvSpPr>
          <p:cNvPr id="52" name="circle-120"/>
          <p:cNvSpPr/>
          <p:nvPr/>
        </p:nvSpPr>
        <p:spPr>
          <a:xfrm>
            <a:off x="6400800" y="3154680"/>
            <a:ext cx="731520" cy="731520"/>
          </a:xfrm>
          <a:prstGeom prst="ellipse">
            <a:avLst/>
          </a:prstGeom>
          <a:solidFill>
            <a:schemeClr val="accent4"/>
          </a:solidFill>
          <a:ln/>
        </p:spPr>
      </p:sp>
      <p:pic>
        <p:nvPicPr>
          <p:cNvPr id="53" name="icon-FaTimes-121" descr="FaTimes">    </p:cNvPr>
          <p:cNvPicPr>
            <a:picLocks noChangeAspect="1"/>
          </p:cNvPicPr>
          <p:nvPr/>
        </p:nvPicPr>
        <p:blipFill>
          <a:blip r:embed="rId6"/>
          <a:stretch>
            <a:fillRect/>
          </a:stretch>
        </p:blipFill>
        <p:spPr>
          <a:xfrm>
            <a:off x="6590995" y="3344875"/>
            <a:ext cx="351130" cy="351130"/>
          </a:xfrm>
          <a:prstGeom prst="rect">
            <a:avLst/>
          </a:prstGeom>
        </p:spPr>
      </p:pic>
      <p:sp>
        <p:nvSpPr>
          <p:cNvPr id="54" name="text-122"/>
          <p:cNvSpPr txBox="1"/>
          <p:nvPr/>
        </p:nvSpPr>
        <p:spPr>
          <a:xfrm>
            <a:off x="7360920" y="3108960"/>
            <a:ext cx="4206240" cy="457200"/>
          </a:xfrm>
          <a:prstGeom prst="rect">
            <a:avLst/>
          </a:prstGeom>
          <a:noFill/>
          <a:ln/>
        </p:spPr>
        <p:txBody>
          <a:bodyPr wrap="square" lIns="0" tIns="0" rIns="0" bIns="0" rtlCol="0" anchor="t"/>
          <a:lstStyle/>
          <a:p>
            <a:pPr indent="0" marL="0">
              <a:buNone/>
            </a:pPr>
            <a:r>
              <a:rPr lang="en-US" sz="2200" b="1" dirty="0">
                <a:solidFill>
                  <a:schemeClr val="accent4"/>
                </a:solidFill>
              </a:rPr>
              <a:t>Negative (나머지)</a:t>
            </a:r>
            <a:endParaRPr lang="en-US" sz="2200" dirty="0"/>
          </a:p>
        </p:txBody>
      </p:sp>
      <p:sp>
        <p:nvSpPr>
          <p:cNvPr id="55" name="text-123"/>
          <p:cNvSpPr txBox="1"/>
          <p:nvPr/>
        </p:nvSpPr>
        <p:spPr>
          <a:xfrm>
            <a:off x="7360920" y="3566160"/>
            <a:ext cx="4206240" cy="457200"/>
          </a:xfrm>
          <a:prstGeom prst="rect">
            <a:avLst/>
          </a:prstGeom>
          <a:noFill/>
          <a:ln/>
        </p:spPr>
        <p:txBody>
          <a:bodyPr wrap="square" lIns="0" tIns="0" rIns="0" bIns="0" rtlCol="0" anchor="t"/>
          <a:lstStyle/>
          <a:p>
            <a:pPr indent="0" marL="0">
              <a:buNone/>
            </a:pPr>
            <a:r>
              <a:rPr lang="en-US" sz="1800" dirty="0">
                <a:solidFill>
                  <a:schemeClr val="tx2"/>
                </a:solidFill>
              </a:rPr>
              <a:t>가짜 짝 → 유사도 ↓</a:t>
            </a:r>
            <a:endParaRPr lang="en-US" sz="1800" dirty="0"/>
          </a:p>
        </p:txBody>
      </p:sp>
      <p:sp>
        <p:nvSpPr>
          <p:cNvPr id="56" name="card-124"/>
          <p:cNvSpPr/>
          <p:nvPr/>
        </p:nvSpPr>
        <p:spPr>
          <a:xfrm>
            <a:off x="6400800" y="4434840"/>
            <a:ext cx="5120640" cy="1371600"/>
          </a:xfrm>
          <a:prstGeom prst="roundRect">
            <a:avLst>
              <a:gd name="adj" fmla="val 9333"/>
            </a:avLst>
          </a:prstGeom>
          <a:solidFill>
            <a:schemeClr val="bg2"/>
          </a:solidFill>
          <a:ln/>
        </p:spPr>
      </p:sp>
      <p:sp>
        <p:nvSpPr>
          <p:cNvPr id="57" name="text-125"/>
          <p:cNvSpPr txBox="1"/>
          <p:nvPr/>
        </p:nvSpPr>
        <p:spPr>
          <a:xfrm>
            <a:off x="6675120" y="4434840"/>
            <a:ext cx="4663440" cy="1371600"/>
          </a:xfrm>
          <a:prstGeom prst="rect">
            <a:avLst/>
          </a:prstGeom>
          <a:noFill/>
          <a:ln/>
        </p:spPr>
        <p:txBody>
          <a:bodyPr wrap="square" lIns="0" tIns="0" rIns="0" bIns="0" rtlCol="0" anchor="ctr"/>
          <a:lstStyle/>
          <a:p>
            <a:pPr indent="0" marL="0">
              <a:buNone/>
            </a:pPr>
            <a:r>
              <a:rPr lang="en-US" sz="1600" dirty="0">
                <a:solidFill>
                  <a:schemeClr val="tx2"/>
                </a:solidFill>
              </a:rPr>
              <a:t>배치 크기 B일 때</a:t>
            </a:r>
            <a:endParaRPr lang="en-US" sz="2000" dirty="0"/>
          </a:p>
          <a:p>
            <a:pPr indent="0" marL="0">
              <a:buNone/>
            </a:pPr>
            <a:r>
              <a:rPr lang="en-US" sz="2200" b="1" dirty="0">
                <a:solidFill>
                  <a:schemeClr val="tx1"/>
                </a:solidFill>
              </a:rPr>
              <a:t>짝 B개  vs  가짜 짝 B² − B개</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CLIP의 방식 = 객관식 문제 (Softmax)</a:t>
            </a:r>
            <a:endParaRPr lang="en-US" sz="3000" dirty="0"/>
          </a:p>
        </p:txBody>
      </p:sp>
      <p:pic>
        <p:nvPicPr>
          <p:cNvPr id="3" name="photo-cat-126" descr="고양이 사진">    </p:cNvPr>
          <p:cNvPicPr>
            <a:picLocks noChangeAspect="1"/>
          </p:cNvPicPr>
          <p:nvPr/>
        </p:nvPicPr>
        <p:blipFill>
          <a:blip r:embed="rId1"/>
          <a:stretch>
            <a:fillRect/>
          </a:stretch>
        </p:blipFill>
        <p:spPr>
          <a:xfrm>
            <a:off x="822960" y="1645920"/>
            <a:ext cx="2377440" cy="2377440"/>
          </a:xfrm>
          <a:prstGeom prst="ellipse">
            <a:avLst/>
          </a:prstGeom>
        </p:spPr>
      </p:pic>
      <p:sp>
        <p:nvSpPr>
          <p:cNvPr id="4" name="text-127"/>
          <p:cNvSpPr txBox="1"/>
          <p:nvPr/>
        </p:nvSpPr>
        <p:spPr>
          <a:xfrm>
            <a:off x="640080" y="4206240"/>
            <a:ext cx="2743200" cy="457200"/>
          </a:xfrm>
          <a:prstGeom prst="rect">
            <a:avLst/>
          </a:prstGeom>
          <a:noFill/>
          <a:ln/>
        </p:spPr>
        <p:txBody>
          <a:bodyPr wrap="square" lIns="0" tIns="0" rIns="0" bIns="0" rtlCol="0" anchor="t"/>
          <a:lstStyle/>
          <a:p>
            <a:pPr algn="ctr" indent="0" marL="0">
              <a:buNone/>
            </a:pPr>
            <a:r>
              <a:rPr lang="en-US" sz="2000" b="1" dirty="0">
                <a:solidFill>
                  <a:schemeClr val="tx1"/>
                </a:solidFill>
              </a:rPr>
              <a:t>이 사진의 캡션은?</a:t>
            </a:r>
            <a:endParaRPr lang="en-US" sz="2000" dirty="0"/>
          </a:p>
        </p:txBody>
      </p:sp>
      <p:sp>
        <p:nvSpPr>
          <p:cNvPr id="5" name="text-128"/>
          <p:cNvSpPr txBox="1"/>
          <p:nvPr/>
        </p:nvSpPr>
        <p:spPr>
          <a:xfrm>
            <a:off x="3840480" y="1554480"/>
            <a:ext cx="2926080" cy="548640"/>
          </a:xfrm>
          <a:prstGeom prst="rect">
            <a:avLst/>
          </a:prstGeom>
          <a:noFill/>
          <a:ln/>
        </p:spPr>
        <p:txBody>
          <a:bodyPr wrap="square" lIns="0" tIns="0" rIns="0" bIns="0" rtlCol="0" anchor="ctr"/>
          <a:lstStyle/>
          <a:p>
            <a:pPr indent="0" marL="0">
              <a:buNone/>
            </a:pPr>
            <a:r>
              <a:rPr lang="en-US" sz="1800" b="1" dirty="0">
                <a:solidFill>
                  <a:schemeClr val="tx1"/>
                </a:solidFill>
              </a:rPr>
              <a:t>① a photo of a cat</a:t>
            </a:r>
            <a:endParaRPr lang="en-US" sz="1800" dirty="0"/>
          </a:p>
        </p:txBody>
      </p:sp>
      <p:sp>
        <p:nvSpPr>
          <p:cNvPr id="6" name="bar-bg-129"/>
          <p:cNvSpPr/>
          <p:nvPr/>
        </p:nvSpPr>
        <p:spPr>
          <a:xfrm>
            <a:off x="6858000" y="1664208"/>
            <a:ext cx="3657600" cy="329184"/>
          </a:xfrm>
          <a:prstGeom prst="rect">
            <a:avLst/>
          </a:prstGeom>
          <a:solidFill>
            <a:schemeClr val="bg2"/>
          </a:solidFill>
          <a:ln/>
        </p:spPr>
      </p:sp>
      <p:sp>
        <p:nvSpPr>
          <p:cNvPr id="7" name="bar-130"/>
          <p:cNvSpPr/>
          <p:nvPr/>
        </p:nvSpPr>
        <p:spPr>
          <a:xfrm>
            <a:off x="6858000" y="1664208"/>
            <a:ext cx="3108960" cy="329184"/>
          </a:xfrm>
          <a:prstGeom prst="rect">
            <a:avLst/>
          </a:prstGeom>
          <a:solidFill>
            <a:schemeClr val="accent3"/>
          </a:solidFill>
          <a:ln/>
        </p:spPr>
      </p:sp>
      <p:sp>
        <p:nvSpPr>
          <p:cNvPr id="8" name="text-131"/>
          <p:cNvSpPr txBox="1"/>
          <p:nvPr/>
        </p:nvSpPr>
        <p:spPr>
          <a:xfrm>
            <a:off x="10652760" y="1554480"/>
            <a:ext cx="822960" cy="548640"/>
          </a:xfrm>
          <a:prstGeom prst="rect">
            <a:avLst/>
          </a:prstGeom>
          <a:noFill/>
          <a:ln/>
        </p:spPr>
        <p:txBody>
          <a:bodyPr wrap="square" lIns="0" tIns="0" rIns="0" bIns="0" rtlCol="0" anchor="ctr"/>
          <a:lstStyle/>
          <a:p>
            <a:pPr indent="0" marL="0">
              <a:buNone/>
            </a:pPr>
            <a:r>
              <a:rPr lang="en-US" sz="1800" b="1" dirty="0">
                <a:solidFill>
                  <a:schemeClr val="accent3"/>
                </a:solidFill>
              </a:rPr>
              <a:t>0.85</a:t>
            </a:r>
            <a:endParaRPr lang="en-US" sz="1800" dirty="0"/>
          </a:p>
        </p:txBody>
      </p:sp>
      <p:sp>
        <p:nvSpPr>
          <p:cNvPr id="9" name="text-132"/>
          <p:cNvSpPr txBox="1"/>
          <p:nvPr/>
        </p:nvSpPr>
        <p:spPr>
          <a:xfrm>
            <a:off x="3840480" y="2331720"/>
            <a:ext cx="2926080" cy="548640"/>
          </a:xfrm>
          <a:prstGeom prst="rect">
            <a:avLst/>
          </a:prstGeom>
          <a:noFill/>
          <a:ln/>
        </p:spPr>
        <p:txBody>
          <a:bodyPr wrap="square" lIns="0" tIns="0" rIns="0" bIns="0" rtlCol="0" anchor="ctr"/>
          <a:lstStyle/>
          <a:p>
            <a:pPr indent="0" marL="0">
              <a:buNone/>
            </a:pPr>
            <a:r>
              <a:rPr lang="en-US" sz="1800" dirty="0">
                <a:solidFill>
                  <a:schemeClr val="tx1"/>
                </a:solidFill>
              </a:rPr>
              <a:t>② a cup of coffee</a:t>
            </a:r>
            <a:endParaRPr lang="en-US" sz="1800" dirty="0"/>
          </a:p>
        </p:txBody>
      </p:sp>
      <p:sp>
        <p:nvSpPr>
          <p:cNvPr id="10" name="bar-bg-133"/>
          <p:cNvSpPr/>
          <p:nvPr/>
        </p:nvSpPr>
        <p:spPr>
          <a:xfrm>
            <a:off x="6858000" y="2441448"/>
            <a:ext cx="3657600" cy="329184"/>
          </a:xfrm>
          <a:prstGeom prst="rect">
            <a:avLst/>
          </a:prstGeom>
          <a:solidFill>
            <a:schemeClr val="bg2"/>
          </a:solidFill>
          <a:ln/>
        </p:spPr>
      </p:sp>
      <p:sp>
        <p:nvSpPr>
          <p:cNvPr id="11" name="bar-134"/>
          <p:cNvSpPr/>
          <p:nvPr/>
        </p:nvSpPr>
        <p:spPr>
          <a:xfrm>
            <a:off x="6858000" y="2441448"/>
            <a:ext cx="292608" cy="329184"/>
          </a:xfrm>
          <a:prstGeom prst="rect">
            <a:avLst/>
          </a:prstGeom>
          <a:solidFill>
            <a:schemeClr val="accent6"/>
          </a:solidFill>
          <a:ln/>
        </p:spPr>
      </p:sp>
      <p:sp>
        <p:nvSpPr>
          <p:cNvPr id="12" name="text-135"/>
          <p:cNvSpPr txBox="1"/>
          <p:nvPr/>
        </p:nvSpPr>
        <p:spPr>
          <a:xfrm>
            <a:off x="10652760" y="2331720"/>
            <a:ext cx="822960" cy="548640"/>
          </a:xfrm>
          <a:prstGeom prst="rect">
            <a:avLst/>
          </a:prstGeom>
          <a:noFill/>
          <a:ln/>
        </p:spPr>
        <p:txBody>
          <a:bodyPr wrap="square" lIns="0" tIns="0" rIns="0" bIns="0" rtlCol="0" anchor="ctr"/>
          <a:lstStyle/>
          <a:p>
            <a:pPr indent="0" marL="0">
              <a:buNone/>
            </a:pPr>
            <a:r>
              <a:rPr lang="en-US" sz="1800" b="1" dirty="0">
                <a:solidFill>
                  <a:schemeClr val="tx2"/>
                </a:solidFill>
              </a:rPr>
              <a:t>0.08</a:t>
            </a:r>
            <a:endParaRPr lang="en-US" sz="1800" dirty="0"/>
          </a:p>
        </p:txBody>
      </p:sp>
      <p:sp>
        <p:nvSpPr>
          <p:cNvPr id="13" name="text-136"/>
          <p:cNvSpPr txBox="1"/>
          <p:nvPr/>
        </p:nvSpPr>
        <p:spPr>
          <a:xfrm>
            <a:off x="3840480" y="3108960"/>
            <a:ext cx="2926080" cy="548640"/>
          </a:xfrm>
          <a:prstGeom prst="rect">
            <a:avLst/>
          </a:prstGeom>
          <a:noFill/>
          <a:ln/>
        </p:spPr>
        <p:txBody>
          <a:bodyPr wrap="square" lIns="0" tIns="0" rIns="0" bIns="0" rtlCol="0" anchor="ctr"/>
          <a:lstStyle/>
          <a:p>
            <a:pPr indent="0" marL="0">
              <a:buNone/>
            </a:pPr>
            <a:r>
              <a:rPr lang="en-US" sz="1800" dirty="0">
                <a:solidFill>
                  <a:schemeClr val="tx1"/>
                </a:solidFill>
              </a:rPr>
              <a:t>③ a rocket at night</a:t>
            </a:r>
            <a:endParaRPr lang="en-US" sz="1800" dirty="0"/>
          </a:p>
        </p:txBody>
      </p:sp>
      <p:sp>
        <p:nvSpPr>
          <p:cNvPr id="14" name="bar-bg-137"/>
          <p:cNvSpPr/>
          <p:nvPr/>
        </p:nvSpPr>
        <p:spPr>
          <a:xfrm>
            <a:off x="6858000" y="3218688"/>
            <a:ext cx="3657600" cy="329184"/>
          </a:xfrm>
          <a:prstGeom prst="rect">
            <a:avLst/>
          </a:prstGeom>
          <a:solidFill>
            <a:schemeClr val="bg2"/>
          </a:solidFill>
          <a:ln/>
        </p:spPr>
      </p:sp>
      <p:sp>
        <p:nvSpPr>
          <p:cNvPr id="15" name="bar-138"/>
          <p:cNvSpPr/>
          <p:nvPr/>
        </p:nvSpPr>
        <p:spPr>
          <a:xfrm>
            <a:off x="6858000" y="3218688"/>
            <a:ext cx="146304" cy="329184"/>
          </a:xfrm>
          <a:prstGeom prst="rect">
            <a:avLst/>
          </a:prstGeom>
          <a:solidFill>
            <a:schemeClr val="accent6"/>
          </a:solidFill>
          <a:ln/>
        </p:spPr>
      </p:sp>
      <p:sp>
        <p:nvSpPr>
          <p:cNvPr id="16" name="text-139"/>
          <p:cNvSpPr txBox="1"/>
          <p:nvPr/>
        </p:nvSpPr>
        <p:spPr>
          <a:xfrm>
            <a:off x="10652760" y="3108960"/>
            <a:ext cx="822960" cy="548640"/>
          </a:xfrm>
          <a:prstGeom prst="rect">
            <a:avLst/>
          </a:prstGeom>
          <a:noFill/>
          <a:ln/>
        </p:spPr>
        <p:txBody>
          <a:bodyPr wrap="square" lIns="0" tIns="0" rIns="0" bIns="0" rtlCol="0" anchor="ctr"/>
          <a:lstStyle/>
          <a:p>
            <a:pPr indent="0" marL="0">
              <a:buNone/>
            </a:pPr>
            <a:r>
              <a:rPr lang="en-US" sz="1800" b="1" dirty="0">
                <a:solidFill>
                  <a:schemeClr val="tx2"/>
                </a:solidFill>
              </a:rPr>
              <a:t>0.04</a:t>
            </a:r>
            <a:endParaRPr lang="en-US" sz="1800" dirty="0"/>
          </a:p>
        </p:txBody>
      </p:sp>
      <p:sp>
        <p:nvSpPr>
          <p:cNvPr id="17" name="text-140"/>
          <p:cNvSpPr txBox="1"/>
          <p:nvPr/>
        </p:nvSpPr>
        <p:spPr>
          <a:xfrm>
            <a:off x="3840480" y="3886200"/>
            <a:ext cx="2926080" cy="548640"/>
          </a:xfrm>
          <a:prstGeom prst="rect">
            <a:avLst/>
          </a:prstGeom>
          <a:noFill/>
          <a:ln/>
        </p:spPr>
        <p:txBody>
          <a:bodyPr wrap="square" lIns="0" tIns="0" rIns="0" bIns="0" rtlCol="0" anchor="ctr"/>
          <a:lstStyle/>
          <a:p>
            <a:pPr indent="0" marL="0">
              <a:buNone/>
            </a:pPr>
            <a:r>
              <a:rPr lang="en-US" sz="1800" dirty="0">
                <a:solidFill>
                  <a:schemeClr val="tx1"/>
                </a:solidFill>
              </a:rPr>
              <a:t>④ an astronaut</a:t>
            </a:r>
            <a:endParaRPr lang="en-US" sz="1800" dirty="0"/>
          </a:p>
        </p:txBody>
      </p:sp>
      <p:sp>
        <p:nvSpPr>
          <p:cNvPr id="18" name="bar-bg-141"/>
          <p:cNvSpPr/>
          <p:nvPr/>
        </p:nvSpPr>
        <p:spPr>
          <a:xfrm>
            <a:off x="6858000" y="3995928"/>
            <a:ext cx="3657600" cy="329184"/>
          </a:xfrm>
          <a:prstGeom prst="rect">
            <a:avLst/>
          </a:prstGeom>
          <a:solidFill>
            <a:schemeClr val="bg2"/>
          </a:solidFill>
          <a:ln/>
        </p:spPr>
      </p:sp>
      <p:sp>
        <p:nvSpPr>
          <p:cNvPr id="19" name="bar-142"/>
          <p:cNvSpPr/>
          <p:nvPr/>
        </p:nvSpPr>
        <p:spPr>
          <a:xfrm>
            <a:off x="6858000" y="3995928"/>
            <a:ext cx="109728" cy="329184"/>
          </a:xfrm>
          <a:prstGeom prst="rect">
            <a:avLst/>
          </a:prstGeom>
          <a:solidFill>
            <a:schemeClr val="accent6"/>
          </a:solidFill>
          <a:ln/>
        </p:spPr>
      </p:sp>
      <p:sp>
        <p:nvSpPr>
          <p:cNvPr id="20" name="text-143"/>
          <p:cNvSpPr txBox="1"/>
          <p:nvPr/>
        </p:nvSpPr>
        <p:spPr>
          <a:xfrm>
            <a:off x="10652760" y="3886200"/>
            <a:ext cx="822960" cy="548640"/>
          </a:xfrm>
          <a:prstGeom prst="rect">
            <a:avLst/>
          </a:prstGeom>
          <a:noFill/>
          <a:ln/>
        </p:spPr>
        <p:txBody>
          <a:bodyPr wrap="square" lIns="0" tIns="0" rIns="0" bIns="0" rtlCol="0" anchor="ctr"/>
          <a:lstStyle/>
          <a:p>
            <a:pPr indent="0" marL="0">
              <a:buNone/>
            </a:pPr>
            <a:r>
              <a:rPr lang="en-US" sz="1800" b="1" dirty="0">
                <a:solidFill>
                  <a:schemeClr val="tx2"/>
                </a:solidFill>
              </a:rPr>
              <a:t>0.03</a:t>
            </a:r>
            <a:endParaRPr lang="en-US" sz="1800" dirty="0"/>
          </a:p>
        </p:txBody>
      </p:sp>
      <p:sp>
        <p:nvSpPr>
          <p:cNvPr id="21" name="text-144"/>
          <p:cNvSpPr txBox="1"/>
          <p:nvPr/>
        </p:nvSpPr>
        <p:spPr>
          <a:xfrm>
            <a:off x="8778240" y="4709160"/>
            <a:ext cx="2697480" cy="457200"/>
          </a:xfrm>
          <a:prstGeom prst="rect">
            <a:avLst/>
          </a:prstGeom>
          <a:noFill/>
          <a:ln/>
        </p:spPr>
        <p:txBody>
          <a:bodyPr wrap="square" lIns="0" tIns="0" rIns="0" bIns="0" rtlCol="0" anchor="t"/>
          <a:lstStyle/>
          <a:p>
            <a:pPr algn="r" indent="0" marL="0">
              <a:buNone/>
            </a:pPr>
            <a:r>
              <a:rPr lang="en-US" sz="2000" b="1" dirty="0">
                <a:solidFill>
                  <a:schemeClr val="accent3"/>
                </a:solidFill>
              </a:rPr>
              <a:t>합계 = 1.00</a:t>
            </a:r>
            <a:endParaRPr lang="en-US" sz="2000" dirty="0"/>
          </a:p>
        </p:txBody>
      </p:sp>
      <p:sp>
        <p:nvSpPr>
          <p:cNvPr id="22" name="card-145"/>
          <p:cNvSpPr/>
          <p:nvPr/>
        </p:nvSpPr>
        <p:spPr>
          <a:xfrm>
            <a:off x="3840480" y="5349240"/>
            <a:ext cx="7680960" cy="731520"/>
          </a:xfrm>
          <a:prstGeom prst="roundRect">
            <a:avLst>
              <a:gd name="adj" fmla="val 17500"/>
            </a:avLst>
          </a:prstGeom>
          <a:solidFill>
            <a:schemeClr val="bg2"/>
          </a:solidFill>
          <a:ln/>
        </p:spPr>
      </p:sp>
      <p:sp>
        <p:nvSpPr>
          <p:cNvPr id="23" name="text-146"/>
          <p:cNvSpPr txBox="1"/>
          <p:nvPr/>
        </p:nvSpPr>
        <p:spPr>
          <a:xfrm>
            <a:off x="4114800" y="5349240"/>
            <a:ext cx="7223760" cy="731520"/>
          </a:xfrm>
          <a:prstGeom prst="rect">
            <a:avLst/>
          </a:prstGeom>
          <a:noFill/>
          <a:ln/>
        </p:spPr>
        <p:txBody>
          <a:bodyPr wrap="square" lIns="0" tIns="0" rIns="0" bIns="0" rtlCol="0" anchor="ctr"/>
          <a:lstStyle/>
          <a:p>
            <a:pPr indent="0" marL="0">
              <a:buNone/>
            </a:pPr>
            <a:r>
              <a:rPr lang="en-US" sz="1700" dirty="0">
                <a:solidFill>
                  <a:schemeClr val="tx1"/>
                </a:solidFill>
              </a:rPr>
              <a:t>보기 B개 중 정답 1개 고르기 → 확률을 서로 나눠 가짐  (값은 예시)</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객관식 방식의 약점</a:t>
            </a:r>
            <a:endParaRPr lang="en-US" sz="3000" dirty="0"/>
          </a:p>
        </p:txBody>
      </p:sp>
      <p:sp>
        <p:nvSpPr>
          <p:cNvPr id="3" name="card-147"/>
          <p:cNvSpPr/>
          <p:nvPr/>
        </p:nvSpPr>
        <p:spPr>
          <a:xfrm>
            <a:off x="640080" y="1325880"/>
            <a:ext cx="10881360" cy="1143000"/>
          </a:xfrm>
          <a:prstGeom prst="roundRect">
            <a:avLst>
              <a:gd name="adj" fmla="val 11200"/>
            </a:avLst>
          </a:prstGeom>
          <a:solidFill>
            <a:schemeClr val="tx1"/>
          </a:solidFill>
          <a:ln/>
        </p:spPr>
      </p:sp>
      <p:sp>
        <p:nvSpPr>
          <p:cNvPr id="4" name="text-148"/>
          <p:cNvSpPr txBox="1"/>
          <p:nvPr/>
        </p:nvSpPr>
        <p:spPr>
          <a:xfrm>
            <a:off x="914400" y="1325880"/>
            <a:ext cx="10424160" cy="1143000"/>
          </a:xfrm>
          <a:prstGeom prst="rect">
            <a:avLst/>
          </a:prstGeom>
          <a:noFill/>
          <a:ln/>
        </p:spPr>
        <p:txBody>
          <a:bodyPr wrap="square" lIns="0" tIns="0" rIns="0" bIns="0" rtlCol="0" anchor="ctr"/>
          <a:lstStyle/>
          <a:p>
            <a:pPr indent="0" marL="0">
              <a:buNone/>
            </a:pPr>
            <a:r>
              <a:rPr lang="en-US" sz="2400" dirty="0">
                <a:solidFill>
                  <a:schemeClr val="bg1"/>
                </a:solidFill>
              </a:rPr>
              <a:t>손실 = − log ( 정답 점수 ÷ </a:t>
            </a:r>
            <a:r>
              <a:rPr lang="en-US" sz="2400" b="1" dirty="0">
                <a:solidFill>
                  <a:srgbClr val="FBBF24"/>
                </a:solidFill>
              </a:rPr>
              <a:t>배치 전체 점수의 합</a:t>
            </a:r>
            <a:r>
              <a:rPr lang="en-US" sz="2400" dirty="0">
                <a:solidFill>
                  <a:schemeClr val="bg1"/>
                </a:solidFill>
              </a:rPr>
              <a:t> )</a:t>
            </a:r>
            <a:r>
              <a:rPr lang="en-US" sz="1800" dirty="0">
                <a:solidFill>
                  <a:schemeClr val="accent6"/>
                </a:solidFill>
              </a:rPr>
              <a:t>     ← 분모에 배치 전체가 필요</a:t>
            </a:r>
            <a:endParaRPr lang="en-US" sz="2400" dirty="0"/>
          </a:p>
        </p:txBody>
      </p:sp>
      <p:sp>
        <p:nvSpPr>
          <p:cNvPr id="5" name="card-149"/>
          <p:cNvSpPr/>
          <p:nvPr/>
        </p:nvSpPr>
        <p:spPr>
          <a:xfrm>
            <a:off x="640080" y="2788920"/>
            <a:ext cx="3474720" cy="3108960"/>
          </a:xfrm>
          <a:prstGeom prst="roundRect">
            <a:avLst>
              <a:gd name="adj" fmla="val 4118"/>
            </a:avLst>
          </a:prstGeom>
          <a:solidFill>
            <a:schemeClr val="accent4">
              <a:alpha val="7000"/>
            </a:schemeClr>
          </a:solidFill>
          <a:ln/>
        </p:spPr>
      </p:sp>
      <p:sp>
        <p:nvSpPr>
          <p:cNvPr id="6" name="circle-150"/>
          <p:cNvSpPr/>
          <p:nvPr/>
        </p:nvSpPr>
        <p:spPr>
          <a:xfrm>
            <a:off x="960120" y="3063240"/>
            <a:ext cx="868680" cy="868680"/>
          </a:xfrm>
          <a:prstGeom prst="ellipse">
            <a:avLst/>
          </a:prstGeom>
          <a:solidFill>
            <a:schemeClr val="accent4"/>
          </a:solidFill>
          <a:ln/>
        </p:spPr>
      </p:sp>
      <p:pic>
        <p:nvPicPr>
          <p:cNvPr id="7" name="icon-FaNetworkWired-151" descr="FaNetworkWired">    </p:cNvPr>
          <p:cNvPicPr>
            <a:picLocks noChangeAspect="1"/>
          </p:cNvPicPr>
          <p:nvPr/>
        </p:nvPicPr>
        <p:blipFill>
          <a:blip r:embed="rId1"/>
          <a:stretch>
            <a:fillRect/>
          </a:stretch>
        </p:blipFill>
        <p:spPr>
          <a:xfrm>
            <a:off x="1185977" y="3289097"/>
            <a:ext cx="416966" cy="416966"/>
          </a:xfrm>
          <a:prstGeom prst="rect">
            <a:avLst/>
          </a:prstGeom>
        </p:spPr>
      </p:pic>
      <p:sp>
        <p:nvSpPr>
          <p:cNvPr id="8" name="text-152"/>
          <p:cNvSpPr txBox="1"/>
          <p:nvPr/>
        </p:nvSpPr>
        <p:spPr>
          <a:xfrm>
            <a:off x="960120" y="4114800"/>
            <a:ext cx="2926080" cy="502920"/>
          </a:xfrm>
          <a:prstGeom prst="rect">
            <a:avLst/>
          </a:prstGeom>
          <a:noFill/>
          <a:ln/>
        </p:spPr>
        <p:txBody>
          <a:bodyPr wrap="square" lIns="0" tIns="0" rIns="0" bIns="0" rtlCol="0" anchor="t"/>
          <a:lstStyle/>
          <a:p>
            <a:pPr indent="0" marL="0">
              <a:buNone/>
            </a:pPr>
            <a:r>
              <a:rPr lang="en-US" sz="2200" b="1" dirty="0">
                <a:solidFill>
                  <a:schemeClr val="accent4"/>
                </a:solidFill>
              </a:rPr>
              <a:t>전부 모아야 함</a:t>
            </a:r>
            <a:endParaRPr lang="en-US" sz="2200" dirty="0"/>
          </a:p>
        </p:txBody>
      </p:sp>
      <p:sp>
        <p:nvSpPr>
          <p:cNvPr id="9" name="text-153"/>
          <p:cNvSpPr txBox="1"/>
          <p:nvPr/>
        </p:nvSpPr>
        <p:spPr>
          <a:xfrm>
            <a:off x="960120" y="4663440"/>
            <a:ext cx="2926080" cy="1097280"/>
          </a:xfrm>
          <a:prstGeom prst="rect">
            <a:avLst/>
          </a:prstGeom>
          <a:noFill/>
          <a:ln/>
        </p:spPr>
        <p:txBody>
          <a:bodyPr wrap="square" lIns="0" tIns="0" rIns="0" bIns="0" rtlCol="0" anchor="t"/>
          <a:lstStyle/>
          <a:p>
            <a:pPr indent="0" marL="0">
              <a:buNone/>
            </a:pPr>
            <a:r>
              <a:rPr lang="en-US" sz="1700" dirty="0">
                <a:solidFill>
                  <a:schemeClr val="tx1"/>
                </a:solidFill>
              </a:rPr>
              <a:t>여러 GPU에 흩어진 임베딩을 한곳에 모아 B×B 표 전체 계산</a:t>
            </a:r>
            <a:endParaRPr lang="en-US" sz="1700" dirty="0"/>
          </a:p>
        </p:txBody>
      </p:sp>
      <p:sp>
        <p:nvSpPr>
          <p:cNvPr id="10" name="card-154"/>
          <p:cNvSpPr/>
          <p:nvPr/>
        </p:nvSpPr>
        <p:spPr>
          <a:xfrm>
            <a:off x="4343400" y="2788920"/>
            <a:ext cx="3474720" cy="3108960"/>
          </a:xfrm>
          <a:prstGeom prst="roundRect">
            <a:avLst>
              <a:gd name="adj" fmla="val 4118"/>
            </a:avLst>
          </a:prstGeom>
          <a:solidFill>
            <a:schemeClr val="accent4">
              <a:alpha val="7000"/>
            </a:schemeClr>
          </a:solidFill>
          <a:ln/>
        </p:spPr>
      </p:sp>
      <p:sp>
        <p:nvSpPr>
          <p:cNvPr id="11" name="circle-155"/>
          <p:cNvSpPr/>
          <p:nvPr/>
        </p:nvSpPr>
        <p:spPr>
          <a:xfrm>
            <a:off x="4663440" y="3063240"/>
            <a:ext cx="868680" cy="868680"/>
          </a:xfrm>
          <a:prstGeom prst="ellipse">
            <a:avLst/>
          </a:prstGeom>
          <a:solidFill>
            <a:schemeClr val="accent4"/>
          </a:solidFill>
          <a:ln/>
        </p:spPr>
      </p:sp>
      <p:pic>
        <p:nvPicPr>
          <p:cNvPr id="12" name="icon-FaExpandArrowsAlt-156" descr="FaExpandArrowsAlt">    </p:cNvPr>
          <p:cNvPicPr>
            <a:picLocks noChangeAspect="1"/>
          </p:cNvPicPr>
          <p:nvPr/>
        </p:nvPicPr>
        <p:blipFill>
          <a:blip r:embed="rId2"/>
          <a:stretch>
            <a:fillRect/>
          </a:stretch>
        </p:blipFill>
        <p:spPr>
          <a:xfrm>
            <a:off x="4889297" y="3289097"/>
            <a:ext cx="416966" cy="416966"/>
          </a:xfrm>
          <a:prstGeom prst="rect">
            <a:avLst/>
          </a:prstGeom>
        </p:spPr>
      </p:pic>
      <p:sp>
        <p:nvSpPr>
          <p:cNvPr id="13" name="text-157"/>
          <p:cNvSpPr txBox="1"/>
          <p:nvPr/>
        </p:nvSpPr>
        <p:spPr>
          <a:xfrm>
            <a:off x="4663440" y="4114800"/>
            <a:ext cx="2926080" cy="502920"/>
          </a:xfrm>
          <a:prstGeom prst="rect">
            <a:avLst/>
          </a:prstGeom>
          <a:noFill/>
          <a:ln/>
        </p:spPr>
        <p:txBody>
          <a:bodyPr wrap="square" lIns="0" tIns="0" rIns="0" bIns="0" rtlCol="0" anchor="t"/>
          <a:lstStyle/>
          <a:p>
            <a:pPr indent="0" marL="0">
              <a:buNone/>
            </a:pPr>
            <a:r>
              <a:rPr lang="en-US" sz="2200" b="1" dirty="0">
                <a:solidFill>
                  <a:schemeClr val="accent4"/>
                </a:solidFill>
              </a:rPr>
              <a:t>큰 배치가 필요</a:t>
            </a:r>
            <a:endParaRPr lang="en-US" sz="2200" dirty="0"/>
          </a:p>
        </p:txBody>
      </p:sp>
      <p:sp>
        <p:nvSpPr>
          <p:cNvPr id="14" name="text-158"/>
          <p:cNvSpPr txBox="1"/>
          <p:nvPr/>
        </p:nvSpPr>
        <p:spPr>
          <a:xfrm>
            <a:off x="4663440" y="4663440"/>
            <a:ext cx="2926080" cy="1097280"/>
          </a:xfrm>
          <a:prstGeom prst="rect">
            <a:avLst/>
          </a:prstGeom>
          <a:noFill/>
          <a:ln/>
        </p:spPr>
        <p:txBody>
          <a:bodyPr wrap="square" lIns="0" tIns="0" rIns="0" bIns="0" rtlCol="0" anchor="t"/>
          <a:lstStyle/>
          <a:p>
            <a:pPr indent="0" marL="0">
              <a:buNone/>
            </a:pPr>
            <a:r>
              <a:rPr lang="en-US" sz="1700" dirty="0">
                <a:solidFill>
                  <a:schemeClr val="tx1"/>
                </a:solidFill>
              </a:rPr>
              <a:t>보기가 많아야 잘 배움 (CLIP은 32k)</a:t>
            </a:r>
            <a:endParaRPr lang="en-US" sz="1700" dirty="0"/>
          </a:p>
        </p:txBody>
      </p:sp>
      <p:sp>
        <p:nvSpPr>
          <p:cNvPr id="15" name="card-159"/>
          <p:cNvSpPr/>
          <p:nvPr/>
        </p:nvSpPr>
        <p:spPr>
          <a:xfrm>
            <a:off x="8046720" y="2788920"/>
            <a:ext cx="3474720" cy="3108960"/>
          </a:xfrm>
          <a:prstGeom prst="roundRect">
            <a:avLst>
              <a:gd name="adj" fmla="val 4118"/>
            </a:avLst>
          </a:prstGeom>
          <a:solidFill>
            <a:schemeClr val="accent4">
              <a:alpha val="7000"/>
            </a:schemeClr>
          </a:solidFill>
          <a:ln/>
        </p:spPr>
      </p:sp>
      <p:sp>
        <p:nvSpPr>
          <p:cNvPr id="16" name="circle-160"/>
          <p:cNvSpPr/>
          <p:nvPr/>
        </p:nvSpPr>
        <p:spPr>
          <a:xfrm>
            <a:off x="8366760" y="3063240"/>
            <a:ext cx="868680" cy="868680"/>
          </a:xfrm>
          <a:prstGeom prst="ellipse">
            <a:avLst/>
          </a:prstGeom>
          <a:solidFill>
            <a:schemeClr val="accent4"/>
          </a:solidFill>
          <a:ln/>
        </p:spPr>
      </p:sp>
      <p:pic>
        <p:nvPicPr>
          <p:cNvPr id="17" name="icon-FaCalculator-161" descr="FaCalculator">    </p:cNvPr>
          <p:cNvPicPr>
            <a:picLocks noChangeAspect="1"/>
          </p:cNvPicPr>
          <p:nvPr/>
        </p:nvPicPr>
        <p:blipFill>
          <a:blip r:embed="rId3"/>
          <a:stretch>
            <a:fillRect/>
          </a:stretch>
        </p:blipFill>
        <p:spPr>
          <a:xfrm>
            <a:off x="8592617" y="3289097"/>
            <a:ext cx="416966" cy="416966"/>
          </a:xfrm>
          <a:prstGeom prst="rect">
            <a:avLst/>
          </a:prstGeom>
        </p:spPr>
      </p:pic>
      <p:sp>
        <p:nvSpPr>
          <p:cNvPr id="18" name="text-162"/>
          <p:cNvSpPr txBox="1"/>
          <p:nvPr/>
        </p:nvSpPr>
        <p:spPr>
          <a:xfrm>
            <a:off x="8366760" y="4114800"/>
            <a:ext cx="2926080" cy="502920"/>
          </a:xfrm>
          <a:prstGeom prst="rect">
            <a:avLst/>
          </a:prstGeom>
          <a:noFill/>
          <a:ln/>
        </p:spPr>
        <p:txBody>
          <a:bodyPr wrap="square" lIns="0" tIns="0" rIns="0" bIns="0" rtlCol="0" anchor="t"/>
          <a:lstStyle/>
          <a:p>
            <a:pPr indent="0" marL="0">
              <a:buNone/>
            </a:pPr>
            <a:r>
              <a:rPr lang="en-US" sz="2200" b="1" dirty="0">
                <a:solidFill>
                  <a:schemeClr val="accent4"/>
                </a:solidFill>
              </a:rPr>
              <a:t>계산이 무거움</a:t>
            </a:r>
            <a:endParaRPr lang="en-US" sz="2200" dirty="0"/>
          </a:p>
        </p:txBody>
      </p:sp>
      <p:sp>
        <p:nvSpPr>
          <p:cNvPr id="19" name="text-163"/>
          <p:cNvSpPr txBox="1"/>
          <p:nvPr/>
        </p:nvSpPr>
        <p:spPr>
          <a:xfrm>
            <a:off x="8366760" y="4663440"/>
            <a:ext cx="2926080" cy="1097280"/>
          </a:xfrm>
          <a:prstGeom prst="rect">
            <a:avLst/>
          </a:prstGeom>
          <a:noFill/>
          <a:ln/>
        </p:spPr>
        <p:txBody>
          <a:bodyPr wrap="square" lIns="0" tIns="0" rIns="0" bIns="0" rtlCol="0" anchor="t"/>
          <a:lstStyle/>
          <a:p>
            <a:pPr indent="0" marL="0">
              <a:buNone/>
            </a:pPr>
            <a:r>
              <a:rPr lang="en-US" sz="1700" dirty="0">
                <a:solidFill>
                  <a:schemeClr val="tx1"/>
                </a:solidFill>
              </a:rPr>
              <a:t>메모리·통신 부담, 수치 안정화 처리도 추가</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SigLIP = O/X 퀴즈: 쌍마다 따로 판정 (Sigmoid)</a:t>
            </a:r>
            <a:endParaRPr lang="en-US" sz="3000" dirty="0"/>
          </a:p>
        </p:txBody>
      </p:sp>
      <p:sp>
        <p:nvSpPr>
          <p:cNvPr id="3" name="text-164"/>
          <p:cNvSpPr txBox="1"/>
          <p:nvPr/>
        </p:nvSpPr>
        <p:spPr>
          <a:xfrm>
            <a:off x="640080" y="1188720"/>
            <a:ext cx="10881360" cy="365760"/>
          </a:xfrm>
          <a:prstGeom prst="rect">
            <a:avLst/>
          </a:prstGeom>
          <a:noFill/>
          <a:ln/>
        </p:spPr>
        <p:txBody>
          <a:bodyPr wrap="square" lIns="0" tIns="0" rIns="0" bIns="0" rtlCol="0" anchor="t"/>
          <a:lstStyle/>
          <a:p>
            <a:pPr indent="0" marL="0">
              <a:buNone/>
            </a:pPr>
            <a:r>
              <a:rPr lang="en-US" sz="1400" i="1" dirty="0">
                <a:solidFill>
                  <a:schemeClr val="tx2"/>
                </a:solidFill>
              </a:rPr>
              <a:t>Sigmoid Loss for Language Image Pre-Training · Zhai et al. · Google DeepMind · ICCV 2023</a:t>
            </a:r>
            <a:endParaRPr lang="en-US" sz="1400" dirty="0"/>
          </a:p>
        </p:txBody>
      </p:sp>
      <p:pic>
        <p:nvPicPr>
          <p:cNvPr id="4" name="photo-cat-165" descr="고양이 사진">    </p:cNvPr>
          <p:cNvPicPr>
            <a:picLocks noChangeAspect="1"/>
          </p:cNvPicPr>
          <p:nvPr/>
        </p:nvPicPr>
        <p:blipFill>
          <a:blip r:embed="rId1"/>
          <a:stretch>
            <a:fillRect/>
          </a:stretch>
        </p:blipFill>
        <p:spPr>
          <a:xfrm>
            <a:off x="822960" y="1828800"/>
            <a:ext cx="2377440" cy="2377440"/>
          </a:xfrm>
          <a:prstGeom prst="ellipse">
            <a:avLst/>
          </a:prstGeom>
        </p:spPr>
      </p:pic>
      <p:sp>
        <p:nvSpPr>
          <p:cNvPr id="5" name="text-166"/>
          <p:cNvSpPr txBox="1"/>
          <p:nvPr/>
        </p:nvSpPr>
        <p:spPr>
          <a:xfrm>
            <a:off x="640080" y="4343400"/>
            <a:ext cx="2743200" cy="457200"/>
          </a:xfrm>
          <a:prstGeom prst="rect">
            <a:avLst/>
          </a:prstGeom>
          <a:noFill/>
          <a:ln/>
        </p:spPr>
        <p:txBody>
          <a:bodyPr wrap="square" lIns="0" tIns="0" rIns="0" bIns="0" rtlCol="0" anchor="t"/>
          <a:lstStyle/>
          <a:p>
            <a:pPr algn="ctr" indent="0" marL="0">
              <a:buNone/>
            </a:pPr>
            <a:r>
              <a:rPr lang="en-US" sz="2000" b="1" dirty="0">
                <a:solidFill>
                  <a:schemeClr val="tx1"/>
                </a:solidFill>
              </a:rPr>
              <a:t>각 캡션과 짝인가?</a:t>
            </a:r>
            <a:endParaRPr lang="en-US" sz="2000" dirty="0"/>
          </a:p>
        </p:txBody>
      </p:sp>
      <p:sp>
        <p:nvSpPr>
          <p:cNvPr id="6" name="circle-167"/>
          <p:cNvSpPr/>
          <p:nvPr/>
        </p:nvSpPr>
        <p:spPr>
          <a:xfrm>
            <a:off x="3840480" y="1828800"/>
            <a:ext cx="457200" cy="457200"/>
          </a:xfrm>
          <a:prstGeom prst="ellipse">
            <a:avLst/>
          </a:prstGeom>
          <a:solidFill>
            <a:schemeClr val="accent5"/>
          </a:solidFill>
          <a:ln/>
        </p:spPr>
      </p:sp>
      <p:pic>
        <p:nvPicPr>
          <p:cNvPr id="7" name="icon-FaCheck-168" descr="FaCheck">    </p:cNvPr>
          <p:cNvPicPr>
            <a:picLocks noChangeAspect="1"/>
          </p:cNvPicPr>
          <p:nvPr/>
        </p:nvPicPr>
        <p:blipFill>
          <a:blip r:embed="rId2"/>
          <a:stretch>
            <a:fillRect/>
          </a:stretch>
        </p:blipFill>
        <p:spPr>
          <a:xfrm>
            <a:off x="3959352" y="1947672"/>
            <a:ext cx="219456" cy="219456"/>
          </a:xfrm>
          <a:prstGeom prst="rect">
            <a:avLst/>
          </a:prstGeom>
        </p:spPr>
      </p:pic>
      <p:sp>
        <p:nvSpPr>
          <p:cNvPr id="8" name="text-169"/>
          <p:cNvSpPr txBox="1"/>
          <p:nvPr/>
        </p:nvSpPr>
        <p:spPr>
          <a:xfrm>
            <a:off x="4434840" y="1783080"/>
            <a:ext cx="2377440" cy="548640"/>
          </a:xfrm>
          <a:prstGeom prst="rect">
            <a:avLst/>
          </a:prstGeom>
          <a:noFill/>
          <a:ln/>
        </p:spPr>
        <p:txBody>
          <a:bodyPr wrap="square" lIns="0" tIns="0" rIns="0" bIns="0" rtlCol="0" anchor="ctr"/>
          <a:lstStyle/>
          <a:p>
            <a:pPr indent="0" marL="0">
              <a:buNone/>
            </a:pPr>
            <a:r>
              <a:rPr lang="en-US" sz="1800" b="1" dirty="0">
                <a:solidFill>
                  <a:schemeClr val="tx1"/>
                </a:solidFill>
              </a:rPr>
              <a:t>a photo of a cat</a:t>
            </a:r>
            <a:endParaRPr lang="en-US" sz="1800" dirty="0"/>
          </a:p>
        </p:txBody>
      </p:sp>
      <p:sp>
        <p:nvSpPr>
          <p:cNvPr id="9" name="bar-bg-170"/>
          <p:cNvSpPr/>
          <p:nvPr/>
        </p:nvSpPr>
        <p:spPr>
          <a:xfrm>
            <a:off x="6858000" y="1892808"/>
            <a:ext cx="3657600" cy="329184"/>
          </a:xfrm>
          <a:prstGeom prst="rect">
            <a:avLst/>
          </a:prstGeom>
          <a:solidFill>
            <a:schemeClr val="bg2"/>
          </a:solidFill>
          <a:ln/>
        </p:spPr>
      </p:sp>
      <p:sp>
        <p:nvSpPr>
          <p:cNvPr id="10" name="bar-171"/>
          <p:cNvSpPr/>
          <p:nvPr/>
        </p:nvSpPr>
        <p:spPr>
          <a:xfrm>
            <a:off x="6858000" y="1892808"/>
            <a:ext cx="3547872" cy="329184"/>
          </a:xfrm>
          <a:prstGeom prst="rect">
            <a:avLst/>
          </a:prstGeom>
          <a:solidFill>
            <a:schemeClr val="accent5"/>
          </a:solidFill>
          <a:ln/>
        </p:spPr>
      </p:sp>
      <p:sp>
        <p:nvSpPr>
          <p:cNvPr id="11" name="text-172"/>
          <p:cNvSpPr txBox="1"/>
          <p:nvPr/>
        </p:nvSpPr>
        <p:spPr>
          <a:xfrm>
            <a:off x="10652760" y="1783080"/>
            <a:ext cx="822960" cy="548640"/>
          </a:xfrm>
          <a:prstGeom prst="rect">
            <a:avLst/>
          </a:prstGeom>
          <a:noFill/>
          <a:ln/>
        </p:spPr>
        <p:txBody>
          <a:bodyPr wrap="square" lIns="0" tIns="0" rIns="0" bIns="0" rtlCol="0" anchor="ctr"/>
          <a:lstStyle/>
          <a:p>
            <a:pPr indent="0" marL="0">
              <a:buNone/>
            </a:pPr>
            <a:r>
              <a:rPr lang="en-US" sz="1800" b="1" dirty="0">
                <a:solidFill>
                  <a:schemeClr val="accent5"/>
                </a:solidFill>
              </a:rPr>
              <a:t>0.97</a:t>
            </a:r>
            <a:endParaRPr lang="en-US" sz="1800" dirty="0"/>
          </a:p>
        </p:txBody>
      </p:sp>
      <p:sp>
        <p:nvSpPr>
          <p:cNvPr id="12" name="circle-173"/>
          <p:cNvSpPr/>
          <p:nvPr/>
        </p:nvSpPr>
        <p:spPr>
          <a:xfrm>
            <a:off x="3840480" y="2560320"/>
            <a:ext cx="457200" cy="457200"/>
          </a:xfrm>
          <a:prstGeom prst="ellipse">
            <a:avLst/>
          </a:prstGeom>
          <a:solidFill>
            <a:schemeClr val="accent4"/>
          </a:solidFill>
          <a:ln/>
        </p:spPr>
      </p:sp>
      <p:pic>
        <p:nvPicPr>
          <p:cNvPr id="13" name="icon-FaTimes-174" descr="FaTimes">    </p:cNvPr>
          <p:cNvPicPr>
            <a:picLocks noChangeAspect="1"/>
          </p:cNvPicPr>
          <p:nvPr/>
        </p:nvPicPr>
        <p:blipFill>
          <a:blip r:embed="rId3"/>
          <a:stretch>
            <a:fillRect/>
          </a:stretch>
        </p:blipFill>
        <p:spPr>
          <a:xfrm>
            <a:off x="3959352" y="2679192"/>
            <a:ext cx="219456" cy="219456"/>
          </a:xfrm>
          <a:prstGeom prst="rect">
            <a:avLst/>
          </a:prstGeom>
        </p:spPr>
      </p:pic>
      <p:sp>
        <p:nvSpPr>
          <p:cNvPr id="14" name="text-175"/>
          <p:cNvSpPr txBox="1"/>
          <p:nvPr/>
        </p:nvSpPr>
        <p:spPr>
          <a:xfrm>
            <a:off x="4434840" y="2514600"/>
            <a:ext cx="2377440" cy="548640"/>
          </a:xfrm>
          <a:prstGeom prst="rect">
            <a:avLst/>
          </a:prstGeom>
          <a:noFill/>
          <a:ln/>
        </p:spPr>
        <p:txBody>
          <a:bodyPr wrap="square" lIns="0" tIns="0" rIns="0" bIns="0" rtlCol="0" anchor="ctr"/>
          <a:lstStyle/>
          <a:p>
            <a:pPr indent="0" marL="0">
              <a:buNone/>
            </a:pPr>
            <a:r>
              <a:rPr lang="en-US" sz="1800" dirty="0">
                <a:solidFill>
                  <a:schemeClr val="tx1"/>
                </a:solidFill>
              </a:rPr>
              <a:t>a cup of coffee</a:t>
            </a:r>
            <a:endParaRPr lang="en-US" sz="1800" dirty="0"/>
          </a:p>
        </p:txBody>
      </p:sp>
      <p:sp>
        <p:nvSpPr>
          <p:cNvPr id="15" name="bar-bg-176"/>
          <p:cNvSpPr/>
          <p:nvPr/>
        </p:nvSpPr>
        <p:spPr>
          <a:xfrm>
            <a:off x="6858000" y="2624328"/>
            <a:ext cx="3657600" cy="329184"/>
          </a:xfrm>
          <a:prstGeom prst="rect">
            <a:avLst/>
          </a:prstGeom>
          <a:solidFill>
            <a:schemeClr val="bg2"/>
          </a:solidFill>
          <a:ln/>
        </p:spPr>
      </p:sp>
      <p:sp>
        <p:nvSpPr>
          <p:cNvPr id="16" name="bar-177"/>
          <p:cNvSpPr/>
          <p:nvPr/>
        </p:nvSpPr>
        <p:spPr>
          <a:xfrm>
            <a:off x="6858000" y="2624328"/>
            <a:ext cx="73152" cy="329184"/>
          </a:xfrm>
          <a:prstGeom prst="rect">
            <a:avLst/>
          </a:prstGeom>
          <a:solidFill>
            <a:schemeClr val="accent4"/>
          </a:solidFill>
          <a:ln/>
        </p:spPr>
      </p:sp>
      <p:sp>
        <p:nvSpPr>
          <p:cNvPr id="17" name="text-178"/>
          <p:cNvSpPr txBox="1"/>
          <p:nvPr/>
        </p:nvSpPr>
        <p:spPr>
          <a:xfrm>
            <a:off x="10652760" y="2514600"/>
            <a:ext cx="822960" cy="548640"/>
          </a:xfrm>
          <a:prstGeom prst="rect">
            <a:avLst/>
          </a:prstGeom>
          <a:noFill/>
          <a:ln/>
        </p:spPr>
        <p:txBody>
          <a:bodyPr wrap="square" lIns="0" tIns="0" rIns="0" bIns="0" rtlCol="0" anchor="ctr"/>
          <a:lstStyle/>
          <a:p>
            <a:pPr indent="0" marL="0">
              <a:buNone/>
            </a:pPr>
            <a:r>
              <a:rPr lang="en-US" sz="1800" b="1" dirty="0">
                <a:solidFill>
                  <a:schemeClr val="tx2"/>
                </a:solidFill>
              </a:rPr>
              <a:t>0.02</a:t>
            </a:r>
            <a:endParaRPr lang="en-US" sz="1800" dirty="0"/>
          </a:p>
        </p:txBody>
      </p:sp>
      <p:sp>
        <p:nvSpPr>
          <p:cNvPr id="18" name="circle-179"/>
          <p:cNvSpPr/>
          <p:nvPr/>
        </p:nvSpPr>
        <p:spPr>
          <a:xfrm>
            <a:off x="3840480" y="3291840"/>
            <a:ext cx="457200" cy="457200"/>
          </a:xfrm>
          <a:prstGeom prst="ellipse">
            <a:avLst/>
          </a:prstGeom>
          <a:solidFill>
            <a:schemeClr val="accent4"/>
          </a:solidFill>
          <a:ln/>
        </p:spPr>
      </p:sp>
      <p:pic>
        <p:nvPicPr>
          <p:cNvPr id="19" name="icon-FaTimes-180" descr="FaTimes">    </p:cNvPr>
          <p:cNvPicPr>
            <a:picLocks noChangeAspect="1"/>
          </p:cNvPicPr>
          <p:nvPr/>
        </p:nvPicPr>
        <p:blipFill>
          <a:blip r:embed="rId4"/>
          <a:stretch>
            <a:fillRect/>
          </a:stretch>
        </p:blipFill>
        <p:spPr>
          <a:xfrm>
            <a:off x="3959352" y="3410712"/>
            <a:ext cx="219456" cy="219456"/>
          </a:xfrm>
          <a:prstGeom prst="rect">
            <a:avLst/>
          </a:prstGeom>
        </p:spPr>
      </p:pic>
      <p:sp>
        <p:nvSpPr>
          <p:cNvPr id="20" name="text-181"/>
          <p:cNvSpPr txBox="1"/>
          <p:nvPr/>
        </p:nvSpPr>
        <p:spPr>
          <a:xfrm>
            <a:off x="4434840" y="3246120"/>
            <a:ext cx="2377440" cy="548640"/>
          </a:xfrm>
          <a:prstGeom prst="rect">
            <a:avLst/>
          </a:prstGeom>
          <a:noFill/>
          <a:ln/>
        </p:spPr>
        <p:txBody>
          <a:bodyPr wrap="square" lIns="0" tIns="0" rIns="0" bIns="0" rtlCol="0" anchor="ctr"/>
          <a:lstStyle/>
          <a:p>
            <a:pPr indent="0" marL="0">
              <a:buNone/>
            </a:pPr>
            <a:r>
              <a:rPr lang="en-US" sz="1800" dirty="0">
                <a:solidFill>
                  <a:schemeClr val="tx1"/>
                </a:solidFill>
              </a:rPr>
              <a:t>a rocket at night</a:t>
            </a:r>
            <a:endParaRPr lang="en-US" sz="1800" dirty="0"/>
          </a:p>
        </p:txBody>
      </p:sp>
      <p:sp>
        <p:nvSpPr>
          <p:cNvPr id="21" name="bar-bg-182"/>
          <p:cNvSpPr/>
          <p:nvPr/>
        </p:nvSpPr>
        <p:spPr>
          <a:xfrm>
            <a:off x="6858000" y="3355848"/>
            <a:ext cx="3657600" cy="329184"/>
          </a:xfrm>
          <a:prstGeom prst="rect">
            <a:avLst/>
          </a:prstGeom>
          <a:solidFill>
            <a:schemeClr val="bg2"/>
          </a:solidFill>
          <a:ln/>
        </p:spPr>
      </p:sp>
      <p:sp>
        <p:nvSpPr>
          <p:cNvPr id="22" name="bar-183"/>
          <p:cNvSpPr/>
          <p:nvPr/>
        </p:nvSpPr>
        <p:spPr>
          <a:xfrm>
            <a:off x="6858000" y="3355848"/>
            <a:ext cx="36576" cy="329184"/>
          </a:xfrm>
          <a:prstGeom prst="rect">
            <a:avLst/>
          </a:prstGeom>
          <a:solidFill>
            <a:schemeClr val="accent4"/>
          </a:solidFill>
          <a:ln/>
        </p:spPr>
      </p:sp>
      <p:sp>
        <p:nvSpPr>
          <p:cNvPr id="23" name="text-184"/>
          <p:cNvSpPr txBox="1"/>
          <p:nvPr/>
        </p:nvSpPr>
        <p:spPr>
          <a:xfrm>
            <a:off x="10652760" y="3246120"/>
            <a:ext cx="822960" cy="548640"/>
          </a:xfrm>
          <a:prstGeom prst="rect">
            <a:avLst/>
          </a:prstGeom>
          <a:noFill/>
          <a:ln/>
        </p:spPr>
        <p:txBody>
          <a:bodyPr wrap="square" lIns="0" tIns="0" rIns="0" bIns="0" rtlCol="0" anchor="ctr"/>
          <a:lstStyle/>
          <a:p>
            <a:pPr indent="0" marL="0">
              <a:buNone/>
            </a:pPr>
            <a:r>
              <a:rPr lang="en-US" sz="1800" b="1" dirty="0">
                <a:solidFill>
                  <a:schemeClr val="tx2"/>
                </a:solidFill>
              </a:rPr>
              <a:t>0.01</a:t>
            </a:r>
            <a:endParaRPr lang="en-US" sz="1800" dirty="0"/>
          </a:p>
        </p:txBody>
      </p:sp>
      <p:sp>
        <p:nvSpPr>
          <p:cNvPr id="24" name="circle-185"/>
          <p:cNvSpPr/>
          <p:nvPr/>
        </p:nvSpPr>
        <p:spPr>
          <a:xfrm>
            <a:off x="3840480" y="4023360"/>
            <a:ext cx="457200" cy="457200"/>
          </a:xfrm>
          <a:prstGeom prst="ellipse">
            <a:avLst/>
          </a:prstGeom>
          <a:solidFill>
            <a:schemeClr val="accent4"/>
          </a:solidFill>
          <a:ln/>
        </p:spPr>
      </p:sp>
      <p:pic>
        <p:nvPicPr>
          <p:cNvPr id="25" name="icon-FaTimes-186" descr="FaTimes">    </p:cNvPr>
          <p:cNvPicPr>
            <a:picLocks noChangeAspect="1"/>
          </p:cNvPicPr>
          <p:nvPr/>
        </p:nvPicPr>
        <p:blipFill>
          <a:blip r:embed="rId5"/>
          <a:stretch>
            <a:fillRect/>
          </a:stretch>
        </p:blipFill>
        <p:spPr>
          <a:xfrm>
            <a:off x="3959352" y="4142232"/>
            <a:ext cx="219456" cy="219456"/>
          </a:xfrm>
          <a:prstGeom prst="rect">
            <a:avLst/>
          </a:prstGeom>
        </p:spPr>
      </p:pic>
      <p:sp>
        <p:nvSpPr>
          <p:cNvPr id="26" name="text-187"/>
          <p:cNvSpPr txBox="1"/>
          <p:nvPr/>
        </p:nvSpPr>
        <p:spPr>
          <a:xfrm>
            <a:off x="4434840" y="3977640"/>
            <a:ext cx="2377440" cy="548640"/>
          </a:xfrm>
          <a:prstGeom prst="rect">
            <a:avLst/>
          </a:prstGeom>
          <a:noFill/>
          <a:ln/>
        </p:spPr>
        <p:txBody>
          <a:bodyPr wrap="square" lIns="0" tIns="0" rIns="0" bIns="0" rtlCol="0" anchor="ctr"/>
          <a:lstStyle/>
          <a:p>
            <a:pPr indent="0" marL="0">
              <a:buNone/>
            </a:pPr>
            <a:r>
              <a:rPr lang="en-US" sz="1800" dirty="0">
                <a:solidFill>
                  <a:schemeClr val="tx1"/>
                </a:solidFill>
              </a:rPr>
              <a:t>an astronaut</a:t>
            </a:r>
            <a:endParaRPr lang="en-US" sz="1800" dirty="0"/>
          </a:p>
        </p:txBody>
      </p:sp>
      <p:sp>
        <p:nvSpPr>
          <p:cNvPr id="27" name="bar-bg-188"/>
          <p:cNvSpPr/>
          <p:nvPr/>
        </p:nvSpPr>
        <p:spPr>
          <a:xfrm>
            <a:off x="6858000" y="4087368"/>
            <a:ext cx="3657600" cy="329184"/>
          </a:xfrm>
          <a:prstGeom prst="rect">
            <a:avLst/>
          </a:prstGeom>
          <a:solidFill>
            <a:schemeClr val="bg2"/>
          </a:solidFill>
          <a:ln/>
        </p:spPr>
      </p:sp>
      <p:sp>
        <p:nvSpPr>
          <p:cNvPr id="28" name="bar-189"/>
          <p:cNvSpPr/>
          <p:nvPr/>
        </p:nvSpPr>
        <p:spPr>
          <a:xfrm>
            <a:off x="6858000" y="4087368"/>
            <a:ext cx="109728" cy="329184"/>
          </a:xfrm>
          <a:prstGeom prst="rect">
            <a:avLst/>
          </a:prstGeom>
          <a:solidFill>
            <a:schemeClr val="accent4"/>
          </a:solidFill>
          <a:ln/>
        </p:spPr>
      </p:sp>
      <p:sp>
        <p:nvSpPr>
          <p:cNvPr id="29" name="text-190"/>
          <p:cNvSpPr txBox="1"/>
          <p:nvPr/>
        </p:nvSpPr>
        <p:spPr>
          <a:xfrm>
            <a:off x="10652760" y="3977640"/>
            <a:ext cx="822960" cy="548640"/>
          </a:xfrm>
          <a:prstGeom prst="rect">
            <a:avLst/>
          </a:prstGeom>
          <a:noFill/>
          <a:ln/>
        </p:spPr>
        <p:txBody>
          <a:bodyPr wrap="square" lIns="0" tIns="0" rIns="0" bIns="0" rtlCol="0" anchor="ctr"/>
          <a:lstStyle/>
          <a:p>
            <a:pPr indent="0" marL="0">
              <a:buNone/>
            </a:pPr>
            <a:r>
              <a:rPr lang="en-US" sz="1800" b="1" dirty="0">
                <a:solidFill>
                  <a:schemeClr val="tx2"/>
                </a:solidFill>
              </a:rPr>
              <a:t>0.03</a:t>
            </a:r>
            <a:endParaRPr lang="en-US" sz="1800" dirty="0"/>
          </a:p>
        </p:txBody>
      </p:sp>
      <p:sp>
        <p:nvSpPr>
          <p:cNvPr id="30" name="text-191"/>
          <p:cNvSpPr txBox="1"/>
          <p:nvPr/>
        </p:nvSpPr>
        <p:spPr>
          <a:xfrm>
            <a:off x="7863840" y="4754880"/>
            <a:ext cx="3611880" cy="457200"/>
          </a:xfrm>
          <a:prstGeom prst="rect">
            <a:avLst/>
          </a:prstGeom>
          <a:noFill/>
          <a:ln/>
        </p:spPr>
        <p:txBody>
          <a:bodyPr wrap="square" lIns="0" tIns="0" rIns="0" bIns="0" rtlCol="0" anchor="t"/>
          <a:lstStyle/>
          <a:p>
            <a:pPr algn="r" indent="0" marL="0">
              <a:buNone/>
            </a:pPr>
            <a:r>
              <a:rPr lang="en-US" sz="2000" b="1" dirty="0">
                <a:solidFill>
                  <a:schemeClr val="accent3"/>
                </a:solidFill>
              </a:rPr>
              <a:t>합이 1일 필요 없음</a:t>
            </a:r>
            <a:endParaRPr lang="en-US" sz="2000" dirty="0"/>
          </a:p>
        </p:txBody>
      </p:sp>
      <p:sp>
        <p:nvSpPr>
          <p:cNvPr id="31" name="card-192"/>
          <p:cNvSpPr/>
          <p:nvPr/>
        </p:nvSpPr>
        <p:spPr>
          <a:xfrm>
            <a:off x="3840480" y="5349240"/>
            <a:ext cx="7680960" cy="731520"/>
          </a:xfrm>
          <a:prstGeom prst="roundRect">
            <a:avLst>
              <a:gd name="adj" fmla="val 17500"/>
            </a:avLst>
          </a:prstGeom>
          <a:solidFill>
            <a:schemeClr val="accent3">
              <a:alpha val="10000"/>
            </a:schemeClr>
          </a:solidFill>
          <a:ln/>
        </p:spPr>
      </p:sp>
      <p:sp>
        <p:nvSpPr>
          <p:cNvPr id="32" name="text-193"/>
          <p:cNvSpPr txBox="1"/>
          <p:nvPr/>
        </p:nvSpPr>
        <p:spPr>
          <a:xfrm>
            <a:off x="4114800" y="5349240"/>
            <a:ext cx="7223760" cy="731520"/>
          </a:xfrm>
          <a:prstGeom prst="rect">
            <a:avLst/>
          </a:prstGeom>
          <a:noFill/>
          <a:ln/>
        </p:spPr>
        <p:txBody>
          <a:bodyPr wrap="square" lIns="0" tIns="0" rIns="0" bIns="0" rtlCol="0" anchor="ctr"/>
          <a:lstStyle/>
          <a:p>
            <a:pPr indent="0" marL="0">
              <a:buNone/>
            </a:pPr>
            <a:r>
              <a:rPr lang="en-US" sz="1700" b="1" dirty="0">
                <a:solidFill>
                  <a:schemeClr val="tx1"/>
                </a:solidFill>
              </a:rPr>
              <a:t>구조는 CLIP과 거의 같고 손실 함수만 바꿈 → 칸마다 독립  (값은 예시)</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SigLIP 구조: 두 개의 탑 (듀얼 인코더)</a:t>
            </a:r>
            <a:endParaRPr lang="en-US" sz="3000" dirty="0"/>
          </a:p>
        </p:txBody>
      </p:sp>
      <p:pic>
        <p:nvPicPr>
          <p:cNvPr id="3" name="photo-cat-194" descr="고양이 사진">    </p:cNvPr>
          <p:cNvPicPr>
            <a:picLocks noChangeAspect="1"/>
          </p:cNvPicPr>
          <p:nvPr/>
        </p:nvPicPr>
        <p:blipFill>
          <a:blip r:embed="rId1"/>
          <a:stretch>
            <a:fillRect/>
          </a:stretch>
        </p:blipFill>
        <p:spPr>
          <a:xfrm>
            <a:off x="731520" y="1417320"/>
            <a:ext cx="1188720" cy="1188720"/>
          </a:xfrm>
          <a:prstGeom prst="ellipse">
            <a:avLst/>
          </a:prstGeom>
        </p:spPr>
      </p:pic>
      <p:sp>
        <p:nvSpPr>
          <p:cNvPr id="4" name="arrow-195"/>
          <p:cNvSpPr/>
          <p:nvPr/>
        </p:nvSpPr>
        <p:spPr>
          <a:xfrm>
            <a:off x="2011680" y="2011680"/>
            <a:ext cx="457200" cy="0"/>
          </a:xfrm>
          <a:prstGeom prst="line">
            <a:avLst/>
          </a:prstGeom>
          <a:noFill/>
          <a:ln w="31750">
            <a:solidFill>
              <a:schemeClr val="accent1"/>
            </a:solidFill>
            <a:prstDash val="solid"/>
            <a:tailEnd type="triangle"/>
          </a:ln>
        </p:spPr>
      </p:sp>
      <p:sp>
        <p:nvSpPr>
          <p:cNvPr id="5" name="box-196"/>
          <p:cNvSpPr/>
          <p:nvPr/>
        </p:nvSpPr>
        <p:spPr>
          <a:xfrm>
            <a:off x="2560320" y="1508760"/>
            <a:ext cx="2377440" cy="1005840"/>
          </a:xfrm>
          <a:prstGeom prst="roundRect">
            <a:avLst>
              <a:gd name="adj" fmla="val 9091"/>
            </a:avLst>
          </a:prstGeom>
          <a:solidFill>
            <a:schemeClr val="accent1"/>
          </a:solidFill>
          <a:ln/>
        </p:spPr>
      </p:sp>
      <p:sp>
        <p:nvSpPr>
          <p:cNvPr id="6" name="text-197"/>
          <p:cNvSpPr txBox="1"/>
          <p:nvPr/>
        </p:nvSpPr>
        <p:spPr>
          <a:xfrm>
            <a:off x="2560320" y="1508760"/>
            <a:ext cx="2377440" cy="1005840"/>
          </a:xfrm>
          <a:prstGeom prst="rect">
            <a:avLst/>
          </a:prstGeom>
          <a:noFill/>
          <a:ln/>
        </p:spPr>
        <p:txBody>
          <a:bodyPr wrap="square" lIns="0" tIns="0" rIns="0" bIns="0" rtlCol="0" anchor="ctr"/>
          <a:lstStyle/>
          <a:p>
            <a:pPr algn="ctr" indent="0" marL="0">
              <a:buNone/>
            </a:pPr>
            <a:r>
              <a:rPr lang="en-US" sz="1700" b="1" dirty="0">
                <a:solidFill>
                  <a:schemeClr val="bg1"/>
                </a:solidFill>
              </a:rPr>
              <a:t>이미지 인코더</a:t>
            </a:r>
            <a:endParaRPr lang="en-US" sz="1700" dirty="0"/>
          </a:p>
          <a:p>
            <a:pPr algn="ctr" indent="0" marL="0">
              <a:buNone/>
            </a:pPr>
            <a:r>
              <a:rPr lang="en-US" sz="1700" b="1" dirty="0">
                <a:solidFill>
                  <a:schemeClr val="bg1"/>
                </a:solidFill>
              </a:rPr>
              <a:t>(ViT)</a:t>
            </a:r>
            <a:endParaRPr lang="en-US" sz="1700" dirty="0"/>
          </a:p>
        </p:txBody>
      </p:sp>
      <p:sp>
        <p:nvSpPr>
          <p:cNvPr id="7" name="arrow-198"/>
          <p:cNvSpPr/>
          <p:nvPr/>
        </p:nvSpPr>
        <p:spPr>
          <a:xfrm>
            <a:off x="5029200" y="2011680"/>
            <a:ext cx="457200" cy="0"/>
          </a:xfrm>
          <a:prstGeom prst="line">
            <a:avLst/>
          </a:prstGeom>
          <a:noFill/>
          <a:ln w="31750">
            <a:solidFill>
              <a:schemeClr val="accent1"/>
            </a:solidFill>
            <a:prstDash val="solid"/>
            <a:tailEnd type="triangle"/>
          </a:ln>
        </p:spPr>
      </p:sp>
      <p:sp>
        <p:nvSpPr>
          <p:cNvPr id="8" name="box-199"/>
          <p:cNvSpPr/>
          <p:nvPr/>
        </p:nvSpPr>
        <p:spPr>
          <a:xfrm>
            <a:off x="5577840" y="1645920"/>
            <a:ext cx="2103120" cy="731520"/>
          </a:xfrm>
          <a:prstGeom prst="roundRect">
            <a:avLst>
              <a:gd name="adj" fmla="val 12500"/>
            </a:avLst>
          </a:prstGeom>
          <a:solidFill>
            <a:schemeClr val="accent1"/>
          </a:solidFill>
          <a:ln/>
        </p:spPr>
      </p:sp>
      <p:sp>
        <p:nvSpPr>
          <p:cNvPr id="9" name="text-200"/>
          <p:cNvSpPr txBox="1"/>
          <p:nvPr/>
        </p:nvSpPr>
        <p:spPr>
          <a:xfrm>
            <a:off x="5577840" y="1645920"/>
            <a:ext cx="2103120" cy="731520"/>
          </a:xfrm>
          <a:prstGeom prst="rect">
            <a:avLst/>
          </a:prstGeom>
          <a:noFill/>
          <a:ln/>
        </p:spPr>
        <p:txBody>
          <a:bodyPr wrap="square" lIns="0" tIns="0" rIns="0" bIns="0" rtlCol="0" anchor="ctr"/>
          <a:lstStyle/>
          <a:p>
            <a:pPr algn="ctr" indent="0" marL="0">
              <a:buNone/>
            </a:pPr>
            <a:r>
              <a:rPr lang="en-US" sz="1600" b="1" dirty="0">
                <a:solidFill>
                  <a:schemeClr val="bg1"/>
                </a:solidFill>
              </a:rPr>
              <a:t>이미지 벡터 x</a:t>
            </a:r>
            <a:endParaRPr lang="en-US" sz="1600" dirty="0"/>
          </a:p>
        </p:txBody>
      </p:sp>
      <p:sp>
        <p:nvSpPr>
          <p:cNvPr id="10" name="pill-201"/>
          <p:cNvSpPr/>
          <p:nvPr/>
        </p:nvSpPr>
        <p:spPr>
          <a:xfrm>
            <a:off x="502920" y="3337560"/>
            <a:ext cx="1645920" cy="548640"/>
          </a:xfrm>
          <a:prstGeom prst="roundRect">
            <a:avLst>
              <a:gd name="adj" fmla="val 50000"/>
            </a:avLst>
          </a:prstGeom>
          <a:solidFill>
            <a:schemeClr val="accent2"/>
          </a:solidFill>
          <a:ln/>
        </p:spPr>
      </p:sp>
      <p:sp>
        <p:nvSpPr>
          <p:cNvPr id="11" name="text-202"/>
          <p:cNvSpPr txBox="1"/>
          <p:nvPr/>
        </p:nvSpPr>
        <p:spPr>
          <a:xfrm>
            <a:off x="502920" y="3337560"/>
            <a:ext cx="1645920" cy="548640"/>
          </a:xfrm>
          <a:prstGeom prst="rect">
            <a:avLst/>
          </a:prstGeom>
          <a:noFill/>
          <a:ln/>
        </p:spPr>
        <p:txBody>
          <a:bodyPr wrap="square" lIns="0" tIns="0" rIns="0" bIns="0" rtlCol="0" anchor="ctr"/>
          <a:lstStyle/>
          <a:p>
            <a:pPr algn="ctr" indent="0" marL="0">
              <a:buNone/>
            </a:pPr>
            <a:r>
              <a:rPr lang="en-US" sz="1200" b="1" dirty="0">
                <a:solidFill>
                  <a:schemeClr val="bg1"/>
                </a:solidFill>
              </a:rPr>
              <a:t>a photo of a cat</a:t>
            </a:r>
            <a:endParaRPr lang="en-US" sz="1200" dirty="0"/>
          </a:p>
        </p:txBody>
      </p:sp>
      <p:sp>
        <p:nvSpPr>
          <p:cNvPr id="12" name="arrow-203"/>
          <p:cNvSpPr/>
          <p:nvPr/>
        </p:nvSpPr>
        <p:spPr>
          <a:xfrm>
            <a:off x="2194560" y="3611880"/>
            <a:ext cx="274320" cy="0"/>
          </a:xfrm>
          <a:prstGeom prst="line">
            <a:avLst/>
          </a:prstGeom>
          <a:noFill/>
          <a:ln w="31750">
            <a:solidFill>
              <a:schemeClr val="accent2"/>
            </a:solidFill>
            <a:prstDash val="solid"/>
            <a:tailEnd type="triangle"/>
          </a:ln>
        </p:spPr>
      </p:sp>
      <p:sp>
        <p:nvSpPr>
          <p:cNvPr id="13" name="box-204"/>
          <p:cNvSpPr/>
          <p:nvPr/>
        </p:nvSpPr>
        <p:spPr>
          <a:xfrm>
            <a:off x="2560320" y="3108960"/>
            <a:ext cx="2377440" cy="1005840"/>
          </a:xfrm>
          <a:prstGeom prst="roundRect">
            <a:avLst>
              <a:gd name="adj" fmla="val 9091"/>
            </a:avLst>
          </a:prstGeom>
          <a:solidFill>
            <a:schemeClr val="accent2"/>
          </a:solidFill>
          <a:ln/>
        </p:spPr>
      </p:sp>
      <p:sp>
        <p:nvSpPr>
          <p:cNvPr id="14" name="text-205"/>
          <p:cNvSpPr txBox="1"/>
          <p:nvPr/>
        </p:nvSpPr>
        <p:spPr>
          <a:xfrm>
            <a:off x="2560320" y="3108960"/>
            <a:ext cx="2377440" cy="1005840"/>
          </a:xfrm>
          <a:prstGeom prst="rect">
            <a:avLst/>
          </a:prstGeom>
          <a:noFill/>
          <a:ln/>
        </p:spPr>
        <p:txBody>
          <a:bodyPr wrap="square" lIns="0" tIns="0" rIns="0" bIns="0" rtlCol="0" anchor="ctr"/>
          <a:lstStyle/>
          <a:p>
            <a:pPr algn="ctr" indent="0" marL="0">
              <a:buNone/>
            </a:pPr>
            <a:r>
              <a:rPr lang="en-US" sz="1700" b="1" dirty="0">
                <a:solidFill>
                  <a:schemeClr val="bg1"/>
                </a:solidFill>
              </a:rPr>
              <a:t>텍스트 인코더</a:t>
            </a:r>
            <a:endParaRPr lang="en-US" sz="1700" dirty="0"/>
          </a:p>
          <a:p>
            <a:pPr algn="ctr" indent="0" marL="0">
              <a:buNone/>
            </a:pPr>
            <a:r>
              <a:rPr lang="en-US" sz="1700" b="1" dirty="0">
                <a:solidFill>
                  <a:schemeClr val="bg1"/>
                </a:solidFill>
              </a:rPr>
              <a:t>(Transformer)</a:t>
            </a:r>
            <a:endParaRPr lang="en-US" sz="1700" dirty="0"/>
          </a:p>
        </p:txBody>
      </p:sp>
      <p:sp>
        <p:nvSpPr>
          <p:cNvPr id="15" name="arrow-206"/>
          <p:cNvSpPr/>
          <p:nvPr/>
        </p:nvSpPr>
        <p:spPr>
          <a:xfrm>
            <a:off x="5029200" y="3611880"/>
            <a:ext cx="457200" cy="0"/>
          </a:xfrm>
          <a:prstGeom prst="line">
            <a:avLst/>
          </a:prstGeom>
          <a:noFill/>
          <a:ln w="31750">
            <a:solidFill>
              <a:schemeClr val="accent2"/>
            </a:solidFill>
            <a:prstDash val="solid"/>
            <a:tailEnd type="triangle"/>
          </a:ln>
        </p:spPr>
      </p:sp>
      <p:sp>
        <p:nvSpPr>
          <p:cNvPr id="16" name="box-207"/>
          <p:cNvSpPr/>
          <p:nvPr/>
        </p:nvSpPr>
        <p:spPr>
          <a:xfrm>
            <a:off x="5577840" y="3246120"/>
            <a:ext cx="2103120" cy="731520"/>
          </a:xfrm>
          <a:prstGeom prst="roundRect">
            <a:avLst>
              <a:gd name="adj" fmla="val 12500"/>
            </a:avLst>
          </a:prstGeom>
          <a:solidFill>
            <a:schemeClr val="accent2"/>
          </a:solidFill>
          <a:ln/>
        </p:spPr>
      </p:sp>
      <p:sp>
        <p:nvSpPr>
          <p:cNvPr id="17" name="text-208"/>
          <p:cNvSpPr txBox="1"/>
          <p:nvPr/>
        </p:nvSpPr>
        <p:spPr>
          <a:xfrm>
            <a:off x="5577840" y="3246120"/>
            <a:ext cx="2103120" cy="731520"/>
          </a:xfrm>
          <a:prstGeom prst="rect">
            <a:avLst/>
          </a:prstGeom>
          <a:noFill/>
          <a:ln/>
        </p:spPr>
        <p:txBody>
          <a:bodyPr wrap="square" lIns="0" tIns="0" rIns="0" bIns="0" rtlCol="0" anchor="ctr"/>
          <a:lstStyle/>
          <a:p>
            <a:pPr algn="ctr" indent="0" marL="0">
              <a:buNone/>
            </a:pPr>
            <a:r>
              <a:rPr lang="en-US" sz="1600" b="1" dirty="0">
                <a:solidFill>
                  <a:schemeClr val="bg1"/>
                </a:solidFill>
              </a:rPr>
              <a:t>텍스트 벡터 y</a:t>
            </a:r>
            <a:endParaRPr lang="en-US" sz="1600" dirty="0"/>
          </a:p>
        </p:txBody>
      </p:sp>
      <p:sp>
        <p:nvSpPr>
          <p:cNvPr id="18" name="join-a"/>
          <p:cNvSpPr/>
          <p:nvPr/>
        </p:nvSpPr>
        <p:spPr>
          <a:xfrm>
            <a:off x="7726680" y="2011680"/>
            <a:ext cx="502920" cy="777240"/>
          </a:xfrm>
          <a:prstGeom prst="line">
            <a:avLst/>
          </a:prstGeom>
          <a:noFill/>
          <a:ln w="31750">
            <a:solidFill>
              <a:schemeClr val="accent6"/>
            </a:solidFill>
            <a:prstDash val="solid"/>
          </a:ln>
        </p:spPr>
      </p:sp>
      <p:sp>
        <p:nvSpPr>
          <p:cNvPr id="19" name="join-b"/>
          <p:cNvSpPr/>
          <p:nvPr/>
        </p:nvSpPr>
        <p:spPr>
          <a:xfrm flipV="1">
            <a:off x="7726680" y="2788920"/>
            <a:ext cx="502920" cy="822960"/>
          </a:xfrm>
          <a:prstGeom prst="line">
            <a:avLst/>
          </a:prstGeom>
          <a:noFill/>
          <a:ln w="31750">
            <a:solidFill>
              <a:schemeClr val="accent6"/>
            </a:solidFill>
            <a:prstDash val="solid"/>
          </a:ln>
        </p:spPr>
      </p:sp>
      <p:sp>
        <p:nvSpPr>
          <p:cNvPr id="20" name="box-209"/>
          <p:cNvSpPr/>
          <p:nvPr/>
        </p:nvSpPr>
        <p:spPr>
          <a:xfrm>
            <a:off x="8229600" y="2148840"/>
            <a:ext cx="2011680" cy="1280160"/>
          </a:xfrm>
          <a:prstGeom prst="roundRect">
            <a:avLst>
              <a:gd name="adj" fmla="val 7143"/>
            </a:avLst>
          </a:prstGeom>
          <a:solidFill>
            <a:schemeClr val="accent3"/>
          </a:solidFill>
          <a:ln/>
        </p:spPr>
      </p:sp>
      <p:sp>
        <p:nvSpPr>
          <p:cNvPr id="21" name="text-210"/>
          <p:cNvSpPr txBox="1"/>
          <p:nvPr/>
        </p:nvSpPr>
        <p:spPr>
          <a:xfrm>
            <a:off x="8229600" y="2148840"/>
            <a:ext cx="2011680" cy="1280160"/>
          </a:xfrm>
          <a:prstGeom prst="rect">
            <a:avLst/>
          </a:prstGeom>
          <a:noFill/>
          <a:ln/>
        </p:spPr>
        <p:txBody>
          <a:bodyPr wrap="square" lIns="0" tIns="0" rIns="0" bIns="0" rtlCol="0" anchor="ctr"/>
          <a:lstStyle/>
          <a:p>
            <a:pPr algn="ctr" indent="0" marL="0">
              <a:buNone/>
            </a:pPr>
            <a:r>
              <a:rPr lang="en-US" sz="1600" b="1" dirty="0">
                <a:solidFill>
                  <a:schemeClr val="bg1"/>
                </a:solidFill>
              </a:rPr>
              <a:t>유사도</a:t>
            </a:r>
            <a:endParaRPr lang="en-US" sz="1600" dirty="0"/>
          </a:p>
          <a:p>
            <a:pPr algn="ctr" indent="0" marL="0">
              <a:buNone/>
            </a:pPr>
            <a:r>
              <a:rPr lang="en-US" sz="1600" b="1" dirty="0">
                <a:solidFill>
                  <a:schemeClr val="bg1"/>
                </a:solidFill>
              </a:rPr>
              <a:t>t·x·y + b</a:t>
            </a:r>
            <a:endParaRPr lang="en-US" sz="1600" dirty="0"/>
          </a:p>
          <a:p>
            <a:pPr algn="ctr" indent="0" marL="0">
              <a:buNone/>
            </a:pPr>
            <a:r>
              <a:rPr lang="en-US" sz="1600" b="1" dirty="0">
                <a:solidFill>
                  <a:schemeClr val="bg1"/>
                </a:solidFill>
              </a:rPr>
              <a:t>→ Sigmoid</a:t>
            </a:r>
            <a:endParaRPr lang="en-US" sz="1600" dirty="0"/>
          </a:p>
        </p:txBody>
      </p:sp>
      <p:sp>
        <p:nvSpPr>
          <p:cNvPr id="22" name="card-211"/>
          <p:cNvSpPr/>
          <p:nvPr/>
        </p:nvSpPr>
        <p:spPr>
          <a:xfrm>
            <a:off x="640080" y="4526280"/>
            <a:ext cx="5349240" cy="1463040"/>
          </a:xfrm>
          <a:prstGeom prst="roundRect">
            <a:avLst>
              <a:gd name="adj" fmla="val 8750"/>
            </a:avLst>
          </a:prstGeom>
          <a:solidFill>
            <a:schemeClr val="bg2"/>
          </a:solidFill>
          <a:ln/>
        </p:spPr>
      </p:sp>
      <p:sp>
        <p:nvSpPr>
          <p:cNvPr id="23" name="circle-212"/>
          <p:cNvSpPr/>
          <p:nvPr/>
        </p:nvSpPr>
        <p:spPr>
          <a:xfrm>
            <a:off x="914400" y="4846320"/>
            <a:ext cx="777240" cy="777240"/>
          </a:xfrm>
          <a:prstGeom prst="ellipse">
            <a:avLst/>
          </a:prstGeom>
          <a:solidFill>
            <a:schemeClr val="accent3"/>
          </a:solidFill>
          <a:ln/>
        </p:spPr>
      </p:sp>
      <p:pic>
        <p:nvPicPr>
          <p:cNvPr id="24" name="icon-FaPuzzlePiece-213" descr="FaPuzzlePiece">    </p:cNvPr>
          <p:cNvPicPr>
            <a:picLocks noChangeAspect="1"/>
          </p:cNvPicPr>
          <p:nvPr/>
        </p:nvPicPr>
        <p:blipFill>
          <a:blip r:embed="rId2"/>
          <a:stretch>
            <a:fillRect/>
          </a:stretch>
        </p:blipFill>
        <p:spPr>
          <a:xfrm>
            <a:off x="1116482" y="5048402"/>
            <a:ext cx="373075" cy="373075"/>
          </a:xfrm>
          <a:prstGeom prst="rect">
            <a:avLst/>
          </a:prstGeom>
        </p:spPr>
      </p:pic>
      <p:sp>
        <p:nvSpPr>
          <p:cNvPr id="25" name="text-214"/>
          <p:cNvSpPr txBox="1"/>
          <p:nvPr/>
        </p:nvSpPr>
        <p:spPr>
          <a:xfrm>
            <a:off x="1920240" y="4709160"/>
            <a:ext cx="3931920" cy="502920"/>
          </a:xfrm>
          <a:prstGeom prst="rect">
            <a:avLst/>
          </a:prstGeom>
          <a:noFill/>
          <a:ln/>
        </p:spPr>
        <p:txBody>
          <a:bodyPr wrap="square" lIns="0" tIns="0" rIns="0" bIns="0" rtlCol="0" anchor="t"/>
          <a:lstStyle/>
          <a:p>
            <a:pPr indent="0" marL="0">
              <a:buNone/>
            </a:pPr>
            <a:r>
              <a:rPr lang="en-US" sz="2000" b="1" dirty="0">
                <a:solidFill>
                  <a:schemeClr val="tx1"/>
                </a:solidFill>
              </a:rPr>
              <a:t>두 인코더가 완전히 분리</a:t>
            </a:r>
            <a:endParaRPr lang="en-US" sz="2000" dirty="0"/>
          </a:p>
        </p:txBody>
      </p:sp>
      <p:sp>
        <p:nvSpPr>
          <p:cNvPr id="26" name="text-215"/>
          <p:cNvSpPr txBox="1"/>
          <p:nvPr/>
        </p:nvSpPr>
        <p:spPr>
          <a:xfrm>
            <a:off x="1920240" y="5212080"/>
            <a:ext cx="3931920" cy="640080"/>
          </a:xfrm>
          <a:prstGeom prst="rect">
            <a:avLst/>
          </a:prstGeom>
          <a:noFill/>
          <a:ln/>
        </p:spPr>
        <p:txBody>
          <a:bodyPr wrap="square" lIns="0" tIns="0" rIns="0" bIns="0" rtlCol="0" anchor="t"/>
          <a:lstStyle/>
          <a:p>
            <a:pPr indent="0" marL="0">
              <a:buNone/>
            </a:pPr>
            <a:r>
              <a:rPr lang="en-US" sz="1600" dirty="0">
                <a:solidFill>
                  <a:schemeClr val="tx2"/>
                </a:solidFill>
              </a:rPr>
              <a:t>사진과 문장을 따로 계산 → 검색에서 중요</a:t>
            </a:r>
            <a:endParaRPr lang="en-US" sz="1600" dirty="0"/>
          </a:p>
        </p:txBody>
      </p:sp>
      <p:sp>
        <p:nvSpPr>
          <p:cNvPr id="27" name="card-216"/>
          <p:cNvSpPr/>
          <p:nvPr/>
        </p:nvSpPr>
        <p:spPr>
          <a:xfrm>
            <a:off x="6172200" y="4526280"/>
            <a:ext cx="5349240" cy="1463040"/>
          </a:xfrm>
          <a:prstGeom prst="roundRect">
            <a:avLst>
              <a:gd name="adj" fmla="val 8750"/>
            </a:avLst>
          </a:prstGeom>
          <a:solidFill>
            <a:schemeClr val="bg2"/>
          </a:solidFill>
          <a:ln/>
        </p:spPr>
      </p:sp>
      <p:sp>
        <p:nvSpPr>
          <p:cNvPr id="28" name="circle-217"/>
          <p:cNvSpPr/>
          <p:nvPr/>
        </p:nvSpPr>
        <p:spPr>
          <a:xfrm>
            <a:off x="6446520" y="4846320"/>
            <a:ext cx="777240" cy="777240"/>
          </a:xfrm>
          <a:prstGeom prst="ellipse">
            <a:avLst/>
          </a:prstGeom>
          <a:solidFill>
            <a:schemeClr val="accent3"/>
          </a:solidFill>
          <a:ln/>
        </p:spPr>
      </p:sp>
      <p:pic>
        <p:nvPicPr>
          <p:cNvPr id="29" name="icon-FaRuler-218" descr="FaRuler">    </p:cNvPr>
          <p:cNvPicPr>
            <a:picLocks noChangeAspect="1"/>
          </p:cNvPicPr>
          <p:nvPr/>
        </p:nvPicPr>
        <p:blipFill>
          <a:blip r:embed="rId3"/>
          <a:stretch>
            <a:fillRect/>
          </a:stretch>
        </p:blipFill>
        <p:spPr>
          <a:xfrm>
            <a:off x="6648602" y="5048402"/>
            <a:ext cx="373075" cy="373075"/>
          </a:xfrm>
          <a:prstGeom prst="rect">
            <a:avLst/>
          </a:prstGeom>
        </p:spPr>
      </p:pic>
      <p:sp>
        <p:nvSpPr>
          <p:cNvPr id="30" name="text-219"/>
          <p:cNvSpPr txBox="1"/>
          <p:nvPr/>
        </p:nvSpPr>
        <p:spPr>
          <a:xfrm>
            <a:off x="7452360" y="4709160"/>
            <a:ext cx="3931920" cy="502920"/>
          </a:xfrm>
          <a:prstGeom prst="rect">
            <a:avLst/>
          </a:prstGeom>
          <a:noFill/>
          <a:ln/>
        </p:spPr>
        <p:txBody>
          <a:bodyPr wrap="square" lIns="0" tIns="0" rIns="0" bIns="0" rtlCol="0" anchor="t"/>
          <a:lstStyle/>
          <a:p>
            <a:pPr indent="0" marL="0">
              <a:buNone/>
            </a:pPr>
            <a:r>
              <a:rPr lang="en-US" sz="2000" b="1" dirty="0">
                <a:solidFill>
                  <a:schemeClr val="tx1"/>
                </a:solidFill>
              </a:rPr>
              <a:t>같은 차원으로 맞춘 뒤 정규화</a:t>
            </a:r>
            <a:endParaRPr lang="en-US" sz="2000" dirty="0"/>
          </a:p>
        </p:txBody>
      </p:sp>
      <p:sp>
        <p:nvSpPr>
          <p:cNvPr id="31" name="text-220"/>
          <p:cNvSpPr txBox="1"/>
          <p:nvPr/>
        </p:nvSpPr>
        <p:spPr>
          <a:xfrm>
            <a:off x="7452360" y="5212080"/>
            <a:ext cx="3931920" cy="640080"/>
          </a:xfrm>
          <a:prstGeom prst="rect">
            <a:avLst/>
          </a:prstGeom>
          <a:noFill/>
          <a:ln/>
        </p:spPr>
        <p:txBody>
          <a:bodyPr wrap="square" lIns="0" tIns="0" rIns="0" bIns="0" rtlCol="0" anchor="t"/>
          <a:lstStyle/>
          <a:p>
            <a:pPr indent="0" marL="0">
              <a:buNone/>
            </a:pPr>
            <a:r>
              <a:rPr lang="en-US" sz="1600" dirty="0">
                <a:solidFill>
                  <a:schemeClr val="tx2"/>
                </a:solidFill>
              </a:rPr>
              <a:t>투영(projection) 후 L2 정규화</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이미지 인코더(ViT)는 사진을 퍼즐 조각으로 읽는다</a:t>
            </a:r>
            <a:endParaRPr lang="en-US" sz="3000" dirty="0"/>
          </a:p>
        </p:txBody>
      </p:sp>
      <p:pic>
        <p:nvPicPr>
          <p:cNvPr id="3" name="cat-patches" descr="16x16 패치 격자로 나눈 고양이 사진">    </p:cNvPr>
          <p:cNvPicPr>
            <a:picLocks noChangeAspect="1"/>
          </p:cNvPicPr>
          <p:nvPr/>
        </p:nvPicPr>
        <p:blipFill>
          <a:blip r:embed="rId1"/>
          <a:stretch>
            <a:fillRect/>
          </a:stretch>
        </p:blipFill>
        <p:spPr>
          <a:xfrm>
            <a:off x="731520" y="1371600"/>
            <a:ext cx="4480560" cy="4480560"/>
          </a:xfrm>
          <a:prstGeom prst="rect">
            <a:avLst/>
          </a:prstGeom>
        </p:spPr>
      </p:pic>
      <p:sp>
        <p:nvSpPr>
          <p:cNvPr id="4" name="arrow-221"/>
          <p:cNvSpPr/>
          <p:nvPr/>
        </p:nvSpPr>
        <p:spPr>
          <a:xfrm>
            <a:off x="5440680" y="3611880"/>
            <a:ext cx="640080" cy="0"/>
          </a:xfrm>
          <a:prstGeom prst="line">
            <a:avLst/>
          </a:prstGeom>
          <a:noFill/>
          <a:ln w="31750">
            <a:solidFill>
              <a:schemeClr val="accent1"/>
            </a:solidFill>
            <a:prstDash val="solid"/>
            <a:tailEnd type="triangle"/>
          </a:ln>
        </p:spPr>
      </p:sp>
      <p:sp>
        <p:nvSpPr>
          <p:cNvPr id="5" name="text-222"/>
          <p:cNvSpPr txBox="1"/>
          <p:nvPr/>
        </p:nvSpPr>
        <p:spPr>
          <a:xfrm>
            <a:off x="6400800" y="1417320"/>
            <a:ext cx="5120640" cy="502920"/>
          </a:xfrm>
          <a:prstGeom prst="rect">
            <a:avLst/>
          </a:prstGeom>
          <a:noFill/>
          <a:ln/>
        </p:spPr>
        <p:txBody>
          <a:bodyPr wrap="square" lIns="0" tIns="0" rIns="0" bIns="0" rtlCol="0" anchor="t"/>
          <a:lstStyle/>
          <a:p>
            <a:pPr indent="0" marL="0">
              <a:buNone/>
            </a:pPr>
            <a:r>
              <a:rPr lang="en-US" sz="2400" b="1" dirty="0">
                <a:solidFill>
                  <a:schemeClr val="tx1"/>
                </a:solidFill>
              </a:rPr>
              <a:t>224 × 224 사진</a:t>
            </a:r>
            <a:endParaRPr lang="en-US" sz="2400" dirty="0"/>
          </a:p>
        </p:txBody>
      </p:sp>
      <p:sp>
        <p:nvSpPr>
          <p:cNvPr id="6" name="text-223"/>
          <p:cNvSpPr txBox="1"/>
          <p:nvPr/>
        </p:nvSpPr>
        <p:spPr>
          <a:xfrm>
            <a:off x="6400800" y="1920240"/>
            <a:ext cx="5120640" cy="822960"/>
          </a:xfrm>
          <a:prstGeom prst="rect">
            <a:avLst/>
          </a:prstGeom>
          <a:noFill/>
          <a:ln/>
        </p:spPr>
        <p:txBody>
          <a:bodyPr wrap="square" lIns="0" tIns="0" rIns="0" bIns="0" rtlCol="0" anchor="t"/>
          <a:lstStyle/>
          <a:p>
            <a:pPr indent="0" marL="0">
              <a:buNone/>
            </a:pPr>
            <a:r>
              <a:rPr lang="en-US" sz="1800" dirty="0">
                <a:solidFill>
                  <a:schemeClr val="tx2"/>
                </a:solidFill>
              </a:rPr>
              <a:t>→ 16×16 조각으로 자르면 14×14 = 196조각</a:t>
            </a:r>
            <a:endParaRPr lang="en-US" sz="1800" dirty="0"/>
          </a:p>
        </p:txBody>
      </p:sp>
      <p:pic>
        <p:nvPicPr>
          <p:cNvPr id="7" name="patch-224" descr="이미지 패치">    </p:cNvPr>
          <p:cNvPicPr>
            <a:picLocks noChangeAspect="1"/>
          </p:cNvPicPr>
          <p:nvPr/>
        </p:nvPicPr>
        <p:blipFill>
          <a:blip r:embed="rId2"/>
          <a:stretch>
            <a:fillRect/>
          </a:stretch>
        </p:blipFill>
        <p:spPr>
          <a:xfrm>
            <a:off x="6400800" y="3063240"/>
            <a:ext cx="685800" cy="685800"/>
          </a:xfrm>
          <a:prstGeom prst="rect">
            <a:avLst/>
          </a:prstGeom>
        </p:spPr>
      </p:pic>
      <p:pic>
        <p:nvPicPr>
          <p:cNvPr id="8" name="patch-225" descr="이미지 패치">    </p:cNvPr>
          <p:cNvPicPr>
            <a:picLocks noChangeAspect="1"/>
          </p:cNvPicPr>
          <p:nvPr/>
        </p:nvPicPr>
        <p:blipFill>
          <a:blip r:embed="rId3"/>
          <a:stretch>
            <a:fillRect/>
          </a:stretch>
        </p:blipFill>
        <p:spPr>
          <a:xfrm>
            <a:off x="7242048" y="3063240"/>
            <a:ext cx="685800" cy="685800"/>
          </a:xfrm>
          <a:prstGeom prst="rect">
            <a:avLst/>
          </a:prstGeom>
        </p:spPr>
      </p:pic>
      <p:pic>
        <p:nvPicPr>
          <p:cNvPr id="9" name="patch-226" descr="이미지 패치">    </p:cNvPr>
          <p:cNvPicPr>
            <a:picLocks noChangeAspect="1"/>
          </p:cNvPicPr>
          <p:nvPr/>
        </p:nvPicPr>
        <p:blipFill>
          <a:blip r:embed="rId4"/>
          <a:stretch>
            <a:fillRect/>
          </a:stretch>
        </p:blipFill>
        <p:spPr>
          <a:xfrm>
            <a:off x="8083296" y="3063240"/>
            <a:ext cx="685800" cy="685800"/>
          </a:xfrm>
          <a:prstGeom prst="rect">
            <a:avLst/>
          </a:prstGeom>
        </p:spPr>
      </p:pic>
      <p:pic>
        <p:nvPicPr>
          <p:cNvPr id="10" name="patch-227" descr="이미지 패치">    </p:cNvPr>
          <p:cNvPicPr>
            <a:picLocks noChangeAspect="1"/>
          </p:cNvPicPr>
          <p:nvPr/>
        </p:nvPicPr>
        <p:blipFill>
          <a:blip r:embed="rId5"/>
          <a:stretch>
            <a:fillRect/>
          </a:stretch>
        </p:blipFill>
        <p:spPr>
          <a:xfrm>
            <a:off x="8924544" y="3063240"/>
            <a:ext cx="685800" cy="685800"/>
          </a:xfrm>
          <a:prstGeom prst="rect">
            <a:avLst/>
          </a:prstGeom>
        </p:spPr>
      </p:pic>
      <p:pic>
        <p:nvPicPr>
          <p:cNvPr id="11" name="patch-228" descr="이미지 패치">    </p:cNvPr>
          <p:cNvPicPr>
            <a:picLocks noChangeAspect="1"/>
          </p:cNvPicPr>
          <p:nvPr/>
        </p:nvPicPr>
        <p:blipFill>
          <a:blip r:embed="rId6"/>
          <a:stretch>
            <a:fillRect/>
          </a:stretch>
        </p:blipFill>
        <p:spPr>
          <a:xfrm>
            <a:off x="9765792" y="3063240"/>
            <a:ext cx="685800" cy="685800"/>
          </a:xfrm>
          <a:prstGeom prst="rect">
            <a:avLst/>
          </a:prstGeom>
        </p:spPr>
      </p:pic>
      <p:sp>
        <p:nvSpPr>
          <p:cNvPr id="12" name="text-229"/>
          <p:cNvSpPr txBox="1"/>
          <p:nvPr/>
        </p:nvSpPr>
        <p:spPr>
          <a:xfrm>
            <a:off x="10561320" y="3063240"/>
            <a:ext cx="411480" cy="685800"/>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pic>
        <p:nvPicPr>
          <p:cNvPr id="13" name="patch-230" descr="이미지 패치">    </p:cNvPr>
          <p:cNvPicPr>
            <a:picLocks noChangeAspect="1"/>
          </p:cNvPicPr>
          <p:nvPr/>
        </p:nvPicPr>
        <p:blipFill>
          <a:blip r:embed="rId7"/>
          <a:stretch>
            <a:fillRect/>
          </a:stretch>
        </p:blipFill>
        <p:spPr>
          <a:xfrm>
            <a:off x="11018520" y="3063240"/>
            <a:ext cx="685800" cy="685800"/>
          </a:xfrm>
          <a:prstGeom prst="rect">
            <a:avLst/>
          </a:prstGeom>
        </p:spPr>
      </p:pic>
      <p:sp>
        <p:nvSpPr>
          <p:cNvPr id="14" name="text-231"/>
          <p:cNvSpPr txBox="1"/>
          <p:nvPr/>
        </p:nvSpPr>
        <p:spPr>
          <a:xfrm>
            <a:off x="6400800" y="3931920"/>
            <a:ext cx="5120640" cy="502920"/>
          </a:xfrm>
          <a:prstGeom prst="rect">
            <a:avLst/>
          </a:prstGeom>
          <a:noFill/>
          <a:ln/>
        </p:spPr>
        <p:txBody>
          <a:bodyPr wrap="square" lIns="0" tIns="0" rIns="0" bIns="0" rtlCol="0" anchor="t"/>
          <a:lstStyle/>
          <a:p>
            <a:pPr indent="0" marL="0">
              <a:buNone/>
            </a:pPr>
            <a:r>
              <a:rPr lang="en-US" sz="2200" b="1" dirty="0">
                <a:solidFill>
                  <a:schemeClr val="accent1"/>
                </a:solidFill>
              </a:rPr>
              <a:t>조각 1개 = 토큰 1개</a:t>
            </a:r>
            <a:endParaRPr lang="en-US" sz="2200" dirty="0"/>
          </a:p>
        </p:txBody>
      </p:sp>
      <p:sp>
        <p:nvSpPr>
          <p:cNvPr id="15" name="text-232"/>
          <p:cNvSpPr txBox="1"/>
          <p:nvPr/>
        </p:nvSpPr>
        <p:spPr>
          <a:xfrm>
            <a:off x="6400800" y="4480560"/>
            <a:ext cx="5120640" cy="914400"/>
          </a:xfrm>
          <a:prstGeom prst="rect">
            <a:avLst/>
          </a:prstGeom>
          <a:noFill/>
          <a:ln/>
        </p:spPr>
        <p:txBody>
          <a:bodyPr wrap="square" lIns="0" tIns="0" rIns="0" bIns="0" rtlCol="0" anchor="t"/>
          <a:lstStyle/>
          <a:p>
            <a:pPr indent="0" marL="0">
              <a:buNone/>
            </a:pPr>
            <a:r>
              <a:rPr lang="en-US" sz="1700" dirty="0">
                <a:solidFill>
                  <a:schemeClr val="tx2"/>
                </a:solidFill>
              </a:rPr>
              <a:t>단어처럼 Transformer에 넣고, 마지막에 하나의 벡터로 요약 (MAP 풀링)</a:t>
            </a:r>
            <a:endParaRPr lang="en-US" sz="1700" dirty="0"/>
          </a:p>
        </p:txBody>
      </p:sp>
      <p:sp>
        <p:nvSpPr>
          <p:cNvPr id="16" name="text-233"/>
          <p:cNvSpPr txBox="1"/>
          <p:nvPr/>
        </p:nvSpPr>
        <p:spPr>
          <a:xfrm>
            <a:off x="6400800" y="5394960"/>
            <a:ext cx="5120640" cy="640080"/>
          </a:xfrm>
          <a:prstGeom prst="rect">
            <a:avLst/>
          </a:prstGeom>
          <a:noFill/>
          <a:ln/>
        </p:spPr>
        <p:txBody>
          <a:bodyPr wrap="square" lIns="0" tIns="0" rIns="0" bIns="0" rtlCol="0" anchor="t"/>
          <a:lstStyle/>
          <a:p>
            <a:pPr indent="0" marL="0">
              <a:buNone/>
            </a:pPr>
            <a:r>
              <a:rPr lang="en-US" sz="1400" b="1" dirty="0">
                <a:solidFill>
                  <a:schemeClr val="accent3"/>
                </a:solidFill>
              </a:rPr>
              <a:t>모델 이름 읽기: siglip-base-patch16-224 = 크기 base · 조각 16 · 해상도 224</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Sigmoid Loss 한 줄 수식</a:t>
            </a:r>
            <a:endParaRPr lang="en-US" sz="3000" dirty="0"/>
          </a:p>
        </p:txBody>
      </p:sp>
      <p:sp>
        <p:nvSpPr>
          <p:cNvPr id="3" name="card-234"/>
          <p:cNvSpPr/>
          <p:nvPr/>
        </p:nvSpPr>
        <p:spPr>
          <a:xfrm>
            <a:off x="640080" y="1371600"/>
            <a:ext cx="10881360" cy="1325880"/>
          </a:xfrm>
          <a:prstGeom prst="roundRect">
            <a:avLst>
              <a:gd name="adj" fmla="val 9655"/>
            </a:avLst>
          </a:prstGeom>
          <a:solidFill>
            <a:schemeClr val="tx1"/>
          </a:solidFill>
          <a:ln/>
        </p:spPr>
      </p:sp>
      <p:sp>
        <p:nvSpPr>
          <p:cNvPr id="4" name="text-235"/>
          <p:cNvSpPr txBox="1"/>
          <p:nvPr/>
        </p:nvSpPr>
        <p:spPr>
          <a:xfrm>
            <a:off x="914400" y="1371600"/>
            <a:ext cx="10332720" cy="1325880"/>
          </a:xfrm>
          <a:prstGeom prst="rect">
            <a:avLst/>
          </a:prstGeom>
          <a:noFill/>
          <a:ln/>
        </p:spPr>
        <p:txBody>
          <a:bodyPr wrap="square" lIns="0" tIns="0" rIns="0" bIns="0" rtlCol="0" anchor="ctr"/>
          <a:lstStyle/>
          <a:p>
            <a:pPr algn="ctr" indent="0" marL="0">
              <a:buNone/>
            </a:pPr>
            <a:r>
              <a:rPr lang="en-US" sz="3000" dirty="0">
                <a:solidFill>
                  <a:schemeClr val="bg1"/>
                </a:solidFill>
                <a:latin typeface="Cambria Math" pitchFamily="34" charset="0"/>
                <a:ea typeface="Cambria Math" pitchFamily="34" charset="-122"/>
                <a:cs typeface="Cambria Math" pitchFamily="34" charset="-120"/>
              </a:rPr>
              <a:t>L = −(1/|B|) Σᵢ Σⱼ log σ( zᵢⱼ · ( t·xᵢ·yⱼ + b ) )</a:t>
            </a:r>
            <a:endParaRPr lang="en-US" sz="3000" dirty="0"/>
          </a:p>
        </p:txBody>
      </p:sp>
      <p:sp>
        <p:nvSpPr>
          <p:cNvPr id="5" name="card-236"/>
          <p:cNvSpPr/>
          <p:nvPr/>
        </p:nvSpPr>
        <p:spPr>
          <a:xfrm>
            <a:off x="640080" y="3017520"/>
            <a:ext cx="5349240" cy="1188720"/>
          </a:xfrm>
          <a:prstGeom prst="roundRect">
            <a:avLst>
              <a:gd name="adj" fmla="val 10769"/>
            </a:avLst>
          </a:prstGeom>
          <a:solidFill>
            <a:schemeClr val="bg2"/>
          </a:solidFill>
          <a:ln/>
        </p:spPr>
      </p:sp>
      <p:sp>
        <p:nvSpPr>
          <p:cNvPr id="6" name="text-237"/>
          <p:cNvSpPr txBox="1"/>
          <p:nvPr/>
        </p:nvSpPr>
        <p:spPr>
          <a:xfrm>
            <a:off x="914400" y="3017520"/>
            <a:ext cx="1188720" cy="1188720"/>
          </a:xfrm>
          <a:prstGeom prst="rect">
            <a:avLst/>
          </a:prstGeom>
          <a:noFill/>
          <a:ln/>
        </p:spPr>
        <p:txBody>
          <a:bodyPr wrap="square" lIns="0" tIns="0" rIns="0" bIns="0" rtlCol="0" anchor="ctr"/>
          <a:lstStyle/>
          <a:p>
            <a:pPr indent="0" marL="0">
              <a:buNone/>
            </a:pPr>
            <a:r>
              <a:rPr lang="en-US" sz="2400" b="1" dirty="0">
                <a:solidFill>
                  <a:schemeClr val="accent1"/>
                </a:solidFill>
                <a:latin typeface="Cambria Math" pitchFamily="34" charset="0"/>
                <a:ea typeface="Cambria Math" pitchFamily="34" charset="-122"/>
                <a:cs typeface="Cambria Math" pitchFamily="34" charset="-120"/>
              </a:rPr>
              <a:t>xᵢ·yⱼ</a:t>
            </a:r>
            <a:endParaRPr lang="en-US" sz="2400" dirty="0"/>
          </a:p>
        </p:txBody>
      </p:sp>
      <p:sp>
        <p:nvSpPr>
          <p:cNvPr id="7" name="text-238"/>
          <p:cNvSpPr txBox="1"/>
          <p:nvPr/>
        </p:nvSpPr>
        <p:spPr>
          <a:xfrm>
            <a:off x="2103120" y="3017520"/>
            <a:ext cx="3749040" cy="1188720"/>
          </a:xfrm>
          <a:prstGeom prst="rect">
            <a:avLst/>
          </a:prstGeom>
          <a:noFill/>
          <a:ln/>
        </p:spPr>
        <p:txBody>
          <a:bodyPr wrap="square" lIns="0" tIns="0" rIns="0" bIns="0" rtlCol="0" anchor="ctr"/>
          <a:lstStyle/>
          <a:p>
            <a:pPr indent="0" marL="0">
              <a:buNone/>
            </a:pPr>
            <a:r>
              <a:rPr lang="en-US" sz="1800" dirty="0">
                <a:solidFill>
                  <a:schemeClr val="tx1"/>
                </a:solidFill>
              </a:rPr>
              <a:t>사진 i와 문장 j의 유사도</a:t>
            </a:r>
            <a:endParaRPr lang="en-US" sz="1800" dirty="0"/>
          </a:p>
        </p:txBody>
      </p:sp>
      <p:sp>
        <p:nvSpPr>
          <p:cNvPr id="8" name="card-239"/>
          <p:cNvSpPr/>
          <p:nvPr/>
        </p:nvSpPr>
        <p:spPr>
          <a:xfrm>
            <a:off x="6172200" y="3017520"/>
            <a:ext cx="5349240" cy="1188720"/>
          </a:xfrm>
          <a:prstGeom prst="roundRect">
            <a:avLst>
              <a:gd name="adj" fmla="val 10769"/>
            </a:avLst>
          </a:prstGeom>
          <a:solidFill>
            <a:schemeClr val="bg2"/>
          </a:solidFill>
          <a:ln/>
        </p:spPr>
      </p:sp>
      <p:sp>
        <p:nvSpPr>
          <p:cNvPr id="9" name="text-240"/>
          <p:cNvSpPr txBox="1"/>
          <p:nvPr/>
        </p:nvSpPr>
        <p:spPr>
          <a:xfrm>
            <a:off x="6446520" y="3017520"/>
            <a:ext cx="1188720" cy="1188720"/>
          </a:xfrm>
          <a:prstGeom prst="rect">
            <a:avLst/>
          </a:prstGeom>
          <a:noFill/>
          <a:ln/>
        </p:spPr>
        <p:txBody>
          <a:bodyPr wrap="square" lIns="0" tIns="0" rIns="0" bIns="0" rtlCol="0" anchor="ctr"/>
          <a:lstStyle/>
          <a:p>
            <a:pPr indent="0" marL="0">
              <a:buNone/>
            </a:pPr>
            <a:r>
              <a:rPr lang="en-US" sz="2400" b="1" dirty="0">
                <a:solidFill>
                  <a:schemeClr val="accent5"/>
                </a:solidFill>
                <a:latin typeface="Cambria Math" pitchFamily="34" charset="0"/>
                <a:ea typeface="Cambria Math" pitchFamily="34" charset="-122"/>
                <a:cs typeface="Cambria Math" pitchFamily="34" charset="-120"/>
              </a:rPr>
              <a:t>zᵢⱼ</a:t>
            </a:r>
            <a:endParaRPr lang="en-US" sz="2400" dirty="0"/>
          </a:p>
        </p:txBody>
      </p:sp>
      <p:sp>
        <p:nvSpPr>
          <p:cNvPr id="10" name="text-241"/>
          <p:cNvSpPr txBox="1"/>
          <p:nvPr/>
        </p:nvSpPr>
        <p:spPr>
          <a:xfrm>
            <a:off x="7635240" y="3017520"/>
            <a:ext cx="3749040" cy="1188720"/>
          </a:xfrm>
          <a:prstGeom prst="rect">
            <a:avLst/>
          </a:prstGeom>
          <a:noFill/>
          <a:ln/>
        </p:spPr>
        <p:txBody>
          <a:bodyPr wrap="square" lIns="0" tIns="0" rIns="0" bIns="0" rtlCol="0" anchor="ctr"/>
          <a:lstStyle/>
          <a:p>
            <a:pPr indent="0" marL="0">
              <a:buNone/>
            </a:pPr>
            <a:r>
              <a:rPr lang="en-US" sz="1800" dirty="0">
                <a:solidFill>
                  <a:schemeClr val="tx1"/>
                </a:solidFill>
              </a:rPr>
              <a:t>O/X 정답: 짝이면 +1, 아니면 −1</a:t>
            </a:r>
            <a:endParaRPr lang="en-US" sz="1800" dirty="0"/>
          </a:p>
        </p:txBody>
      </p:sp>
      <p:sp>
        <p:nvSpPr>
          <p:cNvPr id="11" name="card-242"/>
          <p:cNvSpPr/>
          <p:nvPr/>
        </p:nvSpPr>
        <p:spPr>
          <a:xfrm>
            <a:off x="640080" y="4434840"/>
            <a:ext cx="5349240" cy="1188720"/>
          </a:xfrm>
          <a:prstGeom prst="roundRect">
            <a:avLst>
              <a:gd name="adj" fmla="val 10769"/>
            </a:avLst>
          </a:prstGeom>
          <a:solidFill>
            <a:schemeClr val="bg2"/>
          </a:solidFill>
          <a:ln/>
        </p:spPr>
      </p:sp>
      <p:sp>
        <p:nvSpPr>
          <p:cNvPr id="12" name="text-243"/>
          <p:cNvSpPr txBox="1"/>
          <p:nvPr/>
        </p:nvSpPr>
        <p:spPr>
          <a:xfrm>
            <a:off x="914400" y="4434840"/>
            <a:ext cx="1188720" cy="1188720"/>
          </a:xfrm>
          <a:prstGeom prst="rect">
            <a:avLst/>
          </a:prstGeom>
          <a:noFill/>
          <a:ln/>
        </p:spPr>
        <p:txBody>
          <a:bodyPr wrap="square" lIns="0" tIns="0" rIns="0" bIns="0" rtlCol="0" anchor="ctr"/>
          <a:lstStyle/>
          <a:p>
            <a:pPr indent="0" marL="0">
              <a:buNone/>
            </a:pPr>
            <a:r>
              <a:rPr lang="en-US" sz="2400" b="1" dirty="0">
                <a:solidFill>
                  <a:schemeClr val="accent3"/>
                </a:solidFill>
                <a:latin typeface="Cambria Math" pitchFamily="34" charset="0"/>
                <a:ea typeface="Cambria Math" pitchFamily="34" charset="-122"/>
                <a:cs typeface="Cambria Math" pitchFamily="34" charset="-120"/>
              </a:rPr>
              <a:t>σ</a:t>
            </a:r>
            <a:endParaRPr lang="en-US" sz="2400" dirty="0"/>
          </a:p>
        </p:txBody>
      </p:sp>
      <p:sp>
        <p:nvSpPr>
          <p:cNvPr id="13" name="text-244"/>
          <p:cNvSpPr txBox="1"/>
          <p:nvPr/>
        </p:nvSpPr>
        <p:spPr>
          <a:xfrm>
            <a:off x="2103120" y="4434840"/>
            <a:ext cx="3749040" cy="1188720"/>
          </a:xfrm>
          <a:prstGeom prst="rect">
            <a:avLst/>
          </a:prstGeom>
          <a:noFill/>
          <a:ln/>
        </p:spPr>
        <p:txBody>
          <a:bodyPr wrap="square" lIns="0" tIns="0" rIns="0" bIns="0" rtlCol="0" anchor="ctr"/>
          <a:lstStyle/>
          <a:p>
            <a:pPr indent="0" marL="0">
              <a:buNone/>
            </a:pPr>
            <a:r>
              <a:rPr lang="en-US" sz="1800" dirty="0">
                <a:solidFill>
                  <a:schemeClr val="tx1"/>
                </a:solidFill>
              </a:rPr>
              <a:t>시그모이드 → 0~1 ‘짝일 확률’</a:t>
            </a:r>
            <a:endParaRPr lang="en-US" sz="1800" dirty="0"/>
          </a:p>
        </p:txBody>
      </p:sp>
      <p:sp>
        <p:nvSpPr>
          <p:cNvPr id="14" name="card-245"/>
          <p:cNvSpPr/>
          <p:nvPr/>
        </p:nvSpPr>
        <p:spPr>
          <a:xfrm>
            <a:off x="6172200" y="4434840"/>
            <a:ext cx="5349240" cy="1188720"/>
          </a:xfrm>
          <a:prstGeom prst="roundRect">
            <a:avLst>
              <a:gd name="adj" fmla="val 10769"/>
            </a:avLst>
          </a:prstGeom>
          <a:solidFill>
            <a:schemeClr val="bg2"/>
          </a:solidFill>
          <a:ln/>
        </p:spPr>
      </p:sp>
      <p:sp>
        <p:nvSpPr>
          <p:cNvPr id="15" name="text-246"/>
          <p:cNvSpPr txBox="1"/>
          <p:nvPr/>
        </p:nvSpPr>
        <p:spPr>
          <a:xfrm>
            <a:off x="6446520" y="4434840"/>
            <a:ext cx="1188720" cy="1188720"/>
          </a:xfrm>
          <a:prstGeom prst="rect">
            <a:avLst/>
          </a:prstGeom>
          <a:noFill/>
          <a:ln/>
        </p:spPr>
        <p:txBody>
          <a:bodyPr wrap="square" lIns="0" tIns="0" rIns="0" bIns="0" rtlCol="0" anchor="ctr"/>
          <a:lstStyle/>
          <a:p>
            <a:pPr indent="0" marL="0">
              <a:buNone/>
            </a:pPr>
            <a:r>
              <a:rPr lang="en-US" sz="2400" b="1" dirty="0">
                <a:solidFill>
                  <a:schemeClr val="accent2"/>
                </a:solidFill>
                <a:latin typeface="Cambria Math" pitchFamily="34" charset="0"/>
                <a:ea typeface="Cambria Math" pitchFamily="34" charset="-122"/>
                <a:cs typeface="Cambria Math" pitchFamily="34" charset="-120"/>
              </a:rPr>
              <a:t>t, b</a:t>
            </a:r>
            <a:endParaRPr lang="en-US" sz="2400" dirty="0"/>
          </a:p>
        </p:txBody>
      </p:sp>
      <p:sp>
        <p:nvSpPr>
          <p:cNvPr id="16" name="text-247"/>
          <p:cNvSpPr txBox="1"/>
          <p:nvPr/>
        </p:nvSpPr>
        <p:spPr>
          <a:xfrm>
            <a:off x="7635240" y="4434840"/>
            <a:ext cx="3749040" cy="1188720"/>
          </a:xfrm>
          <a:prstGeom prst="rect">
            <a:avLst/>
          </a:prstGeom>
          <a:noFill/>
          <a:ln/>
        </p:spPr>
        <p:txBody>
          <a:bodyPr wrap="square" lIns="0" tIns="0" rIns="0" bIns="0" rtlCol="0" anchor="ctr"/>
          <a:lstStyle/>
          <a:p>
            <a:pPr indent="0" marL="0">
              <a:buNone/>
            </a:pPr>
            <a:r>
              <a:rPr lang="en-US" sz="1800" dirty="0">
                <a:solidFill>
                  <a:schemeClr val="tx1"/>
                </a:solidFill>
              </a:rPr>
              <a:t>온도·바이어스 (학습되는 숫자)</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왜 바이어스 b가 필요할까?</a:t>
            </a:r>
            <a:endParaRPr lang="en-US" sz="3000" dirty="0"/>
          </a:p>
        </p:txBody>
      </p:sp>
      <p:sp>
        <p:nvSpPr>
          <p:cNvPr id="3" name="card-248"/>
          <p:cNvSpPr/>
          <p:nvPr/>
        </p:nvSpPr>
        <p:spPr>
          <a:xfrm>
            <a:off x="640080" y="1371600"/>
            <a:ext cx="4206240" cy="2377440"/>
          </a:xfrm>
          <a:prstGeom prst="roundRect">
            <a:avLst>
              <a:gd name="adj" fmla="val 5385"/>
            </a:avLst>
          </a:prstGeom>
          <a:solidFill>
            <a:schemeClr val="accent4">
              <a:alpha val="8000"/>
            </a:schemeClr>
          </a:solidFill>
          <a:ln/>
        </p:spPr>
      </p:sp>
      <p:sp>
        <p:nvSpPr>
          <p:cNvPr id="4" name="text-249"/>
          <p:cNvSpPr txBox="1"/>
          <p:nvPr/>
        </p:nvSpPr>
        <p:spPr>
          <a:xfrm>
            <a:off x="868680" y="1554480"/>
            <a:ext cx="3840480" cy="868680"/>
          </a:xfrm>
          <a:prstGeom prst="rect">
            <a:avLst/>
          </a:prstGeom>
          <a:noFill/>
          <a:ln/>
        </p:spPr>
        <p:txBody>
          <a:bodyPr wrap="square" lIns="0" tIns="0" rIns="0" bIns="0" rtlCol="0" anchor="t"/>
          <a:lstStyle/>
          <a:p>
            <a:pPr indent="0" marL="0">
              <a:buNone/>
            </a:pPr>
            <a:r>
              <a:rPr lang="en-US" sz="4400" b="1" dirty="0">
                <a:solidFill>
                  <a:schemeClr val="accent4"/>
                </a:solidFill>
              </a:rPr>
              <a:t>1 : 32,000</a:t>
            </a:r>
            <a:endParaRPr lang="en-US" sz="4400" dirty="0"/>
          </a:p>
        </p:txBody>
      </p:sp>
      <p:sp>
        <p:nvSpPr>
          <p:cNvPr id="5" name="text-250"/>
          <p:cNvSpPr txBox="1"/>
          <p:nvPr/>
        </p:nvSpPr>
        <p:spPr>
          <a:xfrm>
            <a:off x="868680" y="2514600"/>
            <a:ext cx="3749040" cy="1005840"/>
          </a:xfrm>
          <a:prstGeom prst="rect">
            <a:avLst/>
          </a:prstGeom>
          <a:noFill/>
          <a:ln/>
        </p:spPr>
        <p:txBody>
          <a:bodyPr wrap="square" lIns="0" tIns="0" rIns="0" bIns="0" rtlCol="0" anchor="t"/>
          <a:lstStyle/>
          <a:p>
            <a:pPr indent="0" marL="0">
              <a:buNone/>
            </a:pPr>
            <a:r>
              <a:rPr lang="en-US" sz="1700" dirty="0">
                <a:solidFill>
                  <a:schemeClr val="tx1"/>
                </a:solidFill>
              </a:rPr>
              <a:t>배치 32k일 때 진짜 짝 1개당 가짜 짝의 수</a:t>
            </a:r>
            <a:endParaRPr lang="en-US" sz="1700" dirty="0"/>
          </a:p>
        </p:txBody>
      </p:sp>
      <p:sp>
        <p:nvSpPr>
          <p:cNvPr id="6" name="text-251"/>
          <p:cNvSpPr txBox="1"/>
          <p:nvPr/>
        </p:nvSpPr>
        <p:spPr>
          <a:xfrm>
            <a:off x="640080" y="4069080"/>
            <a:ext cx="4389120" cy="2103120"/>
          </a:xfrm>
          <a:prstGeom prst="rect">
            <a:avLst/>
          </a:prstGeom>
          <a:noFill/>
          <a:ln/>
        </p:spPr>
        <p:txBody>
          <a:bodyPr wrap="square" lIns="0" tIns="0" rIns="0" bIns="0" rtlCol="0" anchor="t"/>
          <a:lstStyle/>
          <a:p>
            <a:pPr marL="279400" indent="-279400">
              <a:spcAft>
                <a:spcPts val="1200"/>
              </a:spcAft>
              <a:buSzPct val="100000"/>
              <a:buChar char="•"/>
            </a:pPr>
            <a:r>
              <a:rPr lang="en-US" sz="1700" b="1" dirty="0">
                <a:solidFill>
                  <a:schemeClr val="accent4"/>
                </a:solidFill>
              </a:rPr>
              <a:t>문제  </a:t>
            </a:r>
            <a:r>
              <a:rPr lang="en-US" sz="1700" dirty="0">
                <a:solidFill>
                  <a:schemeClr val="tx1"/>
                </a:solidFill>
              </a:rPr>
              <a:t>가짜 짝이 압도적 → 초반 손실 폭주</a:t>
            </a:r>
            <a:endParaRPr lang="en-US" sz="1700" dirty="0"/>
          </a:p>
          <a:p>
            <a:pPr marL="279400" indent="-279400">
              <a:spcAft>
                <a:spcPts val="1200"/>
              </a:spcAft>
              <a:buSzPct val="100000"/>
              <a:buChar char="•"/>
            </a:pPr>
            <a:r>
              <a:rPr lang="en-US" sz="1700" b="1" dirty="0">
                <a:solidFill>
                  <a:schemeClr val="accent3"/>
                </a:solidFill>
              </a:rPr>
              <a:t>해결  </a:t>
            </a:r>
            <a:r>
              <a:rPr lang="en-US" sz="1700" dirty="0">
                <a:solidFill>
                  <a:schemeClr val="tx1"/>
                </a:solidFill>
              </a:rPr>
              <a:t>b = −10에서 출발</a:t>
            </a:r>
            <a:endParaRPr lang="en-US" sz="1700" dirty="0"/>
          </a:p>
          <a:p>
            <a:pPr marL="279400" indent="-279400">
              <a:spcAft>
                <a:spcPts val="1200"/>
              </a:spcAft>
              <a:buSzPct val="100000"/>
              <a:buChar char="•"/>
            </a:pPr>
            <a:r>
              <a:rPr lang="en-US" sz="1700" b="1" dirty="0">
                <a:solidFill>
                  <a:schemeClr val="accent5"/>
                </a:solidFill>
              </a:rPr>
              <a:t>덤  </a:t>
            </a:r>
            <a:r>
              <a:rPr lang="en-US" sz="1700" dirty="0">
                <a:solidFill>
                  <a:schemeClr val="tx1"/>
                </a:solidFill>
              </a:rPr>
              <a:t>출력이 ‘짝일 확률’처럼 보정됨</a:t>
            </a:r>
            <a:endParaRPr lang="en-US" sz="1700" dirty="0"/>
          </a:p>
        </p:txBody>
      </p:sp>
      <p:graphicFrame>
        <p:nvGraphicFramePr>
          <p:cNvPr id="7" name="chart-bias" descr=""/>
          <p:cNvGraphicFramePr/>
          <p:nvPr/>
        </p:nvGraphicFramePr>
        <p:xfrm>
          <a:off x="5303520" y="1371600"/>
          <a:ext cx="6217920" cy="4206240"/>
        </p:xfrm>
        <a:graphic xmlns:a="http://schemas.openxmlformats.org/drawingml/2006/main">
          <a:graphicData uri="http://schemas.openxmlformats.org/drawingml/2006/chart">
            <c:chart xmlns:c="http://schemas.openxmlformats.org/drawingml/2006/chart" r:id="rId1"/>
          </a:graphicData>
        </a:graphic>
      </p:graphicFrame>
      <p:sp>
        <p:nvSpPr>
          <p:cNvPr id="8" name="text-252"/>
          <p:cNvSpPr txBox="1"/>
          <p:nvPr/>
        </p:nvSpPr>
        <p:spPr>
          <a:xfrm>
            <a:off x="5303520" y="5623560"/>
            <a:ext cx="6217920" cy="548640"/>
          </a:xfrm>
          <a:prstGeom prst="rect">
            <a:avLst/>
          </a:prstGeom>
          <a:noFill/>
          <a:ln/>
        </p:spPr>
        <p:txBody>
          <a:bodyPr wrap="square" lIns="0" tIns="0" rIns="0" bIns="0" rtlCol="0" anchor="t"/>
          <a:lstStyle/>
          <a:p>
            <a:pPr indent="0" marL="0">
              <a:buNone/>
            </a:pPr>
            <a:r>
              <a:rPr lang="en-US" sz="1300" dirty="0">
                <a:solidFill>
                  <a:schemeClr val="tx2"/>
                </a:solidFill>
              </a:rPr>
              <a:t>온도 t = 10(초기값)일 때. b = −10이면 유사도가 1에 가까운 쌍만 확률이 올라감</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장점: 큰 표를 한 번에 만들 필요가 없다</a:t>
            </a:r>
            <a:endParaRPr lang="en-US" sz="3000" dirty="0"/>
          </a:p>
        </p:txBody>
      </p:sp>
      <p:sp>
        <p:nvSpPr>
          <p:cNvPr id="3" name="text-253"/>
          <p:cNvSpPr txBox="1"/>
          <p:nvPr/>
        </p:nvSpPr>
        <p:spPr>
          <a:xfrm>
            <a:off x="548640" y="2011680"/>
            <a:ext cx="822960" cy="1051560"/>
          </a:xfrm>
          <a:prstGeom prst="rect">
            <a:avLst/>
          </a:prstGeom>
          <a:noFill/>
          <a:ln/>
        </p:spPr>
        <p:txBody>
          <a:bodyPr wrap="square" lIns="0" tIns="0" rIns="0" bIns="0" rtlCol="0" anchor="ctr"/>
          <a:lstStyle/>
          <a:p>
            <a:pPr indent="0" marL="0">
              <a:buNone/>
            </a:pPr>
            <a:r>
              <a:rPr lang="en-US" sz="1500" b="1" dirty="0">
                <a:solidFill>
                  <a:schemeClr val="tx2"/>
                </a:solidFill>
              </a:rPr>
              <a:t>GPU 1</a:t>
            </a:r>
            <a:endParaRPr lang="en-US" sz="1500" dirty="0"/>
          </a:p>
        </p:txBody>
      </p:sp>
      <p:sp>
        <p:nvSpPr>
          <p:cNvPr id="4" name="pill-254"/>
          <p:cNvSpPr/>
          <p:nvPr/>
        </p:nvSpPr>
        <p:spPr>
          <a:xfrm>
            <a:off x="1645920" y="1463040"/>
            <a:ext cx="685800" cy="365760"/>
          </a:xfrm>
          <a:prstGeom prst="roundRect">
            <a:avLst>
              <a:gd name="adj" fmla="val 50000"/>
            </a:avLst>
          </a:prstGeom>
          <a:solidFill>
            <a:schemeClr val="accent2"/>
          </a:solidFill>
          <a:ln/>
        </p:spPr>
      </p:sp>
      <p:sp>
        <p:nvSpPr>
          <p:cNvPr id="5" name="text-255"/>
          <p:cNvSpPr txBox="1"/>
          <p:nvPr/>
        </p:nvSpPr>
        <p:spPr>
          <a:xfrm>
            <a:off x="1645920" y="1463040"/>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T1</a:t>
            </a:r>
            <a:endParaRPr lang="en-US" sz="1300" dirty="0"/>
          </a:p>
        </p:txBody>
      </p:sp>
      <p:sp>
        <p:nvSpPr>
          <p:cNvPr id="6" name="text-256"/>
          <p:cNvSpPr txBox="1"/>
          <p:nvPr/>
        </p:nvSpPr>
        <p:spPr>
          <a:xfrm>
            <a:off x="548640" y="3063240"/>
            <a:ext cx="822960" cy="1051560"/>
          </a:xfrm>
          <a:prstGeom prst="rect">
            <a:avLst/>
          </a:prstGeom>
          <a:noFill/>
          <a:ln/>
        </p:spPr>
        <p:txBody>
          <a:bodyPr wrap="square" lIns="0" tIns="0" rIns="0" bIns="0" rtlCol="0" anchor="ctr"/>
          <a:lstStyle/>
          <a:p>
            <a:pPr indent="0" marL="0">
              <a:buNone/>
            </a:pPr>
            <a:r>
              <a:rPr lang="en-US" sz="1500" b="1" dirty="0">
                <a:solidFill>
                  <a:schemeClr val="tx2"/>
                </a:solidFill>
              </a:rPr>
              <a:t>GPU 2</a:t>
            </a:r>
            <a:endParaRPr lang="en-US" sz="1500" dirty="0"/>
          </a:p>
        </p:txBody>
      </p:sp>
      <p:sp>
        <p:nvSpPr>
          <p:cNvPr id="7" name="pill-257"/>
          <p:cNvSpPr/>
          <p:nvPr/>
        </p:nvSpPr>
        <p:spPr>
          <a:xfrm>
            <a:off x="2697480" y="1463040"/>
            <a:ext cx="685800" cy="365760"/>
          </a:xfrm>
          <a:prstGeom prst="roundRect">
            <a:avLst>
              <a:gd name="adj" fmla="val 50000"/>
            </a:avLst>
          </a:prstGeom>
          <a:solidFill>
            <a:schemeClr val="accent2"/>
          </a:solidFill>
          <a:ln/>
        </p:spPr>
      </p:sp>
      <p:sp>
        <p:nvSpPr>
          <p:cNvPr id="8" name="text-258"/>
          <p:cNvSpPr txBox="1"/>
          <p:nvPr/>
        </p:nvSpPr>
        <p:spPr>
          <a:xfrm>
            <a:off x="2697480" y="1463040"/>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T2</a:t>
            </a:r>
            <a:endParaRPr lang="en-US" sz="1300" dirty="0"/>
          </a:p>
        </p:txBody>
      </p:sp>
      <p:sp>
        <p:nvSpPr>
          <p:cNvPr id="9" name="text-259"/>
          <p:cNvSpPr txBox="1"/>
          <p:nvPr/>
        </p:nvSpPr>
        <p:spPr>
          <a:xfrm>
            <a:off x="548640" y="4114800"/>
            <a:ext cx="822960" cy="1051560"/>
          </a:xfrm>
          <a:prstGeom prst="rect">
            <a:avLst/>
          </a:prstGeom>
          <a:noFill/>
          <a:ln/>
        </p:spPr>
        <p:txBody>
          <a:bodyPr wrap="square" lIns="0" tIns="0" rIns="0" bIns="0" rtlCol="0" anchor="ctr"/>
          <a:lstStyle/>
          <a:p>
            <a:pPr indent="0" marL="0">
              <a:buNone/>
            </a:pPr>
            <a:r>
              <a:rPr lang="en-US" sz="1500" b="1" dirty="0">
                <a:solidFill>
                  <a:schemeClr val="tx2"/>
                </a:solidFill>
              </a:rPr>
              <a:t>GPU 3</a:t>
            </a:r>
            <a:endParaRPr lang="en-US" sz="1500" dirty="0"/>
          </a:p>
        </p:txBody>
      </p:sp>
      <p:sp>
        <p:nvSpPr>
          <p:cNvPr id="10" name="pill-260"/>
          <p:cNvSpPr/>
          <p:nvPr/>
        </p:nvSpPr>
        <p:spPr>
          <a:xfrm>
            <a:off x="3749040" y="1463040"/>
            <a:ext cx="685800" cy="365760"/>
          </a:xfrm>
          <a:prstGeom prst="roundRect">
            <a:avLst>
              <a:gd name="adj" fmla="val 50000"/>
            </a:avLst>
          </a:prstGeom>
          <a:solidFill>
            <a:schemeClr val="accent2"/>
          </a:solidFill>
          <a:ln/>
        </p:spPr>
      </p:sp>
      <p:sp>
        <p:nvSpPr>
          <p:cNvPr id="11" name="text-261"/>
          <p:cNvSpPr txBox="1"/>
          <p:nvPr/>
        </p:nvSpPr>
        <p:spPr>
          <a:xfrm>
            <a:off x="3749040" y="1463040"/>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T3</a:t>
            </a:r>
            <a:endParaRPr lang="en-US" sz="1300" dirty="0"/>
          </a:p>
        </p:txBody>
      </p:sp>
      <p:sp>
        <p:nvSpPr>
          <p:cNvPr id="12" name="chunk-262"/>
          <p:cNvSpPr/>
          <p:nvPr/>
        </p:nvSpPr>
        <p:spPr>
          <a:xfrm>
            <a:off x="1463040" y="2011680"/>
            <a:ext cx="1051560" cy="1051560"/>
          </a:xfrm>
          <a:prstGeom prst="rect">
            <a:avLst/>
          </a:prstGeom>
          <a:solidFill>
            <a:schemeClr val="accent3"/>
          </a:solidFill>
          <a:ln w="38100">
            <a:solidFill>
              <a:schemeClr val="bg1"/>
            </a:solidFill>
            <a:prstDash val="solid"/>
          </a:ln>
        </p:spPr>
      </p:sp>
      <p:sp>
        <p:nvSpPr>
          <p:cNvPr id="13" name="text-263"/>
          <p:cNvSpPr txBox="1"/>
          <p:nvPr/>
        </p:nvSpPr>
        <p:spPr>
          <a:xfrm>
            <a:off x="1463040" y="201168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14" name="chunk-264"/>
          <p:cNvSpPr/>
          <p:nvPr/>
        </p:nvSpPr>
        <p:spPr>
          <a:xfrm>
            <a:off x="2514600" y="2011680"/>
            <a:ext cx="1051560" cy="1051560"/>
          </a:xfrm>
          <a:prstGeom prst="rect">
            <a:avLst/>
          </a:prstGeom>
          <a:solidFill>
            <a:schemeClr val="accent1"/>
          </a:solidFill>
          <a:ln w="38100">
            <a:solidFill>
              <a:schemeClr val="bg1"/>
            </a:solidFill>
            <a:prstDash val="solid"/>
          </a:ln>
        </p:spPr>
      </p:sp>
      <p:sp>
        <p:nvSpPr>
          <p:cNvPr id="15" name="text-265"/>
          <p:cNvSpPr txBox="1"/>
          <p:nvPr/>
        </p:nvSpPr>
        <p:spPr>
          <a:xfrm>
            <a:off x="2514600" y="201168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6" name="chunk-266"/>
          <p:cNvSpPr/>
          <p:nvPr/>
        </p:nvSpPr>
        <p:spPr>
          <a:xfrm>
            <a:off x="3566160" y="2011680"/>
            <a:ext cx="1051560" cy="1051560"/>
          </a:xfrm>
          <a:prstGeom prst="rect">
            <a:avLst/>
          </a:prstGeom>
          <a:solidFill>
            <a:schemeClr val="accent2"/>
          </a:solidFill>
          <a:ln w="38100">
            <a:solidFill>
              <a:schemeClr val="bg1"/>
            </a:solidFill>
            <a:prstDash val="solid"/>
          </a:ln>
        </p:spPr>
      </p:sp>
      <p:sp>
        <p:nvSpPr>
          <p:cNvPr id="17" name="text-267"/>
          <p:cNvSpPr txBox="1"/>
          <p:nvPr/>
        </p:nvSpPr>
        <p:spPr>
          <a:xfrm>
            <a:off x="3566160" y="201168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8" name="chunk-268"/>
          <p:cNvSpPr/>
          <p:nvPr/>
        </p:nvSpPr>
        <p:spPr>
          <a:xfrm>
            <a:off x="1463040" y="3063240"/>
            <a:ext cx="1051560" cy="1051560"/>
          </a:xfrm>
          <a:prstGeom prst="rect">
            <a:avLst/>
          </a:prstGeom>
          <a:solidFill>
            <a:schemeClr val="accent2"/>
          </a:solidFill>
          <a:ln w="38100">
            <a:solidFill>
              <a:schemeClr val="bg1"/>
            </a:solidFill>
            <a:prstDash val="solid"/>
          </a:ln>
        </p:spPr>
      </p:sp>
      <p:sp>
        <p:nvSpPr>
          <p:cNvPr id="19" name="text-269"/>
          <p:cNvSpPr txBox="1"/>
          <p:nvPr/>
        </p:nvSpPr>
        <p:spPr>
          <a:xfrm>
            <a:off x="1463040" y="306324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20" name="chunk-270"/>
          <p:cNvSpPr/>
          <p:nvPr/>
        </p:nvSpPr>
        <p:spPr>
          <a:xfrm>
            <a:off x="2514600" y="3063240"/>
            <a:ext cx="1051560" cy="1051560"/>
          </a:xfrm>
          <a:prstGeom prst="rect">
            <a:avLst/>
          </a:prstGeom>
          <a:solidFill>
            <a:schemeClr val="accent3"/>
          </a:solidFill>
          <a:ln w="38100">
            <a:solidFill>
              <a:schemeClr val="bg1"/>
            </a:solidFill>
            <a:prstDash val="solid"/>
          </a:ln>
        </p:spPr>
      </p:sp>
      <p:sp>
        <p:nvSpPr>
          <p:cNvPr id="21" name="text-271"/>
          <p:cNvSpPr txBox="1"/>
          <p:nvPr/>
        </p:nvSpPr>
        <p:spPr>
          <a:xfrm>
            <a:off x="2514600" y="306324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22" name="chunk-272"/>
          <p:cNvSpPr/>
          <p:nvPr/>
        </p:nvSpPr>
        <p:spPr>
          <a:xfrm>
            <a:off x="3566160" y="3063240"/>
            <a:ext cx="1051560" cy="1051560"/>
          </a:xfrm>
          <a:prstGeom prst="rect">
            <a:avLst/>
          </a:prstGeom>
          <a:solidFill>
            <a:schemeClr val="accent1"/>
          </a:solidFill>
          <a:ln w="38100">
            <a:solidFill>
              <a:schemeClr val="bg1"/>
            </a:solidFill>
            <a:prstDash val="solid"/>
          </a:ln>
        </p:spPr>
      </p:sp>
      <p:sp>
        <p:nvSpPr>
          <p:cNvPr id="23" name="text-273"/>
          <p:cNvSpPr txBox="1"/>
          <p:nvPr/>
        </p:nvSpPr>
        <p:spPr>
          <a:xfrm>
            <a:off x="3566160" y="306324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24" name="chunk-274"/>
          <p:cNvSpPr/>
          <p:nvPr/>
        </p:nvSpPr>
        <p:spPr>
          <a:xfrm>
            <a:off x="1463040" y="4114800"/>
            <a:ext cx="1051560" cy="1051560"/>
          </a:xfrm>
          <a:prstGeom prst="rect">
            <a:avLst/>
          </a:prstGeom>
          <a:solidFill>
            <a:schemeClr val="accent1"/>
          </a:solidFill>
          <a:ln w="38100">
            <a:solidFill>
              <a:schemeClr val="bg1"/>
            </a:solidFill>
            <a:prstDash val="solid"/>
          </a:ln>
        </p:spPr>
      </p:sp>
      <p:sp>
        <p:nvSpPr>
          <p:cNvPr id="25" name="text-275"/>
          <p:cNvSpPr txBox="1"/>
          <p:nvPr/>
        </p:nvSpPr>
        <p:spPr>
          <a:xfrm>
            <a:off x="1463040" y="411480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26" name="chunk-276"/>
          <p:cNvSpPr/>
          <p:nvPr/>
        </p:nvSpPr>
        <p:spPr>
          <a:xfrm>
            <a:off x="2514600" y="4114800"/>
            <a:ext cx="1051560" cy="1051560"/>
          </a:xfrm>
          <a:prstGeom prst="rect">
            <a:avLst/>
          </a:prstGeom>
          <a:solidFill>
            <a:schemeClr val="accent2"/>
          </a:solidFill>
          <a:ln w="38100">
            <a:solidFill>
              <a:schemeClr val="bg1"/>
            </a:solidFill>
            <a:prstDash val="solid"/>
          </a:ln>
        </p:spPr>
      </p:sp>
      <p:sp>
        <p:nvSpPr>
          <p:cNvPr id="27" name="text-277"/>
          <p:cNvSpPr txBox="1"/>
          <p:nvPr/>
        </p:nvSpPr>
        <p:spPr>
          <a:xfrm>
            <a:off x="2514600" y="411480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28" name="chunk-278"/>
          <p:cNvSpPr/>
          <p:nvPr/>
        </p:nvSpPr>
        <p:spPr>
          <a:xfrm>
            <a:off x="3566160" y="4114800"/>
            <a:ext cx="1051560" cy="1051560"/>
          </a:xfrm>
          <a:prstGeom prst="rect">
            <a:avLst/>
          </a:prstGeom>
          <a:solidFill>
            <a:schemeClr val="accent3"/>
          </a:solidFill>
          <a:ln w="38100">
            <a:solidFill>
              <a:schemeClr val="bg1"/>
            </a:solidFill>
            <a:prstDash val="solid"/>
          </a:ln>
        </p:spPr>
      </p:sp>
      <p:sp>
        <p:nvSpPr>
          <p:cNvPr id="29" name="text-279"/>
          <p:cNvSpPr txBox="1"/>
          <p:nvPr/>
        </p:nvSpPr>
        <p:spPr>
          <a:xfrm>
            <a:off x="3566160" y="4114800"/>
            <a:ext cx="1051560" cy="10515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30" name="text-280"/>
          <p:cNvSpPr txBox="1"/>
          <p:nvPr/>
        </p:nvSpPr>
        <p:spPr>
          <a:xfrm>
            <a:off x="548640" y="5349240"/>
            <a:ext cx="4572000" cy="457200"/>
          </a:xfrm>
          <a:prstGeom prst="rect">
            <a:avLst/>
          </a:prstGeom>
          <a:noFill/>
          <a:ln/>
        </p:spPr>
        <p:txBody>
          <a:bodyPr wrap="square" lIns="0" tIns="0" rIns="0" bIns="0" rtlCol="0" anchor="t"/>
          <a:lstStyle/>
          <a:p>
            <a:pPr indent="0" marL="0">
              <a:buNone/>
            </a:pPr>
            <a:r>
              <a:rPr lang="en-US" sz="1300" dirty="0">
                <a:solidFill>
                  <a:schemeClr val="tx2"/>
                </a:solidFill>
              </a:rPr>
              <a:t>같은 숫자 = 같은 단계에 계산하는 블록</a:t>
            </a:r>
            <a:endParaRPr lang="en-US" sz="1300" dirty="0"/>
          </a:p>
        </p:txBody>
      </p:sp>
      <p:sp>
        <p:nvSpPr>
          <p:cNvPr id="31" name="circle-281"/>
          <p:cNvSpPr/>
          <p:nvPr/>
        </p:nvSpPr>
        <p:spPr>
          <a:xfrm>
            <a:off x="5486400" y="1463040"/>
            <a:ext cx="502920" cy="502920"/>
          </a:xfrm>
          <a:prstGeom prst="ellipse">
            <a:avLst/>
          </a:prstGeom>
          <a:solidFill>
            <a:schemeClr val="accent3"/>
          </a:solidFill>
          <a:ln/>
        </p:spPr>
      </p:sp>
      <p:sp>
        <p:nvSpPr>
          <p:cNvPr id="32" name="text-282"/>
          <p:cNvSpPr txBox="1"/>
          <p:nvPr/>
        </p:nvSpPr>
        <p:spPr>
          <a:xfrm>
            <a:off x="5486400" y="14630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33" name="text-283"/>
          <p:cNvSpPr txBox="1"/>
          <p:nvPr/>
        </p:nvSpPr>
        <p:spPr>
          <a:xfrm>
            <a:off x="6172200" y="1463040"/>
            <a:ext cx="5303520" cy="502920"/>
          </a:xfrm>
          <a:prstGeom prst="rect">
            <a:avLst/>
          </a:prstGeom>
          <a:noFill/>
          <a:ln/>
        </p:spPr>
        <p:txBody>
          <a:bodyPr wrap="square" lIns="0" tIns="0" rIns="0" bIns="0" rtlCol="0" anchor="ctr"/>
          <a:lstStyle/>
          <a:p>
            <a:pPr indent="0" marL="0">
              <a:buNone/>
            </a:pPr>
            <a:r>
              <a:rPr lang="en-US" sz="1900" dirty="0">
                <a:solidFill>
                  <a:schemeClr val="tx1"/>
                </a:solidFill>
              </a:rPr>
              <a:t>각 GPU가 자기 블록만 계산</a:t>
            </a:r>
            <a:endParaRPr lang="en-US" sz="1900" dirty="0"/>
          </a:p>
        </p:txBody>
      </p:sp>
      <p:sp>
        <p:nvSpPr>
          <p:cNvPr id="34" name="circle-284"/>
          <p:cNvSpPr/>
          <p:nvPr/>
        </p:nvSpPr>
        <p:spPr>
          <a:xfrm>
            <a:off x="5486400" y="2240280"/>
            <a:ext cx="502920" cy="502920"/>
          </a:xfrm>
          <a:prstGeom prst="ellipse">
            <a:avLst/>
          </a:prstGeom>
          <a:solidFill>
            <a:schemeClr val="accent1"/>
          </a:solidFill>
          <a:ln/>
        </p:spPr>
      </p:sp>
      <p:sp>
        <p:nvSpPr>
          <p:cNvPr id="35" name="text-285"/>
          <p:cNvSpPr txBox="1"/>
          <p:nvPr/>
        </p:nvSpPr>
        <p:spPr>
          <a:xfrm>
            <a:off x="5486400" y="224028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36" name="text-286"/>
          <p:cNvSpPr txBox="1"/>
          <p:nvPr/>
        </p:nvSpPr>
        <p:spPr>
          <a:xfrm>
            <a:off x="6172200" y="2240280"/>
            <a:ext cx="5303520" cy="502920"/>
          </a:xfrm>
          <a:prstGeom prst="rect">
            <a:avLst/>
          </a:prstGeom>
          <a:noFill/>
          <a:ln/>
        </p:spPr>
        <p:txBody>
          <a:bodyPr wrap="square" lIns="0" tIns="0" rIns="0" bIns="0" rtlCol="0" anchor="ctr"/>
          <a:lstStyle/>
          <a:p>
            <a:pPr indent="0" marL="0">
              <a:buNone/>
            </a:pPr>
            <a:r>
              <a:rPr lang="en-US" sz="1900" dirty="0">
                <a:solidFill>
                  <a:schemeClr val="tx1"/>
                </a:solidFill>
              </a:rPr>
              <a:t>텍스트 벡터를 옆 GPU로 넘김</a:t>
            </a:r>
            <a:endParaRPr lang="en-US" sz="1900" dirty="0"/>
          </a:p>
        </p:txBody>
      </p:sp>
      <p:sp>
        <p:nvSpPr>
          <p:cNvPr id="37" name="circle-287"/>
          <p:cNvSpPr/>
          <p:nvPr/>
        </p:nvSpPr>
        <p:spPr>
          <a:xfrm>
            <a:off x="5486400" y="3017520"/>
            <a:ext cx="502920" cy="502920"/>
          </a:xfrm>
          <a:prstGeom prst="ellipse">
            <a:avLst/>
          </a:prstGeom>
          <a:solidFill>
            <a:schemeClr val="accent2"/>
          </a:solidFill>
          <a:ln/>
        </p:spPr>
      </p:sp>
      <p:sp>
        <p:nvSpPr>
          <p:cNvPr id="38" name="text-288"/>
          <p:cNvSpPr txBox="1"/>
          <p:nvPr/>
        </p:nvSpPr>
        <p:spPr>
          <a:xfrm>
            <a:off x="5486400" y="30175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39" name="text-289"/>
          <p:cNvSpPr txBox="1"/>
          <p:nvPr/>
        </p:nvSpPr>
        <p:spPr>
          <a:xfrm>
            <a:off x="6172200" y="3017520"/>
            <a:ext cx="5303520" cy="502920"/>
          </a:xfrm>
          <a:prstGeom prst="rect">
            <a:avLst/>
          </a:prstGeom>
          <a:noFill/>
          <a:ln/>
        </p:spPr>
        <p:txBody>
          <a:bodyPr wrap="square" lIns="0" tIns="0" rIns="0" bIns="0" rtlCol="0" anchor="ctr"/>
          <a:lstStyle/>
          <a:p>
            <a:pPr indent="0" marL="0">
              <a:buNone/>
            </a:pPr>
            <a:r>
              <a:rPr lang="en-US" sz="1900" dirty="0">
                <a:solidFill>
                  <a:schemeClr val="tx1"/>
                </a:solidFill>
              </a:rPr>
              <a:t>한 번 더 넘기고 손실만 합산</a:t>
            </a:r>
            <a:endParaRPr lang="en-US" sz="1900" dirty="0"/>
          </a:p>
        </p:txBody>
      </p:sp>
      <p:sp>
        <p:nvSpPr>
          <p:cNvPr id="40" name="card-290"/>
          <p:cNvSpPr/>
          <p:nvPr/>
        </p:nvSpPr>
        <p:spPr>
          <a:xfrm>
            <a:off x="5486400" y="3977640"/>
            <a:ext cx="6035040" cy="2011680"/>
          </a:xfrm>
          <a:prstGeom prst="roundRect">
            <a:avLst>
              <a:gd name="adj" fmla="val 6364"/>
            </a:avLst>
          </a:prstGeom>
          <a:solidFill>
            <a:schemeClr val="tx1"/>
          </a:solidFill>
          <a:ln/>
        </p:spPr>
      </p:sp>
      <p:sp>
        <p:nvSpPr>
          <p:cNvPr id="41" name="text-291"/>
          <p:cNvSpPr txBox="1"/>
          <p:nvPr/>
        </p:nvSpPr>
        <p:spPr>
          <a:xfrm>
            <a:off x="5760720" y="4114800"/>
            <a:ext cx="5486400" cy="365760"/>
          </a:xfrm>
          <a:prstGeom prst="rect">
            <a:avLst/>
          </a:prstGeom>
          <a:noFill/>
          <a:ln/>
        </p:spPr>
        <p:txBody>
          <a:bodyPr wrap="square" lIns="0" tIns="0" rIns="0" bIns="0" rtlCol="0" anchor="t"/>
          <a:lstStyle/>
          <a:p>
            <a:pPr indent="0" marL="0">
              <a:buNone/>
            </a:pPr>
            <a:r>
              <a:rPr lang="en-US" sz="1400" dirty="0">
                <a:solidFill>
                  <a:schemeClr val="accent6"/>
                </a:solidFill>
              </a:rPr>
              <a:t>논문 사례 (SigLiT: 이미지 인코더 고정)</a:t>
            </a:r>
            <a:endParaRPr lang="en-US" sz="1400" dirty="0"/>
          </a:p>
        </p:txBody>
      </p:sp>
      <p:sp>
        <p:nvSpPr>
          <p:cNvPr id="42" name="text-292"/>
          <p:cNvSpPr txBox="1"/>
          <p:nvPr/>
        </p:nvSpPr>
        <p:spPr>
          <a:xfrm>
            <a:off x="5760720" y="4572000"/>
            <a:ext cx="1828800" cy="685800"/>
          </a:xfrm>
          <a:prstGeom prst="rect">
            <a:avLst/>
          </a:prstGeom>
          <a:noFill/>
          <a:ln/>
        </p:spPr>
        <p:txBody>
          <a:bodyPr wrap="square" lIns="0" tIns="0" rIns="0" bIns="0" rtlCol="0" anchor="ctr"/>
          <a:lstStyle/>
          <a:p>
            <a:pPr indent="0" marL="0">
              <a:buNone/>
            </a:pPr>
            <a:r>
              <a:rPr lang="en-US" sz="3200" b="1" dirty="0">
                <a:solidFill>
                  <a:schemeClr val="bg1"/>
                </a:solidFill>
              </a:rPr>
              <a:t>84.5%</a:t>
            </a:r>
            <a:endParaRPr lang="en-US" sz="3200" dirty="0"/>
          </a:p>
        </p:txBody>
      </p:sp>
      <p:sp>
        <p:nvSpPr>
          <p:cNvPr id="43" name="text-293"/>
          <p:cNvSpPr txBox="1"/>
          <p:nvPr/>
        </p:nvSpPr>
        <p:spPr>
          <a:xfrm>
            <a:off x="5760720" y="5257800"/>
            <a:ext cx="1828800" cy="457200"/>
          </a:xfrm>
          <a:prstGeom prst="rect">
            <a:avLst/>
          </a:prstGeom>
          <a:noFill/>
          <a:ln/>
        </p:spPr>
        <p:txBody>
          <a:bodyPr wrap="square" lIns="0" tIns="0" rIns="0" bIns="0" rtlCol="0" anchor="t"/>
          <a:lstStyle/>
          <a:p>
            <a:pPr indent="0" marL="0">
              <a:buNone/>
            </a:pPr>
            <a:r>
              <a:rPr lang="en-US" sz="1300" dirty="0">
                <a:solidFill>
                  <a:schemeClr val="accent6"/>
                </a:solidFill>
              </a:rPr>
              <a:t>ImageNet zero-shot</a:t>
            </a:r>
            <a:endParaRPr lang="en-US" sz="1300" dirty="0"/>
          </a:p>
        </p:txBody>
      </p:sp>
      <p:sp>
        <p:nvSpPr>
          <p:cNvPr id="44" name="text-294"/>
          <p:cNvSpPr txBox="1"/>
          <p:nvPr/>
        </p:nvSpPr>
        <p:spPr>
          <a:xfrm>
            <a:off x="7680960" y="4572000"/>
            <a:ext cx="1828800" cy="685800"/>
          </a:xfrm>
          <a:prstGeom prst="rect">
            <a:avLst/>
          </a:prstGeom>
          <a:noFill/>
          <a:ln/>
        </p:spPr>
        <p:txBody>
          <a:bodyPr wrap="square" lIns="0" tIns="0" rIns="0" bIns="0" rtlCol="0" anchor="ctr"/>
          <a:lstStyle/>
          <a:p>
            <a:pPr indent="0" marL="0">
              <a:buNone/>
            </a:pPr>
            <a:r>
              <a:rPr lang="en-US" sz="3200" b="1" dirty="0">
                <a:solidFill>
                  <a:schemeClr val="bg1"/>
                </a:solidFill>
              </a:rPr>
              <a:t>2일</a:t>
            </a:r>
            <a:endParaRPr lang="en-US" sz="3200" dirty="0"/>
          </a:p>
        </p:txBody>
      </p:sp>
      <p:sp>
        <p:nvSpPr>
          <p:cNvPr id="45" name="text-295"/>
          <p:cNvSpPr txBox="1"/>
          <p:nvPr/>
        </p:nvSpPr>
        <p:spPr>
          <a:xfrm>
            <a:off x="7680960" y="5257800"/>
            <a:ext cx="1828800" cy="457200"/>
          </a:xfrm>
          <a:prstGeom prst="rect">
            <a:avLst/>
          </a:prstGeom>
          <a:noFill/>
          <a:ln/>
        </p:spPr>
        <p:txBody>
          <a:bodyPr wrap="square" lIns="0" tIns="0" rIns="0" bIns="0" rtlCol="0" anchor="t"/>
          <a:lstStyle/>
          <a:p>
            <a:pPr indent="0" marL="0">
              <a:buNone/>
            </a:pPr>
            <a:r>
              <a:rPr lang="en-US" sz="1300" dirty="0">
                <a:solidFill>
                  <a:schemeClr val="accent6"/>
                </a:solidFill>
              </a:rPr>
              <a:t>TPUv4 4개</a:t>
            </a:r>
            <a:endParaRPr lang="en-US" sz="1300" dirty="0"/>
          </a:p>
        </p:txBody>
      </p:sp>
      <p:sp>
        <p:nvSpPr>
          <p:cNvPr id="46" name="text-296"/>
          <p:cNvSpPr txBox="1"/>
          <p:nvPr/>
        </p:nvSpPr>
        <p:spPr>
          <a:xfrm>
            <a:off x="9601200" y="4572000"/>
            <a:ext cx="1828800" cy="685800"/>
          </a:xfrm>
          <a:prstGeom prst="rect">
            <a:avLst/>
          </a:prstGeom>
          <a:noFill/>
          <a:ln/>
        </p:spPr>
        <p:txBody>
          <a:bodyPr wrap="square" lIns="0" tIns="0" rIns="0" bIns="0" rtlCol="0" anchor="ctr"/>
          <a:lstStyle/>
          <a:p>
            <a:pPr indent="0" marL="0">
              <a:buNone/>
            </a:pPr>
            <a:r>
              <a:rPr lang="en-US" sz="3200" b="1" dirty="0">
                <a:solidFill>
                  <a:schemeClr val="bg1"/>
                </a:solidFill>
              </a:rPr>
              <a:t>1M</a:t>
            </a:r>
            <a:endParaRPr lang="en-US" sz="3200" dirty="0"/>
          </a:p>
        </p:txBody>
      </p:sp>
      <p:sp>
        <p:nvSpPr>
          <p:cNvPr id="47" name="text-297"/>
          <p:cNvSpPr txBox="1"/>
          <p:nvPr/>
        </p:nvSpPr>
        <p:spPr>
          <a:xfrm>
            <a:off x="9601200" y="5257800"/>
            <a:ext cx="1828800" cy="457200"/>
          </a:xfrm>
          <a:prstGeom prst="rect">
            <a:avLst/>
          </a:prstGeom>
          <a:noFill/>
          <a:ln/>
        </p:spPr>
        <p:txBody>
          <a:bodyPr wrap="square" lIns="0" tIns="0" rIns="0" bIns="0" rtlCol="0" anchor="t"/>
          <a:lstStyle/>
          <a:p>
            <a:pPr indent="0" marL="0">
              <a:buNone/>
            </a:pPr>
            <a:r>
              <a:rPr lang="en-US" sz="1300" dirty="0">
                <a:solidFill>
                  <a:schemeClr val="accent6"/>
                </a:solidFill>
              </a:rPr>
              <a:t>최대 배치 실험</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한눈에 비교: CLIP vs SigLIP</a:t>
            </a:r>
            <a:endParaRPr lang="en-US" sz="3000" dirty="0"/>
          </a:p>
        </p:txBody>
      </p:sp>
      <p:graphicFrame>
        <p:nvGraphicFramePr>
          <p:cNvPr id="15" name="compare-table"/>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743200"/>
                <a:gridCol w="4069080"/>
                <a:gridCol w="4069080"/>
              </a:tblGrid>
              <a:tr h="585216">
                <a:tc>
                  <a:txBody>
                    <a:bodyPr/>
                    <a:lstStyle/>
                    <a:p>
                      <a:pPr indent="0" marL="0">
                        <a:buNone/>
                      </a:pP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tx1"/>
                    </a:solidFill>
                  </a:tcPr>
                </a:tc>
                <a:tc>
                  <a:txBody>
                    <a:bodyPr/>
                    <a:lstStyle/>
                    <a:p>
                      <a:pPr indent="0" marL="0">
                        <a:buNone/>
                      </a:pPr>
                      <a:r>
                        <a:rPr lang="en-US" sz="1700" b="1" dirty="0">
                          <a:solidFill>
                            <a:schemeClr val="bg1"/>
                          </a:solidFill>
                        </a:rPr>
                        <a:t>CLIP (Softmax)</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accent6"/>
                    </a:solidFill>
                  </a:tcPr>
                </a:tc>
                <a:tc>
                  <a:txBody>
                    <a:bodyPr/>
                    <a:lstStyle/>
                    <a:p>
                      <a:pPr indent="0" marL="0">
                        <a:buNone/>
                      </a:pPr>
                      <a:r>
                        <a:rPr lang="en-US" sz="1700" b="1" dirty="0">
                          <a:solidFill>
                            <a:schemeClr val="bg1"/>
                          </a:solidFill>
                        </a:rPr>
                        <a:t>SigLIP (Sigmoid)</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accent3"/>
                    </a:solidFill>
                  </a:tcPr>
                </a:tc>
              </a:tr>
              <a:tr h="585216">
                <a:tc>
                  <a:txBody>
                    <a:bodyPr/>
                    <a:lstStyle/>
                    <a:p>
                      <a:pPr indent="0" marL="0">
                        <a:buNone/>
                      </a:pPr>
                      <a:r>
                        <a:rPr lang="en-US" sz="1700" b="1" dirty="0">
                          <a:solidFill>
                            <a:schemeClr val="tx2"/>
                          </a:solidFill>
                        </a:rPr>
                        <a:t>비유</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객관식</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O/X 퀴즈</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r>
              <a:tr h="585216">
                <a:tc>
                  <a:txBody>
                    <a:bodyPr/>
                    <a:lstStyle/>
                    <a:p>
                      <a:pPr indent="0" marL="0">
                        <a:buNone/>
                      </a:pPr>
                      <a:r>
                        <a:rPr lang="en-US" sz="1700" b="1" dirty="0">
                          <a:solidFill>
                            <a:schemeClr val="tx2"/>
                          </a:solidFill>
                        </a:rPr>
                        <a:t>정규화</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배치 전체 필요</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불필요</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r>
              <a:tr h="585216">
                <a:tc>
                  <a:txBody>
                    <a:bodyPr/>
                    <a:lstStyle/>
                    <a:p>
                      <a:pPr indent="0" marL="0">
                        <a:buNone/>
                      </a:pPr>
                      <a:r>
                        <a:rPr lang="en-US" sz="1700" b="1" dirty="0">
                          <a:solidFill>
                            <a:schemeClr val="tx2"/>
                          </a:solidFill>
                        </a:rPr>
                        <a:t>메모리</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전체 B×B 표</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GPU별 블록</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r>
              <a:tr h="585216">
                <a:tc>
                  <a:txBody>
                    <a:bodyPr/>
                    <a:lstStyle/>
                    <a:p>
                      <a:pPr indent="0" marL="0">
                        <a:buNone/>
                      </a:pPr>
                      <a:r>
                        <a:rPr lang="en-US" sz="1700" b="1" dirty="0">
                          <a:solidFill>
                            <a:schemeClr val="tx2"/>
                          </a:solidFill>
                        </a:rPr>
                        <a:t>작은 배치 (4k~16k)</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약함</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확실히 강함</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r>
              <a:tr h="585216">
                <a:tc>
                  <a:txBody>
                    <a:bodyPr/>
                    <a:lstStyle/>
                    <a:p>
                      <a:pPr indent="0" marL="0">
                        <a:buNone/>
                      </a:pPr>
                      <a:r>
                        <a:rPr lang="en-US" sz="1700" b="1" dirty="0">
                          <a:solidFill>
                            <a:schemeClr val="tx2"/>
                          </a:solidFill>
                        </a:rPr>
                        <a:t>큰 배치</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32k 근처에서 둘 다 포화</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1M까지 늘려도 이득 거의 없음</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r>
              <a:tr h="585216">
                <a:tc>
                  <a:txBody>
                    <a:bodyPr/>
                    <a:lstStyle/>
                    <a:p>
                      <a:pPr indent="0" marL="0">
                        <a:buNone/>
                      </a:pPr>
                      <a:r>
                        <a:rPr lang="en-US" sz="1700" b="1" dirty="0">
                          <a:solidFill>
                            <a:schemeClr val="tx2"/>
                          </a:solidFill>
                        </a:rPr>
                        <a:t>노이즈 섞인 캡션</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성능 저하 큼</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덜 떨어짐</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r>
              <a:tr h="585216">
                <a:tc>
                  <a:txBody>
                    <a:bodyPr/>
                    <a:lstStyle/>
                    <a:p>
                      <a:pPr indent="0" marL="0">
                        <a:buNone/>
                      </a:pPr>
                      <a:r>
                        <a:rPr lang="en-US" sz="1700" b="1" dirty="0">
                          <a:solidFill>
                            <a:schemeClr val="tx2"/>
                          </a:solidFill>
                        </a:rPr>
                        <a:t>출력</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상대 확률 (합 = 1)</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c>
                  <a:txBody>
                    <a:bodyPr/>
                    <a:lstStyle/>
                    <a:p>
                      <a:pPr indent="0" marL="0">
                        <a:buNone/>
                      </a:pPr>
                      <a:r>
                        <a:rPr lang="en-US" sz="1700" b="1" dirty="0">
                          <a:solidFill>
                            <a:schemeClr val="accent3"/>
                          </a:solidFill>
                        </a:rPr>
                        <a:t>쌍별 절대 확률</a:t>
                      </a:r>
                      <a:endParaRPr lang="en-US" sz="1700" dirty="0"/>
                    </a:p>
                  </a:txBody>
                  <a:tcPr marL="182880" marR="182880" marT="0" marB="0" anchor="ctr">
                    <a:lnL w="12700" cap="flat" cmpd="sng" algn="ctr">
                      <a:solidFill>
                        <a:srgbClr val="F1F3F9"/>
                      </a:solidFill>
                      <a:prstDash val="solid"/>
                      <a:round/>
                      <a:headEnd type="none" w="med" len="med"/>
                      <a:tailEnd type="none" w="med" len="med"/>
                    </a:lnL>
                    <a:lnR w="12700" cap="flat" cmpd="sng" algn="ctr">
                      <a:solidFill>
                        <a:srgbClr val="F1F3F9"/>
                      </a:solidFill>
                      <a:prstDash val="solid"/>
                      <a:round/>
                      <a:headEnd type="none" w="med" len="med"/>
                      <a:tailEnd type="none" w="med" len="med"/>
                    </a:lnR>
                    <a:lnT w="12700" cap="flat" cmpd="sng" algn="ctr">
                      <a:solidFill>
                        <a:srgbClr val="F1F3F9"/>
                      </a:solidFill>
                      <a:prstDash val="solid"/>
                      <a:round/>
                      <a:headEnd type="none" w="med" len="med"/>
                      <a:tailEnd type="none" w="med" len="med"/>
                    </a:lnT>
                    <a:lnB w="12700" cap="flat" cmpd="sng" algn="ctr">
                      <a:solidFill>
                        <a:srgbClr val="F1F3F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이유 ① 사진은 미리, 질문만 그때그때</a:t>
            </a:r>
            <a:endParaRPr lang="en-US" sz="3000" dirty="0"/>
          </a:p>
        </p:txBody>
      </p:sp>
      <p:sp>
        <p:nvSpPr>
          <p:cNvPr id="3" name="card-298"/>
          <p:cNvSpPr/>
          <p:nvPr/>
        </p:nvSpPr>
        <p:spPr>
          <a:xfrm>
            <a:off x="640080" y="1371600"/>
            <a:ext cx="10881360" cy="2011680"/>
          </a:xfrm>
          <a:prstGeom prst="roundRect">
            <a:avLst>
              <a:gd name="adj" fmla="val 6364"/>
            </a:avLst>
          </a:prstGeom>
          <a:solidFill>
            <a:schemeClr val="accent1">
              <a:alpha val="8000"/>
            </a:schemeClr>
          </a:solidFill>
          <a:ln/>
        </p:spPr>
      </p:sp>
      <p:sp>
        <p:nvSpPr>
          <p:cNvPr id="4" name="text-299"/>
          <p:cNvSpPr txBox="1"/>
          <p:nvPr/>
        </p:nvSpPr>
        <p:spPr>
          <a:xfrm>
            <a:off x="914400" y="1463040"/>
            <a:ext cx="4572000" cy="457200"/>
          </a:xfrm>
          <a:prstGeom prst="rect">
            <a:avLst/>
          </a:prstGeom>
          <a:noFill/>
          <a:ln/>
        </p:spPr>
        <p:txBody>
          <a:bodyPr wrap="square" lIns="0" tIns="0" rIns="0" bIns="0" rtlCol="0" anchor="t"/>
          <a:lstStyle/>
          <a:p>
            <a:pPr indent="0" marL="0">
              <a:buNone/>
            </a:pPr>
            <a:r>
              <a:rPr lang="en-US" sz="1800" b="1" dirty="0">
                <a:solidFill>
                  <a:schemeClr val="accent1"/>
                </a:solidFill>
              </a:rPr>
              <a:t>오프라인 인덱싱 (한 번만)</a:t>
            </a:r>
            <a:endParaRPr lang="en-US" sz="1800" dirty="0"/>
          </a:p>
        </p:txBody>
      </p:sp>
      <p:pic>
        <p:nvPicPr>
          <p:cNvPr id="5" name="photo-cat-300" descr="고양이 사진">    </p:cNvPr>
          <p:cNvPicPr>
            <a:picLocks noChangeAspect="1"/>
          </p:cNvPicPr>
          <p:nvPr/>
        </p:nvPicPr>
        <p:blipFill>
          <a:blip r:embed="rId1"/>
          <a:stretch>
            <a:fillRect/>
          </a:stretch>
        </p:blipFill>
        <p:spPr>
          <a:xfrm>
            <a:off x="914400" y="2103120"/>
            <a:ext cx="594360" cy="594360"/>
          </a:xfrm>
          <a:prstGeom prst="ellipse">
            <a:avLst/>
          </a:prstGeom>
        </p:spPr>
      </p:pic>
      <p:pic>
        <p:nvPicPr>
          <p:cNvPr id="6" name="photo-coffee-301" descr="커피 사진">    </p:cNvPr>
          <p:cNvPicPr>
            <a:picLocks noChangeAspect="1"/>
          </p:cNvPicPr>
          <p:nvPr/>
        </p:nvPicPr>
        <p:blipFill>
          <a:blip r:embed="rId2"/>
          <a:stretch>
            <a:fillRect/>
          </a:stretch>
        </p:blipFill>
        <p:spPr>
          <a:xfrm>
            <a:off x="1572768" y="2103120"/>
            <a:ext cx="594360" cy="594360"/>
          </a:xfrm>
          <a:prstGeom prst="ellipse">
            <a:avLst/>
          </a:prstGeom>
        </p:spPr>
      </p:pic>
      <p:pic>
        <p:nvPicPr>
          <p:cNvPr id="7" name="photo-rocket-302" descr="로켓 사진">    </p:cNvPr>
          <p:cNvPicPr>
            <a:picLocks noChangeAspect="1"/>
          </p:cNvPicPr>
          <p:nvPr/>
        </p:nvPicPr>
        <p:blipFill>
          <a:blip r:embed="rId3"/>
          <a:stretch>
            <a:fillRect/>
          </a:stretch>
        </p:blipFill>
        <p:spPr>
          <a:xfrm>
            <a:off x="2231136" y="2103120"/>
            <a:ext cx="594360" cy="594360"/>
          </a:xfrm>
          <a:prstGeom prst="ellipse">
            <a:avLst/>
          </a:prstGeom>
        </p:spPr>
      </p:pic>
      <p:pic>
        <p:nvPicPr>
          <p:cNvPr id="8" name="photo-astronaut-303" descr="우주비행사 사진">    </p:cNvPr>
          <p:cNvPicPr>
            <a:picLocks noChangeAspect="1"/>
          </p:cNvPicPr>
          <p:nvPr/>
        </p:nvPicPr>
        <p:blipFill>
          <a:blip r:embed="rId4"/>
          <a:stretch>
            <a:fillRect/>
          </a:stretch>
        </p:blipFill>
        <p:spPr>
          <a:xfrm>
            <a:off x="2889504" y="2103120"/>
            <a:ext cx="594360" cy="594360"/>
          </a:xfrm>
          <a:prstGeom prst="ellipse">
            <a:avLst/>
          </a:prstGeom>
        </p:spPr>
      </p:pic>
      <p:sp>
        <p:nvSpPr>
          <p:cNvPr id="9" name="arrow-304"/>
          <p:cNvSpPr/>
          <p:nvPr/>
        </p:nvSpPr>
        <p:spPr>
          <a:xfrm>
            <a:off x="3611880" y="2395728"/>
            <a:ext cx="548640" cy="0"/>
          </a:xfrm>
          <a:prstGeom prst="line">
            <a:avLst/>
          </a:prstGeom>
          <a:noFill/>
          <a:ln w="31750">
            <a:solidFill>
              <a:schemeClr val="accent1"/>
            </a:solidFill>
            <a:prstDash val="solid"/>
            <a:tailEnd type="triangle"/>
          </a:ln>
        </p:spPr>
      </p:sp>
      <p:sp>
        <p:nvSpPr>
          <p:cNvPr id="10" name="box-305"/>
          <p:cNvSpPr/>
          <p:nvPr/>
        </p:nvSpPr>
        <p:spPr>
          <a:xfrm>
            <a:off x="4297680" y="2011680"/>
            <a:ext cx="2194560" cy="777240"/>
          </a:xfrm>
          <a:prstGeom prst="roundRect">
            <a:avLst>
              <a:gd name="adj" fmla="val 11765"/>
            </a:avLst>
          </a:prstGeom>
          <a:solidFill>
            <a:schemeClr val="accent1"/>
          </a:solidFill>
          <a:ln/>
        </p:spPr>
      </p:sp>
      <p:sp>
        <p:nvSpPr>
          <p:cNvPr id="11" name="text-306"/>
          <p:cNvSpPr txBox="1"/>
          <p:nvPr/>
        </p:nvSpPr>
        <p:spPr>
          <a:xfrm>
            <a:off x="4297680" y="2011680"/>
            <a:ext cx="2194560" cy="777240"/>
          </a:xfrm>
          <a:prstGeom prst="rect">
            <a:avLst/>
          </a:prstGeom>
          <a:noFill/>
          <a:ln/>
        </p:spPr>
        <p:txBody>
          <a:bodyPr wrap="square" lIns="0" tIns="0" rIns="0" bIns="0" rtlCol="0" anchor="ctr"/>
          <a:lstStyle/>
          <a:p>
            <a:pPr algn="ctr" indent="0" marL="0">
              <a:buNone/>
            </a:pPr>
            <a:r>
              <a:rPr lang="en-US" sz="1700" b="1" dirty="0">
                <a:solidFill>
                  <a:schemeClr val="bg1"/>
                </a:solidFill>
              </a:rPr>
              <a:t>이미지 인코더</a:t>
            </a:r>
            <a:endParaRPr lang="en-US" sz="1700" dirty="0"/>
          </a:p>
        </p:txBody>
      </p:sp>
      <p:sp>
        <p:nvSpPr>
          <p:cNvPr id="12" name="arrow-307"/>
          <p:cNvSpPr/>
          <p:nvPr/>
        </p:nvSpPr>
        <p:spPr>
          <a:xfrm>
            <a:off x="6629400" y="2395728"/>
            <a:ext cx="548640" cy="0"/>
          </a:xfrm>
          <a:prstGeom prst="line">
            <a:avLst/>
          </a:prstGeom>
          <a:noFill/>
          <a:ln w="31750">
            <a:solidFill>
              <a:schemeClr val="accent1"/>
            </a:solidFill>
            <a:prstDash val="solid"/>
            <a:tailEnd type="triangle"/>
          </a:ln>
        </p:spPr>
      </p:sp>
      <p:sp>
        <p:nvSpPr>
          <p:cNvPr id="13" name="circle-308"/>
          <p:cNvSpPr/>
          <p:nvPr/>
        </p:nvSpPr>
        <p:spPr>
          <a:xfrm>
            <a:off x="7360920" y="1874520"/>
            <a:ext cx="1051560" cy="1051560"/>
          </a:xfrm>
          <a:prstGeom prst="ellipse">
            <a:avLst/>
          </a:prstGeom>
          <a:solidFill>
            <a:schemeClr val="tx2"/>
          </a:solidFill>
          <a:ln/>
        </p:spPr>
      </p:sp>
      <p:pic>
        <p:nvPicPr>
          <p:cNvPr id="14" name="icon-FaDatabase-309" descr="FaDatabase">    </p:cNvPr>
          <p:cNvPicPr>
            <a:picLocks noChangeAspect="1"/>
          </p:cNvPicPr>
          <p:nvPr/>
        </p:nvPicPr>
        <p:blipFill>
          <a:blip r:embed="rId5"/>
          <a:stretch>
            <a:fillRect/>
          </a:stretch>
        </p:blipFill>
        <p:spPr>
          <a:xfrm>
            <a:off x="7634326" y="2147926"/>
            <a:ext cx="504749" cy="504749"/>
          </a:xfrm>
          <a:prstGeom prst="rect">
            <a:avLst/>
          </a:prstGeom>
        </p:spPr>
      </p:pic>
      <p:sp>
        <p:nvSpPr>
          <p:cNvPr id="15" name="text-310"/>
          <p:cNvSpPr txBox="1"/>
          <p:nvPr/>
        </p:nvSpPr>
        <p:spPr>
          <a:xfrm>
            <a:off x="8595360" y="1874520"/>
            <a:ext cx="2743200" cy="1051560"/>
          </a:xfrm>
          <a:prstGeom prst="rect">
            <a:avLst/>
          </a:prstGeom>
          <a:noFill/>
          <a:ln/>
        </p:spPr>
        <p:txBody>
          <a:bodyPr wrap="square" lIns="0" tIns="0" rIns="0" bIns="0" rtlCol="0" anchor="ctr"/>
          <a:lstStyle/>
          <a:p>
            <a:pPr indent="0" marL="0">
              <a:buNone/>
            </a:pPr>
            <a:r>
              <a:rPr lang="en-US" sz="1700" b="1" dirty="0">
                <a:solidFill>
                  <a:schemeClr val="tx1"/>
                </a:solidFill>
              </a:rPr>
              <a:t>벡터DB</a:t>
            </a:r>
            <a:endParaRPr lang="en-US" sz="1700" dirty="0"/>
          </a:p>
          <a:p>
            <a:pPr indent="0" marL="0">
              <a:buNone/>
            </a:pPr>
            <a:r>
              <a:rPr lang="en-US" sz="1700" b="1" dirty="0">
                <a:solidFill>
                  <a:schemeClr val="tx1"/>
                </a:solidFill>
              </a:rPr>
              <a:t>(FAISS / Chroma)</a:t>
            </a:r>
            <a:endParaRPr lang="en-US" sz="1700" dirty="0"/>
          </a:p>
        </p:txBody>
      </p:sp>
      <p:sp>
        <p:nvSpPr>
          <p:cNvPr id="16" name="card-311"/>
          <p:cNvSpPr/>
          <p:nvPr/>
        </p:nvSpPr>
        <p:spPr>
          <a:xfrm>
            <a:off x="640080" y="3566160"/>
            <a:ext cx="10881360" cy="2011680"/>
          </a:xfrm>
          <a:prstGeom prst="roundRect">
            <a:avLst>
              <a:gd name="adj" fmla="val 6364"/>
            </a:avLst>
          </a:prstGeom>
          <a:solidFill>
            <a:schemeClr val="accent2">
              <a:alpha val="8000"/>
            </a:schemeClr>
          </a:solidFill>
          <a:ln/>
        </p:spPr>
      </p:sp>
      <p:sp>
        <p:nvSpPr>
          <p:cNvPr id="17" name="text-312"/>
          <p:cNvSpPr txBox="1"/>
          <p:nvPr/>
        </p:nvSpPr>
        <p:spPr>
          <a:xfrm>
            <a:off x="914400" y="3657600"/>
            <a:ext cx="4572000" cy="457200"/>
          </a:xfrm>
          <a:prstGeom prst="rect">
            <a:avLst/>
          </a:prstGeom>
          <a:noFill/>
          <a:ln/>
        </p:spPr>
        <p:txBody>
          <a:bodyPr wrap="square" lIns="0" tIns="0" rIns="0" bIns="0" rtlCol="0" anchor="t"/>
          <a:lstStyle/>
          <a:p>
            <a:pPr indent="0" marL="0">
              <a:buNone/>
            </a:pPr>
            <a:r>
              <a:rPr lang="en-US" sz="1800" b="1" dirty="0">
                <a:solidFill>
                  <a:schemeClr val="accent2"/>
                </a:solidFill>
              </a:rPr>
              <a:t>온라인 검색 (질문마다)</a:t>
            </a:r>
            <a:endParaRPr lang="en-US" sz="1800" dirty="0"/>
          </a:p>
        </p:txBody>
      </p:sp>
      <p:sp>
        <p:nvSpPr>
          <p:cNvPr id="18" name="pill-313"/>
          <p:cNvSpPr/>
          <p:nvPr/>
        </p:nvSpPr>
        <p:spPr>
          <a:xfrm>
            <a:off x="914400" y="4343400"/>
            <a:ext cx="2560320" cy="548640"/>
          </a:xfrm>
          <a:prstGeom prst="roundRect">
            <a:avLst>
              <a:gd name="adj" fmla="val 50000"/>
            </a:avLst>
          </a:prstGeom>
          <a:solidFill>
            <a:schemeClr val="accent2"/>
          </a:solidFill>
          <a:ln/>
        </p:spPr>
      </p:sp>
      <p:sp>
        <p:nvSpPr>
          <p:cNvPr id="19" name="text-314"/>
          <p:cNvSpPr txBox="1"/>
          <p:nvPr/>
        </p:nvSpPr>
        <p:spPr>
          <a:xfrm>
            <a:off x="914400" y="4343400"/>
            <a:ext cx="2560320" cy="548640"/>
          </a:xfrm>
          <a:prstGeom prst="rect">
            <a:avLst/>
          </a:prstGeom>
          <a:noFill/>
          <a:ln/>
        </p:spPr>
        <p:txBody>
          <a:bodyPr wrap="square" lIns="0" tIns="0" rIns="0" bIns="0" rtlCol="0" anchor="ctr"/>
          <a:lstStyle/>
          <a:p>
            <a:pPr algn="ctr" indent="0" marL="0">
              <a:buNone/>
            </a:pPr>
            <a:r>
              <a:rPr lang="en-US" sz="1500" b="1" dirty="0">
                <a:solidFill>
                  <a:schemeClr val="bg1"/>
                </a:solidFill>
              </a:rPr>
              <a:t>“밤에 발사되는 로켓”</a:t>
            </a:r>
            <a:endParaRPr lang="en-US" sz="1500" dirty="0"/>
          </a:p>
        </p:txBody>
      </p:sp>
      <p:sp>
        <p:nvSpPr>
          <p:cNvPr id="20" name="arrow-315"/>
          <p:cNvSpPr/>
          <p:nvPr/>
        </p:nvSpPr>
        <p:spPr>
          <a:xfrm>
            <a:off x="3611880" y="4617720"/>
            <a:ext cx="548640" cy="0"/>
          </a:xfrm>
          <a:prstGeom prst="line">
            <a:avLst/>
          </a:prstGeom>
          <a:noFill/>
          <a:ln w="31750">
            <a:solidFill>
              <a:schemeClr val="accent2"/>
            </a:solidFill>
            <a:prstDash val="solid"/>
            <a:tailEnd type="triangle"/>
          </a:ln>
        </p:spPr>
      </p:sp>
      <p:sp>
        <p:nvSpPr>
          <p:cNvPr id="21" name="box-316"/>
          <p:cNvSpPr/>
          <p:nvPr/>
        </p:nvSpPr>
        <p:spPr>
          <a:xfrm>
            <a:off x="4297680" y="4224528"/>
            <a:ext cx="2194560" cy="777240"/>
          </a:xfrm>
          <a:prstGeom prst="roundRect">
            <a:avLst>
              <a:gd name="adj" fmla="val 11765"/>
            </a:avLst>
          </a:prstGeom>
          <a:solidFill>
            <a:schemeClr val="accent2"/>
          </a:solidFill>
          <a:ln/>
        </p:spPr>
      </p:sp>
      <p:sp>
        <p:nvSpPr>
          <p:cNvPr id="22" name="text-317"/>
          <p:cNvSpPr txBox="1"/>
          <p:nvPr/>
        </p:nvSpPr>
        <p:spPr>
          <a:xfrm>
            <a:off x="4297680" y="4224528"/>
            <a:ext cx="2194560" cy="777240"/>
          </a:xfrm>
          <a:prstGeom prst="rect">
            <a:avLst/>
          </a:prstGeom>
          <a:noFill/>
          <a:ln/>
        </p:spPr>
        <p:txBody>
          <a:bodyPr wrap="square" lIns="0" tIns="0" rIns="0" bIns="0" rtlCol="0" anchor="ctr"/>
          <a:lstStyle/>
          <a:p>
            <a:pPr algn="ctr" indent="0" marL="0">
              <a:buNone/>
            </a:pPr>
            <a:r>
              <a:rPr lang="en-US" sz="1700" b="1" dirty="0">
                <a:solidFill>
                  <a:schemeClr val="bg1"/>
                </a:solidFill>
              </a:rPr>
              <a:t>텍스트 인코더</a:t>
            </a:r>
            <a:endParaRPr lang="en-US" sz="1700" dirty="0"/>
          </a:p>
        </p:txBody>
      </p:sp>
      <p:sp>
        <p:nvSpPr>
          <p:cNvPr id="23" name="arrow-318"/>
          <p:cNvSpPr/>
          <p:nvPr/>
        </p:nvSpPr>
        <p:spPr>
          <a:xfrm>
            <a:off x="6629400" y="4617720"/>
            <a:ext cx="548640" cy="0"/>
          </a:xfrm>
          <a:prstGeom prst="line">
            <a:avLst/>
          </a:prstGeom>
          <a:noFill/>
          <a:ln w="31750">
            <a:solidFill>
              <a:schemeClr val="accent2"/>
            </a:solidFill>
            <a:prstDash val="solid"/>
            <a:tailEnd type="triangle"/>
          </a:ln>
        </p:spPr>
      </p:sp>
      <p:sp>
        <p:nvSpPr>
          <p:cNvPr id="24" name="circle-319"/>
          <p:cNvSpPr/>
          <p:nvPr/>
        </p:nvSpPr>
        <p:spPr>
          <a:xfrm>
            <a:off x="7360920" y="4087368"/>
            <a:ext cx="1051560" cy="1051560"/>
          </a:xfrm>
          <a:prstGeom prst="ellipse">
            <a:avLst/>
          </a:prstGeom>
          <a:solidFill>
            <a:schemeClr val="accent3"/>
          </a:solidFill>
          <a:ln/>
        </p:spPr>
      </p:sp>
      <p:pic>
        <p:nvPicPr>
          <p:cNvPr id="25" name="icon-FaSearch-320" descr="FaSearch">    </p:cNvPr>
          <p:cNvPicPr>
            <a:picLocks noChangeAspect="1"/>
          </p:cNvPicPr>
          <p:nvPr/>
        </p:nvPicPr>
        <p:blipFill>
          <a:blip r:embed="rId6"/>
          <a:stretch>
            <a:fillRect/>
          </a:stretch>
        </p:blipFill>
        <p:spPr>
          <a:xfrm>
            <a:off x="7634326" y="4360774"/>
            <a:ext cx="504749" cy="504749"/>
          </a:xfrm>
          <a:prstGeom prst="rect">
            <a:avLst/>
          </a:prstGeom>
        </p:spPr>
      </p:pic>
      <p:sp>
        <p:nvSpPr>
          <p:cNvPr id="26" name="arrow-321"/>
          <p:cNvSpPr/>
          <p:nvPr/>
        </p:nvSpPr>
        <p:spPr>
          <a:xfrm>
            <a:off x="8549640" y="4617720"/>
            <a:ext cx="457200" cy="0"/>
          </a:xfrm>
          <a:prstGeom prst="line">
            <a:avLst/>
          </a:prstGeom>
          <a:noFill/>
          <a:ln w="31750">
            <a:solidFill>
              <a:schemeClr val="accent3"/>
            </a:solidFill>
            <a:prstDash val="solid"/>
            <a:tailEnd type="triangle"/>
          </a:ln>
        </p:spPr>
      </p:sp>
      <p:pic>
        <p:nvPicPr>
          <p:cNvPr id="27" name="photo-rocket-322" descr="검색 결과 로켓 사진">    </p:cNvPr>
          <p:cNvPicPr>
            <a:picLocks noChangeAspect="1"/>
          </p:cNvPicPr>
          <p:nvPr/>
        </p:nvPicPr>
        <p:blipFill>
          <a:blip r:embed="rId7"/>
          <a:stretch>
            <a:fillRect/>
          </a:stretch>
        </p:blipFill>
        <p:spPr>
          <a:xfrm>
            <a:off x="9189720" y="3931920"/>
            <a:ext cx="1371600" cy="1371600"/>
          </a:xfrm>
          <a:prstGeom prst="rect">
            <a:avLst/>
          </a:prstGeom>
        </p:spPr>
      </p:pic>
      <p:sp>
        <p:nvSpPr>
          <p:cNvPr id="28" name="text-323"/>
          <p:cNvSpPr txBox="1"/>
          <p:nvPr/>
        </p:nvSpPr>
        <p:spPr>
          <a:xfrm>
            <a:off x="640080" y="5715000"/>
            <a:ext cx="10881360" cy="457200"/>
          </a:xfrm>
          <a:prstGeom prst="rect">
            <a:avLst/>
          </a:prstGeom>
          <a:noFill/>
          <a:ln/>
        </p:spPr>
        <p:txBody>
          <a:bodyPr wrap="square" lIns="0" tIns="0" rIns="0" bIns="0" rtlCol="0" anchor="t"/>
          <a:lstStyle/>
          <a:p>
            <a:pPr indent="0" marL="0">
              <a:buNone/>
            </a:pPr>
            <a:r>
              <a:rPr lang="en-US" sz="1500" dirty="0">
                <a:solidFill>
                  <a:schemeClr val="tx2"/>
                </a:solidFill>
              </a:rPr>
              <a:t>3주차 용어로: SigLIP은 Bi-encoder (질문·사진을 따로 인코딩 → 빠름). Cross-encoder는 재정렬용</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이유 ② 점수를 ‘확률’로 읽을 수 있다</a:t>
            </a:r>
            <a:endParaRPr lang="en-US" sz="3000" dirty="0"/>
          </a:p>
        </p:txBody>
      </p:sp>
      <p:sp>
        <p:nvSpPr>
          <p:cNvPr id="3" name="pill-324"/>
          <p:cNvSpPr/>
          <p:nvPr/>
        </p:nvSpPr>
        <p:spPr>
          <a:xfrm>
            <a:off x="640080" y="1417320"/>
            <a:ext cx="3291840" cy="548640"/>
          </a:xfrm>
          <a:prstGeom prst="roundRect">
            <a:avLst>
              <a:gd name="adj" fmla="val 50000"/>
            </a:avLst>
          </a:prstGeom>
          <a:solidFill>
            <a:schemeClr val="accent2"/>
          </a:solidFill>
          <a:ln/>
        </p:spPr>
      </p:sp>
      <p:sp>
        <p:nvSpPr>
          <p:cNvPr id="4" name="text-325"/>
          <p:cNvSpPr txBox="1"/>
          <p:nvPr/>
        </p:nvSpPr>
        <p:spPr>
          <a:xfrm>
            <a:off x="640080" y="1417320"/>
            <a:ext cx="3291840" cy="548640"/>
          </a:xfrm>
          <a:prstGeom prst="rect">
            <a:avLst/>
          </a:prstGeom>
          <a:noFill/>
          <a:ln/>
        </p:spPr>
        <p:txBody>
          <a:bodyPr wrap="square" lIns="0" tIns="0" rIns="0" bIns="0" rtlCol="0" anchor="ctr"/>
          <a:lstStyle/>
          <a:p>
            <a:pPr algn="ctr" indent="0" marL="0">
              <a:buNone/>
            </a:pPr>
            <a:r>
              <a:rPr lang="en-US" sz="1700" b="1" dirty="0">
                <a:solidFill>
                  <a:schemeClr val="bg1"/>
                </a:solidFill>
              </a:rPr>
              <a:t>“a photo of a cat”</a:t>
            </a:r>
            <a:endParaRPr lang="en-US" sz="1700" dirty="0"/>
          </a:p>
        </p:txBody>
      </p:sp>
      <p:sp>
        <p:nvSpPr>
          <p:cNvPr id="5" name="score-326"/>
          <p:cNvSpPr/>
          <p:nvPr/>
        </p:nvSpPr>
        <p:spPr>
          <a:xfrm>
            <a:off x="1325880" y="2702966"/>
            <a:ext cx="1097280" cy="2417674"/>
          </a:xfrm>
          <a:prstGeom prst="rect">
            <a:avLst/>
          </a:prstGeom>
          <a:solidFill>
            <a:schemeClr val="accent5"/>
          </a:solidFill>
          <a:ln/>
        </p:spPr>
      </p:sp>
      <p:sp>
        <p:nvSpPr>
          <p:cNvPr id="6" name="text-327"/>
          <p:cNvSpPr txBox="1"/>
          <p:nvPr/>
        </p:nvSpPr>
        <p:spPr>
          <a:xfrm>
            <a:off x="1097280" y="2245766"/>
            <a:ext cx="1554480" cy="411480"/>
          </a:xfrm>
          <a:prstGeom prst="rect">
            <a:avLst/>
          </a:prstGeom>
          <a:noFill/>
          <a:ln/>
        </p:spPr>
        <p:txBody>
          <a:bodyPr wrap="square" lIns="0" tIns="0" rIns="0" bIns="0" rtlCol="0" anchor="t"/>
          <a:lstStyle/>
          <a:p>
            <a:pPr algn="ctr" indent="0" marL="0">
              <a:buNone/>
            </a:pPr>
            <a:r>
              <a:rPr lang="en-US" sz="1800" b="1" dirty="0">
                <a:solidFill>
                  <a:schemeClr val="accent5"/>
                </a:solidFill>
              </a:rPr>
              <a:t>0.93</a:t>
            </a:r>
            <a:endParaRPr lang="en-US" sz="1800" dirty="0"/>
          </a:p>
        </p:txBody>
      </p:sp>
      <p:pic>
        <p:nvPicPr>
          <p:cNvPr id="7" name="photo-cat-328" descr="고양이 사진">    </p:cNvPr>
          <p:cNvPicPr>
            <a:picLocks noChangeAspect="1"/>
          </p:cNvPicPr>
          <p:nvPr/>
        </p:nvPicPr>
        <p:blipFill>
          <a:blip r:embed="rId1"/>
          <a:stretch>
            <a:fillRect/>
          </a:stretch>
        </p:blipFill>
        <p:spPr>
          <a:xfrm>
            <a:off x="1371600" y="5257800"/>
            <a:ext cx="1005840" cy="1005840"/>
          </a:xfrm>
          <a:prstGeom prst="ellipse">
            <a:avLst/>
          </a:prstGeom>
        </p:spPr>
      </p:pic>
      <p:sp>
        <p:nvSpPr>
          <p:cNvPr id="8" name="score-329"/>
          <p:cNvSpPr/>
          <p:nvPr/>
        </p:nvSpPr>
        <p:spPr>
          <a:xfrm>
            <a:off x="4069080" y="5007254"/>
            <a:ext cx="1097280" cy="113386"/>
          </a:xfrm>
          <a:prstGeom prst="rect">
            <a:avLst/>
          </a:prstGeom>
          <a:solidFill>
            <a:schemeClr val="accent6"/>
          </a:solidFill>
          <a:ln/>
        </p:spPr>
      </p:sp>
      <p:sp>
        <p:nvSpPr>
          <p:cNvPr id="9" name="text-330"/>
          <p:cNvSpPr txBox="1"/>
          <p:nvPr/>
        </p:nvSpPr>
        <p:spPr>
          <a:xfrm>
            <a:off x="3840480" y="4550054"/>
            <a:ext cx="1554480" cy="411480"/>
          </a:xfrm>
          <a:prstGeom prst="rect">
            <a:avLst/>
          </a:prstGeom>
          <a:noFill/>
          <a:ln/>
        </p:spPr>
        <p:txBody>
          <a:bodyPr wrap="square" lIns="0" tIns="0" rIns="0" bIns="0" rtlCol="0" anchor="t"/>
          <a:lstStyle/>
          <a:p>
            <a:pPr algn="ctr" indent="0" marL="0">
              <a:buNone/>
            </a:pPr>
            <a:r>
              <a:rPr lang="en-US" sz="1800" b="1" dirty="0">
                <a:solidFill>
                  <a:schemeClr val="tx2"/>
                </a:solidFill>
              </a:rPr>
              <a:t>0.03</a:t>
            </a:r>
            <a:endParaRPr lang="en-US" sz="1800" dirty="0"/>
          </a:p>
        </p:txBody>
      </p:sp>
      <p:pic>
        <p:nvPicPr>
          <p:cNvPr id="10" name="photo-coffee-331" descr="커피 사진">    </p:cNvPr>
          <p:cNvPicPr>
            <a:picLocks noChangeAspect="1"/>
          </p:cNvPicPr>
          <p:nvPr/>
        </p:nvPicPr>
        <p:blipFill>
          <a:blip r:embed="rId2"/>
          <a:stretch>
            <a:fillRect/>
          </a:stretch>
        </p:blipFill>
        <p:spPr>
          <a:xfrm>
            <a:off x="4114800" y="5257800"/>
            <a:ext cx="1005840" cy="1005840"/>
          </a:xfrm>
          <a:prstGeom prst="ellipse">
            <a:avLst/>
          </a:prstGeom>
        </p:spPr>
      </p:pic>
      <p:sp>
        <p:nvSpPr>
          <p:cNvPr id="11" name="score-332"/>
          <p:cNvSpPr/>
          <p:nvPr/>
        </p:nvSpPr>
        <p:spPr>
          <a:xfrm>
            <a:off x="6812280" y="5058461"/>
            <a:ext cx="1097280" cy="62179"/>
          </a:xfrm>
          <a:prstGeom prst="rect">
            <a:avLst/>
          </a:prstGeom>
          <a:solidFill>
            <a:schemeClr val="accent6"/>
          </a:solidFill>
          <a:ln/>
        </p:spPr>
      </p:sp>
      <p:sp>
        <p:nvSpPr>
          <p:cNvPr id="12" name="text-333"/>
          <p:cNvSpPr txBox="1"/>
          <p:nvPr/>
        </p:nvSpPr>
        <p:spPr>
          <a:xfrm>
            <a:off x="6583680" y="4601261"/>
            <a:ext cx="1554480" cy="411480"/>
          </a:xfrm>
          <a:prstGeom prst="rect">
            <a:avLst/>
          </a:prstGeom>
          <a:noFill/>
          <a:ln/>
        </p:spPr>
        <p:txBody>
          <a:bodyPr wrap="square" lIns="0" tIns="0" rIns="0" bIns="0" rtlCol="0" anchor="t"/>
          <a:lstStyle/>
          <a:p>
            <a:pPr algn="ctr" indent="0" marL="0">
              <a:buNone/>
            </a:pPr>
            <a:r>
              <a:rPr lang="en-US" sz="1800" b="1" dirty="0">
                <a:solidFill>
                  <a:schemeClr val="tx2"/>
                </a:solidFill>
              </a:rPr>
              <a:t>0.01</a:t>
            </a:r>
            <a:endParaRPr lang="en-US" sz="1800" dirty="0"/>
          </a:p>
        </p:txBody>
      </p:sp>
      <p:pic>
        <p:nvPicPr>
          <p:cNvPr id="13" name="photo-rocket-334" descr="로켓 사진">    </p:cNvPr>
          <p:cNvPicPr>
            <a:picLocks noChangeAspect="1"/>
          </p:cNvPicPr>
          <p:nvPr/>
        </p:nvPicPr>
        <p:blipFill>
          <a:blip r:embed="rId3"/>
          <a:stretch>
            <a:fillRect/>
          </a:stretch>
        </p:blipFill>
        <p:spPr>
          <a:xfrm>
            <a:off x="6858000" y="5257800"/>
            <a:ext cx="1005840" cy="1005840"/>
          </a:xfrm>
          <a:prstGeom prst="ellipse">
            <a:avLst/>
          </a:prstGeom>
        </p:spPr>
      </p:pic>
      <p:sp>
        <p:nvSpPr>
          <p:cNvPr id="14" name="score-335"/>
          <p:cNvSpPr/>
          <p:nvPr/>
        </p:nvSpPr>
        <p:spPr>
          <a:xfrm>
            <a:off x="9555480" y="5032858"/>
            <a:ext cx="1097280" cy="87782"/>
          </a:xfrm>
          <a:prstGeom prst="rect">
            <a:avLst/>
          </a:prstGeom>
          <a:solidFill>
            <a:schemeClr val="accent6"/>
          </a:solidFill>
          <a:ln/>
        </p:spPr>
      </p:sp>
      <p:sp>
        <p:nvSpPr>
          <p:cNvPr id="15" name="text-336"/>
          <p:cNvSpPr txBox="1"/>
          <p:nvPr/>
        </p:nvSpPr>
        <p:spPr>
          <a:xfrm>
            <a:off x="9326880" y="4575658"/>
            <a:ext cx="1554480" cy="411480"/>
          </a:xfrm>
          <a:prstGeom prst="rect">
            <a:avLst/>
          </a:prstGeom>
          <a:noFill/>
          <a:ln/>
        </p:spPr>
        <p:txBody>
          <a:bodyPr wrap="square" lIns="0" tIns="0" rIns="0" bIns="0" rtlCol="0" anchor="t"/>
          <a:lstStyle/>
          <a:p>
            <a:pPr algn="ctr" indent="0" marL="0">
              <a:buNone/>
            </a:pPr>
            <a:r>
              <a:rPr lang="en-US" sz="1800" b="1" dirty="0">
                <a:solidFill>
                  <a:schemeClr val="tx2"/>
                </a:solidFill>
              </a:rPr>
              <a:t>0.02</a:t>
            </a:r>
            <a:endParaRPr lang="en-US" sz="1800" dirty="0"/>
          </a:p>
        </p:txBody>
      </p:sp>
      <p:pic>
        <p:nvPicPr>
          <p:cNvPr id="16" name="photo-astronaut-337" descr="우주비행사 사진">    </p:cNvPr>
          <p:cNvPicPr>
            <a:picLocks noChangeAspect="1"/>
          </p:cNvPicPr>
          <p:nvPr/>
        </p:nvPicPr>
        <p:blipFill>
          <a:blip r:embed="rId4"/>
          <a:stretch>
            <a:fillRect/>
          </a:stretch>
        </p:blipFill>
        <p:spPr>
          <a:xfrm>
            <a:off x="9601200" y="5257800"/>
            <a:ext cx="1005840" cy="1005840"/>
          </a:xfrm>
          <a:prstGeom prst="ellipse">
            <a:avLst/>
          </a:prstGeom>
        </p:spPr>
      </p:pic>
      <p:sp>
        <p:nvSpPr>
          <p:cNvPr id="17" name="threshold"/>
          <p:cNvSpPr/>
          <p:nvPr/>
        </p:nvSpPr>
        <p:spPr>
          <a:xfrm>
            <a:off x="822960" y="3840480"/>
            <a:ext cx="10607040" cy="0"/>
          </a:xfrm>
          <a:prstGeom prst="line">
            <a:avLst/>
          </a:prstGeom>
          <a:noFill/>
          <a:ln w="25400">
            <a:solidFill>
              <a:schemeClr val="accent4"/>
            </a:solidFill>
            <a:prstDash val="dash"/>
          </a:ln>
        </p:spPr>
      </p:sp>
      <p:sp>
        <p:nvSpPr>
          <p:cNvPr id="18" name="text-338"/>
          <p:cNvSpPr txBox="1"/>
          <p:nvPr/>
        </p:nvSpPr>
        <p:spPr>
          <a:xfrm>
            <a:off x="9966960" y="3429000"/>
            <a:ext cx="1463040" cy="365760"/>
          </a:xfrm>
          <a:prstGeom prst="rect">
            <a:avLst/>
          </a:prstGeom>
          <a:noFill/>
          <a:ln/>
        </p:spPr>
        <p:txBody>
          <a:bodyPr wrap="square" lIns="0" tIns="0" rIns="0" bIns="0" rtlCol="0" anchor="t"/>
          <a:lstStyle/>
          <a:p>
            <a:pPr algn="r" indent="0" marL="0">
              <a:buNone/>
            </a:pPr>
            <a:r>
              <a:rPr lang="en-US" sz="1500" b="1" dirty="0">
                <a:solidFill>
                  <a:schemeClr val="accent4"/>
                </a:solidFill>
              </a:rPr>
              <a:t>임계값 0.5</a:t>
            </a:r>
            <a:endParaRPr lang="en-US" sz="1500" dirty="0"/>
          </a:p>
        </p:txBody>
      </p:sp>
      <p:sp>
        <p:nvSpPr>
          <p:cNvPr id="19" name="card-339"/>
          <p:cNvSpPr/>
          <p:nvPr/>
        </p:nvSpPr>
        <p:spPr>
          <a:xfrm>
            <a:off x="4572000" y="1325880"/>
            <a:ext cx="6949440" cy="731520"/>
          </a:xfrm>
          <a:prstGeom prst="roundRect">
            <a:avLst>
              <a:gd name="adj" fmla="val 17500"/>
            </a:avLst>
          </a:prstGeom>
          <a:solidFill>
            <a:schemeClr val="bg2"/>
          </a:solidFill>
          <a:ln/>
        </p:spPr>
      </p:sp>
      <p:sp>
        <p:nvSpPr>
          <p:cNvPr id="20" name="text-340"/>
          <p:cNvSpPr txBox="1"/>
          <p:nvPr/>
        </p:nvSpPr>
        <p:spPr>
          <a:xfrm>
            <a:off x="4800600" y="1325880"/>
            <a:ext cx="6583680" cy="731520"/>
          </a:xfrm>
          <a:prstGeom prst="rect">
            <a:avLst/>
          </a:prstGeom>
          <a:noFill/>
          <a:ln/>
        </p:spPr>
        <p:txBody>
          <a:bodyPr wrap="square" lIns="0" tIns="0" rIns="0" bIns="0" rtlCol="0" anchor="ctr"/>
          <a:lstStyle/>
          <a:p>
            <a:pPr indent="0" marL="0">
              <a:buNone/>
            </a:pPr>
            <a:r>
              <a:rPr lang="en-US" sz="1700" dirty="0">
                <a:solidFill>
                  <a:schemeClr val="tx1"/>
                </a:solidFill>
              </a:rPr>
              <a:t>관련 없으면 아예 안 보여주기가 쉬움  (값은 예시)</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이번 주 실습 자료</a:t>
            </a:r>
            <a:endParaRPr lang="en-US" sz="3000" dirty="0"/>
          </a:p>
        </p:txBody>
      </p:sp>
      <p:sp>
        <p:nvSpPr>
          <p:cNvPr id="3" name="card-341"/>
          <p:cNvSpPr/>
          <p:nvPr/>
        </p:nvSpPr>
        <p:spPr>
          <a:xfrm>
            <a:off x="640080" y="1325880"/>
            <a:ext cx="10881360" cy="1024128"/>
          </a:xfrm>
          <a:prstGeom prst="roundRect">
            <a:avLst>
              <a:gd name="adj" fmla="val 12500"/>
            </a:avLst>
          </a:prstGeom>
          <a:solidFill>
            <a:schemeClr val="bg2"/>
          </a:solidFill>
          <a:ln/>
        </p:spPr>
      </p:sp>
      <p:sp>
        <p:nvSpPr>
          <p:cNvPr id="4" name="circle-342"/>
          <p:cNvSpPr/>
          <p:nvPr/>
        </p:nvSpPr>
        <p:spPr>
          <a:xfrm>
            <a:off x="868680" y="1490472"/>
            <a:ext cx="694944" cy="694944"/>
          </a:xfrm>
          <a:prstGeom prst="ellipse">
            <a:avLst/>
          </a:prstGeom>
          <a:solidFill>
            <a:schemeClr val="accent3"/>
          </a:solidFill>
          <a:ln/>
        </p:spPr>
      </p:sp>
      <p:pic>
        <p:nvPicPr>
          <p:cNvPr id="5" name="icon-FaPlay-343" descr="FaPlay">    </p:cNvPr>
          <p:cNvPicPr>
            <a:picLocks noChangeAspect="1"/>
          </p:cNvPicPr>
          <p:nvPr/>
        </p:nvPicPr>
        <p:blipFill>
          <a:blip r:embed="rId1"/>
          <a:stretch>
            <a:fillRect/>
          </a:stretch>
        </p:blipFill>
        <p:spPr>
          <a:xfrm>
            <a:off x="1049365" y="1671157"/>
            <a:ext cx="333573" cy="333573"/>
          </a:xfrm>
          <a:prstGeom prst="rect">
            <a:avLst/>
          </a:prstGeom>
        </p:spPr>
      </p:pic>
      <p:sp>
        <p:nvSpPr>
          <p:cNvPr id="6" name="text-344"/>
          <p:cNvSpPr txBox="1"/>
          <p:nvPr/>
        </p:nvSpPr>
        <p:spPr>
          <a:xfrm>
            <a:off x="1783080" y="1325880"/>
            <a:ext cx="2377440" cy="1024128"/>
          </a:xfrm>
          <a:prstGeom prst="rect">
            <a:avLst/>
          </a:prstGeom>
          <a:noFill/>
          <a:ln/>
        </p:spPr>
        <p:txBody>
          <a:bodyPr wrap="square" lIns="0" tIns="0" rIns="0" bIns="0" rtlCol="0" anchor="ctr"/>
          <a:lstStyle/>
          <a:p>
            <a:pPr indent="0" marL="0">
              <a:buNone/>
            </a:pPr>
            <a:r>
              <a:rPr lang="en-US" sz="1700" b="1" dirty="0">
                <a:solidFill>
                  <a:schemeClr val="accent3"/>
                </a:solidFill>
              </a:rPr>
              <a:t>메인 실습</a:t>
            </a:r>
            <a:endParaRPr lang="en-US" sz="1700" dirty="0"/>
          </a:p>
        </p:txBody>
      </p:sp>
      <p:sp>
        <p:nvSpPr>
          <p:cNvPr id="7" name="text-345"/>
          <p:cNvSpPr txBox="1"/>
          <p:nvPr/>
        </p:nvSpPr>
        <p:spPr>
          <a:xfrm>
            <a:off x="4160520" y="1463040"/>
            <a:ext cx="7223760" cy="411480"/>
          </a:xfrm>
          <a:prstGeom prst="rect">
            <a:avLst/>
          </a:prstGeom>
          <a:noFill/>
          <a:ln/>
        </p:spPr>
        <p:txBody>
          <a:bodyPr wrap="square" lIns="0" tIns="0" rIns="0" bIns="0" rtlCol="0" anchor="t"/>
          <a:lstStyle/>
          <a:p>
            <a:pPr indent="0" marL="0">
              <a:buNone/>
            </a:pPr>
            <a:r>
              <a:rPr lang="en-US" sz="1800" b="1" u="sng" dirty="0">
                <a:solidFill>
                  <a:schemeClr val="tx1"/>
                </a:solidFill>
                <a:hlinkClick r:id="rId2" invalidUrl="" action="" tgtFrame="" tooltip="" history="1" highlightClick="0" endSnd="0">
                  <a:extLst>
                    <a:ext uri="{A12FA001-AC4F-418D-AE19-62706E023703}">
                      <ahyp:hlinkClr xmlns:ahyp="http://schemas.microsoft.com/office/drawing/2018/hyperlinkcolor" val="tx"/>
                    </a:ext>
                  </a:extLst>
                </a:hlinkClick>
              </a:rPr>
              <a:t>Inference with (multilingual) SigLIP 노트북</a:t>
            </a:r>
            <a:endParaRPr lang="en-US" sz="1800" dirty="0"/>
          </a:p>
        </p:txBody>
      </p:sp>
      <p:sp>
        <p:nvSpPr>
          <p:cNvPr id="8" name="text-346"/>
          <p:cNvSpPr txBox="1"/>
          <p:nvPr/>
        </p:nvSpPr>
        <p:spPr>
          <a:xfrm>
            <a:off x="4160520" y="1874520"/>
            <a:ext cx="7223760" cy="365760"/>
          </a:xfrm>
          <a:prstGeom prst="rect">
            <a:avLst/>
          </a:prstGeom>
          <a:noFill/>
          <a:ln/>
        </p:spPr>
        <p:txBody>
          <a:bodyPr wrap="square" lIns="0" tIns="0" rIns="0" bIns="0" rtlCol="0" anchor="t"/>
          <a:lstStyle/>
          <a:p>
            <a:pPr indent="0" marL="0">
              <a:buNone/>
            </a:pPr>
            <a:r>
              <a:rPr lang="en-US" sz="1500" dirty="0">
                <a:solidFill>
                  <a:schemeClr val="tx2"/>
                </a:solidFill>
              </a:rPr>
              <a:t>이미지·텍스트 유사도, 다국어 모델까지</a:t>
            </a:r>
            <a:endParaRPr lang="en-US" sz="1500" dirty="0"/>
          </a:p>
        </p:txBody>
      </p:sp>
      <p:sp>
        <p:nvSpPr>
          <p:cNvPr id="9" name="card-347"/>
          <p:cNvSpPr/>
          <p:nvPr/>
        </p:nvSpPr>
        <p:spPr>
          <a:xfrm>
            <a:off x="640080" y="2514600"/>
            <a:ext cx="10881360" cy="1024128"/>
          </a:xfrm>
          <a:prstGeom prst="roundRect">
            <a:avLst>
              <a:gd name="adj" fmla="val 12500"/>
            </a:avLst>
          </a:prstGeom>
          <a:solidFill>
            <a:schemeClr val="bg2"/>
          </a:solidFill>
          <a:ln/>
        </p:spPr>
      </p:sp>
      <p:sp>
        <p:nvSpPr>
          <p:cNvPr id="10" name="circle-348"/>
          <p:cNvSpPr/>
          <p:nvPr/>
        </p:nvSpPr>
        <p:spPr>
          <a:xfrm>
            <a:off x="868680" y="2679192"/>
            <a:ext cx="694944" cy="694944"/>
          </a:xfrm>
          <a:prstGeom prst="ellipse">
            <a:avLst/>
          </a:prstGeom>
          <a:solidFill>
            <a:schemeClr val="accent1"/>
          </a:solidFill>
          <a:ln/>
        </p:spPr>
      </p:sp>
      <p:pic>
        <p:nvPicPr>
          <p:cNvPr id="11" name="icon-FaBookOpen-349" descr="FaBookOpen">    </p:cNvPr>
          <p:cNvPicPr>
            <a:picLocks noChangeAspect="1"/>
          </p:cNvPicPr>
          <p:nvPr/>
        </p:nvPicPr>
        <p:blipFill>
          <a:blip r:embed="rId3"/>
          <a:stretch>
            <a:fillRect/>
          </a:stretch>
        </p:blipFill>
        <p:spPr>
          <a:xfrm>
            <a:off x="1049365" y="2859877"/>
            <a:ext cx="333573" cy="333573"/>
          </a:xfrm>
          <a:prstGeom prst="rect">
            <a:avLst/>
          </a:prstGeom>
        </p:spPr>
      </p:pic>
      <p:sp>
        <p:nvSpPr>
          <p:cNvPr id="12" name="text-350"/>
          <p:cNvSpPr txBox="1"/>
          <p:nvPr/>
        </p:nvSpPr>
        <p:spPr>
          <a:xfrm>
            <a:off x="1783080" y="2514600"/>
            <a:ext cx="2377440" cy="1024128"/>
          </a:xfrm>
          <a:prstGeom prst="rect">
            <a:avLst/>
          </a:prstGeom>
          <a:noFill/>
          <a:ln/>
        </p:spPr>
        <p:txBody>
          <a:bodyPr wrap="square" lIns="0" tIns="0" rIns="0" bIns="0" rtlCol="0" anchor="ctr"/>
          <a:lstStyle/>
          <a:p>
            <a:pPr indent="0" marL="0">
              <a:buNone/>
            </a:pPr>
            <a:r>
              <a:rPr lang="en-US" sz="1700" b="1" dirty="0">
                <a:solidFill>
                  <a:schemeClr val="accent1"/>
                </a:solidFill>
              </a:rPr>
              <a:t>공식 코드</a:t>
            </a:r>
            <a:endParaRPr lang="en-US" sz="1700" dirty="0"/>
          </a:p>
        </p:txBody>
      </p:sp>
      <p:sp>
        <p:nvSpPr>
          <p:cNvPr id="13" name="text-351"/>
          <p:cNvSpPr txBox="1"/>
          <p:nvPr/>
        </p:nvSpPr>
        <p:spPr>
          <a:xfrm>
            <a:off x="4160520" y="2651760"/>
            <a:ext cx="7223760" cy="411480"/>
          </a:xfrm>
          <a:prstGeom prst="rect">
            <a:avLst/>
          </a:prstGeom>
          <a:noFill/>
          <a:ln/>
        </p:spPr>
        <p:txBody>
          <a:bodyPr wrap="square" lIns="0" tIns="0" rIns="0" bIns="0" rtlCol="0" anchor="t"/>
          <a:lstStyle/>
          <a:p>
            <a:pPr indent="0" marL="0">
              <a:buNone/>
            </a:pPr>
            <a:r>
              <a:rPr lang="en-US" sz="1800" b="1" u="sng" dirty="0">
                <a:solidFill>
                  <a:schemeClr val="tx1"/>
                </a:solidFill>
                <a:hlinkClick r:id="rId4" invalidUrl="" action="" tgtFrame="" tooltip="" history="1" highlightClick="0" endSnd="0">
                  <a:extLst>
                    <a:ext uri="{A12FA001-AC4F-418D-AE19-62706E023703}">
                      <ahyp:hlinkClr xmlns:ahyp="http://schemas.microsoft.com/office/drawing/2018/hyperlinkcolor" val="tx"/>
                    </a:ext>
                  </a:extLst>
                </a:hlinkClick>
              </a:rPr>
              <a:t>Transformers SigLIP 문서</a:t>
            </a:r>
            <a:endParaRPr lang="en-US" sz="1800" dirty="0"/>
          </a:p>
        </p:txBody>
      </p:sp>
      <p:sp>
        <p:nvSpPr>
          <p:cNvPr id="14" name="text-352"/>
          <p:cNvSpPr txBox="1"/>
          <p:nvPr/>
        </p:nvSpPr>
        <p:spPr>
          <a:xfrm>
            <a:off x="4160520" y="3063240"/>
            <a:ext cx="7223760" cy="365760"/>
          </a:xfrm>
          <a:prstGeom prst="rect">
            <a:avLst/>
          </a:prstGeom>
          <a:noFill/>
          <a:ln/>
        </p:spPr>
        <p:txBody>
          <a:bodyPr wrap="square" lIns="0" tIns="0" rIns="0" bIns="0" rtlCol="0" anchor="t"/>
          <a:lstStyle/>
          <a:p>
            <a:pPr indent="0" marL="0">
              <a:buNone/>
            </a:pPr>
            <a:r>
              <a:rPr lang="en-US" sz="1500" dirty="0">
                <a:solidFill>
                  <a:schemeClr val="tx2"/>
                </a:solidFill>
              </a:rPr>
              <a:t>get_image_features() / get_text_features()</a:t>
            </a:r>
            <a:endParaRPr lang="en-US" sz="1500" dirty="0"/>
          </a:p>
        </p:txBody>
      </p:sp>
      <p:sp>
        <p:nvSpPr>
          <p:cNvPr id="15" name="card-353"/>
          <p:cNvSpPr/>
          <p:nvPr/>
        </p:nvSpPr>
        <p:spPr>
          <a:xfrm>
            <a:off x="640080" y="3703320"/>
            <a:ext cx="10881360" cy="1024128"/>
          </a:xfrm>
          <a:prstGeom prst="roundRect">
            <a:avLst>
              <a:gd name="adj" fmla="val 12500"/>
            </a:avLst>
          </a:prstGeom>
          <a:solidFill>
            <a:schemeClr val="bg2"/>
          </a:solidFill>
          <a:ln/>
        </p:spPr>
      </p:sp>
      <p:sp>
        <p:nvSpPr>
          <p:cNvPr id="16" name="circle-354"/>
          <p:cNvSpPr/>
          <p:nvPr/>
        </p:nvSpPr>
        <p:spPr>
          <a:xfrm>
            <a:off x="868680" y="3867912"/>
            <a:ext cx="694944" cy="694944"/>
          </a:xfrm>
          <a:prstGeom prst="ellipse">
            <a:avLst/>
          </a:prstGeom>
          <a:solidFill>
            <a:schemeClr val="accent2"/>
          </a:solidFill>
          <a:ln/>
        </p:spPr>
      </p:sp>
      <p:pic>
        <p:nvPicPr>
          <p:cNvPr id="17" name="icon-FaSearch-355" descr="FaSearch">    </p:cNvPr>
          <p:cNvPicPr>
            <a:picLocks noChangeAspect="1"/>
          </p:cNvPicPr>
          <p:nvPr/>
        </p:nvPicPr>
        <p:blipFill>
          <a:blip r:embed="rId5"/>
          <a:stretch>
            <a:fillRect/>
          </a:stretch>
        </p:blipFill>
        <p:spPr>
          <a:xfrm>
            <a:off x="1049365" y="4048597"/>
            <a:ext cx="333573" cy="333573"/>
          </a:xfrm>
          <a:prstGeom prst="rect">
            <a:avLst/>
          </a:prstGeom>
        </p:spPr>
      </p:pic>
      <p:sp>
        <p:nvSpPr>
          <p:cNvPr id="18" name="text-356"/>
          <p:cNvSpPr txBox="1"/>
          <p:nvPr/>
        </p:nvSpPr>
        <p:spPr>
          <a:xfrm>
            <a:off x="1783080" y="3703320"/>
            <a:ext cx="2377440" cy="1024128"/>
          </a:xfrm>
          <a:prstGeom prst="rect">
            <a:avLst/>
          </a:prstGeom>
          <a:noFill/>
          <a:ln/>
        </p:spPr>
        <p:txBody>
          <a:bodyPr wrap="square" lIns="0" tIns="0" rIns="0" bIns="0" rtlCol="0" anchor="ctr"/>
          <a:lstStyle/>
          <a:p>
            <a:pPr indent="0" marL="0">
              <a:buNone/>
            </a:pPr>
            <a:r>
              <a:rPr lang="en-US" sz="1700" b="1" dirty="0">
                <a:solidFill>
                  <a:schemeClr val="accent2"/>
                </a:solidFill>
              </a:rPr>
              <a:t>5주차 미리보기</a:t>
            </a:r>
            <a:endParaRPr lang="en-US" sz="1700" dirty="0"/>
          </a:p>
        </p:txBody>
      </p:sp>
      <p:sp>
        <p:nvSpPr>
          <p:cNvPr id="19" name="text-357"/>
          <p:cNvSpPr txBox="1"/>
          <p:nvPr/>
        </p:nvSpPr>
        <p:spPr>
          <a:xfrm>
            <a:off x="4160520" y="3840480"/>
            <a:ext cx="7223760" cy="411480"/>
          </a:xfrm>
          <a:prstGeom prst="rect">
            <a:avLst/>
          </a:prstGeom>
          <a:noFill/>
          <a:ln/>
        </p:spPr>
        <p:txBody>
          <a:bodyPr wrap="square" lIns="0" tIns="0" rIns="0" bIns="0" rtlCol="0" anchor="t"/>
          <a:lstStyle/>
          <a:p>
            <a:pPr indent="0" marL="0">
              <a:buNone/>
            </a:pPr>
            <a:r>
              <a:rPr lang="en-US" sz="1800" b="1" u="sng" dirty="0">
                <a:solidFill>
                  <a:schemeClr val="tx1"/>
                </a:solidFill>
                <a:hlinkClick r:id="rId6" invalidUrl="" action="" tgtFrame="" tooltip="" history="1" highlightClick="0" endSnd="0">
                  <a:extLst>
                    <a:ext uri="{A12FA001-AC4F-418D-AE19-62706E023703}">
                      <ahyp:hlinkClr xmlns:ahyp="http://schemas.microsoft.com/office/drawing/2018/hyperlinkcolor" val="tx"/>
                    </a:ext>
                  </a:extLst>
                </a:hlinkClick>
              </a:rPr>
              <a:t>smol-vision: Image Search with MetaCLIP2</a:t>
            </a:r>
            <a:endParaRPr lang="en-US" sz="1800" dirty="0"/>
          </a:p>
        </p:txBody>
      </p:sp>
      <p:sp>
        <p:nvSpPr>
          <p:cNvPr id="20" name="text-358"/>
          <p:cNvSpPr txBox="1"/>
          <p:nvPr/>
        </p:nvSpPr>
        <p:spPr>
          <a:xfrm>
            <a:off x="4160520" y="4251960"/>
            <a:ext cx="7223760" cy="365760"/>
          </a:xfrm>
          <a:prstGeom prst="rect">
            <a:avLst/>
          </a:prstGeom>
          <a:noFill/>
          <a:ln/>
        </p:spPr>
        <p:txBody>
          <a:bodyPr wrap="square" lIns="0" tIns="0" rIns="0" bIns="0" rtlCol="0" anchor="t"/>
          <a:lstStyle/>
          <a:p>
            <a:pPr indent="0" marL="0">
              <a:buNone/>
            </a:pPr>
            <a:r>
              <a:rPr lang="en-US" sz="1500" dirty="0">
                <a:solidFill>
                  <a:schemeClr val="tx2"/>
                </a:solidFill>
              </a:rPr>
              <a:t>(선택) 모델만 SigLIP으로 바꾸면 5주차 과제</a:t>
            </a:r>
            <a:endParaRPr lang="en-US" sz="1500" dirty="0"/>
          </a:p>
        </p:txBody>
      </p:sp>
      <p:sp>
        <p:nvSpPr>
          <p:cNvPr id="21" name="card-359"/>
          <p:cNvSpPr/>
          <p:nvPr/>
        </p:nvSpPr>
        <p:spPr>
          <a:xfrm>
            <a:off x="640080" y="4892040"/>
            <a:ext cx="10881360" cy="1024128"/>
          </a:xfrm>
          <a:prstGeom prst="roundRect">
            <a:avLst>
              <a:gd name="adj" fmla="val 12500"/>
            </a:avLst>
          </a:prstGeom>
          <a:solidFill>
            <a:schemeClr val="bg2"/>
          </a:solidFill>
          <a:ln/>
        </p:spPr>
      </p:sp>
      <p:sp>
        <p:nvSpPr>
          <p:cNvPr id="22" name="circle-360"/>
          <p:cNvSpPr/>
          <p:nvPr/>
        </p:nvSpPr>
        <p:spPr>
          <a:xfrm>
            <a:off x="868680" y="5056632"/>
            <a:ext cx="694944" cy="694944"/>
          </a:xfrm>
          <a:prstGeom prst="ellipse">
            <a:avLst/>
          </a:prstGeom>
          <a:solidFill>
            <a:schemeClr val="tx2"/>
          </a:solidFill>
          <a:ln/>
        </p:spPr>
      </p:sp>
      <p:pic>
        <p:nvPicPr>
          <p:cNvPr id="23" name="icon-FaFlask-361" descr="FaFlask">    </p:cNvPr>
          <p:cNvPicPr>
            <a:picLocks noChangeAspect="1"/>
          </p:cNvPicPr>
          <p:nvPr/>
        </p:nvPicPr>
        <p:blipFill>
          <a:blip r:embed="rId7"/>
          <a:stretch>
            <a:fillRect/>
          </a:stretch>
        </p:blipFill>
        <p:spPr>
          <a:xfrm>
            <a:off x="1049365" y="5237317"/>
            <a:ext cx="333573" cy="333573"/>
          </a:xfrm>
          <a:prstGeom prst="rect">
            <a:avLst/>
          </a:prstGeom>
        </p:spPr>
      </p:pic>
      <p:sp>
        <p:nvSpPr>
          <p:cNvPr id="24" name="text-362"/>
          <p:cNvSpPr txBox="1"/>
          <p:nvPr/>
        </p:nvSpPr>
        <p:spPr>
          <a:xfrm>
            <a:off x="1783080" y="4892040"/>
            <a:ext cx="2377440" cy="1024128"/>
          </a:xfrm>
          <a:prstGeom prst="rect">
            <a:avLst/>
          </a:prstGeom>
          <a:noFill/>
          <a:ln/>
        </p:spPr>
        <p:txBody>
          <a:bodyPr wrap="square" lIns="0" tIns="0" rIns="0" bIns="0" rtlCol="0" anchor="ctr"/>
          <a:lstStyle/>
          <a:p>
            <a:pPr indent="0" marL="0">
              <a:buNone/>
            </a:pPr>
            <a:r>
              <a:rPr lang="en-US" sz="1700" b="1" dirty="0">
                <a:solidFill>
                  <a:schemeClr val="tx2"/>
                </a:solidFill>
              </a:rPr>
              <a:t>심화 참고</a:t>
            </a:r>
            <a:endParaRPr lang="en-US" sz="1700" dirty="0"/>
          </a:p>
        </p:txBody>
      </p:sp>
      <p:sp>
        <p:nvSpPr>
          <p:cNvPr id="25" name="text-363"/>
          <p:cNvSpPr txBox="1"/>
          <p:nvPr/>
        </p:nvSpPr>
        <p:spPr>
          <a:xfrm>
            <a:off x="4160520" y="5029200"/>
            <a:ext cx="7223760" cy="411480"/>
          </a:xfrm>
          <a:prstGeom prst="rect">
            <a:avLst/>
          </a:prstGeom>
          <a:noFill/>
          <a:ln/>
        </p:spPr>
        <p:txBody>
          <a:bodyPr wrap="square" lIns="0" tIns="0" rIns="0" bIns="0" rtlCol="0" anchor="t"/>
          <a:lstStyle/>
          <a:p>
            <a:pPr indent="0" marL="0">
              <a:buNone/>
            </a:pPr>
            <a:r>
              <a:rPr lang="en-US" sz="1800" b="1" u="sng" dirty="0">
                <a:solidFill>
                  <a:schemeClr val="tx1"/>
                </a:solidFill>
                <a:hlinkClick r:id="rId8" invalidUrl="" action="" tgtFrame="" tooltip="" history="1" highlightClick="0" endSnd="0">
                  <a:extLst>
                    <a:ext uri="{A12FA001-AC4F-418D-AE19-62706E023703}">
                      <ahyp:hlinkClr xmlns:ahyp="http://schemas.microsoft.com/office/drawing/2018/hyperlinkcolor" val="tx"/>
                    </a:ext>
                  </a:extLst>
                </a:hlinkClick>
              </a:rPr>
              <a:t>Google big_vision SigLIP 데모</a:t>
            </a:r>
            <a:endParaRPr lang="en-US" sz="1800" dirty="0"/>
          </a:p>
        </p:txBody>
      </p:sp>
      <p:sp>
        <p:nvSpPr>
          <p:cNvPr id="26" name="text-364"/>
          <p:cNvSpPr txBox="1"/>
          <p:nvPr/>
        </p:nvSpPr>
        <p:spPr>
          <a:xfrm>
            <a:off x="4160520" y="5440680"/>
            <a:ext cx="7223760" cy="365760"/>
          </a:xfrm>
          <a:prstGeom prst="rect">
            <a:avLst/>
          </a:prstGeom>
          <a:noFill/>
          <a:ln/>
        </p:spPr>
        <p:txBody>
          <a:bodyPr wrap="square" lIns="0" tIns="0" rIns="0" bIns="0" rtlCol="0" anchor="t"/>
          <a:lstStyle/>
          <a:p>
            <a:pPr indent="0" marL="0">
              <a:buNone/>
            </a:pPr>
            <a:r>
              <a:rPr lang="en-US" sz="1500" dirty="0">
                <a:solidFill>
                  <a:schemeClr val="tx2"/>
                </a:solidFill>
              </a:rPr>
              <a:t>논문 저자 공식 데모 (JAX, 참고만)</a:t>
            </a:r>
            <a:endParaRPr lang="en-US" sz="1500" dirty="0"/>
          </a:p>
        </p:txBody>
      </p:sp>
      <p:sp>
        <p:nvSpPr>
          <p:cNvPr id="27" name="text-365"/>
          <p:cNvSpPr txBox="1"/>
          <p:nvPr/>
        </p:nvSpPr>
        <p:spPr>
          <a:xfrm>
            <a:off x="640080" y="6035040"/>
            <a:ext cx="10881360" cy="274320"/>
          </a:xfrm>
          <a:prstGeom prst="rect">
            <a:avLst/>
          </a:prstGeom>
          <a:noFill/>
          <a:ln/>
        </p:spPr>
        <p:txBody>
          <a:bodyPr wrap="square" lIns="0" tIns="0" rIns="0" bIns="0" rtlCol="0" anchor="t"/>
          <a:lstStyle/>
          <a:p>
            <a:pPr indent="0" marL="0">
              <a:buNone/>
            </a:pPr>
            <a:r>
              <a:rPr lang="en-US" sz="1200" dirty="0">
                <a:solidFill>
                  <a:schemeClr val="tx2"/>
                </a:solidFill>
              </a:rPr>
              <a:t>이름을 클릭하면 링크로 이동 · 다음 슬라이드부터는 메인 노트북을 직접 실행한 코드와 결과</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실습 ① 모델 불러오기</a:t>
            </a:r>
            <a:endParaRPr lang="en-US" sz="3000" dirty="0"/>
          </a:p>
        </p:txBody>
      </p:sp>
      <p:sp>
        <p:nvSpPr>
          <p:cNvPr id="3" name="codebg-366"/>
          <p:cNvSpPr/>
          <p:nvPr/>
        </p:nvSpPr>
        <p:spPr>
          <a:xfrm>
            <a:off x="640080" y="1325880"/>
            <a:ext cx="7498080" cy="2103120"/>
          </a:xfrm>
          <a:prstGeom prst="roundRect">
            <a:avLst>
              <a:gd name="adj" fmla="val 5217"/>
            </a:avLst>
          </a:prstGeom>
          <a:solidFill>
            <a:schemeClr val="tx1"/>
          </a:solidFill>
          <a:ln/>
        </p:spPr>
      </p:sp>
      <p:sp>
        <p:nvSpPr>
          <p:cNvPr id="4" name="text-367"/>
          <p:cNvSpPr txBox="1"/>
          <p:nvPr/>
        </p:nvSpPr>
        <p:spPr>
          <a:xfrm>
            <a:off x="914400" y="1554480"/>
            <a:ext cx="6949440" cy="1645920"/>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from transformers import AutoProcessor, AutoModel</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processor = AutoProcessor.from_pretrained("google/siglip-base-patch16-224")</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model = AutoModel.from_pretrained("google/siglip-base-patch16-224")</a:t>
            </a:r>
            <a:endParaRPr lang="en-US" sz="1200" dirty="0"/>
          </a:p>
        </p:txBody>
      </p:sp>
      <p:sp>
        <p:nvSpPr>
          <p:cNvPr id="5" name="text-368"/>
          <p:cNvSpPr txBox="1"/>
          <p:nvPr/>
        </p:nvSpPr>
        <p:spPr>
          <a:xfrm>
            <a:off x="640080" y="3520440"/>
            <a:ext cx="7498080" cy="32004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설치: !pip install --upgrade -q git+https://github.com/huggingface/transformers sentencepiece</a:t>
            </a:r>
            <a:endParaRPr lang="en-US" sz="1100" dirty="0"/>
          </a:p>
        </p:txBody>
      </p:sp>
      <p:sp>
        <p:nvSpPr>
          <p:cNvPr id="6" name="text-369"/>
          <p:cNvSpPr txBox="1"/>
          <p:nvPr/>
        </p:nvSpPr>
        <p:spPr>
          <a:xfrm>
            <a:off x="640080" y="3931920"/>
            <a:ext cx="7315200" cy="292608"/>
          </a:xfrm>
          <a:prstGeom prst="rect">
            <a:avLst/>
          </a:prstGeom>
          <a:noFill/>
          <a:ln/>
        </p:spPr>
        <p:txBody>
          <a:bodyPr wrap="square" lIns="0" tIns="0" rIns="0" bIns="0" rtlCol="0" anchor="t"/>
          <a:lstStyle/>
          <a:p>
            <a:pPr indent="0" marL="0">
              <a:buNone/>
            </a:pPr>
            <a:r>
              <a:rPr lang="en-US" sz="1100" dirty="0">
                <a:solidFill>
                  <a:schemeClr val="tx2"/>
                </a:solidFill>
              </a:rPr>
              <a:t>출처: </a:t>
            </a: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Inference with (multilingual) SigLIP 노트북 · 직접 실행 (base-patch16-224)</a:t>
            </a:r>
            <a:endParaRPr lang="en-US" sz="1100" dirty="0"/>
          </a:p>
        </p:txBody>
      </p:sp>
      <p:sp>
        <p:nvSpPr>
          <p:cNvPr id="7" name="card-370"/>
          <p:cNvSpPr/>
          <p:nvPr/>
        </p:nvSpPr>
        <p:spPr>
          <a:xfrm>
            <a:off x="640080" y="4663440"/>
            <a:ext cx="3566160" cy="1371600"/>
          </a:xfrm>
          <a:prstGeom prst="roundRect">
            <a:avLst>
              <a:gd name="adj" fmla="val 9333"/>
            </a:avLst>
          </a:prstGeom>
          <a:solidFill>
            <a:schemeClr val="accent1">
              <a:alpha val="10000"/>
            </a:schemeClr>
          </a:solidFill>
          <a:ln/>
        </p:spPr>
      </p:sp>
      <p:sp>
        <p:nvSpPr>
          <p:cNvPr id="8" name="text-371"/>
          <p:cNvSpPr txBox="1"/>
          <p:nvPr/>
        </p:nvSpPr>
        <p:spPr>
          <a:xfrm>
            <a:off x="868680" y="4800600"/>
            <a:ext cx="3200400" cy="41148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AutoProcessor</a:t>
            </a:r>
            <a:endParaRPr lang="en-US" sz="1600" dirty="0"/>
          </a:p>
        </p:txBody>
      </p:sp>
      <p:sp>
        <p:nvSpPr>
          <p:cNvPr id="9" name="text-372"/>
          <p:cNvSpPr txBox="1"/>
          <p:nvPr/>
        </p:nvSpPr>
        <p:spPr>
          <a:xfrm>
            <a:off x="868680" y="5257800"/>
            <a:ext cx="3200400" cy="640080"/>
          </a:xfrm>
          <a:prstGeom prst="rect">
            <a:avLst/>
          </a:prstGeom>
          <a:noFill/>
          <a:ln/>
        </p:spPr>
        <p:txBody>
          <a:bodyPr wrap="square" lIns="0" tIns="0" rIns="0" bIns="0" rtlCol="0" anchor="t"/>
          <a:lstStyle/>
          <a:p>
            <a:pPr indent="0" marL="0">
              <a:buNone/>
            </a:pPr>
            <a:r>
              <a:rPr lang="en-US" sz="1500" dirty="0">
                <a:solidFill>
                  <a:schemeClr val="tx1"/>
                </a:solidFill>
              </a:rPr>
              <a:t>사진 크기 조절 + 문장 토큰화를 한 번에</a:t>
            </a:r>
            <a:endParaRPr lang="en-US" sz="1500" dirty="0"/>
          </a:p>
        </p:txBody>
      </p:sp>
      <p:sp>
        <p:nvSpPr>
          <p:cNvPr id="10" name="card-373"/>
          <p:cNvSpPr/>
          <p:nvPr/>
        </p:nvSpPr>
        <p:spPr>
          <a:xfrm>
            <a:off x="4572000" y="4663440"/>
            <a:ext cx="3566160" cy="1371600"/>
          </a:xfrm>
          <a:prstGeom prst="roundRect">
            <a:avLst>
              <a:gd name="adj" fmla="val 9333"/>
            </a:avLst>
          </a:prstGeom>
          <a:solidFill>
            <a:schemeClr val="accent3">
              <a:alpha val="10000"/>
            </a:schemeClr>
          </a:solidFill>
          <a:ln/>
        </p:spPr>
      </p:sp>
      <p:sp>
        <p:nvSpPr>
          <p:cNvPr id="11" name="text-374"/>
          <p:cNvSpPr txBox="1"/>
          <p:nvPr/>
        </p:nvSpPr>
        <p:spPr>
          <a:xfrm>
            <a:off x="4800600" y="4800600"/>
            <a:ext cx="3200400" cy="411480"/>
          </a:xfrm>
          <a:prstGeom prst="rect">
            <a:avLst/>
          </a:prstGeom>
          <a:noFill/>
          <a:ln/>
        </p:spPr>
        <p:txBody>
          <a:bodyPr wrap="square" lIns="0" tIns="0" rIns="0" bIns="0" rtlCol="0" anchor="t"/>
          <a:lstStyle/>
          <a:p>
            <a:pPr indent="0" marL="0">
              <a:buNone/>
            </a:pPr>
            <a:r>
              <a:rPr lang="en-US" sz="1600" b="1" dirty="0">
                <a:solidFill>
                  <a:schemeClr val="accent3"/>
                </a:solidFill>
                <a:latin typeface="Courier New" pitchFamily="34" charset="0"/>
                <a:ea typeface="Courier New" pitchFamily="34" charset="-122"/>
                <a:cs typeface="Courier New" pitchFamily="34" charset="-120"/>
              </a:rPr>
              <a:t>AutoModel</a:t>
            </a:r>
            <a:endParaRPr lang="en-US" sz="1600" dirty="0"/>
          </a:p>
        </p:txBody>
      </p:sp>
      <p:sp>
        <p:nvSpPr>
          <p:cNvPr id="12" name="text-375"/>
          <p:cNvSpPr txBox="1"/>
          <p:nvPr/>
        </p:nvSpPr>
        <p:spPr>
          <a:xfrm>
            <a:off x="4800600" y="5257800"/>
            <a:ext cx="3200400" cy="640080"/>
          </a:xfrm>
          <a:prstGeom prst="rect">
            <a:avLst/>
          </a:prstGeom>
          <a:noFill/>
          <a:ln/>
        </p:spPr>
        <p:txBody>
          <a:bodyPr wrap="square" lIns="0" tIns="0" rIns="0" bIns="0" rtlCol="0" anchor="t"/>
          <a:lstStyle/>
          <a:p>
            <a:pPr indent="0" marL="0">
              <a:buNone/>
            </a:pPr>
            <a:r>
              <a:rPr lang="en-US" sz="1500" dirty="0">
                <a:solidFill>
                  <a:schemeClr val="tx1"/>
                </a:solidFill>
              </a:rPr>
              <a:t>이미지 인코더 + 텍스트 인코더 (두 탑)</a:t>
            </a:r>
            <a:endParaRPr lang="en-US" sz="1500" dirty="0"/>
          </a:p>
        </p:txBody>
      </p:sp>
      <p:sp>
        <p:nvSpPr>
          <p:cNvPr id="13" name="card-376"/>
          <p:cNvSpPr/>
          <p:nvPr/>
        </p:nvSpPr>
        <p:spPr>
          <a:xfrm>
            <a:off x="8412480" y="1325880"/>
            <a:ext cx="3108960" cy="4709160"/>
          </a:xfrm>
          <a:prstGeom prst="roundRect">
            <a:avLst>
              <a:gd name="adj" fmla="val 4118"/>
            </a:avLst>
          </a:prstGeom>
          <a:solidFill>
            <a:schemeClr val="bg2"/>
          </a:solidFill>
          <a:ln/>
        </p:spPr>
      </p:sp>
      <p:sp>
        <p:nvSpPr>
          <p:cNvPr id="14" name="text-377"/>
          <p:cNvSpPr txBox="1"/>
          <p:nvPr/>
        </p:nvSpPr>
        <p:spPr>
          <a:xfrm>
            <a:off x="8641080" y="1463040"/>
            <a:ext cx="2743200" cy="411480"/>
          </a:xfrm>
          <a:prstGeom prst="rect">
            <a:avLst/>
          </a:prstGeom>
          <a:noFill/>
          <a:ln/>
        </p:spPr>
        <p:txBody>
          <a:bodyPr wrap="square" lIns="0" tIns="0" rIns="0" bIns="0" rtlCol="0" anchor="t"/>
          <a:lstStyle/>
          <a:p>
            <a:pPr indent="0" marL="0">
              <a:buNone/>
            </a:pPr>
            <a:r>
              <a:rPr lang="en-US" sz="1700" b="1" dirty="0">
                <a:solidFill>
                  <a:schemeClr val="accent3"/>
                </a:solidFill>
              </a:rPr>
              <a:t>모델 바꿔서 실행</a:t>
            </a:r>
            <a:endParaRPr lang="en-US" sz="1700" dirty="0"/>
          </a:p>
        </p:txBody>
      </p:sp>
      <p:sp>
        <p:nvSpPr>
          <p:cNvPr id="15" name="text-378"/>
          <p:cNvSpPr txBox="1"/>
          <p:nvPr/>
        </p:nvSpPr>
        <p:spPr>
          <a:xfrm>
            <a:off x="8641080" y="1965960"/>
            <a:ext cx="2743200" cy="320040"/>
          </a:xfrm>
          <a:prstGeom prst="rect">
            <a:avLst/>
          </a:prstGeom>
          <a:noFill/>
          <a:ln/>
        </p:spPr>
        <p:txBody>
          <a:bodyPr wrap="square" lIns="0" tIns="0" rIns="0" bIns="0" rtlCol="0" anchor="t"/>
          <a:lstStyle/>
          <a:p>
            <a:pPr indent="0" marL="0">
              <a:buNone/>
            </a:pPr>
            <a:r>
              <a:rPr lang="en-US" sz="1300" dirty="0">
                <a:solidFill>
                  <a:schemeClr val="tx2"/>
                </a:solidFill>
              </a:rPr>
              <a:t>원본 노트북</a:t>
            </a:r>
            <a:endParaRPr lang="en-US" sz="1300" dirty="0"/>
          </a:p>
        </p:txBody>
      </p:sp>
      <p:sp>
        <p:nvSpPr>
          <p:cNvPr id="16" name="text-379"/>
          <p:cNvSpPr txBox="1"/>
          <p:nvPr/>
        </p:nvSpPr>
        <p:spPr>
          <a:xfrm>
            <a:off x="8641080" y="2286000"/>
            <a:ext cx="2743200" cy="3657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siglip-so400m-patch14-384</a:t>
            </a:r>
            <a:endParaRPr lang="en-US" sz="1300" dirty="0"/>
          </a:p>
        </p:txBody>
      </p:sp>
      <p:sp>
        <p:nvSpPr>
          <p:cNvPr id="17" name="arrow-380"/>
          <p:cNvSpPr/>
          <p:nvPr/>
        </p:nvSpPr>
        <p:spPr>
          <a:xfrm>
            <a:off x="9966960" y="2743200"/>
            <a:ext cx="0" cy="411480"/>
          </a:xfrm>
          <a:prstGeom prst="line">
            <a:avLst/>
          </a:prstGeom>
          <a:noFill/>
          <a:ln w="31750">
            <a:solidFill>
              <a:schemeClr val="accent3"/>
            </a:solidFill>
            <a:prstDash val="solid"/>
            <a:tailEnd type="triangle"/>
          </a:ln>
        </p:spPr>
      </p:sp>
      <p:sp>
        <p:nvSpPr>
          <p:cNvPr id="18" name="text-381"/>
          <p:cNvSpPr txBox="1"/>
          <p:nvPr/>
        </p:nvSpPr>
        <p:spPr>
          <a:xfrm>
            <a:off x="8641080" y="3246120"/>
            <a:ext cx="2743200" cy="320040"/>
          </a:xfrm>
          <a:prstGeom prst="rect">
            <a:avLst/>
          </a:prstGeom>
          <a:noFill/>
          <a:ln/>
        </p:spPr>
        <p:txBody>
          <a:bodyPr wrap="square" lIns="0" tIns="0" rIns="0" bIns="0" rtlCol="0" anchor="t"/>
          <a:lstStyle/>
          <a:p>
            <a:pPr indent="0" marL="0">
              <a:buNone/>
            </a:pPr>
            <a:r>
              <a:rPr lang="en-US" sz="1300" b="1" dirty="0">
                <a:solidFill>
                  <a:schemeClr val="accent3"/>
                </a:solidFill>
              </a:rPr>
              <a:t>직접 실행</a:t>
            </a:r>
            <a:endParaRPr lang="en-US" sz="1300" dirty="0"/>
          </a:p>
        </p:txBody>
      </p:sp>
      <p:sp>
        <p:nvSpPr>
          <p:cNvPr id="19" name="text-382"/>
          <p:cNvSpPr txBox="1"/>
          <p:nvPr/>
        </p:nvSpPr>
        <p:spPr>
          <a:xfrm>
            <a:off x="8641080" y="3566160"/>
            <a:ext cx="2743200" cy="36576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siglip-base-patch16-224</a:t>
            </a:r>
            <a:endParaRPr lang="en-US" sz="1300" dirty="0"/>
          </a:p>
        </p:txBody>
      </p:sp>
      <p:sp>
        <p:nvSpPr>
          <p:cNvPr id="20" name="text-383"/>
          <p:cNvSpPr txBox="1"/>
          <p:nvPr/>
        </p:nvSpPr>
        <p:spPr>
          <a:xfrm>
            <a:off x="8641080" y="4114800"/>
            <a:ext cx="2697480" cy="1280160"/>
          </a:xfrm>
          <a:prstGeom prst="rect">
            <a:avLst/>
          </a:prstGeom>
          <a:noFill/>
          <a:ln/>
        </p:spPr>
        <p:txBody>
          <a:bodyPr wrap="square" lIns="0" tIns="0" rIns="0" bIns="0" rtlCol="0" anchor="t"/>
          <a:lstStyle/>
          <a:p>
            <a:pPr indent="0" marL="0">
              <a:buNone/>
            </a:pPr>
            <a:r>
              <a:rPr lang="en-US" sz="1400" dirty="0">
                <a:solidFill>
                  <a:schemeClr val="tx2"/>
                </a:solidFill>
              </a:rPr>
              <a:t>더 작고 가벼운 모델. 이름대로 base 크기 · 16px 조각 · 224 해상도</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실습 ② 사진과 문장 준비</a:t>
            </a:r>
            <a:endParaRPr lang="en-US" sz="3000" dirty="0"/>
          </a:p>
        </p:txBody>
      </p:sp>
      <p:pic>
        <p:nvPicPr>
          <p:cNvPr id="3" name="coco-cats" descr="COCO 고양이 두 마리 사진">    </p:cNvPr>
          <p:cNvPicPr>
            <a:picLocks noChangeAspect="1"/>
          </p:cNvPicPr>
          <p:nvPr/>
        </p:nvPicPr>
        <p:blipFill>
          <a:blip r:embed="rId1"/>
          <a:stretch>
            <a:fillRect/>
          </a:stretch>
        </p:blipFill>
        <p:spPr>
          <a:xfrm>
            <a:off x="640080" y="1325880"/>
            <a:ext cx="4206240" cy="3154680"/>
          </a:xfrm>
          <a:prstGeom prst="rect">
            <a:avLst/>
          </a:prstGeom>
        </p:spPr>
      </p:pic>
      <p:sp>
        <p:nvSpPr>
          <p:cNvPr id="4" name="text-384"/>
          <p:cNvSpPr txBox="1"/>
          <p:nvPr/>
        </p:nvSpPr>
        <p:spPr>
          <a:xfrm>
            <a:off x="640080" y="4526280"/>
            <a:ext cx="4206240" cy="274320"/>
          </a:xfrm>
          <a:prstGeom prst="rect">
            <a:avLst/>
          </a:prstGeom>
          <a:noFill/>
          <a:ln/>
        </p:spPr>
        <p:txBody>
          <a:bodyPr wrap="square" lIns="0" tIns="0" rIns="0" bIns="0" rtlCol="0" anchor="t"/>
          <a:lstStyle/>
          <a:p>
            <a:pPr indent="0" marL="0">
              <a:buNone/>
            </a:pPr>
            <a:r>
              <a:rPr lang="en-US" sz="1100" dirty="0">
                <a:solidFill>
                  <a:schemeClr val="tx2"/>
                </a:solidFill>
              </a:rPr>
              <a:t>COCO val2017 #39769</a:t>
            </a:r>
            <a:endParaRPr lang="en-US" sz="1100" dirty="0"/>
          </a:p>
        </p:txBody>
      </p:sp>
      <p:sp>
        <p:nvSpPr>
          <p:cNvPr id="5" name="pill-385"/>
          <p:cNvSpPr/>
          <p:nvPr/>
        </p:nvSpPr>
        <p:spPr>
          <a:xfrm>
            <a:off x="640080" y="4846320"/>
            <a:ext cx="2651760" cy="365760"/>
          </a:xfrm>
          <a:prstGeom prst="roundRect">
            <a:avLst>
              <a:gd name="adj" fmla="val 50000"/>
            </a:avLst>
          </a:prstGeom>
          <a:solidFill>
            <a:schemeClr val="accent2"/>
          </a:solidFill>
          <a:ln/>
        </p:spPr>
      </p:sp>
      <p:sp>
        <p:nvSpPr>
          <p:cNvPr id="6" name="text-386"/>
          <p:cNvSpPr txBox="1"/>
          <p:nvPr/>
        </p:nvSpPr>
        <p:spPr>
          <a:xfrm>
            <a:off x="640080" y="484632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rPr>
              <a:t>a photo of 2 cats</a:t>
            </a:r>
            <a:endParaRPr lang="en-US" sz="1200" dirty="0"/>
          </a:p>
        </p:txBody>
      </p:sp>
      <p:sp>
        <p:nvSpPr>
          <p:cNvPr id="7" name="pill-387"/>
          <p:cNvSpPr/>
          <p:nvPr/>
        </p:nvSpPr>
        <p:spPr>
          <a:xfrm>
            <a:off x="640080" y="5257800"/>
            <a:ext cx="2651760" cy="365760"/>
          </a:xfrm>
          <a:prstGeom prst="roundRect">
            <a:avLst>
              <a:gd name="adj" fmla="val 50000"/>
            </a:avLst>
          </a:prstGeom>
          <a:solidFill>
            <a:schemeClr val="accent6"/>
          </a:solidFill>
          <a:ln/>
        </p:spPr>
      </p:sp>
      <p:sp>
        <p:nvSpPr>
          <p:cNvPr id="8" name="text-388"/>
          <p:cNvSpPr txBox="1"/>
          <p:nvPr/>
        </p:nvSpPr>
        <p:spPr>
          <a:xfrm>
            <a:off x="640080" y="525780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rPr>
              <a:t>a photo of 2 hamburgers</a:t>
            </a:r>
            <a:endParaRPr lang="en-US" sz="1200" dirty="0"/>
          </a:p>
        </p:txBody>
      </p:sp>
      <p:sp>
        <p:nvSpPr>
          <p:cNvPr id="9" name="pill-389"/>
          <p:cNvSpPr/>
          <p:nvPr/>
        </p:nvSpPr>
        <p:spPr>
          <a:xfrm>
            <a:off x="640080" y="5669280"/>
            <a:ext cx="2651760" cy="365760"/>
          </a:xfrm>
          <a:prstGeom prst="roundRect">
            <a:avLst>
              <a:gd name="adj" fmla="val 50000"/>
            </a:avLst>
          </a:prstGeom>
          <a:solidFill>
            <a:schemeClr val="accent6"/>
          </a:solidFill>
          <a:ln/>
        </p:spPr>
      </p:sp>
      <p:sp>
        <p:nvSpPr>
          <p:cNvPr id="10" name="text-390"/>
          <p:cNvSpPr txBox="1"/>
          <p:nvPr/>
        </p:nvSpPr>
        <p:spPr>
          <a:xfrm>
            <a:off x="640080" y="5669280"/>
            <a:ext cx="2651760" cy="365760"/>
          </a:xfrm>
          <a:prstGeom prst="rect">
            <a:avLst/>
          </a:prstGeom>
          <a:noFill/>
          <a:ln/>
        </p:spPr>
        <p:txBody>
          <a:bodyPr wrap="square" lIns="0" tIns="0" rIns="0" bIns="0" rtlCol="0" anchor="ctr"/>
          <a:lstStyle/>
          <a:p>
            <a:pPr algn="ctr" indent="0" marL="0">
              <a:buNone/>
            </a:pPr>
            <a:r>
              <a:rPr lang="en-US" sz="1200" b="1" dirty="0">
                <a:solidFill>
                  <a:schemeClr val="bg1"/>
                </a:solidFill>
              </a:rPr>
              <a:t>a photo of 2 dogs</a:t>
            </a:r>
            <a:endParaRPr lang="en-US" sz="1200" dirty="0"/>
          </a:p>
        </p:txBody>
      </p:sp>
      <p:sp>
        <p:nvSpPr>
          <p:cNvPr id="11" name="codebg-391"/>
          <p:cNvSpPr/>
          <p:nvPr/>
        </p:nvSpPr>
        <p:spPr>
          <a:xfrm>
            <a:off x="5120640" y="1325880"/>
            <a:ext cx="6400800" cy="3063240"/>
          </a:xfrm>
          <a:prstGeom prst="roundRect">
            <a:avLst>
              <a:gd name="adj" fmla="val 3582"/>
            </a:avLst>
          </a:prstGeom>
          <a:solidFill>
            <a:schemeClr val="tx1"/>
          </a:solidFill>
          <a:ln/>
        </p:spPr>
      </p:sp>
      <p:sp>
        <p:nvSpPr>
          <p:cNvPr id="12" name="text-392"/>
          <p:cNvSpPr txBox="1"/>
          <p:nvPr/>
        </p:nvSpPr>
        <p:spPr>
          <a:xfrm>
            <a:off x="5394960" y="1554480"/>
            <a:ext cx="5852160" cy="2606040"/>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url = "http://images.cocodataset.org/val2017/000000039769.jpg"</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image = Image.open(requests.get(url, stream=True).raw)</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texts = ["a photo of 2 cats", "a photo of 2 hamburgers",</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 photo of 2 dogs"]</a:t>
            </a:r>
            <a:endParaRPr lang="en-US" sz="1200" dirty="0"/>
          </a:p>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important: we pass padding="max_length"</a:t>
            </a:r>
            <a:endParaRPr lang="en-US" sz="1200" dirty="0"/>
          </a:p>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as that's how the model was trained</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inputs = processor(text=texts, images=image,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padding="max_length", return_tensors="pt")</a:t>
            </a:r>
            <a:endParaRPr lang="en-US" sz="1200" dirty="0"/>
          </a:p>
        </p:txBody>
      </p:sp>
      <p:sp>
        <p:nvSpPr>
          <p:cNvPr id="13" name="outbg-393"/>
          <p:cNvSpPr/>
          <p:nvPr/>
        </p:nvSpPr>
        <p:spPr>
          <a:xfrm>
            <a:off x="5120640" y="4526280"/>
            <a:ext cx="6400800" cy="914400"/>
          </a:xfrm>
          <a:prstGeom prst="roundRect">
            <a:avLst>
              <a:gd name="adj" fmla="val 8000"/>
            </a:avLst>
          </a:prstGeom>
          <a:solidFill>
            <a:schemeClr val="bg2"/>
          </a:solidFill>
          <a:ln w="12700">
            <a:solidFill>
              <a:schemeClr val="accent6"/>
            </a:solidFill>
            <a:prstDash val="solid"/>
          </a:ln>
        </p:spPr>
      </p:sp>
      <p:sp>
        <p:nvSpPr>
          <p:cNvPr id="14" name="text-394"/>
          <p:cNvSpPr txBox="1"/>
          <p:nvPr/>
        </p:nvSpPr>
        <p:spPr>
          <a:xfrm>
            <a:off x="5303520" y="4617720"/>
            <a:ext cx="6035040" cy="731520"/>
          </a:xfrm>
          <a:prstGeom prst="rect">
            <a:avLst/>
          </a:prstGeom>
          <a:noFill/>
          <a:ln/>
        </p:spPr>
        <p:txBody>
          <a:bodyPr wrap="square" lIns="0" tIns="0" rIns="0" bIns="0" rtlCol="0" anchor="ctr"/>
          <a:lstStyle/>
          <a:p>
            <a:pPr indent="0" marL="0">
              <a:buNone/>
            </a:pPr>
            <a:r>
              <a:rPr lang="en-US" sz="1100" b="1" dirty="0">
                <a:solidFill>
                  <a:schemeClr val="tx2"/>
                </a:solidFill>
              </a:rPr>
              <a:t>출력</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input_ids torch.Size([3, 64])</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pixel_values torch.Size([1, 3, 224, 224])</a:t>
            </a:r>
            <a:endParaRPr lang="en-US" sz="1300" dirty="0"/>
          </a:p>
        </p:txBody>
      </p:sp>
      <p:sp>
        <p:nvSpPr>
          <p:cNvPr id="15" name="text-395"/>
          <p:cNvSpPr txBox="1"/>
          <p:nvPr/>
        </p:nvSpPr>
        <p:spPr>
          <a:xfrm>
            <a:off x="5120640" y="5577840"/>
            <a:ext cx="6400800" cy="411480"/>
          </a:xfrm>
          <a:prstGeom prst="rect">
            <a:avLst/>
          </a:prstGeom>
          <a:noFill/>
          <a:ln/>
        </p:spPr>
        <p:txBody>
          <a:bodyPr wrap="square" lIns="0" tIns="0" rIns="0" bIns="0" rtlCol="0" anchor="t"/>
          <a:lstStyle/>
          <a:p>
            <a:pPr indent="0" marL="0">
              <a:buNone/>
            </a:pPr>
            <a:r>
              <a:rPr lang="en-US" sz="1500" b="1" dirty="0">
                <a:solidFill>
                  <a:schemeClr val="accent2"/>
                </a:solidFill>
              </a:rPr>
              <a:t>64</a:t>
            </a:r>
            <a:r>
              <a:rPr lang="en-US" sz="1500" dirty="0">
                <a:solidFill>
                  <a:schemeClr val="tx1"/>
                </a:solidFill>
              </a:rPr>
              <a:t> = 문장마다 64토큰으로 패딩   </a:t>
            </a:r>
            <a:r>
              <a:rPr lang="en-US" sz="1500" b="1" dirty="0">
                <a:solidFill>
                  <a:schemeClr val="accent1"/>
                </a:solidFill>
              </a:rPr>
              <a:t>224</a:t>
            </a:r>
            <a:r>
              <a:rPr lang="en-US" sz="1500" dirty="0">
                <a:solidFill>
                  <a:schemeClr val="tx1"/>
                </a:solidFill>
              </a:rPr>
              <a:t> = 사진을 224×224로 변환</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실습 ③ Sigmoid로 짝 확인하기</a:t>
            </a:r>
            <a:endParaRPr lang="en-US" sz="3000" dirty="0"/>
          </a:p>
        </p:txBody>
      </p:sp>
      <p:sp>
        <p:nvSpPr>
          <p:cNvPr id="3" name="codebg-396"/>
          <p:cNvSpPr/>
          <p:nvPr/>
        </p:nvSpPr>
        <p:spPr>
          <a:xfrm>
            <a:off x="640080" y="1325880"/>
            <a:ext cx="6949440" cy="2926080"/>
          </a:xfrm>
          <a:prstGeom prst="roundRect">
            <a:avLst>
              <a:gd name="adj" fmla="val 3750"/>
            </a:avLst>
          </a:prstGeom>
          <a:solidFill>
            <a:schemeClr val="tx1"/>
          </a:solidFill>
          <a:ln/>
        </p:spPr>
      </p:sp>
      <p:sp>
        <p:nvSpPr>
          <p:cNvPr id="4" name="text-397"/>
          <p:cNvSpPr txBox="1"/>
          <p:nvPr/>
        </p:nvSpPr>
        <p:spPr>
          <a:xfrm>
            <a:off x="914400" y="1554480"/>
            <a:ext cx="6400800" cy="2468880"/>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import torch</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with torch.no_grad():</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outputs = model(**inputs)</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logits_per_image = outputs.logits_per_image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probs = torch.sigmoid(logits_per_image) # these are the probabilities</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print(f"{probs[0][0]:.1%} that image 0 is '{texts[0]}'")</a:t>
            </a:r>
            <a:endParaRPr lang="en-US" sz="1200" dirty="0"/>
          </a:p>
        </p:txBody>
      </p:sp>
      <p:sp>
        <p:nvSpPr>
          <p:cNvPr id="5" name="outbg-398"/>
          <p:cNvSpPr/>
          <p:nvPr/>
        </p:nvSpPr>
        <p:spPr>
          <a:xfrm>
            <a:off x="640080" y="4389120"/>
            <a:ext cx="6949440" cy="1234440"/>
          </a:xfrm>
          <a:prstGeom prst="roundRect">
            <a:avLst>
              <a:gd name="adj" fmla="val 5926"/>
            </a:avLst>
          </a:prstGeom>
          <a:solidFill>
            <a:schemeClr val="bg2"/>
          </a:solidFill>
          <a:ln w="12700">
            <a:solidFill>
              <a:schemeClr val="accent6"/>
            </a:solidFill>
            <a:prstDash val="solid"/>
          </a:ln>
        </p:spPr>
      </p:sp>
      <p:sp>
        <p:nvSpPr>
          <p:cNvPr id="6" name="text-399"/>
          <p:cNvSpPr txBox="1"/>
          <p:nvPr/>
        </p:nvSpPr>
        <p:spPr>
          <a:xfrm>
            <a:off x="822960" y="4480560"/>
            <a:ext cx="6583680" cy="1051560"/>
          </a:xfrm>
          <a:prstGeom prst="rect">
            <a:avLst/>
          </a:prstGeom>
          <a:noFill/>
          <a:ln/>
        </p:spPr>
        <p:txBody>
          <a:bodyPr wrap="square" lIns="0" tIns="0" rIns="0" bIns="0" rtlCol="0" anchor="ctr"/>
          <a:lstStyle/>
          <a:p>
            <a:pPr indent="0" marL="0">
              <a:buNone/>
            </a:pPr>
            <a:r>
              <a:rPr lang="en-US" sz="1100" b="1" dirty="0">
                <a:solidFill>
                  <a:schemeClr val="tx2"/>
                </a:solidFill>
              </a:rPr>
              <a:t>출력</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32.0% that image 0 is 'a photo of 2 cats'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0.0% that image 0 is 'a photo of 2 hamburgers'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0.0% that image 0 is 'a photo of 2 dogs'</a:t>
            </a:r>
            <a:endParaRPr lang="en-US" sz="1300" dirty="0"/>
          </a:p>
        </p:txBody>
      </p:sp>
      <p:sp>
        <p:nvSpPr>
          <p:cNvPr id="7" name="text-400"/>
          <p:cNvSpPr txBox="1"/>
          <p:nvPr/>
        </p:nvSpPr>
        <p:spPr>
          <a:xfrm>
            <a:off x="640080" y="5760720"/>
            <a:ext cx="7315200" cy="292608"/>
          </a:xfrm>
          <a:prstGeom prst="rect">
            <a:avLst/>
          </a:prstGeom>
          <a:noFill/>
          <a:ln/>
        </p:spPr>
        <p:txBody>
          <a:bodyPr wrap="square" lIns="0" tIns="0" rIns="0" bIns="0" rtlCol="0" anchor="t"/>
          <a:lstStyle/>
          <a:p>
            <a:pPr indent="0" marL="0">
              <a:buNone/>
            </a:pPr>
            <a:r>
              <a:rPr lang="en-US" sz="1100" dirty="0">
                <a:solidFill>
                  <a:schemeClr val="tx2"/>
                </a:solidFill>
              </a:rPr>
              <a:t>출처: </a:t>
            </a: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Inference with (multilingual) SigLIP 노트북 · 직접 실행 (base-patch16-224)</a:t>
            </a:r>
            <a:endParaRPr lang="en-US" sz="1100" dirty="0"/>
          </a:p>
        </p:txBody>
      </p:sp>
      <p:pic>
        <p:nvPicPr>
          <p:cNvPr id="8" name="coco-small" descr="COCO 고양이 사진">    </p:cNvPr>
          <p:cNvPicPr>
            <a:picLocks noChangeAspect="1"/>
          </p:cNvPicPr>
          <p:nvPr/>
        </p:nvPicPr>
        <p:blipFill>
          <a:blip r:embed="rId2"/>
          <a:stretch>
            <a:fillRect/>
          </a:stretch>
        </p:blipFill>
        <p:spPr>
          <a:xfrm>
            <a:off x="7955280" y="1325880"/>
            <a:ext cx="1463040" cy="1097280"/>
          </a:xfrm>
          <a:prstGeom prst="rect">
            <a:avLst/>
          </a:prstGeom>
        </p:spPr>
      </p:pic>
      <p:sp>
        <p:nvSpPr>
          <p:cNvPr id="9" name="text-401"/>
          <p:cNvSpPr txBox="1"/>
          <p:nvPr/>
        </p:nvSpPr>
        <p:spPr>
          <a:xfrm>
            <a:off x="9555480" y="1463040"/>
            <a:ext cx="2011680" cy="822960"/>
          </a:xfrm>
          <a:prstGeom prst="rect">
            <a:avLst/>
          </a:prstGeom>
          <a:noFill/>
          <a:ln/>
        </p:spPr>
        <p:txBody>
          <a:bodyPr wrap="square" lIns="0" tIns="0" rIns="0" bIns="0" rtlCol="0" anchor="ctr"/>
          <a:lstStyle/>
          <a:p>
            <a:pPr indent="0" marL="0">
              <a:buNone/>
            </a:pPr>
            <a:r>
              <a:rPr lang="en-US" sz="1500" b="1" dirty="0">
                <a:solidFill>
                  <a:schemeClr val="accent4"/>
                </a:solidFill>
              </a:rPr>
              <a:t>softmax ✗ → sigmoid ✓</a:t>
            </a:r>
            <a:endParaRPr lang="en-US" sz="1500" dirty="0"/>
          </a:p>
        </p:txBody>
      </p:sp>
      <p:sp>
        <p:nvSpPr>
          <p:cNvPr id="10" name="text-402"/>
          <p:cNvSpPr txBox="1"/>
          <p:nvPr/>
        </p:nvSpPr>
        <p:spPr>
          <a:xfrm>
            <a:off x="7955280" y="2606040"/>
            <a:ext cx="3566160" cy="347472"/>
          </a:xfrm>
          <a:prstGeom prst="rect">
            <a:avLst/>
          </a:prstGeom>
          <a:noFill/>
          <a:ln/>
        </p:spPr>
        <p:txBody>
          <a:bodyPr wrap="square" lIns="0" tIns="0" rIns="0" bIns="0" rtlCol="0" anchor="t"/>
          <a:lstStyle/>
          <a:p>
            <a:pPr indent="0" marL="0">
              <a:buNone/>
            </a:pPr>
            <a:r>
              <a:rPr lang="en-US" sz="1500" b="1" dirty="0">
                <a:solidFill>
                  <a:schemeClr val="tx1"/>
                </a:solidFill>
              </a:rPr>
              <a:t>2 cats</a:t>
            </a:r>
            <a:endParaRPr lang="en-US" sz="1500" dirty="0"/>
          </a:p>
        </p:txBody>
      </p:sp>
      <p:sp>
        <p:nvSpPr>
          <p:cNvPr id="11" name="bar-bg-403"/>
          <p:cNvSpPr/>
          <p:nvPr/>
        </p:nvSpPr>
        <p:spPr>
          <a:xfrm>
            <a:off x="7955280" y="2990088"/>
            <a:ext cx="2651760" cy="274320"/>
          </a:xfrm>
          <a:prstGeom prst="rect">
            <a:avLst/>
          </a:prstGeom>
          <a:solidFill>
            <a:schemeClr val="bg2"/>
          </a:solidFill>
          <a:ln/>
        </p:spPr>
      </p:sp>
      <p:sp>
        <p:nvSpPr>
          <p:cNvPr id="12" name="bar-404"/>
          <p:cNvSpPr/>
          <p:nvPr/>
        </p:nvSpPr>
        <p:spPr>
          <a:xfrm>
            <a:off x="7955280" y="2990088"/>
            <a:ext cx="848563" cy="274320"/>
          </a:xfrm>
          <a:prstGeom prst="rect">
            <a:avLst/>
          </a:prstGeom>
          <a:solidFill>
            <a:schemeClr val="accent5"/>
          </a:solidFill>
          <a:ln/>
        </p:spPr>
      </p:sp>
      <p:sp>
        <p:nvSpPr>
          <p:cNvPr id="13" name="text-405"/>
          <p:cNvSpPr txBox="1"/>
          <p:nvPr/>
        </p:nvSpPr>
        <p:spPr>
          <a:xfrm>
            <a:off x="10652760" y="2898648"/>
            <a:ext cx="868680" cy="457200"/>
          </a:xfrm>
          <a:prstGeom prst="rect">
            <a:avLst/>
          </a:prstGeom>
          <a:noFill/>
          <a:ln/>
        </p:spPr>
        <p:txBody>
          <a:bodyPr wrap="square" lIns="0" tIns="0" rIns="0" bIns="0" rtlCol="0" anchor="t"/>
          <a:lstStyle/>
          <a:p>
            <a:pPr algn="r" indent="0" marL="0">
              <a:buNone/>
            </a:pPr>
            <a:r>
              <a:rPr lang="en-US" sz="1600" b="1" dirty="0">
                <a:solidFill>
                  <a:schemeClr val="accent5"/>
                </a:solidFill>
              </a:rPr>
              <a:t>32.0%</a:t>
            </a:r>
            <a:endParaRPr lang="en-US" sz="1600" dirty="0"/>
          </a:p>
        </p:txBody>
      </p:sp>
      <p:sp>
        <p:nvSpPr>
          <p:cNvPr id="14" name="text-406"/>
          <p:cNvSpPr txBox="1"/>
          <p:nvPr/>
        </p:nvSpPr>
        <p:spPr>
          <a:xfrm>
            <a:off x="7955280" y="3337560"/>
            <a:ext cx="3566160" cy="347472"/>
          </a:xfrm>
          <a:prstGeom prst="rect">
            <a:avLst/>
          </a:prstGeom>
          <a:noFill/>
          <a:ln/>
        </p:spPr>
        <p:txBody>
          <a:bodyPr wrap="square" lIns="0" tIns="0" rIns="0" bIns="0" rtlCol="0" anchor="t"/>
          <a:lstStyle/>
          <a:p>
            <a:pPr indent="0" marL="0">
              <a:buNone/>
            </a:pPr>
            <a:r>
              <a:rPr lang="en-US" sz="1500" dirty="0">
                <a:solidFill>
                  <a:schemeClr val="tx1"/>
                </a:solidFill>
              </a:rPr>
              <a:t>2 hamburgers</a:t>
            </a:r>
            <a:endParaRPr lang="en-US" sz="1500" dirty="0"/>
          </a:p>
        </p:txBody>
      </p:sp>
      <p:sp>
        <p:nvSpPr>
          <p:cNvPr id="15" name="bar-bg-407"/>
          <p:cNvSpPr/>
          <p:nvPr/>
        </p:nvSpPr>
        <p:spPr>
          <a:xfrm>
            <a:off x="7955280" y="3721608"/>
            <a:ext cx="2651760" cy="274320"/>
          </a:xfrm>
          <a:prstGeom prst="rect">
            <a:avLst/>
          </a:prstGeom>
          <a:solidFill>
            <a:schemeClr val="bg2"/>
          </a:solidFill>
          <a:ln/>
        </p:spPr>
      </p:sp>
      <p:sp>
        <p:nvSpPr>
          <p:cNvPr id="16" name="bar-408"/>
          <p:cNvSpPr/>
          <p:nvPr/>
        </p:nvSpPr>
        <p:spPr>
          <a:xfrm>
            <a:off x="7955280" y="3721608"/>
            <a:ext cx="36576" cy="274320"/>
          </a:xfrm>
          <a:prstGeom prst="rect">
            <a:avLst/>
          </a:prstGeom>
          <a:solidFill>
            <a:schemeClr val="accent6"/>
          </a:solidFill>
          <a:ln/>
        </p:spPr>
      </p:sp>
      <p:sp>
        <p:nvSpPr>
          <p:cNvPr id="17" name="text-409"/>
          <p:cNvSpPr txBox="1"/>
          <p:nvPr/>
        </p:nvSpPr>
        <p:spPr>
          <a:xfrm>
            <a:off x="10652760" y="3630168"/>
            <a:ext cx="868680" cy="457200"/>
          </a:xfrm>
          <a:prstGeom prst="rect">
            <a:avLst/>
          </a:prstGeom>
          <a:noFill/>
          <a:ln/>
        </p:spPr>
        <p:txBody>
          <a:bodyPr wrap="square" lIns="0" tIns="0" rIns="0" bIns="0" rtlCol="0" anchor="t"/>
          <a:lstStyle/>
          <a:p>
            <a:pPr algn="r" indent="0" marL="0">
              <a:buNone/>
            </a:pPr>
            <a:r>
              <a:rPr lang="en-US" sz="1600" b="1" dirty="0">
                <a:solidFill>
                  <a:schemeClr val="tx2"/>
                </a:solidFill>
              </a:rPr>
              <a:t>0.0%</a:t>
            </a:r>
            <a:endParaRPr lang="en-US" sz="1600" dirty="0"/>
          </a:p>
        </p:txBody>
      </p:sp>
      <p:sp>
        <p:nvSpPr>
          <p:cNvPr id="18" name="text-410"/>
          <p:cNvSpPr txBox="1"/>
          <p:nvPr/>
        </p:nvSpPr>
        <p:spPr>
          <a:xfrm>
            <a:off x="7955280" y="4069080"/>
            <a:ext cx="3566160" cy="347472"/>
          </a:xfrm>
          <a:prstGeom prst="rect">
            <a:avLst/>
          </a:prstGeom>
          <a:noFill/>
          <a:ln/>
        </p:spPr>
        <p:txBody>
          <a:bodyPr wrap="square" lIns="0" tIns="0" rIns="0" bIns="0" rtlCol="0" anchor="t"/>
          <a:lstStyle/>
          <a:p>
            <a:pPr indent="0" marL="0">
              <a:buNone/>
            </a:pPr>
            <a:r>
              <a:rPr lang="en-US" sz="1500" dirty="0">
                <a:solidFill>
                  <a:schemeClr val="tx1"/>
                </a:solidFill>
              </a:rPr>
              <a:t>2 dogs</a:t>
            </a:r>
            <a:endParaRPr lang="en-US" sz="1500" dirty="0"/>
          </a:p>
        </p:txBody>
      </p:sp>
      <p:sp>
        <p:nvSpPr>
          <p:cNvPr id="19" name="bar-bg-411"/>
          <p:cNvSpPr/>
          <p:nvPr/>
        </p:nvSpPr>
        <p:spPr>
          <a:xfrm>
            <a:off x="7955280" y="4453128"/>
            <a:ext cx="2651760" cy="274320"/>
          </a:xfrm>
          <a:prstGeom prst="rect">
            <a:avLst/>
          </a:prstGeom>
          <a:solidFill>
            <a:schemeClr val="bg2"/>
          </a:solidFill>
          <a:ln/>
        </p:spPr>
      </p:sp>
      <p:sp>
        <p:nvSpPr>
          <p:cNvPr id="20" name="bar-412"/>
          <p:cNvSpPr/>
          <p:nvPr/>
        </p:nvSpPr>
        <p:spPr>
          <a:xfrm>
            <a:off x="7955280" y="4453128"/>
            <a:ext cx="36576" cy="274320"/>
          </a:xfrm>
          <a:prstGeom prst="rect">
            <a:avLst/>
          </a:prstGeom>
          <a:solidFill>
            <a:schemeClr val="accent6"/>
          </a:solidFill>
          <a:ln/>
        </p:spPr>
      </p:sp>
      <p:sp>
        <p:nvSpPr>
          <p:cNvPr id="21" name="text-413"/>
          <p:cNvSpPr txBox="1"/>
          <p:nvPr/>
        </p:nvSpPr>
        <p:spPr>
          <a:xfrm>
            <a:off x="10652760" y="4361688"/>
            <a:ext cx="868680" cy="457200"/>
          </a:xfrm>
          <a:prstGeom prst="rect">
            <a:avLst/>
          </a:prstGeom>
          <a:noFill/>
          <a:ln/>
        </p:spPr>
        <p:txBody>
          <a:bodyPr wrap="square" lIns="0" tIns="0" rIns="0" bIns="0" rtlCol="0" anchor="t"/>
          <a:lstStyle/>
          <a:p>
            <a:pPr algn="r" indent="0" marL="0">
              <a:buNone/>
            </a:pPr>
            <a:r>
              <a:rPr lang="en-US" sz="1600" b="1" dirty="0">
                <a:solidFill>
                  <a:schemeClr val="tx2"/>
                </a:solidFill>
              </a:rPr>
              <a:t>0.0%</a:t>
            </a:r>
            <a:endParaRPr lang="en-US" sz="1600" dirty="0"/>
          </a:p>
        </p:txBody>
      </p:sp>
      <p:sp>
        <p:nvSpPr>
          <p:cNvPr id="22" name="card-414"/>
          <p:cNvSpPr/>
          <p:nvPr/>
        </p:nvSpPr>
        <p:spPr>
          <a:xfrm>
            <a:off x="7955280" y="4846320"/>
            <a:ext cx="3566160" cy="1188720"/>
          </a:xfrm>
          <a:prstGeom prst="roundRect">
            <a:avLst>
              <a:gd name="adj" fmla="val 10769"/>
            </a:avLst>
          </a:prstGeom>
          <a:solidFill>
            <a:schemeClr val="accent3">
              <a:alpha val="10000"/>
            </a:schemeClr>
          </a:solidFill>
          <a:ln/>
        </p:spPr>
      </p:sp>
      <p:sp>
        <p:nvSpPr>
          <p:cNvPr id="23" name="text-415"/>
          <p:cNvSpPr txBox="1"/>
          <p:nvPr/>
        </p:nvSpPr>
        <p:spPr>
          <a:xfrm>
            <a:off x="8138160" y="4846320"/>
            <a:ext cx="3246120" cy="1188720"/>
          </a:xfrm>
          <a:prstGeom prst="rect">
            <a:avLst/>
          </a:prstGeom>
          <a:noFill/>
          <a:ln/>
        </p:spPr>
        <p:txBody>
          <a:bodyPr wrap="square" lIns="0" tIns="0" rIns="0" bIns="0" rtlCol="0" anchor="ctr"/>
          <a:lstStyle/>
          <a:p>
            <a:pPr indent="0" marL="0">
              <a:buNone/>
            </a:pPr>
            <a:r>
              <a:rPr lang="en-US" sz="1400" dirty="0">
                <a:solidFill>
                  <a:schemeClr val="tx1"/>
                </a:solidFill>
              </a:rPr>
              <a:t>정답인데 32%? → 쌍마다 따로 해석하는 확률이라 CLIP보다 ‘평평’함. 다른 캡션과 비교해서 읽기</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실습 ④ 다른 언어로 물어보기</a:t>
            </a:r>
            <a:endParaRPr lang="en-US" sz="3000" dirty="0"/>
          </a:p>
        </p:txBody>
      </p:sp>
      <p:sp>
        <p:nvSpPr>
          <p:cNvPr id="3" name="codebg-416"/>
          <p:cNvSpPr/>
          <p:nvPr/>
        </p:nvSpPr>
        <p:spPr>
          <a:xfrm>
            <a:off x="640080" y="1325880"/>
            <a:ext cx="6949440" cy="3429000"/>
          </a:xfrm>
          <a:prstGeom prst="roundRect">
            <a:avLst>
              <a:gd name="adj" fmla="val 3200"/>
            </a:avLst>
          </a:prstGeom>
          <a:solidFill>
            <a:schemeClr val="tx1"/>
          </a:solidFill>
          <a:ln/>
        </p:spPr>
      </p:sp>
      <p:sp>
        <p:nvSpPr>
          <p:cNvPr id="4" name="text-417"/>
          <p:cNvSpPr txBox="1"/>
          <p:nvPr/>
        </p:nvSpPr>
        <p:spPr>
          <a:xfrm>
            <a:off x="914400" y="1554480"/>
            <a:ext cx="6400800" cy="2971800"/>
          </a:xfrm>
          <a:prstGeom prst="rect">
            <a:avLst/>
          </a:prstGeom>
          <a:noFill/>
          <a:ln/>
        </p:spPr>
        <p:txBody>
          <a:bodyPr wrap="square" lIns="0" tIns="0" rIns="0" bIns="0" rtlCol="0" anchor="t"/>
          <a:lstStyle/>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from transformers import AutoProcessor, AutoModel</a:t>
            </a:r>
            <a:endParaRPr lang="en-US" sz="1200" dirty="0"/>
          </a:p>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processor = AutoProcessor.from_pretrained(</a:t>
            </a:r>
            <a:endParaRPr lang="en-US" sz="1200" dirty="0"/>
          </a:p>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"google/siglip-so400m-patch14-384")</a:t>
            </a:r>
            <a:endParaRPr lang="en-US" sz="1200" dirty="0"/>
          </a:p>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model = AutoModel.from_pretrained(</a:t>
            </a:r>
            <a:endParaRPr lang="en-US" sz="1200" dirty="0"/>
          </a:p>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"google/siglip-so400m-patch14-384")</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texts = ["une photo de 2 chats", "een foto met een hond",</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"ein Bild von einem Auto"]</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inputs = processor(text=texts, images=image,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padding="max_length", return_tensors="pt")</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with torch.no_grad():</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outputs = model(**inputs)</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probs = torch.sigmoid(outputs.logits_per_image)</a:t>
            </a:r>
            <a:endParaRPr lang="en-US" sz="1200" dirty="0"/>
          </a:p>
        </p:txBody>
      </p:sp>
      <p:sp>
        <p:nvSpPr>
          <p:cNvPr id="5" name="text-418"/>
          <p:cNvSpPr txBox="1"/>
          <p:nvPr/>
        </p:nvSpPr>
        <p:spPr>
          <a:xfrm>
            <a:off x="640080" y="4846320"/>
            <a:ext cx="7315200" cy="292608"/>
          </a:xfrm>
          <a:prstGeom prst="rect">
            <a:avLst/>
          </a:prstGeom>
          <a:noFill/>
          <a:ln/>
        </p:spPr>
        <p:txBody>
          <a:bodyPr wrap="square" lIns="0" tIns="0" rIns="0" bIns="0" rtlCol="0" anchor="t"/>
          <a:lstStyle/>
          <a:p>
            <a:pPr indent="0" marL="0">
              <a:buNone/>
            </a:pPr>
            <a:r>
              <a:rPr lang="en-US" sz="1100" dirty="0">
                <a:solidFill>
                  <a:schemeClr val="tx2"/>
                </a:solidFill>
              </a:rPr>
              <a:t>출처: </a:t>
            </a: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Inference with (multilingual) SigLIP 노트북 · 직접 실행 (base-patch16-224)</a:t>
            </a:r>
            <a:endParaRPr lang="en-US" sz="1100" dirty="0"/>
          </a:p>
        </p:txBody>
      </p:sp>
      <p:sp>
        <p:nvSpPr>
          <p:cNvPr id="6" name="text-419"/>
          <p:cNvSpPr txBox="1"/>
          <p:nvPr/>
        </p:nvSpPr>
        <p:spPr>
          <a:xfrm>
            <a:off x="7955280" y="1325880"/>
            <a:ext cx="3566160" cy="347472"/>
          </a:xfrm>
          <a:prstGeom prst="rect">
            <a:avLst/>
          </a:prstGeom>
          <a:noFill/>
          <a:ln/>
        </p:spPr>
        <p:txBody>
          <a:bodyPr wrap="square" lIns="0" tIns="0" rIns="0" bIns="0" rtlCol="0" anchor="t"/>
          <a:lstStyle/>
          <a:p>
            <a:pPr indent="0" marL="0">
              <a:buNone/>
            </a:pPr>
            <a:r>
              <a:rPr lang="en-US" sz="1500" b="1" dirty="0">
                <a:solidFill>
                  <a:schemeClr val="tx1"/>
                </a:solidFill>
              </a:rPr>
              <a:t>une photo de 2 chats</a:t>
            </a:r>
            <a:endParaRPr lang="en-US" sz="1500" dirty="0"/>
          </a:p>
        </p:txBody>
      </p:sp>
      <p:sp>
        <p:nvSpPr>
          <p:cNvPr id="7" name="bar-bg-420"/>
          <p:cNvSpPr/>
          <p:nvPr/>
        </p:nvSpPr>
        <p:spPr>
          <a:xfrm>
            <a:off x="7955280" y="1709928"/>
            <a:ext cx="2651760" cy="274320"/>
          </a:xfrm>
          <a:prstGeom prst="rect">
            <a:avLst/>
          </a:prstGeom>
          <a:solidFill>
            <a:schemeClr val="bg2"/>
          </a:solidFill>
          <a:ln/>
        </p:spPr>
      </p:sp>
      <p:sp>
        <p:nvSpPr>
          <p:cNvPr id="8" name="bar-421"/>
          <p:cNvSpPr/>
          <p:nvPr/>
        </p:nvSpPr>
        <p:spPr>
          <a:xfrm>
            <a:off x="7955280" y="1709928"/>
            <a:ext cx="782269" cy="274320"/>
          </a:xfrm>
          <a:prstGeom prst="rect">
            <a:avLst/>
          </a:prstGeom>
          <a:solidFill>
            <a:schemeClr val="accent5"/>
          </a:solidFill>
          <a:ln/>
        </p:spPr>
      </p:sp>
      <p:sp>
        <p:nvSpPr>
          <p:cNvPr id="9" name="text-422"/>
          <p:cNvSpPr txBox="1"/>
          <p:nvPr/>
        </p:nvSpPr>
        <p:spPr>
          <a:xfrm>
            <a:off x="10652760" y="1618488"/>
            <a:ext cx="868680" cy="457200"/>
          </a:xfrm>
          <a:prstGeom prst="rect">
            <a:avLst/>
          </a:prstGeom>
          <a:noFill/>
          <a:ln/>
        </p:spPr>
        <p:txBody>
          <a:bodyPr wrap="square" lIns="0" tIns="0" rIns="0" bIns="0" rtlCol="0" anchor="t"/>
          <a:lstStyle/>
          <a:p>
            <a:pPr algn="r" indent="0" marL="0">
              <a:buNone/>
            </a:pPr>
            <a:r>
              <a:rPr lang="en-US" sz="1600" b="1" dirty="0">
                <a:solidFill>
                  <a:schemeClr val="accent5"/>
                </a:solidFill>
              </a:rPr>
              <a:t>29.5%</a:t>
            </a:r>
            <a:endParaRPr lang="en-US" sz="1600" dirty="0"/>
          </a:p>
        </p:txBody>
      </p:sp>
      <p:sp>
        <p:nvSpPr>
          <p:cNvPr id="10" name="text-423"/>
          <p:cNvSpPr txBox="1"/>
          <p:nvPr/>
        </p:nvSpPr>
        <p:spPr>
          <a:xfrm>
            <a:off x="7955280" y="2103120"/>
            <a:ext cx="3566160" cy="347472"/>
          </a:xfrm>
          <a:prstGeom prst="rect">
            <a:avLst/>
          </a:prstGeom>
          <a:noFill/>
          <a:ln/>
        </p:spPr>
        <p:txBody>
          <a:bodyPr wrap="square" lIns="0" tIns="0" rIns="0" bIns="0" rtlCol="0" anchor="t"/>
          <a:lstStyle/>
          <a:p>
            <a:pPr indent="0" marL="0">
              <a:buNone/>
            </a:pPr>
            <a:r>
              <a:rPr lang="en-US" sz="1500" dirty="0">
                <a:solidFill>
                  <a:schemeClr val="tx1"/>
                </a:solidFill>
              </a:rPr>
              <a:t>een foto met een hond</a:t>
            </a:r>
            <a:endParaRPr lang="en-US" sz="1500" dirty="0"/>
          </a:p>
        </p:txBody>
      </p:sp>
      <p:sp>
        <p:nvSpPr>
          <p:cNvPr id="11" name="bar-bg-424"/>
          <p:cNvSpPr/>
          <p:nvPr/>
        </p:nvSpPr>
        <p:spPr>
          <a:xfrm>
            <a:off x="7955280" y="2487168"/>
            <a:ext cx="2651760" cy="274320"/>
          </a:xfrm>
          <a:prstGeom prst="rect">
            <a:avLst/>
          </a:prstGeom>
          <a:solidFill>
            <a:schemeClr val="bg2"/>
          </a:solidFill>
          <a:ln/>
        </p:spPr>
      </p:sp>
      <p:sp>
        <p:nvSpPr>
          <p:cNvPr id="12" name="bar-425"/>
          <p:cNvSpPr/>
          <p:nvPr/>
        </p:nvSpPr>
        <p:spPr>
          <a:xfrm>
            <a:off x="7955280" y="2487168"/>
            <a:ext cx="36576" cy="274320"/>
          </a:xfrm>
          <a:prstGeom prst="rect">
            <a:avLst/>
          </a:prstGeom>
          <a:solidFill>
            <a:schemeClr val="accent6"/>
          </a:solidFill>
          <a:ln/>
        </p:spPr>
      </p:sp>
      <p:sp>
        <p:nvSpPr>
          <p:cNvPr id="13" name="text-426"/>
          <p:cNvSpPr txBox="1"/>
          <p:nvPr/>
        </p:nvSpPr>
        <p:spPr>
          <a:xfrm>
            <a:off x="10652760" y="2395728"/>
            <a:ext cx="868680" cy="457200"/>
          </a:xfrm>
          <a:prstGeom prst="rect">
            <a:avLst/>
          </a:prstGeom>
          <a:noFill/>
          <a:ln/>
        </p:spPr>
        <p:txBody>
          <a:bodyPr wrap="square" lIns="0" tIns="0" rIns="0" bIns="0" rtlCol="0" anchor="t"/>
          <a:lstStyle/>
          <a:p>
            <a:pPr algn="r" indent="0" marL="0">
              <a:buNone/>
            </a:pPr>
            <a:r>
              <a:rPr lang="en-US" sz="1600" b="1" dirty="0">
                <a:solidFill>
                  <a:schemeClr val="tx2"/>
                </a:solidFill>
              </a:rPr>
              <a:t>0.0%</a:t>
            </a:r>
            <a:endParaRPr lang="en-US" sz="1600" dirty="0"/>
          </a:p>
        </p:txBody>
      </p:sp>
      <p:sp>
        <p:nvSpPr>
          <p:cNvPr id="14" name="text-427"/>
          <p:cNvSpPr txBox="1"/>
          <p:nvPr/>
        </p:nvSpPr>
        <p:spPr>
          <a:xfrm>
            <a:off x="7955280" y="2880360"/>
            <a:ext cx="3566160" cy="347472"/>
          </a:xfrm>
          <a:prstGeom prst="rect">
            <a:avLst/>
          </a:prstGeom>
          <a:noFill/>
          <a:ln/>
        </p:spPr>
        <p:txBody>
          <a:bodyPr wrap="square" lIns="0" tIns="0" rIns="0" bIns="0" rtlCol="0" anchor="t"/>
          <a:lstStyle/>
          <a:p>
            <a:pPr indent="0" marL="0">
              <a:buNone/>
            </a:pPr>
            <a:r>
              <a:rPr lang="en-US" sz="1500" dirty="0">
                <a:solidFill>
                  <a:schemeClr val="tx1"/>
                </a:solidFill>
              </a:rPr>
              <a:t>ein Bild von einem Auto</a:t>
            </a:r>
            <a:endParaRPr lang="en-US" sz="1500" dirty="0"/>
          </a:p>
        </p:txBody>
      </p:sp>
      <p:sp>
        <p:nvSpPr>
          <p:cNvPr id="15" name="bar-bg-428"/>
          <p:cNvSpPr/>
          <p:nvPr/>
        </p:nvSpPr>
        <p:spPr>
          <a:xfrm>
            <a:off x="7955280" y="3264408"/>
            <a:ext cx="2651760" cy="274320"/>
          </a:xfrm>
          <a:prstGeom prst="rect">
            <a:avLst/>
          </a:prstGeom>
          <a:solidFill>
            <a:schemeClr val="bg2"/>
          </a:solidFill>
          <a:ln/>
        </p:spPr>
      </p:sp>
      <p:sp>
        <p:nvSpPr>
          <p:cNvPr id="16" name="bar-429"/>
          <p:cNvSpPr/>
          <p:nvPr/>
        </p:nvSpPr>
        <p:spPr>
          <a:xfrm>
            <a:off x="7955280" y="3264408"/>
            <a:ext cx="36576" cy="274320"/>
          </a:xfrm>
          <a:prstGeom prst="rect">
            <a:avLst/>
          </a:prstGeom>
          <a:solidFill>
            <a:schemeClr val="accent6"/>
          </a:solidFill>
          <a:ln/>
        </p:spPr>
      </p:sp>
      <p:sp>
        <p:nvSpPr>
          <p:cNvPr id="17" name="text-430"/>
          <p:cNvSpPr txBox="1"/>
          <p:nvPr/>
        </p:nvSpPr>
        <p:spPr>
          <a:xfrm>
            <a:off x="10652760" y="3172968"/>
            <a:ext cx="868680" cy="457200"/>
          </a:xfrm>
          <a:prstGeom prst="rect">
            <a:avLst/>
          </a:prstGeom>
          <a:noFill/>
          <a:ln/>
        </p:spPr>
        <p:txBody>
          <a:bodyPr wrap="square" lIns="0" tIns="0" rIns="0" bIns="0" rtlCol="0" anchor="t"/>
          <a:lstStyle/>
          <a:p>
            <a:pPr algn="r" indent="0" marL="0">
              <a:buNone/>
            </a:pPr>
            <a:r>
              <a:rPr lang="en-US" sz="1600" b="1" dirty="0">
                <a:solidFill>
                  <a:schemeClr val="tx2"/>
                </a:solidFill>
              </a:rPr>
              <a:t>0.0%</a:t>
            </a:r>
            <a:endParaRPr lang="en-US" sz="1600" dirty="0"/>
          </a:p>
        </p:txBody>
      </p:sp>
      <p:sp>
        <p:nvSpPr>
          <p:cNvPr id="18" name="card-431"/>
          <p:cNvSpPr/>
          <p:nvPr/>
        </p:nvSpPr>
        <p:spPr>
          <a:xfrm>
            <a:off x="640080" y="5257800"/>
            <a:ext cx="10881360" cy="822960"/>
          </a:xfrm>
          <a:prstGeom prst="roundRect">
            <a:avLst>
              <a:gd name="adj" fmla="val 15556"/>
            </a:avLst>
          </a:prstGeom>
          <a:solidFill>
            <a:schemeClr val="accent4">
              <a:alpha val="8000"/>
            </a:schemeClr>
          </a:solidFill>
          <a:ln/>
        </p:spPr>
      </p:sp>
      <p:sp>
        <p:nvSpPr>
          <p:cNvPr id="19" name="circle-432"/>
          <p:cNvSpPr/>
          <p:nvPr/>
        </p:nvSpPr>
        <p:spPr>
          <a:xfrm>
            <a:off x="868680" y="5413248"/>
            <a:ext cx="512064" cy="512064"/>
          </a:xfrm>
          <a:prstGeom prst="ellipse">
            <a:avLst/>
          </a:prstGeom>
          <a:solidFill>
            <a:schemeClr val="accent4"/>
          </a:solidFill>
          <a:ln/>
        </p:spPr>
      </p:sp>
      <p:pic>
        <p:nvPicPr>
          <p:cNvPr id="20" name="icon-FaExclamationTriangle-433" descr="FaExclamationTriangle">    </p:cNvPr>
          <p:cNvPicPr>
            <a:picLocks noChangeAspect="1"/>
          </p:cNvPicPr>
          <p:nvPr/>
        </p:nvPicPr>
        <p:blipFill>
          <a:blip r:embed="rId2"/>
          <a:stretch>
            <a:fillRect/>
          </a:stretch>
        </p:blipFill>
        <p:spPr>
          <a:xfrm>
            <a:off x="1001817" y="5546385"/>
            <a:ext cx="245791" cy="245791"/>
          </a:xfrm>
          <a:prstGeom prst="rect">
            <a:avLst/>
          </a:prstGeom>
        </p:spPr>
      </p:pic>
      <p:sp>
        <p:nvSpPr>
          <p:cNvPr id="21" name="text-434"/>
          <p:cNvSpPr txBox="1"/>
          <p:nvPr/>
        </p:nvSpPr>
        <p:spPr>
          <a:xfrm>
            <a:off x="1554480" y="5257800"/>
            <a:ext cx="9875520" cy="822960"/>
          </a:xfrm>
          <a:prstGeom prst="rect">
            <a:avLst/>
          </a:prstGeom>
          <a:noFill/>
          <a:ln/>
        </p:spPr>
        <p:txBody>
          <a:bodyPr wrap="square" lIns="0" tIns="0" rIns="0" bIns="0" rtlCol="0" anchor="ctr"/>
          <a:lstStyle/>
          <a:p>
            <a:pPr indent="0" marL="0">
              <a:buNone/>
            </a:pPr>
            <a:r>
              <a:rPr lang="en-US" sz="1400" b="1" dirty="0">
                <a:solidFill>
                  <a:schemeClr val="accent4"/>
                </a:solidFill>
              </a:rPr>
              <a:t>모델 로드가 주석 처리 → 이 결과는 영어 base 모델로 나온 값.  </a:t>
            </a:r>
            <a:r>
              <a:rPr lang="en-US" sz="1400" dirty="0">
                <a:solidFill>
                  <a:schemeClr val="tx1"/>
                </a:solidFill>
              </a:rPr>
              <a:t>제대로 하려면 </a:t>
            </a:r>
            <a:r>
              <a:rPr lang="en-US" sz="1400" b="1" dirty="0">
                <a:solidFill>
                  <a:schemeClr val="tx1"/>
                </a:solidFill>
                <a:latin typeface="Courier New" pitchFamily="34" charset="0"/>
                <a:ea typeface="Courier New" pitchFamily="34" charset="-122"/>
                <a:cs typeface="Courier New" pitchFamily="34" charset="-120"/>
              </a:rPr>
              <a:t>google/siglip-base-patch16-256-multilingual</a:t>
            </a:r>
            <a:r>
              <a:rPr lang="en-US" sz="1400" dirty="0">
                <a:solidFill>
                  <a:schemeClr val="tx1"/>
                </a:solidFill>
              </a:rPr>
              <a:t> 로 다시 실행</a:t>
            </a:r>
            <a:endParaRPr lang="en-US" sz="1400" dirty="0"/>
          </a:p>
        </p:txBody>
      </p:sp>
      <p:sp>
        <p:nvSpPr>
          <p:cNvPr id="22" name="card-435"/>
          <p:cNvSpPr/>
          <p:nvPr/>
        </p:nvSpPr>
        <p:spPr>
          <a:xfrm>
            <a:off x="7955280" y="3794760"/>
            <a:ext cx="3566160" cy="1234440"/>
          </a:xfrm>
          <a:prstGeom prst="roundRect">
            <a:avLst>
              <a:gd name="adj" fmla="val 10370"/>
            </a:avLst>
          </a:prstGeom>
          <a:solidFill>
            <a:schemeClr val="bg2"/>
          </a:solidFill>
          <a:ln/>
        </p:spPr>
      </p:sp>
      <p:sp>
        <p:nvSpPr>
          <p:cNvPr id="23" name="text-436"/>
          <p:cNvSpPr txBox="1"/>
          <p:nvPr/>
        </p:nvSpPr>
        <p:spPr>
          <a:xfrm>
            <a:off x="8138160" y="3794760"/>
            <a:ext cx="3246120" cy="1234440"/>
          </a:xfrm>
          <a:prstGeom prst="rect">
            <a:avLst/>
          </a:prstGeom>
          <a:noFill/>
          <a:ln/>
        </p:spPr>
        <p:txBody>
          <a:bodyPr wrap="square" lIns="0" tIns="0" rIns="0" bIns="0" rtlCol="0" anchor="ctr"/>
          <a:lstStyle/>
          <a:p>
            <a:pPr indent="0" marL="0">
              <a:buNone/>
            </a:pPr>
            <a:r>
              <a:rPr lang="en-US" sz="1300" dirty="0">
                <a:solidFill>
                  <a:schemeClr val="tx1"/>
                </a:solidFill>
              </a:rPr>
              <a:t>다국어 모델(mSigLIP): 영어로 거르지 않은 WebLI 데이터, 어휘 25만 토큰 → 한국어 질문 실험용</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실습 ⑤ Pipeline으로 한 줄에</a:t>
            </a:r>
            <a:endParaRPr lang="en-US" sz="3000" dirty="0"/>
          </a:p>
        </p:txBody>
      </p:sp>
      <p:sp>
        <p:nvSpPr>
          <p:cNvPr id="3" name="codebg-437"/>
          <p:cNvSpPr/>
          <p:nvPr/>
        </p:nvSpPr>
        <p:spPr>
          <a:xfrm>
            <a:off x="640080" y="1325880"/>
            <a:ext cx="6949440" cy="3108960"/>
          </a:xfrm>
          <a:prstGeom prst="roundRect">
            <a:avLst>
              <a:gd name="adj" fmla="val 3529"/>
            </a:avLst>
          </a:prstGeom>
          <a:solidFill>
            <a:schemeClr val="tx1"/>
          </a:solidFill>
          <a:ln/>
        </p:spPr>
      </p:sp>
      <p:sp>
        <p:nvSpPr>
          <p:cNvPr id="4" name="text-438"/>
          <p:cNvSpPr txBox="1"/>
          <p:nvPr/>
        </p:nvSpPr>
        <p:spPr>
          <a:xfrm>
            <a:off x="914400" y="1554480"/>
            <a:ext cx="6400800" cy="2651760"/>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from transformers import pipeline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load pipe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image_classifier = pipeline(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task="zero-shot-image-classification",</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model="google/siglip-base-patch16-224")</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10000"/>
              </a:lnSpc>
              <a:buNone/>
            </a:pPr>
            <a:r>
              <a:rPr lang="en-US" sz="1200" dirty="0">
                <a:solidFill>
                  <a:srgbClr val="FBBF24"/>
                </a:solidFill>
                <a:latin typeface="Courier New" pitchFamily="34" charset="0"/>
                <a:ea typeface="Courier New" pitchFamily="34" charset="-122"/>
                <a:cs typeface="Courier New" pitchFamily="34" charset="-120"/>
              </a:rPr>
              <a:t># inference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outputs = image_classifier(</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image, candidate_labels=["2 cats", "a plane", "a remote"])</a:t>
            </a:r>
            <a:endParaRPr lang="en-US" sz="1200" dirty="0"/>
          </a:p>
        </p:txBody>
      </p:sp>
      <p:sp>
        <p:nvSpPr>
          <p:cNvPr id="5" name="outbg-439"/>
          <p:cNvSpPr/>
          <p:nvPr/>
        </p:nvSpPr>
        <p:spPr>
          <a:xfrm>
            <a:off x="640080" y="4572000"/>
            <a:ext cx="6949440" cy="1188720"/>
          </a:xfrm>
          <a:prstGeom prst="roundRect">
            <a:avLst>
              <a:gd name="adj" fmla="val 6154"/>
            </a:avLst>
          </a:prstGeom>
          <a:solidFill>
            <a:schemeClr val="bg2"/>
          </a:solidFill>
          <a:ln w="12700">
            <a:solidFill>
              <a:schemeClr val="accent6"/>
            </a:solidFill>
            <a:prstDash val="solid"/>
          </a:ln>
        </p:spPr>
      </p:sp>
      <p:sp>
        <p:nvSpPr>
          <p:cNvPr id="6" name="text-440"/>
          <p:cNvSpPr txBox="1"/>
          <p:nvPr/>
        </p:nvSpPr>
        <p:spPr>
          <a:xfrm>
            <a:off x="822960" y="4663440"/>
            <a:ext cx="6583680" cy="1005840"/>
          </a:xfrm>
          <a:prstGeom prst="rect">
            <a:avLst/>
          </a:prstGeom>
          <a:noFill/>
          <a:ln/>
        </p:spPr>
        <p:txBody>
          <a:bodyPr wrap="square" lIns="0" tIns="0" rIns="0" bIns="0" rtlCol="0" anchor="ctr"/>
          <a:lstStyle/>
          <a:p>
            <a:pPr indent="0" marL="0">
              <a:buNone/>
            </a:pPr>
            <a:r>
              <a:rPr lang="en-US" sz="1100" b="1" dirty="0">
                <a:solidFill>
                  <a:schemeClr val="tx2"/>
                </a:solidFill>
              </a:rPr>
              <a:t>출력</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[{'score': 0.1983, 'label': '2 cats'},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{'score': 0.0, 'label': 'a remote'},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{'score': 0.0, 'label': 'a plane'}]</a:t>
            </a:r>
            <a:endParaRPr lang="en-US" sz="1300" dirty="0"/>
          </a:p>
        </p:txBody>
      </p:sp>
      <p:sp>
        <p:nvSpPr>
          <p:cNvPr id="7" name="text-441"/>
          <p:cNvSpPr txBox="1"/>
          <p:nvPr/>
        </p:nvSpPr>
        <p:spPr>
          <a:xfrm>
            <a:off x="640080" y="5870448"/>
            <a:ext cx="7315200" cy="292608"/>
          </a:xfrm>
          <a:prstGeom prst="rect">
            <a:avLst/>
          </a:prstGeom>
          <a:noFill/>
          <a:ln/>
        </p:spPr>
        <p:txBody>
          <a:bodyPr wrap="square" lIns="0" tIns="0" rIns="0" bIns="0" rtlCol="0" anchor="t"/>
          <a:lstStyle/>
          <a:p>
            <a:pPr indent="0" marL="0">
              <a:buNone/>
            </a:pPr>
            <a:r>
              <a:rPr lang="en-US" sz="1100" dirty="0">
                <a:solidFill>
                  <a:schemeClr val="tx2"/>
                </a:solidFill>
              </a:rPr>
              <a:t>출처: </a:t>
            </a: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Inference with (multilingual) SigLIP 노트북 · 직접 실행 (base-patch16-224)</a:t>
            </a:r>
            <a:endParaRPr lang="en-US" sz="1100" dirty="0"/>
          </a:p>
        </p:txBody>
      </p:sp>
      <p:sp>
        <p:nvSpPr>
          <p:cNvPr id="8" name="text-442"/>
          <p:cNvSpPr txBox="1"/>
          <p:nvPr/>
        </p:nvSpPr>
        <p:spPr>
          <a:xfrm>
            <a:off x="7955280" y="1325880"/>
            <a:ext cx="3566160" cy="347472"/>
          </a:xfrm>
          <a:prstGeom prst="rect">
            <a:avLst/>
          </a:prstGeom>
          <a:noFill/>
          <a:ln/>
        </p:spPr>
        <p:txBody>
          <a:bodyPr wrap="square" lIns="0" tIns="0" rIns="0" bIns="0" rtlCol="0" anchor="t"/>
          <a:lstStyle/>
          <a:p>
            <a:pPr indent="0" marL="0">
              <a:buNone/>
            </a:pPr>
            <a:r>
              <a:rPr lang="en-US" sz="1500" b="1" dirty="0">
                <a:solidFill>
                  <a:schemeClr val="tx1"/>
                </a:solidFill>
              </a:rPr>
              <a:t>2 cats</a:t>
            </a:r>
            <a:endParaRPr lang="en-US" sz="1500" dirty="0"/>
          </a:p>
        </p:txBody>
      </p:sp>
      <p:sp>
        <p:nvSpPr>
          <p:cNvPr id="9" name="bar-bg-443"/>
          <p:cNvSpPr/>
          <p:nvPr/>
        </p:nvSpPr>
        <p:spPr>
          <a:xfrm>
            <a:off x="7955280" y="1709928"/>
            <a:ext cx="2651760" cy="274320"/>
          </a:xfrm>
          <a:prstGeom prst="rect">
            <a:avLst/>
          </a:prstGeom>
          <a:solidFill>
            <a:schemeClr val="bg2"/>
          </a:solidFill>
          <a:ln/>
        </p:spPr>
      </p:sp>
      <p:sp>
        <p:nvSpPr>
          <p:cNvPr id="10" name="bar-444"/>
          <p:cNvSpPr/>
          <p:nvPr/>
        </p:nvSpPr>
        <p:spPr>
          <a:xfrm>
            <a:off x="7955280" y="1709928"/>
            <a:ext cx="525844" cy="274320"/>
          </a:xfrm>
          <a:prstGeom prst="rect">
            <a:avLst/>
          </a:prstGeom>
          <a:solidFill>
            <a:schemeClr val="accent5"/>
          </a:solidFill>
          <a:ln/>
        </p:spPr>
      </p:sp>
      <p:sp>
        <p:nvSpPr>
          <p:cNvPr id="11" name="text-445"/>
          <p:cNvSpPr txBox="1"/>
          <p:nvPr/>
        </p:nvSpPr>
        <p:spPr>
          <a:xfrm>
            <a:off x="10652760" y="1618488"/>
            <a:ext cx="868680" cy="457200"/>
          </a:xfrm>
          <a:prstGeom prst="rect">
            <a:avLst/>
          </a:prstGeom>
          <a:noFill/>
          <a:ln/>
        </p:spPr>
        <p:txBody>
          <a:bodyPr wrap="square" lIns="0" tIns="0" rIns="0" bIns="0" rtlCol="0" anchor="t"/>
          <a:lstStyle/>
          <a:p>
            <a:pPr algn="r" indent="0" marL="0">
              <a:buNone/>
            </a:pPr>
            <a:r>
              <a:rPr lang="en-US" sz="1600" b="1" dirty="0">
                <a:solidFill>
                  <a:schemeClr val="accent5"/>
                </a:solidFill>
              </a:rPr>
              <a:t>19.8%</a:t>
            </a:r>
            <a:endParaRPr lang="en-US" sz="1600" dirty="0"/>
          </a:p>
        </p:txBody>
      </p:sp>
      <p:sp>
        <p:nvSpPr>
          <p:cNvPr id="12" name="text-446"/>
          <p:cNvSpPr txBox="1"/>
          <p:nvPr/>
        </p:nvSpPr>
        <p:spPr>
          <a:xfrm>
            <a:off x="7955280" y="2057400"/>
            <a:ext cx="3566160" cy="347472"/>
          </a:xfrm>
          <a:prstGeom prst="rect">
            <a:avLst/>
          </a:prstGeom>
          <a:noFill/>
          <a:ln/>
        </p:spPr>
        <p:txBody>
          <a:bodyPr wrap="square" lIns="0" tIns="0" rIns="0" bIns="0" rtlCol="0" anchor="t"/>
          <a:lstStyle/>
          <a:p>
            <a:pPr indent="0" marL="0">
              <a:buNone/>
            </a:pPr>
            <a:r>
              <a:rPr lang="en-US" sz="1500" dirty="0">
                <a:solidFill>
                  <a:schemeClr val="tx1"/>
                </a:solidFill>
              </a:rPr>
              <a:t>a remote</a:t>
            </a:r>
            <a:endParaRPr lang="en-US" sz="1500" dirty="0"/>
          </a:p>
        </p:txBody>
      </p:sp>
      <p:sp>
        <p:nvSpPr>
          <p:cNvPr id="13" name="bar-bg-447"/>
          <p:cNvSpPr/>
          <p:nvPr/>
        </p:nvSpPr>
        <p:spPr>
          <a:xfrm>
            <a:off x="7955280" y="2441448"/>
            <a:ext cx="2651760" cy="274320"/>
          </a:xfrm>
          <a:prstGeom prst="rect">
            <a:avLst/>
          </a:prstGeom>
          <a:solidFill>
            <a:schemeClr val="bg2"/>
          </a:solidFill>
          <a:ln/>
        </p:spPr>
      </p:sp>
      <p:sp>
        <p:nvSpPr>
          <p:cNvPr id="14" name="bar-448"/>
          <p:cNvSpPr/>
          <p:nvPr/>
        </p:nvSpPr>
        <p:spPr>
          <a:xfrm>
            <a:off x="7955280" y="2441448"/>
            <a:ext cx="36576" cy="274320"/>
          </a:xfrm>
          <a:prstGeom prst="rect">
            <a:avLst/>
          </a:prstGeom>
          <a:solidFill>
            <a:schemeClr val="accent6"/>
          </a:solidFill>
          <a:ln/>
        </p:spPr>
      </p:sp>
      <p:sp>
        <p:nvSpPr>
          <p:cNvPr id="15" name="text-449"/>
          <p:cNvSpPr txBox="1"/>
          <p:nvPr/>
        </p:nvSpPr>
        <p:spPr>
          <a:xfrm>
            <a:off x="10652760" y="2350008"/>
            <a:ext cx="868680" cy="457200"/>
          </a:xfrm>
          <a:prstGeom prst="rect">
            <a:avLst/>
          </a:prstGeom>
          <a:noFill/>
          <a:ln/>
        </p:spPr>
        <p:txBody>
          <a:bodyPr wrap="square" lIns="0" tIns="0" rIns="0" bIns="0" rtlCol="0" anchor="t"/>
          <a:lstStyle/>
          <a:p>
            <a:pPr algn="r" indent="0" marL="0">
              <a:buNone/>
            </a:pPr>
            <a:r>
              <a:rPr lang="en-US" sz="1600" b="1" dirty="0">
                <a:solidFill>
                  <a:schemeClr val="tx2"/>
                </a:solidFill>
              </a:rPr>
              <a:t>0.0%</a:t>
            </a:r>
            <a:endParaRPr lang="en-US" sz="1600" dirty="0"/>
          </a:p>
        </p:txBody>
      </p:sp>
      <p:sp>
        <p:nvSpPr>
          <p:cNvPr id="16" name="text-450"/>
          <p:cNvSpPr txBox="1"/>
          <p:nvPr/>
        </p:nvSpPr>
        <p:spPr>
          <a:xfrm>
            <a:off x="7955280" y="2788920"/>
            <a:ext cx="3566160" cy="347472"/>
          </a:xfrm>
          <a:prstGeom prst="rect">
            <a:avLst/>
          </a:prstGeom>
          <a:noFill/>
          <a:ln/>
        </p:spPr>
        <p:txBody>
          <a:bodyPr wrap="square" lIns="0" tIns="0" rIns="0" bIns="0" rtlCol="0" anchor="t"/>
          <a:lstStyle/>
          <a:p>
            <a:pPr indent="0" marL="0">
              <a:buNone/>
            </a:pPr>
            <a:r>
              <a:rPr lang="en-US" sz="1500" dirty="0">
                <a:solidFill>
                  <a:schemeClr val="tx1"/>
                </a:solidFill>
              </a:rPr>
              <a:t>a plane</a:t>
            </a:r>
            <a:endParaRPr lang="en-US" sz="1500" dirty="0"/>
          </a:p>
        </p:txBody>
      </p:sp>
      <p:sp>
        <p:nvSpPr>
          <p:cNvPr id="17" name="bar-bg-451"/>
          <p:cNvSpPr/>
          <p:nvPr/>
        </p:nvSpPr>
        <p:spPr>
          <a:xfrm>
            <a:off x="7955280" y="3172968"/>
            <a:ext cx="2651760" cy="274320"/>
          </a:xfrm>
          <a:prstGeom prst="rect">
            <a:avLst/>
          </a:prstGeom>
          <a:solidFill>
            <a:schemeClr val="bg2"/>
          </a:solidFill>
          <a:ln/>
        </p:spPr>
      </p:sp>
      <p:sp>
        <p:nvSpPr>
          <p:cNvPr id="18" name="bar-452"/>
          <p:cNvSpPr/>
          <p:nvPr/>
        </p:nvSpPr>
        <p:spPr>
          <a:xfrm>
            <a:off x="7955280" y="3172968"/>
            <a:ext cx="36576" cy="274320"/>
          </a:xfrm>
          <a:prstGeom prst="rect">
            <a:avLst/>
          </a:prstGeom>
          <a:solidFill>
            <a:schemeClr val="accent6"/>
          </a:solidFill>
          <a:ln/>
        </p:spPr>
      </p:sp>
      <p:sp>
        <p:nvSpPr>
          <p:cNvPr id="19" name="text-453"/>
          <p:cNvSpPr txBox="1"/>
          <p:nvPr/>
        </p:nvSpPr>
        <p:spPr>
          <a:xfrm>
            <a:off x="10652760" y="3081528"/>
            <a:ext cx="868680" cy="457200"/>
          </a:xfrm>
          <a:prstGeom prst="rect">
            <a:avLst/>
          </a:prstGeom>
          <a:noFill/>
          <a:ln/>
        </p:spPr>
        <p:txBody>
          <a:bodyPr wrap="square" lIns="0" tIns="0" rIns="0" bIns="0" rtlCol="0" anchor="t"/>
          <a:lstStyle/>
          <a:p>
            <a:pPr algn="r" indent="0" marL="0">
              <a:buNone/>
            </a:pPr>
            <a:r>
              <a:rPr lang="en-US" sz="1600" b="1" dirty="0">
                <a:solidFill>
                  <a:schemeClr val="tx2"/>
                </a:solidFill>
              </a:rPr>
              <a:t>0.0%</a:t>
            </a:r>
            <a:endParaRPr lang="en-US" sz="1600" dirty="0"/>
          </a:p>
        </p:txBody>
      </p:sp>
      <p:sp>
        <p:nvSpPr>
          <p:cNvPr id="20" name="card-454"/>
          <p:cNvSpPr/>
          <p:nvPr/>
        </p:nvSpPr>
        <p:spPr>
          <a:xfrm>
            <a:off x="7955280" y="3703320"/>
            <a:ext cx="3566160" cy="2331720"/>
          </a:xfrm>
          <a:prstGeom prst="roundRect">
            <a:avLst>
              <a:gd name="adj" fmla="val 5490"/>
            </a:avLst>
          </a:prstGeom>
          <a:solidFill>
            <a:schemeClr val="accent3">
              <a:alpha val="10000"/>
            </a:schemeClr>
          </a:solidFill>
          <a:ln/>
        </p:spPr>
      </p:sp>
      <p:sp>
        <p:nvSpPr>
          <p:cNvPr id="21" name="text-455"/>
          <p:cNvSpPr txBox="1"/>
          <p:nvPr/>
        </p:nvSpPr>
        <p:spPr>
          <a:xfrm>
            <a:off x="8138160" y="3703320"/>
            <a:ext cx="3246120" cy="2331720"/>
          </a:xfrm>
          <a:prstGeom prst="rect">
            <a:avLst/>
          </a:prstGeom>
          <a:noFill/>
          <a:ln/>
        </p:spPr>
        <p:txBody>
          <a:bodyPr wrap="square" lIns="0" tIns="0" rIns="0" bIns="0" rtlCol="0" anchor="ctr"/>
          <a:lstStyle/>
          <a:p>
            <a:pPr indent="0" marL="0">
              <a:buNone/>
            </a:pPr>
            <a:r>
              <a:rPr lang="en-US" sz="1600" b="1" dirty="0">
                <a:solidFill>
                  <a:schemeClr val="accent3"/>
                </a:solidFill>
              </a:rPr>
              <a:t>직접 계산(32%)과 왜 다를까?</a:t>
            </a:r>
            <a:endParaRPr lang="en-US" sz="1600" dirty="0"/>
          </a:p>
          <a:p>
            <a:pPr indent="0" marL="0">
              <a:buNone/>
            </a:pPr>
            <a:r>
              <a:rPr lang="en-US" sz="1400" dirty="0">
                <a:solidFill>
                  <a:schemeClr val="tx1"/>
                </a:solidFill>
              </a:rPr>
              <a:t>pipeline은 라벨을 “This is a photo of 라벨.” 문장으로 바꿔서 넣음 → 문장 표현이 점수를 바꾼다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chemeClr val="bg1"/>
                </a:solidFill>
              </a:rPr>
              <a:t>핵심 3줄 요약</a:t>
            </a:r>
            <a:endParaRPr lang="en-US" sz="3200" dirty="0"/>
          </a:p>
        </p:txBody>
      </p:sp>
      <p:sp>
        <p:nvSpPr>
          <p:cNvPr id="3" name="circle-456"/>
          <p:cNvSpPr/>
          <p:nvPr/>
        </p:nvSpPr>
        <p:spPr>
          <a:xfrm>
            <a:off x="822960" y="1600200"/>
            <a:ext cx="914400" cy="914400"/>
          </a:xfrm>
          <a:prstGeom prst="ellipse">
            <a:avLst/>
          </a:prstGeom>
          <a:solidFill>
            <a:schemeClr val="accent3"/>
          </a:solidFill>
          <a:ln/>
        </p:spPr>
      </p:sp>
      <p:pic>
        <p:nvPicPr>
          <p:cNvPr id="4" name="icon-FaToggleOn-457" descr="FaToggleOn">    </p:cNvPr>
          <p:cNvPicPr>
            <a:picLocks noChangeAspect="1"/>
          </p:cNvPicPr>
          <p:nvPr/>
        </p:nvPicPr>
        <p:blipFill>
          <a:blip r:embed="rId1"/>
          <a:stretch>
            <a:fillRect/>
          </a:stretch>
        </p:blipFill>
        <p:spPr>
          <a:xfrm>
            <a:off x="1060704" y="1837944"/>
            <a:ext cx="438912" cy="438912"/>
          </a:xfrm>
          <a:prstGeom prst="rect">
            <a:avLst/>
          </a:prstGeom>
        </p:spPr>
      </p:pic>
      <p:sp>
        <p:nvSpPr>
          <p:cNvPr id="5" name="text-458"/>
          <p:cNvSpPr txBox="1"/>
          <p:nvPr/>
        </p:nvSpPr>
        <p:spPr>
          <a:xfrm>
            <a:off x="2011680" y="1554480"/>
            <a:ext cx="9509760" cy="594360"/>
          </a:xfrm>
          <a:prstGeom prst="rect">
            <a:avLst/>
          </a:prstGeom>
          <a:noFill/>
          <a:ln/>
        </p:spPr>
        <p:txBody>
          <a:bodyPr wrap="square" lIns="0" tIns="0" rIns="0" bIns="0" rtlCol="0" anchor="t"/>
          <a:lstStyle/>
          <a:p>
            <a:pPr indent="0" marL="0">
              <a:buNone/>
            </a:pPr>
            <a:r>
              <a:rPr lang="en-US" sz="2600" b="1" dirty="0">
                <a:solidFill>
                  <a:schemeClr val="bg1"/>
                </a:solidFill>
              </a:rPr>
              <a:t>SigLIP = CLIP 구조 + 객관식 대신 O/X 퀴즈</a:t>
            </a:r>
            <a:endParaRPr lang="en-US" sz="2600" dirty="0"/>
          </a:p>
        </p:txBody>
      </p:sp>
      <p:sp>
        <p:nvSpPr>
          <p:cNvPr id="6" name="text-459"/>
          <p:cNvSpPr txBox="1"/>
          <p:nvPr/>
        </p:nvSpPr>
        <p:spPr>
          <a:xfrm>
            <a:off x="2011680" y="2194560"/>
            <a:ext cx="9509760" cy="457200"/>
          </a:xfrm>
          <a:prstGeom prst="rect">
            <a:avLst/>
          </a:prstGeom>
          <a:noFill/>
          <a:ln/>
        </p:spPr>
        <p:txBody>
          <a:bodyPr wrap="square" lIns="0" tIns="0" rIns="0" bIns="0" rtlCol="0" anchor="t"/>
          <a:lstStyle/>
          <a:p>
            <a:pPr indent="0" marL="0">
              <a:buNone/>
            </a:pPr>
            <a:r>
              <a:rPr lang="en-US" sz="1900" dirty="0">
                <a:solidFill>
                  <a:schemeClr val="accent6"/>
                </a:solidFill>
              </a:rPr>
              <a:t>Softmax → Sigmoid</a:t>
            </a:r>
            <a:endParaRPr lang="en-US" sz="1900" dirty="0"/>
          </a:p>
        </p:txBody>
      </p:sp>
      <p:sp>
        <p:nvSpPr>
          <p:cNvPr id="7" name="circle-460"/>
          <p:cNvSpPr/>
          <p:nvPr/>
        </p:nvSpPr>
        <p:spPr>
          <a:xfrm>
            <a:off x="822960" y="3154680"/>
            <a:ext cx="914400" cy="914400"/>
          </a:xfrm>
          <a:prstGeom prst="ellipse">
            <a:avLst/>
          </a:prstGeom>
          <a:solidFill>
            <a:schemeClr val="accent1"/>
          </a:solidFill>
          <a:ln/>
        </p:spPr>
      </p:sp>
      <p:pic>
        <p:nvPicPr>
          <p:cNvPr id="8" name="icon-FaMemory-461" descr="FaMemory">    </p:cNvPr>
          <p:cNvPicPr>
            <a:picLocks noChangeAspect="1"/>
          </p:cNvPicPr>
          <p:nvPr/>
        </p:nvPicPr>
        <p:blipFill>
          <a:blip r:embed="rId2"/>
          <a:stretch>
            <a:fillRect/>
          </a:stretch>
        </p:blipFill>
        <p:spPr>
          <a:xfrm>
            <a:off x="1060704" y="3392424"/>
            <a:ext cx="438912" cy="438912"/>
          </a:xfrm>
          <a:prstGeom prst="rect">
            <a:avLst/>
          </a:prstGeom>
        </p:spPr>
      </p:pic>
      <p:sp>
        <p:nvSpPr>
          <p:cNvPr id="9" name="text-462"/>
          <p:cNvSpPr txBox="1"/>
          <p:nvPr/>
        </p:nvSpPr>
        <p:spPr>
          <a:xfrm>
            <a:off x="2011680" y="3108960"/>
            <a:ext cx="9509760" cy="594360"/>
          </a:xfrm>
          <a:prstGeom prst="rect">
            <a:avLst/>
          </a:prstGeom>
          <a:noFill/>
          <a:ln/>
        </p:spPr>
        <p:txBody>
          <a:bodyPr wrap="square" lIns="0" tIns="0" rIns="0" bIns="0" rtlCol="0" anchor="t"/>
          <a:lstStyle/>
          <a:p>
            <a:pPr indent="0" marL="0">
              <a:buNone/>
            </a:pPr>
            <a:r>
              <a:rPr lang="en-US" sz="2600" b="1" dirty="0">
                <a:solidFill>
                  <a:schemeClr val="bg1"/>
                </a:solidFill>
              </a:rPr>
              <a:t>배치 전체를 모을 필요가 사라짐</a:t>
            </a:r>
            <a:endParaRPr lang="en-US" sz="2600" dirty="0"/>
          </a:p>
        </p:txBody>
      </p:sp>
      <p:sp>
        <p:nvSpPr>
          <p:cNvPr id="10" name="text-463"/>
          <p:cNvSpPr txBox="1"/>
          <p:nvPr/>
        </p:nvSpPr>
        <p:spPr>
          <a:xfrm>
            <a:off x="2011680" y="3749040"/>
            <a:ext cx="9509760" cy="457200"/>
          </a:xfrm>
          <a:prstGeom prst="rect">
            <a:avLst/>
          </a:prstGeom>
          <a:noFill/>
          <a:ln/>
        </p:spPr>
        <p:txBody>
          <a:bodyPr wrap="square" lIns="0" tIns="0" rIns="0" bIns="0" rtlCol="0" anchor="t"/>
          <a:lstStyle/>
          <a:p>
            <a:pPr indent="0" marL="0">
              <a:buNone/>
            </a:pPr>
            <a:r>
              <a:rPr lang="en-US" sz="1900" dirty="0">
                <a:solidFill>
                  <a:schemeClr val="accent6"/>
                </a:solidFill>
              </a:rPr>
              <a:t>메모리 ↓ · 작은 배치에 강함 · 노이즈에 강함</a:t>
            </a:r>
            <a:endParaRPr lang="en-US" sz="1900" dirty="0"/>
          </a:p>
        </p:txBody>
      </p:sp>
      <p:sp>
        <p:nvSpPr>
          <p:cNvPr id="11" name="circle-464"/>
          <p:cNvSpPr/>
          <p:nvPr/>
        </p:nvSpPr>
        <p:spPr>
          <a:xfrm>
            <a:off x="822960" y="4709160"/>
            <a:ext cx="914400" cy="914400"/>
          </a:xfrm>
          <a:prstGeom prst="ellipse">
            <a:avLst/>
          </a:prstGeom>
          <a:solidFill>
            <a:schemeClr val="accent2"/>
          </a:solidFill>
          <a:ln/>
        </p:spPr>
      </p:sp>
      <p:pic>
        <p:nvPicPr>
          <p:cNvPr id="12" name="icon-FaSearch-465" descr="FaSearch">    </p:cNvPr>
          <p:cNvPicPr>
            <a:picLocks noChangeAspect="1"/>
          </p:cNvPicPr>
          <p:nvPr/>
        </p:nvPicPr>
        <p:blipFill>
          <a:blip r:embed="rId3"/>
          <a:stretch>
            <a:fillRect/>
          </a:stretch>
        </p:blipFill>
        <p:spPr>
          <a:xfrm>
            <a:off x="1060704" y="4946904"/>
            <a:ext cx="438912" cy="438912"/>
          </a:xfrm>
          <a:prstGeom prst="rect">
            <a:avLst/>
          </a:prstGeom>
        </p:spPr>
      </p:pic>
      <p:sp>
        <p:nvSpPr>
          <p:cNvPr id="13" name="text-466"/>
          <p:cNvSpPr txBox="1"/>
          <p:nvPr/>
        </p:nvSpPr>
        <p:spPr>
          <a:xfrm>
            <a:off x="2011680" y="4663440"/>
            <a:ext cx="9509760" cy="594360"/>
          </a:xfrm>
          <a:prstGeom prst="rect">
            <a:avLst/>
          </a:prstGeom>
          <a:noFill/>
          <a:ln/>
        </p:spPr>
        <p:txBody>
          <a:bodyPr wrap="square" lIns="0" tIns="0" rIns="0" bIns="0" rtlCol="0" anchor="t"/>
          <a:lstStyle/>
          <a:p>
            <a:pPr indent="0" marL="0">
              <a:buNone/>
            </a:pPr>
            <a:r>
              <a:rPr lang="en-US" sz="2600" b="1" dirty="0">
                <a:solidFill>
                  <a:schemeClr val="bg1"/>
                </a:solidFill>
              </a:rPr>
              <a:t>듀얼 인코더 + 공동 임베딩 공간</a:t>
            </a:r>
            <a:endParaRPr lang="en-US" sz="2600" dirty="0"/>
          </a:p>
        </p:txBody>
      </p:sp>
      <p:sp>
        <p:nvSpPr>
          <p:cNvPr id="14" name="text-467"/>
          <p:cNvSpPr txBox="1"/>
          <p:nvPr/>
        </p:nvSpPr>
        <p:spPr>
          <a:xfrm>
            <a:off x="2011680" y="5303520"/>
            <a:ext cx="9509760" cy="457200"/>
          </a:xfrm>
          <a:prstGeom prst="rect">
            <a:avLst/>
          </a:prstGeom>
          <a:noFill/>
          <a:ln/>
        </p:spPr>
        <p:txBody>
          <a:bodyPr wrap="square" lIns="0" tIns="0" rIns="0" bIns="0" rtlCol="0" anchor="t"/>
          <a:lstStyle/>
          <a:p>
            <a:pPr indent="0" marL="0">
              <a:buNone/>
            </a:pPr>
            <a:r>
              <a:rPr lang="en-US" sz="1900" dirty="0">
                <a:solidFill>
                  <a:schemeClr val="accent6"/>
                </a:solidFill>
              </a:rPr>
              <a:t>사진은 미리, 질문만 그때그때 → 대규모 검색에 적합</a:t>
            </a:r>
            <a:endParaRPr lang="en-US" sz="19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777240"/>
          </a:xfrm>
          <a:prstGeom prst="rect">
            <a:avLst/>
          </a:prstGeom>
          <a:noFill/>
          <a:ln/>
        </p:spPr>
        <p:txBody>
          <a:bodyPr wrap="square" lIns="0" tIns="0" rIns="0" bIns="0" rtlCol="0" anchor="ctr"/>
          <a:lstStyle/>
          <a:p>
            <a:pPr indent="0" marL="0">
              <a:buNone/>
            </a:pPr>
            <a:r>
              <a:rPr lang="en-US" sz="3000" b="1" dirty="0">
                <a:solidFill>
                  <a:schemeClr val="tx1"/>
                </a:solidFill>
              </a:rPr>
              <a:t>참고자료</a:t>
            </a:r>
            <a:endParaRPr lang="en-US" sz="3000" dirty="0"/>
          </a:p>
        </p:txBody>
      </p:sp>
      <p:sp>
        <p:nvSpPr>
          <p:cNvPr id="3" name="text-468"/>
          <p:cNvSpPr txBox="1"/>
          <p:nvPr/>
        </p:nvSpPr>
        <p:spPr>
          <a:xfrm>
            <a:off x="640080" y="1280160"/>
            <a:ext cx="10881360" cy="347472"/>
          </a:xfrm>
          <a:prstGeom prst="rect">
            <a:avLst/>
          </a:prstGeom>
          <a:noFill/>
          <a:ln/>
        </p:spPr>
        <p:txBody>
          <a:bodyPr wrap="square" lIns="0" tIns="0" rIns="0" bIns="0" rtlCol="0" anchor="t"/>
          <a:lstStyle/>
          <a:p>
            <a:pPr indent="0" marL="0">
              <a:buNone/>
            </a:pPr>
            <a:r>
              <a:rPr lang="en-US" sz="1600" b="1" dirty="0">
                <a:solidFill>
                  <a:schemeClr val="tx1"/>
                </a:solidFill>
              </a:rPr>
              <a:t>메인 실습 · Inference with (multilingual) SigLIP 노트북</a:t>
            </a:r>
            <a:endParaRPr lang="en-US" sz="1600" dirty="0"/>
          </a:p>
        </p:txBody>
      </p:sp>
      <p:sp>
        <p:nvSpPr>
          <p:cNvPr id="4" name="text-469"/>
          <p:cNvSpPr txBox="1"/>
          <p:nvPr/>
        </p:nvSpPr>
        <p:spPr>
          <a:xfrm>
            <a:off x="640080" y="1609344"/>
            <a:ext cx="10881360" cy="274320"/>
          </a:xfrm>
          <a:prstGeom prst="rect">
            <a:avLst/>
          </a:prstGeom>
          <a:noFill/>
          <a:ln/>
        </p:spPr>
        <p:txBody>
          <a:bodyPr wrap="square" lIns="0" tIns="0" rIns="0" bIns="0" rtlCol="0" anchor="t"/>
          <a:lstStyle/>
          <a:p>
            <a:pPr indent="0" marL="0">
              <a:buNone/>
            </a:pPr>
            <a:r>
              <a:rPr lang="en-US" sz="1200" u="sng" dirty="0">
                <a:solidFill>
                  <a:schemeClr val="accent3"/>
                </a:solidFill>
                <a:hlinkClick r:id="rId1" invalidUrl="" action="" tgtFrame="" tooltip="" history="1" highlightClick="0" endSnd="0">
                  <a:extLst>
                    <a:ext uri="{A12FA001-AC4F-418D-AE19-62706E023703}">
                      <ahyp:hlinkClr xmlns:ahyp="http://schemas.microsoft.com/office/drawing/2018/hyperlinkcolor" val="tx"/>
                    </a:ext>
                  </a:extLst>
                </a:hlinkClick>
              </a:rPr>
              <a:t>colab.research.google.com/github/NielsRogge/Transformers-Tutorials/blo…</a:t>
            </a:r>
            <a:endParaRPr lang="en-US" sz="1200" dirty="0"/>
          </a:p>
        </p:txBody>
      </p:sp>
      <p:sp>
        <p:nvSpPr>
          <p:cNvPr id="5" name="text-470"/>
          <p:cNvSpPr txBox="1"/>
          <p:nvPr/>
        </p:nvSpPr>
        <p:spPr>
          <a:xfrm>
            <a:off x="640080" y="1965960"/>
            <a:ext cx="10881360" cy="347472"/>
          </a:xfrm>
          <a:prstGeom prst="rect">
            <a:avLst/>
          </a:prstGeom>
          <a:noFill/>
          <a:ln/>
        </p:spPr>
        <p:txBody>
          <a:bodyPr wrap="square" lIns="0" tIns="0" rIns="0" bIns="0" rtlCol="0" anchor="t"/>
          <a:lstStyle/>
          <a:p>
            <a:pPr indent="0" marL="0">
              <a:buNone/>
            </a:pPr>
            <a:r>
              <a:rPr lang="en-US" sz="1600" b="1" dirty="0">
                <a:solidFill>
                  <a:schemeClr val="tx1"/>
                </a:solidFill>
              </a:rPr>
              <a:t>공식 코드 · Transformers SigLIP 문서</a:t>
            </a:r>
            <a:endParaRPr lang="en-US" sz="1600" dirty="0"/>
          </a:p>
        </p:txBody>
      </p:sp>
      <p:sp>
        <p:nvSpPr>
          <p:cNvPr id="6" name="text-471"/>
          <p:cNvSpPr txBox="1"/>
          <p:nvPr/>
        </p:nvSpPr>
        <p:spPr>
          <a:xfrm>
            <a:off x="640080" y="2295144"/>
            <a:ext cx="10881360" cy="274320"/>
          </a:xfrm>
          <a:prstGeom prst="rect">
            <a:avLst/>
          </a:prstGeom>
          <a:noFill/>
          <a:ln/>
        </p:spPr>
        <p:txBody>
          <a:bodyPr wrap="square" lIns="0" tIns="0" rIns="0" bIns="0" rtlCol="0" anchor="t"/>
          <a:lstStyle/>
          <a:p>
            <a:pPr indent="0" marL="0">
              <a:buNone/>
            </a:pPr>
            <a:r>
              <a:rPr lang="en-US" sz="1200"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huggingface.co/docs/transformers/model_doc/siglip</a:t>
            </a:r>
            <a:endParaRPr lang="en-US" sz="1200" dirty="0"/>
          </a:p>
        </p:txBody>
      </p:sp>
      <p:sp>
        <p:nvSpPr>
          <p:cNvPr id="7" name="text-472"/>
          <p:cNvSpPr txBox="1"/>
          <p:nvPr/>
        </p:nvSpPr>
        <p:spPr>
          <a:xfrm>
            <a:off x="640080" y="2651760"/>
            <a:ext cx="10881360" cy="347472"/>
          </a:xfrm>
          <a:prstGeom prst="rect">
            <a:avLst/>
          </a:prstGeom>
          <a:noFill/>
          <a:ln/>
        </p:spPr>
        <p:txBody>
          <a:bodyPr wrap="square" lIns="0" tIns="0" rIns="0" bIns="0" rtlCol="0" anchor="t"/>
          <a:lstStyle/>
          <a:p>
            <a:pPr indent="0" marL="0">
              <a:buNone/>
            </a:pPr>
            <a:r>
              <a:rPr lang="en-US" sz="1600" b="1" dirty="0">
                <a:solidFill>
                  <a:schemeClr val="tx1"/>
                </a:solidFill>
              </a:rPr>
              <a:t>5주차 미리보기 · smol-vision Image Search with MetaCLIP2</a:t>
            </a:r>
            <a:endParaRPr lang="en-US" sz="1600" dirty="0"/>
          </a:p>
        </p:txBody>
      </p:sp>
      <p:sp>
        <p:nvSpPr>
          <p:cNvPr id="8" name="text-473"/>
          <p:cNvSpPr txBox="1"/>
          <p:nvPr/>
        </p:nvSpPr>
        <p:spPr>
          <a:xfrm>
            <a:off x="640080" y="2980944"/>
            <a:ext cx="10881360" cy="274320"/>
          </a:xfrm>
          <a:prstGeom prst="rect">
            <a:avLst/>
          </a:prstGeom>
          <a:noFill/>
          <a:ln/>
        </p:spPr>
        <p:txBody>
          <a:bodyPr wrap="square" lIns="0" tIns="0" rIns="0" bIns="0" rtlCol="0" anchor="t"/>
          <a:lstStyle/>
          <a:p>
            <a:pPr indent="0" marL="0">
              <a:buNone/>
            </a:pPr>
            <a:r>
              <a:rPr lang="en-US" sz="1200" u="sng" dirty="0">
                <a:solidFill>
                  <a:schemeClr val="accent3"/>
                </a:solidFill>
                <a:hlinkClick r:id="rId3" invalidUrl="" action="" tgtFrame="" tooltip="" history="1" highlightClick="0" endSnd="0">
                  <a:extLst>
                    <a:ext uri="{A12FA001-AC4F-418D-AE19-62706E023703}">
                      <ahyp:hlinkClr xmlns:ahyp="http://schemas.microsoft.com/office/drawing/2018/hyperlinkcolor" val="tx"/>
                    </a:ext>
                  </a:extLst>
                </a:hlinkClick>
              </a:rPr>
              <a:t>github.com/merveenoyan/smol-vision/blob/main/Image_Search_with_MetaCLI…</a:t>
            </a:r>
            <a:endParaRPr lang="en-US" sz="1200" dirty="0"/>
          </a:p>
        </p:txBody>
      </p:sp>
      <p:sp>
        <p:nvSpPr>
          <p:cNvPr id="9" name="text-474"/>
          <p:cNvSpPr txBox="1"/>
          <p:nvPr/>
        </p:nvSpPr>
        <p:spPr>
          <a:xfrm>
            <a:off x="640080" y="3337560"/>
            <a:ext cx="10881360" cy="347472"/>
          </a:xfrm>
          <a:prstGeom prst="rect">
            <a:avLst/>
          </a:prstGeom>
          <a:noFill/>
          <a:ln/>
        </p:spPr>
        <p:txBody>
          <a:bodyPr wrap="square" lIns="0" tIns="0" rIns="0" bIns="0" rtlCol="0" anchor="t"/>
          <a:lstStyle/>
          <a:p>
            <a:pPr indent="0" marL="0">
              <a:buNone/>
            </a:pPr>
            <a:r>
              <a:rPr lang="en-US" sz="1600" b="1" dirty="0">
                <a:solidFill>
                  <a:schemeClr val="tx1"/>
                </a:solidFill>
              </a:rPr>
              <a:t>심화 · Google big_vision SigLIP 데모</a:t>
            </a:r>
            <a:endParaRPr lang="en-US" sz="1600" dirty="0"/>
          </a:p>
        </p:txBody>
      </p:sp>
      <p:sp>
        <p:nvSpPr>
          <p:cNvPr id="10" name="text-475"/>
          <p:cNvSpPr txBox="1"/>
          <p:nvPr/>
        </p:nvSpPr>
        <p:spPr>
          <a:xfrm>
            <a:off x="640080" y="3666744"/>
            <a:ext cx="10881360" cy="274320"/>
          </a:xfrm>
          <a:prstGeom prst="rect">
            <a:avLst/>
          </a:prstGeom>
          <a:noFill/>
          <a:ln/>
        </p:spPr>
        <p:txBody>
          <a:bodyPr wrap="square" lIns="0" tIns="0" rIns="0" bIns="0" rtlCol="0" anchor="t"/>
          <a:lstStyle/>
          <a:p>
            <a:pPr indent="0" marL="0">
              <a:buNone/>
            </a:pPr>
            <a:r>
              <a:rPr lang="en-US" sz="1200" u="sng" dirty="0">
                <a:solidFill>
                  <a:schemeClr val="accent3"/>
                </a:solidFill>
                <a:hlinkClick r:id="rId4" invalidUrl="" action="" tgtFrame="" tooltip="" history="1" highlightClick="0" endSnd="0">
                  <a:extLst>
                    <a:ext uri="{A12FA001-AC4F-418D-AE19-62706E023703}">
                      <ahyp:hlinkClr xmlns:ahyp="http://schemas.microsoft.com/office/drawing/2018/hyperlinkcolor" val="tx"/>
                    </a:ext>
                  </a:extLst>
                </a:hlinkClick>
              </a:rPr>
              <a:t>colab.research.google.com/github/google-research/big_vision/blob/main/…</a:t>
            </a:r>
            <a:endParaRPr lang="en-US" sz="1200" dirty="0"/>
          </a:p>
        </p:txBody>
      </p:sp>
      <p:sp>
        <p:nvSpPr>
          <p:cNvPr id="11" name="text-476"/>
          <p:cNvSpPr txBox="1"/>
          <p:nvPr/>
        </p:nvSpPr>
        <p:spPr>
          <a:xfrm>
            <a:off x="640080" y="4023360"/>
            <a:ext cx="10881360" cy="347472"/>
          </a:xfrm>
          <a:prstGeom prst="rect">
            <a:avLst/>
          </a:prstGeom>
          <a:noFill/>
          <a:ln/>
        </p:spPr>
        <p:txBody>
          <a:bodyPr wrap="square" lIns="0" tIns="0" rIns="0" bIns="0" rtlCol="0" anchor="t"/>
          <a:lstStyle/>
          <a:p>
            <a:pPr indent="0" marL="0">
              <a:buNone/>
            </a:pPr>
            <a:r>
              <a:rPr lang="en-US" sz="1600" b="1" dirty="0">
                <a:solidFill>
                  <a:schemeClr val="tx1"/>
                </a:solidFill>
              </a:rPr>
              <a:t>이론 · Hugging Face Blog: Vision Language Models Explained</a:t>
            </a:r>
            <a:endParaRPr lang="en-US" sz="1600" dirty="0"/>
          </a:p>
        </p:txBody>
      </p:sp>
      <p:sp>
        <p:nvSpPr>
          <p:cNvPr id="12" name="text-477"/>
          <p:cNvSpPr txBox="1"/>
          <p:nvPr/>
        </p:nvSpPr>
        <p:spPr>
          <a:xfrm>
            <a:off x="640080" y="4352544"/>
            <a:ext cx="10881360" cy="274320"/>
          </a:xfrm>
          <a:prstGeom prst="rect">
            <a:avLst/>
          </a:prstGeom>
          <a:noFill/>
          <a:ln/>
        </p:spPr>
        <p:txBody>
          <a:bodyPr wrap="square" lIns="0" tIns="0" rIns="0" bIns="0" rtlCol="0" anchor="t"/>
          <a:lstStyle/>
          <a:p>
            <a:pPr indent="0" marL="0">
              <a:buNone/>
            </a:pPr>
            <a:r>
              <a:rPr lang="en-US" sz="1200" u="sng" dirty="0">
                <a:solidFill>
                  <a:schemeClr val="accent3"/>
                </a:solidFill>
                <a:hlinkClick r:id="rId5" invalidUrl="" action="" tgtFrame="" tooltip="" history="1" highlightClick="0" endSnd="0">
                  <a:extLst>
                    <a:ext uri="{A12FA001-AC4F-418D-AE19-62706E023703}">
                      <ahyp:hlinkClr xmlns:ahyp="http://schemas.microsoft.com/office/drawing/2018/hyperlinkcolor" val="tx"/>
                    </a:ext>
                  </a:extLst>
                </a:hlinkClick>
              </a:rPr>
              <a:t>huggingface.co/blog/vlms</a:t>
            </a:r>
            <a:endParaRPr lang="en-US" sz="1200" dirty="0"/>
          </a:p>
        </p:txBody>
      </p:sp>
      <p:sp>
        <p:nvSpPr>
          <p:cNvPr id="13" name="text-478"/>
          <p:cNvSpPr txBox="1"/>
          <p:nvPr/>
        </p:nvSpPr>
        <p:spPr>
          <a:xfrm>
            <a:off x="640080" y="4709160"/>
            <a:ext cx="10881360" cy="347472"/>
          </a:xfrm>
          <a:prstGeom prst="rect">
            <a:avLst/>
          </a:prstGeom>
          <a:noFill/>
          <a:ln/>
        </p:spPr>
        <p:txBody>
          <a:bodyPr wrap="square" lIns="0" tIns="0" rIns="0" bIns="0" rtlCol="0" anchor="t"/>
          <a:lstStyle/>
          <a:p>
            <a:pPr indent="0" marL="0">
              <a:buNone/>
            </a:pPr>
            <a:r>
              <a:rPr lang="en-US" sz="1600" b="1" dirty="0">
                <a:solidFill>
                  <a:schemeClr val="tx1"/>
                </a:solidFill>
              </a:rPr>
              <a:t>논문 · Zhai et al., Sigmoid Loss for Language Image Pre-Training (ICCV 2023)</a:t>
            </a:r>
            <a:endParaRPr lang="en-US" sz="1600" dirty="0"/>
          </a:p>
        </p:txBody>
      </p:sp>
      <p:sp>
        <p:nvSpPr>
          <p:cNvPr id="14" name="text-479"/>
          <p:cNvSpPr txBox="1"/>
          <p:nvPr/>
        </p:nvSpPr>
        <p:spPr>
          <a:xfrm>
            <a:off x="640080" y="5038344"/>
            <a:ext cx="10881360" cy="274320"/>
          </a:xfrm>
          <a:prstGeom prst="rect">
            <a:avLst/>
          </a:prstGeom>
          <a:noFill/>
          <a:ln/>
        </p:spPr>
        <p:txBody>
          <a:bodyPr wrap="square" lIns="0" tIns="0" rIns="0" bIns="0" rtlCol="0" anchor="t"/>
          <a:lstStyle/>
          <a:p>
            <a:pPr indent="0" marL="0">
              <a:buNone/>
            </a:pPr>
            <a:r>
              <a:rPr lang="en-US" sz="1200" u="sng" dirty="0">
                <a:solidFill>
                  <a:schemeClr val="accent3"/>
                </a:solidFill>
                <a:hlinkClick r:id="rId6" invalidUrl="" action="" tgtFrame="" tooltip="" history="1" highlightClick="0" endSnd="0">
                  <a:extLst>
                    <a:ext uri="{A12FA001-AC4F-418D-AE19-62706E023703}">
                      <ahyp:hlinkClr xmlns:ahyp="http://schemas.microsoft.com/office/drawing/2018/hyperlinkcolor" val="tx"/>
                    </a:ext>
                  </a:extLst>
                </a:hlinkClick>
              </a:rPr>
              <a:t>arxiv.org/abs/2303.15343</a:t>
            </a:r>
            <a:endParaRPr lang="en-US" sz="1200" dirty="0"/>
          </a:p>
        </p:txBody>
      </p:sp>
      <p:sp>
        <p:nvSpPr>
          <p:cNvPr id="15" name="card-480"/>
          <p:cNvSpPr/>
          <p:nvPr/>
        </p:nvSpPr>
        <p:spPr>
          <a:xfrm>
            <a:off x="640080" y="5486400"/>
            <a:ext cx="10881360" cy="640080"/>
          </a:xfrm>
          <a:prstGeom prst="roundRect">
            <a:avLst>
              <a:gd name="adj" fmla="val 20000"/>
            </a:avLst>
          </a:prstGeom>
          <a:solidFill>
            <a:schemeClr val="bg2"/>
          </a:solidFill>
          <a:ln/>
        </p:spPr>
      </p:sp>
      <p:sp>
        <p:nvSpPr>
          <p:cNvPr id="16" name="text-481"/>
          <p:cNvSpPr txBox="1"/>
          <p:nvPr/>
        </p:nvSpPr>
        <p:spPr>
          <a:xfrm>
            <a:off x="868680" y="5486400"/>
            <a:ext cx="10424160" cy="640080"/>
          </a:xfrm>
          <a:prstGeom prst="rect">
            <a:avLst/>
          </a:prstGeom>
          <a:noFill/>
          <a:ln/>
        </p:spPr>
        <p:txBody>
          <a:bodyPr wrap="square" lIns="0" tIns="0" rIns="0" bIns="0" rtlCol="0" anchor="ctr"/>
          <a:lstStyle/>
          <a:p>
            <a:pPr indent="0" marL="0">
              <a:buNone/>
            </a:pPr>
            <a:r>
              <a:rPr lang="en-US" sz="1200" dirty="0">
                <a:solidFill>
                  <a:schemeClr val="tx2"/>
                </a:solidFill>
              </a:rPr>
              <a:t>사진: scikit-image 샘플 — 고양이(Stefan van der Walt, CC0), 커피(Rachel Michetti, CC0), 로켓(SpaceX, PD), 우주비행사(NASA, PD) · 실습 사진: COCO val2017 #39769 · 아이콘: Font Awesome</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RAG SigLIP">
  <a:themeElements>
    <a:clrScheme name="DRAG SigLIP">
      <a:dk1>
        <a:srgbClr val="1B1F3B"/>
      </a:dk1>
      <a:lt1>
        <a:srgbClr val="FFFFFF"/>
      </a:lt1>
      <a:dk2>
        <a:srgbClr val="4A5175"/>
      </a:dk2>
      <a:lt2>
        <a:srgbClr val="F1F3F9"/>
      </a:lt2>
      <a:accent1>
        <a:srgbClr val="0F766E"/>
      </a:accent1>
      <a:accent2>
        <a:srgbClr val="B45309"/>
      </a:accent2>
      <a:accent3>
        <a:srgbClr val="4F46E5"/>
      </a:accent3>
      <a:accent4>
        <a:srgbClr val="B91C1C"/>
      </a:accent4>
      <a:accent5>
        <a:srgbClr val="15803D"/>
      </a:accent5>
      <a:accent6>
        <a:srgbClr val="94A3B8"/>
      </a:accent6>
      <a:hlink>
        <a:srgbClr val="4F46E5"/>
      </a:hlink>
      <a:folHlink>
        <a:srgbClr val="6D28D9"/>
      </a:folHlink>
    </a:clrScheme>
    <a:fontScheme name="DRAG SigLIP">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SigLIP — Sigmoid Loss로 학습하는 비전-언어 임베딩</dc:title>
  <dc:subject>PptxGenJS Presentation</dc:subject>
  <dc:creator>김가은</dc:creator>
  <cp:lastModifiedBy>김가은</cp:lastModifiedBy>
  <cp:revision>1</cp:revision>
  <dcterms:created xsi:type="dcterms:W3CDTF">2026-10-04T08:46:49Z</dcterms:created>
  <dcterms:modified xsi:type="dcterms:W3CDTF">2026-10-04T08:46:49Z</dcterms:modified>
</cp:coreProperties>
</file>