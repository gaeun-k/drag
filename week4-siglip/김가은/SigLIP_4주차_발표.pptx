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5d1462-5d26-c178-a4ca-fbe65433486f}">
          <p14:sldIdLst>
            <p14:sldId id="256"/>
            <p14:sldId id="257"/>
            <p14:sldId id="258"/>
          </p14:sldIdLst>
        </p14:section>
        <p14:section name="배경: CLIP과 대조학습" id="{6aa6f22e-dcbe-8b60-42a8-8ded935661b7}">
          <p14:sldIdLst>
            <p14:sldId id="259"/>
            <p14:sldId id="260"/>
            <p14:sldId id="261"/>
            <p14:sldId id="262"/>
          </p14:sldIdLst>
        </p14:section>
        <p14:section name="SigLIP 핵심" id="{89a2b140-f5f6-8b40-1ecb-ae6ed06c6561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검색에 적합한 이유" id="{b9f76fc8-f79c-ef0a-8c8d-eefbe02bff44}">
          <p14:sldIdLst>
            <p14:sldId id="271"/>
          </p14:sldIdLst>
        </p14:section>
        <p14:section name="실습" id="{5e21928e-06b9-43db-0aaf-be37a65a1ddb}">
          <p14:sldIdLst>
            <p14:sldId id="272"/>
            <p14:sldId id="273"/>
            <p14:sldId id="274"/>
          </p14:sldIdLst>
        </p14:section>
        <p14:section name="마무리" id="{5ab988a2-5535-e38d-27de-28742219033d}">
          <p14:sldIdLst>
            <p14:sldId id="275"/>
            <p14:sldId id="276"/>
            <p14:sldId id="277"/>
            <p14:sldId id="278"/>
          </p14:sldIdLst>
        </p14:section>
        <p14:section name="부록: 예상 질문" id="{7ddd28b8-1e45-0318-1c42-fe8fa9145df6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4주차 발표를 시작하겠습니다. 이번 주 주제는 SigLIP으로, 이미지와 텍스트를 같은 벡터 공간에 넣어주는 비전-언어 임베딩 모델입니다. 오른쪽 위의 청록색 점은 이미지, 주황색 점은 텍스트를 뜻하고, 이 색 구분을 발표 내내 똑같이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 RAG 파이프라인에서 '임베딩 모델' 칸은 텍스트 전용이었습니다. 이번 주는 그 칸에 이미지와 텍스트를 같은 벡터 공간에 넣어주는 모델, SigLIP을 끼워 넣는 준비 단계입니다. 5주차에는 오늘 배운 SigLIP 임베딩을 벡터DB에 넣어 텍스트로 이미지를 찾는 검색을 직접 구현합니다.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목표는 네 가지입니다. 개념 세 가지와 실습 하나입니다. 특히 2번, CLIP과 SigLIP의 손실 함수 차이가 오늘 발표의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Hugging Face 블로그 'Vision Language Models Explained'의 분류를 따랐습니다. SigLIP은 그 자체로 검색용 임베딩 모델이면서, 요즘 생성형 VLM의 '눈' 역할을 하는 표준 부품이기도 합니다. 그래서 SigLIP을 이해하면 6주차 통합 프로젝트에서 생성형 VLM까지 확장할 때도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텍스트 임베딩에서 '의미가 비슷한 문장은 가까운 벡터'였던 걸 떠올려 보세요. 여기서는 문장과 사진이 서로 가까워질 수 있다는 점만 다릅니다. 강아지 사진과 'a photo of a dog'라는 문장이 같은 공간에서 가까이 놓이기 때문에, 텍스트 질문으로 이미지를 검색할 수 있게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대조학습은 배치 안에서 짝 맞추기를 하는 방식입니다. 배치에 이미지 4장과 캡션 4개가 있으면 4x4 유사도 행렬이 생기고, 대각선 4칸은 진짜 짝, 나머지 12칸은 가짜 짝입니다. 대각선은 점수를 높이고 나머지는 낮추도록 학습합니다. 사람이 라벨을 달 필요가 없어서 웹 규모 데이터로 확장할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Softmax는 '이 이미지의 정답 캡션은 배치 안의 32,000개 중 몇 번?'을 맞히는 문제입니다. 한 칸의 확률을 계산하려 해도 같은 행의 나머지 모든 칸이 필요하다는 게 핵심 약점입니다. 그래서 GPU 여러 대로 나눠 학습할 때 모든 임베딩을 한곳에 모아야 하고, 메모리와 통신 비용이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SigLIP은 Google DeepMind가 2023년 ICCV에 발표한 모델입니다. 아이디어는 딱 하나, Softmax를 Sigmoid로 바꾼 것입니다. 모델 구조는 CLIP과 거의 같고 손실 함수만 바꿨는데 효율과 성능이 모두 좋아졌다는 점이 이 논문의 메시지입니다.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구조는 두 개의 탑으로 된 듀얼 인코더입니다. 이미지는 ViT, 텍스트는 Transformer로 각각 인코딩한 뒤, 같은 차원으로 투영하고 L2 정규화합니다. 두 인코더가 분리되어 있다는 점이 나중에 검색에서 아주 중요합니다. 이미지만 따로 미리 계산해 둘 수 있기 때문입니다. 모델 이름은 크기, 패치 크기, 해상도 순서로 읽으면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수식에서 z는 짝이면 +1, 아니면 -1입니다. 그래서 짝인 칸은 점수를 올리고, 짝이 아닌 칸은 점수를 내리는 로지스틱 회귀가 B 곱하기 B개 있는 셈입니다. CLIP 수식과 비교하면 분모에 배치 전체 합이 없습니다. 칸 하나의 손실을 계산할 때 다른 칸을 볼 필요가 없고, 이게 SigLIP의 모든 장점의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점수를 두 방식으로 바꿔 보겠습니다. Softmax는 합이 1이 되도록 나눠 가지니까 T1 0.55, T2 0.45로, 둘 다 높은데도 둘 중 하나를 고르라는 상대 점수가 됩니다. Sigmoid는 칸마다 따로 계산해서 T1, T2 모두 0.99입니다. 그래서 학습할 때 T2가 짝이 아니라면 T2 점수를 직접 낮추라는 신호가 들어갑니다. 참고로 이 표의 Sigmoid 값은 바이어스를 0으로 둔 단순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온도 t는 CLIP에도 있던 것이고, 바이어스 b가 SigLIP에서 새로 들어간 파라미터입니다. 배치가 32k면 짝 하나당 짝 아닌 쌍이 3만 2천 개입니다. 아무 조치 없이 시작하면 초반에 음성 손실이 너무 커서 학습이 흔들립니다. b를 -10으로 두면 모든 쌍을 '짝 아님'으로 보는 상태에서 출발하기 때문에 이 문제가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Sigmoid는 칸끼리 독립이라 큰 행렬을 한 번에 만들 필요가 없습니다. 장치 세 대가 있다면 각자 자기 블록, 즉 대각선을 먼저 계산하고, 텍스트 임베딩을 옆 장치로 넘겨서 다음 블록을 계산하고, 이걸 반복한 뒤 손실만 더하면 끝입니다. 그래서 장치당 메모리가 전체 배치 제곱이 아니라 장치당 배치 제곱에 비례합니다. 논문에서는 이미지 인코더를 고정한 SigLiT로 TPU 4개, 2일 만에 ImageNet zero-shot 84.5%를 달성했고, 배치를 100만까지 늘려 실험할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배치 크기 실험 결과를 정리하면 세 가지입니다. 첫째, 작은 배치에서 Sigmoid가 확실히 좋습니다. 둘째, 배치를 키우면 차이가 줄어들고 32k 정도에서 성능이 포화됩니다. 100만까지 키워도 이득이 거의 없었습니다. 셋째, 캡션이 엉뚱한 노이즈 데이터에도 더 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 내용을 한 표로 정리했습니다. 핵심은 맨 위 두 줄입니다. 다중 분류를 이진 분류 여러 개로 바꿨고, 그래서 정규화가 필요 없어졌습니다. 나머지 줄은 전부 여기서 파생된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 Reranking에서 bi-encoder로 후보를 뽑고 cross-encoder로 재정렬했던 것 기억나시죠? SigLIP은 그중 bi-encoder 역할입니다. 질의와 이미지를 함께 넣어야 하는 cross-encoder 구조는 질의마다 모든 이미지를 다시 계산해야 해서 대규모 검색에 맞지 않습니다. SigLIP은 이미지를 미리 계산해 벡터DB에 넣어두고 텍스트만 인코딩하면 되니까 5주차 검색 시스템에 딱 맞습니다. 또 Sigmoid 점수는 쌍마다 독립이라 '관련도 몇 이상만 보여줘' 같은 임계값 필터링에도 쓰기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과제인 이미지 임베딩 추출 코드입니다. AutoModel과 AutoProcessor로 체크포인트를 불러오고, 이미지를 processor에 넣은 뒤 get_image_features를 호출하면 base 모델 기준 768차원 벡터가 나옵니다. 검색에 쓸 거라면 L2 정규화를 해두면 내적이 곧 코사인 유사도가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번째는 텍스트와 이미지를 함께 넣어 매칭 확률을 보는 코드입니다. 여기서 CLIP 코드 습관대로 쓰면 틀리는 곳이 두 군데 있습니다. 첫째, 텍스트는 반드시 padding='max_length'로 넣어야 합니다. SigLIP은 학습할 때 항상 64 토큰으로 패딩했기 때문입니다. 둘째, 확률은 softmax가 아니라 sigmoid로 계산합니다. 그래서 캡션 확률을 다 더해도 1이 아닌데, 그게 정상입니다.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번째는 폴더 안의 이미지 여러 장을 32장씩 묶어 임베딩하고 numpy 파일로 저장하는 코드입니다. 마지막에는 텍스트 질의 하나로 내적을 계산해 상위 5장을 뽑는 간단한 검색까지 넣었습니다. 여기서 저장한 image_embs.npy가 그대로 5주차 벡터DB 인덱싱의 입력이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실습은 가벼운 base 모델로 하면 충분합니다. 성능이 더 필요하면 so400m, 한국어 질의를 쓰려면 multilingual 모델이나 SigLIP 2를 써볼 수 있습니다. SigLIP 2는 2025년에 나온 후속 모델로, Sigmoid 손실은 그대로 두고 캡셔닝, 자기 증류, 마스크 예측 같은 학습 목표를 추가해서 위치 정보와 다국어 성능을 개선했습니다.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내용을 세 줄로 정리하면 이렇습니다. SigLIP은 CLIP 구조에서 손실만 Sigmoid로 바꾼 모델이고, 그 덕분에 배치 전체 정규화가 사라져 효율과 성능이 좋아졌으며, 듀얼 인코더 구조라서 5주차의 대규모 이미지 검색에 적합합니다.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후 함께 이야기해볼 질문 네 가지입니다. 특히 1번과 3번은 5주차 검색 데모를 만들 때 바로 부딪힐 문제라서 각자 생각을 들어보고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발표에 사용한 자료입니다. 메인 교재는 Hugging Face 블로그와 공식 문서이고, 논문은 심화 참고용입니다.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대비용 부록입니다. 발표 시간에는 넘기고, 질문이 나오면 이 슬라이드로 돌아와 답변합니다.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대비용 부록입니다. 발표 시간에는 넘기고, 질문이 나오면 이 슬라이드로 돌아와 답변합니다.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DRAG 4주차 · SigLIP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303.15343" TargetMode="External"/><Relationship Id="rId2" Type="http://schemas.openxmlformats.org/officeDocument/2006/relationships/hyperlink" Target="https://arxiv.org/abs/2502.14786" TargetMode="External"/><Relationship Id="rId3" Type="http://schemas.openxmlformats.org/officeDocument/2006/relationships/hyperlink" Target="https://arxiv.org/abs/2103.00020" TargetMode="External"/><Relationship Id="rId4" Type="http://schemas.openxmlformats.org/officeDocument/2006/relationships/hyperlink" Target="https://huggingface.co/blog/vlms" TargetMode="External"/><Relationship Id="rId5" Type="http://schemas.openxmlformats.org/officeDocument/2006/relationships/hyperlink" Target="https://huggingface.co/docs/transformers/model_doc/siglip" TargetMode="External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SigLIP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Sigmoid Loss로 학습하는 비전-언어 임베딩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DRAG 4주차 · 눈으로 찾는 RAG  |  발표자: 김가은</a:t>
            </a:r>
            <a:endParaRPr lang="en-US" sz="2000" dirty="0"/>
          </a:p>
        </p:txBody>
      </p:sp>
      <p:sp>
        <p:nvSpPr>
          <p:cNvPr id="4" name="motif-img"/>
          <p:cNvSpPr/>
          <p:nvPr/>
        </p:nvSpPr>
        <p:spPr>
          <a:xfrm>
            <a:off x="9418320" y="9144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otif-txt"/>
          <p:cNvSpPr/>
          <p:nvPr/>
        </p:nvSpPr>
        <p:spPr>
          <a:xfrm>
            <a:off x="10058400" y="914400"/>
            <a:ext cx="822960" cy="822960"/>
          </a:xfrm>
          <a:prstGeom prst="ellipse">
            <a:avLst/>
          </a:prstGeom>
          <a:solidFill>
            <a:schemeClr val="accent2">
              <a:alpha val="85000"/>
            </a:schemeClr>
          </a:solidFill>
          <a:ln/>
        </p:spPr>
      </p:sp>
      <p:sp>
        <p:nvSpPr>
          <p:cNvPr id="6" name="text-1"/>
          <p:cNvSpPr txBox="1"/>
          <p:nvPr/>
        </p:nvSpPr>
        <p:spPr>
          <a:xfrm>
            <a:off x="905256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이미지  ·  텍스트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지난 주차 복습 &amp; 이번 주의 위치</a:t>
            </a:r>
            <a:endParaRPr lang="en-US" sz="3200" dirty="0"/>
          </a:p>
        </p:txBody>
      </p:sp>
      <p:sp>
        <p:nvSpPr>
          <p:cNvPr id="3" name="card-2"/>
          <p:cNvSpPr/>
          <p:nvPr/>
        </p:nvSpPr>
        <p:spPr>
          <a:xfrm>
            <a:off x="548640" y="1371600"/>
            <a:ext cx="34290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text-3"/>
          <p:cNvSpPr txBox="1"/>
          <p:nvPr/>
        </p:nvSpPr>
        <p:spPr>
          <a:xfrm>
            <a:off x="82296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1~3주차</a:t>
            </a:r>
            <a:endParaRPr lang="en-US" sz="1600" dirty="0"/>
          </a:p>
        </p:txBody>
      </p:sp>
      <p:sp>
        <p:nvSpPr>
          <p:cNvPr id="5" name="text-4"/>
          <p:cNvSpPr txBox="1"/>
          <p:nvPr/>
        </p:nvSpPr>
        <p:spPr>
          <a:xfrm>
            <a:off x="82296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텍스트 RAG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임베딩 → 벡터DB → 검색 → 생성</a:t>
            </a:r>
            <a:endParaRPr lang="en-US" sz="1500" dirty="0"/>
          </a:p>
        </p:txBody>
      </p:sp>
      <p:sp>
        <p:nvSpPr>
          <p:cNvPr id="6" name="arrow-5"/>
          <p:cNvSpPr/>
          <p:nvPr/>
        </p:nvSpPr>
        <p:spPr>
          <a:xfrm>
            <a:off x="4023360" y="2167128"/>
            <a:ext cx="2743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card-6"/>
          <p:cNvSpPr/>
          <p:nvPr/>
        </p:nvSpPr>
        <p:spPr>
          <a:xfrm>
            <a:off x="4343400" y="1371600"/>
            <a:ext cx="3429000" cy="1600200"/>
          </a:xfrm>
          <a:prstGeom prst="roundRect">
            <a:avLst>
              <a:gd name="adj" fmla="val 6857"/>
            </a:avLst>
          </a:prstGeom>
          <a:solidFill>
            <a:schemeClr val="accent3">
              <a:alpha val="12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8" name="text-7"/>
          <p:cNvSpPr txBox="1"/>
          <p:nvPr/>
        </p:nvSpPr>
        <p:spPr>
          <a:xfrm>
            <a:off x="461772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4주차 (오늘)</a:t>
            </a:r>
            <a:endParaRPr lang="en-US" sz="1600" dirty="0"/>
          </a:p>
        </p:txBody>
      </p:sp>
      <p:sp>
        <p:nvSpPr>
          <p:cNvPr id="9" name="text-8"/>
          <p:cNvSpPr txBox="1"/>
          <p:nvPr/>
        </p:nvSpPr>
        <p:spPr>
          <a:xfrm>
            <a:off x="461772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임베딩 모델을 이미지까지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다루는 모델로 → SigLIP</a:t>
            </a:r>
            <a:endParaRPr lang="en-US" sz="1500" dirty="0"/>
          </a:p>
        </p:txBody>
      </p:sp>
      <p:sp>
        <p:nvSpPr>
          <p:cNvPr id="10" name="arrow-9"/>
          <p:cNvSpPr/>
          <p:nvPr/>
        </p:nvSpPr>
        <p:spPr>
          <a:xfrm>
            <a:off x="7818120" y="2167128"/>
            <a:ext cx="2743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card-10"/>
          <p:cNvSpPr/>
          <p:nvPr/>
        </p:nvSpPr>
        <p:spPr>
          <a:xfrm>
            <a:off x="8138160" y="1371600"/>
            <a:ext cx="34290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2" name="text-11"/>
          <p:cNvSpPr txBox="1"/>
          <p:nvPr/>
        </p:nvSpPr>
        <p:spPr>
          <a:xfrm>
            <a:off x="84124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5주차</a:t>
            </a:r>
            <a:endParaRPr lang="en-US" sz="1600" dirty="0"/>
          </a:p>
        </p:txBody>
      </p:sp>
      <p:sp>
        <p:nvSpPr>
          <p:cNvPr id="13" name="text-12"/>
          <p:cNvSpPr txBox="1"/>
          <p:nvPr/>
        </p:nvSpPr>
        <p:spPr>
          <a:xfrm>
            <a:off x="841248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SigLIP + 벡터DB로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텍스트→이미지 검색 구현</a:t>
            </a:r>
            <a:endParaRPr lang="en-US" sz="1500" dirty="0"/>
          </a:p>
        </p:txBody>
      </p:sp>
      <p:sp>
        <p:nvSpPr>
          <p:cNvPr id="14" name="text-13"/>
          <p:cNvSpPr txBox="1"/>
          <p:nvPr/>
        </p:nvSpPr>
        <p:spPr>
          <a:xfrm>
            <a:off x="548640" y="3520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기존</a:t>
            </a:r>
            <a:endParaRPr lang="en-US" sz="1600" dirty="0"/>
          </a:p>
        </p:txBody>
      </p:sp>
      <p:sp>
        <p:nvSpPr>
          <p:cNvPr id="15" name="box-14"/>
          <p:cNvSpPr/>
          <p:nvPr/>
        </p:nvSpPr>
        <p:spPr>
          <a:xfrm>
            <a:off x="1645920" y="3520440"/>
            <a:ext cx="146304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6" name="text-15"/>
          <p:cNvSpPr txBox="1"/>
          <p:nvPr/>
        </p:nvSpPr>
        <p:spPr>
          <a:xfrm>
            <a:off x="1645920" y="3520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문서</a:t>
            </a:r>
            <a:endParaRPr lang="en-US" sz="1400" dirty="0"/>
          </a:p>
        </p:txBody>
      </p:sp>
      <p:sp>
        <p:nvSpPr>
          <p:cNvPr id="17" name="arrow-16"/>
          <p:cNvSpPr/>
          <p:nvPr/>
        </p:nvSpPr>
        <p:spPr>
          <a:xfrm>
            <a:off x="3154680" y="3749040"/>
            <a:ext cx="41148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box-17"/>
          <p:cNvSpPr/>
          <p:nvPr/>
        </p:nvSpPr>
        <p:spPr>
          <a:xfrm>
            <a:off x="3611880" y="3520440"/>
            <a:ext cx="219456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19" name="text-18"/>
          <p:cNvSpPr txBox="1"/>
          <p:nvPr/>
        </p:nvSpPr>
        <p:spPr>
          <a:xfrm>
            <a:off x="361188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텍스트 임베딩</a:t>
            </a:r>
            <a:endParaRPr lang="en-US" sz="1400" dirty="0"/>
          </a:p>
        </p:txBody>
      </p:sp>
      <p:sp>
        <p:nvSpPr>
          <p:cNvPr id="20" name="arrow-19"/>
          <p:cNvSpPr/>
          <p:nvPr/>
        </p:nvSpPr>
        <p:spPr>
          <a:xfrm>
            <a:off x="5852160" y="3749040"/>
            <a:ext cx="41148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box-20"/>
          <p:cNvSpPr/>
          <p:nvPr/>
        </p:nvSpPr>
        <p:spPr>
          <a:xfrm>
            <a:off x="6309360" y="3520440"/>
            <a:ext cx="219456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630936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벡터DB → 검색</a:t>
            </a:r>
            <a:endParaRPr lang="en-US" sz="1400" dirty="0"/>
          </a:p>
        </p:txBody>
      </p:sp>
      <p:sp>
        <p:nvSpPr>
          <p:cNvPr id="23" name="text-22"/>
          <p:cNvSpPr txBox="1"/>
          <p:nvPr/>
        </p:nvSpPr>
        <p:spPr>
          <a:xfrm>
            <a:off x="868680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질문(텍스트)도 같은 텍스트 임베딩</a:t>
            </a:r>
            <a:endParaRPr lang="en-US" sz="1400" dirty="0"/>
          </a:p>
        </p:txBody>
      </p:sp>
      <p:sp>
        <p:nvSpPr>
          <p:cNvPr id="24" name="text-23"/>
          <p:cNvSpPr txBox="1"/>
          <p:nvPr/>
        </p:nvSpPr>
        <p:spPr>
          <a:xfrm>
            <a:off x="548640" y="4343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확장</a:t>
            </a:r>
            <a:endParaRPr lang="en-US" sz="1600" dirty="0"/>
          </a:p>
        </p:txBody>
      </p:sp>
      <p:sp>
        <p:nvSpPr>
          <p:cNvPr id="25" name="box-24"/>
          <p:cNvSpPr/>
          <p:nvPr/>
        </p:nvSpPr>
        <p:spPr>
          <a:xfrm>
            <a:off x="1645920" y="4343400"/>
            <a:ext cx="14630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26" name="text-25"/>
          <p:cNvSpPr txBox="1"/>
          <p:nvPr/>
        </p:nvSpPr>
        <p:spPr>
          <a:xfrm>
            <a:off x="1645920" y="4343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이미지</a:t>
            </a:r>
            <a:endParaRPr lang="en-US" sz="1400" dirty="0"/>
          </a:p>
        </p:txBody>
      </p:sp>
      <p:sp>
        <p:nvSpPr>
          <p:cNvPr id="27" name="arrow-26"/>
          <p:cNvSpPr/>
          <p:nvPr/>
        </p:nvSpPr>
        <p:spPr>
          <a:xfrm>
            <a:off x="3154680" y="4572000"/>
            <a:ext cx="41148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27"/>
          <p:cNvSpPr/>
          <p:nvPr/>
        </p:nvSpPr>
        <p:spPr>
          <a:xfrm>
            <a:off x="3611880" y="4343400"/>
            <a:ext cx="219456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/>
        </p:spPr>
      </p:sp>
      <p:sp>
        <p:nvSpPr>
          <p:cNvPr id="29" name="text-28"/>
          <p:cNvSpPr txBox="1"/>
          <p:nvPr/>
        </p:nvSpPr>
        <p:spPr>
          <a:xfrm>
            <a:off x="361188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SigLIP 임베딩</a:t>
            </a:r>
            <a:endParaRPr lang="en-US" sz="1400" dirty="0"/>
          </a:p>
        </p:txBody>
      </p:sp>
      <p:sp>
        <p:nvSpPr>
          <p:cNvPr id="30" name="arrow-29"/>
          <p:cNvSpPr/>
          <p:nvPr/>
        </p:nvSpPr>
        <p:spPr>
          <a:xfrm>
            <a:off x="5852160" y="4572000"/>
            <a:ext cx="41148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30"/>
          <p:cNvSpPr/>
          <p:nvPr/>
        </p:nvSpPr>
        <p:spPr>
          <a:xfrm>
            <a:off x="6309360" y="4343400"/>
            <a:ext cx="219456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32" name="text-31"/>
          <p:cNvSpPr txBox="1"/>
          <p:nvPr/>
        </p:nvSpPr>
        <p:spPr>
          <a:xfrm>
            <a:off x="630936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벡터DB → 검색</a:t>
            </a:r>
            <a:endParaRPr lang="en-US" sz="1400" dirty="0"/>
          </a:p>
        </p:txBody>
      </p:sp>
      <p:sp>
        <p:nvSpPr>
          <p:cNvPr id="33" name="text-32"/>
          <p:cNvSpPr txBox="1"/>
          <p:nvPr/>
        </p:nvSpPr>
        <p:spPr>
          <a:xfrm>
            <a:off x="8686800" y="4343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질문(텍스트)은 SigLIP 텍스트 임베딩</a:t>
            </a:r>
            <a:endParaRPr lang="en-US" sz="1400" dirty="0"/>
          </a:p>
        </p:txBody>
      </p:sp>
      <p:sp>
        <p:nvSpPr>
          <p:cNvPr id="34" name="text-33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파이프라인 구조는 그대로, ‘임베딩 모델’ 칸만 바뀝니다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오늘의 목표</a:t>
            </a:r>
            <a:endParaRPr lang="en-US" sz="3200" dirty="0"/>
          </a:p>
        </p:txBody>
      </p:sp>
      <p:sp>
        <p:nvSpPr>
          <p:cNvPr id="3" name="card-34"/>
          <p:cNvSpPr/>
          <p:nvPr/>
        </p:nvSpPr>
        <p:spPr>
          <a:xfrm>
            <a:off x="548640" y="1417320"/>
            <a:ext cx="53492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badge-35"/>
          <p:cNvSpPr/>
          <p:nvPr/>
        </p:nvSpPr>
        <p:spPr>
          <a:xfrm>
            <a:off x="86868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-36"/>
          <p:cNvSpPr txBox="1"/>
          <p:nvPr/>
        </p:nvSpPr>
        <p:spPr>
          <a:xfrm>
            <a:off x="8686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-37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비전-언어 임베딩</a:t>
            </a:r>
            <a:endParaRPr lang="en-US" sz="2000" dirty="0"/>
          </a:p>
        </p:txBody>
      </p:sp>
      <p:sp>
        <p:nvSpPr>
          <p:cNvPr id="7" name="text-38"/>
          <p:cNvSpPr txBox="1"/>
          <p:nvPr/>
        </p:nvSpPr>
        <p:spPr>
          <a:xfrm>
            <a:off x="1554480" y="23317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이미지와 텍스트가 함께 놓이는 공동 임베딩 공간을 이해한다</a:t>
            </a:r>
            <a:endParaRPr lang="en-US" sz="1600" dirty="0"/>
          </a:p>
        </p:txBody>
      </p:sp>
      <p:sp>
        <p:nvSpPr>
          <p:cNvPr id="8" name="card-39"/>
          <p:cNvSpPr/>
          <p:nvPr/>
        </p:nvSpPr>
        <p:spPr>
          <a:xfrm>
            <a:off x="6172200" y="1417320"/>
            <a:ext cx="53492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badge-40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-41"/>
          <p:cNvSpPr txBox="1"/>
          <p:nvPr/>
        </p:nvSpPr>
        <p:spPr>
          <a:xfrm>
            <a:off x="6492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-42"/>
          <p:cNvSpPr txBox="1"/>
          <p:nvPr/>
        </p:nvSpPr>
        <p:spPr>
          <a:xfrm>
            <a:off x="7178040" y="1764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Softmax vs Sigmoid</a:t>
            </a:r>
            <a:endParaRPr lang="en-US" sz="2000" dirty="0"/>
          </a:p>
        </p:txBody>
      </p:sp>
      <p:sp>
        <p:nvSpPr>
          <p:cNvPr id="12" name="text-43"/>
          <p:cNvSpPr txBox="1"/>
          <p:nvPr/>
        </p:nvSpPr>
        <p:spPr>
          <a:xfrm>
            <a:off x="7178040" y="23317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CLIP의 Softmax 대조학습과 SigLIP의 Sigmoid 대조학습의 차이를 설명한다</a:t>
            </a:r>
            <a:endParaRPr lang="en-US" sz="1600" dirty="0"/>
          </a:p>
        </p:txBody>
      </p:sp>
      <p:sp>
        <p:nvSpPr>
          <p:cNvPr id="13" name="card-44"/>
          <p:cNvSpPr/>
          <p:nvPr/>
        </p:nvSpPr>
        <p:spPr>
          <a:xfrm>
            <a:off x="548640" y="3749040"/>
            <a:ext cx="53492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badge-45"/>
          <p:cNvSpPr/>
          <p:nvPr/>
        </p:nvSpPr>
        <p:spPr>
          <a:xfrm>
            <a:off x="868680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-46"/>
          <p:cNvSpPr txBox="1"/>
          <p:nvPr/>
        </p:nvSpPr>
        <p:spPr>
          <a:xfrm>
            <a:off x="86868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-47"/>
          <p:cNvSpPr txBox="1"/>
          <p:nvPr/>
        </p:nvSpPr>
        <p:spPr>
          <a:xfrm>
            <a:off x="1554480" y="4096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검색 적합성</a:t>
            </a:r>
            <a:endParaRPr lang="en-US" sz="2000" dirty="0"/>
          </a:p>
        </p:txBody>
      </p:sp>
      <p:sp>
        <p:nvSpPr>
          <p:cNvPr id="17" name="text-48"/>
          <p:cNvSpPr txBox="1"/>
          <p:nvPr/>
        </p:nvSpPr>
        <p:spPr>
          <a:xfrm>
            <a:off x="155448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SigLIP이 이미지-텍스트 검색에 적합한 이유를 말할 수 있다</a:t>
            </a:r>
            <a:endParaRPr lang="en-US" sz="1600" dirty="0"/>
          </a:p>
        </p:txBody>
      </p:sp>
      <p:sp>
        <p:nvSpPr>
          <p:cNvPr id="18" name="card-49"/>
          <p:cNvSpPr/>
          <p:nvPr/>
        </p:nvSpPr>
        <p:spPr>
          <a:xfrm>
            <a:off x="6172200" y="3749040"/>
            <a:ext cx="53492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badge-50"/>
          <p:cNvSpPr/>
          <p:nvPr/>
        </p:nvSpPr>
        <p:spPr>
          <a:xfrm>
            <a:off x="6492240" y="4069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-51"/>
          <p:cNvSpPr txBox="1"/>
          <p:nvPr/>
        </p:nvSpPr>
        <p:spPr>
          <a:xfrm>
            <a:off x="649224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-52"/>
          <p:cNvSpPr txBox="1"/>
          <p:nvPr/>
        </p:nvSpPr>
        <p:spPr>
          <a:xfrm>
            <a:off x="7178040" y="4096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실습</a:t>
            </a:r>
            <a:endParaRPr lang="en-US" sz="2000" dirty="0"/>
          </a:p>
        </p:txBody>
      </p:sp>
      <p:sp>
        <p:nvSpPr>
          <p:cNvPr id="22" name="text-53"/>
          <p:cNvSpPr txBox="1"/>
          <p:nvPr/>
        </p:nvSpPr>
        <p:spPr>
          <a:xfrm>
            <a:off x="71780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Hugging Face로 SigLIP 이미지 임베딩을 추출한다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비전-언어 모델(VLM)의 큰 그림</a:t>
            </a:r>
            <a:endParaRPr lang="en-US" sz="3200" dirty="0"/>
          </a:p>
        </p:txBody>
      </p:sp>
      <p:sp>
        <p:nvSpPr>
          <p:cNvPr id="3" name="text-54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VLM = 이미지와 텍스트를 함께 입력으로 받는 모델. 크게 두 부류로 나뉩니다</a:t>
            </a:r>
            <a:endParaRPr lang="en-US" sz="1600" dirty="0"/>
          </a:p>
        </p:txBody>
      </p:sp>
      <p:sp>
        <p:nvSpPr>
          <p:cNvPr id="4" name="card-55"/>
          <p:cNvSpPr/>
          <p:nvPr/>
        </p:nvSpPr>
        <p:spPr>
          <a:xfrm>
            <a:off x="548640" y="1828800"/>
            <a:ext cx="5349240" cy="2743200"/>
          </a:xfrm>
          <a:prstGeom prst="roundRect">
            <a:avLst>
              <a:gd name="adj" fmla="val 4000"/>
            </a:avLst>
          </a:prstGeom>
          <a:solidFill>
            <a:schemeClr val="accent3">
              <a:alpha val="10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5" name="text-56"/>
          <p:cNvSpPr txBox="1"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임베딩형 (듀얼 인코더)</a:t>
            </a:r>
            <a:endParaRPr lang="en-US" sz="2000" dirty="0"/>
          </a:p>
        </p:txBody>
      </p:sp>
      <p:sp>
        <p:nvSpPr>
          <p:cNvPr id="6" name="text-57"/>
          <p:cNvSpPr txBox="1"/>
          <p:nvPr/>
        </p:nvSpPr>
        <p:spPr>
          <a:xfrm>
            <a:off x="868680" y="269748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예시</a:t>
            </a:r>
            <a:endParaRPr lang="en-US" sz="1600" dirty="0"/>
          </a:p>
        </p:txBody>
      </p:sp>
      <p:sp>
        <p:nvSpPr>
          <p:cNvPr id="7" name="text-58"/>
          <p:cNvSpPr txBox="1"/>
          <p:nvPr/>
        </p:nvSpPr>
        <p:spPr>
          <a:xfrm>
            <a:off x="1737360" y="2697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CLIP, SigLIP</a:t>
            </a:r>
            <a:endParaRPr lang="en-US" sz="1600" dirty="0"/>
          </a:p>
        </p:txBody>
      </p:sp>
      <p:sp>
        <p:nvSpPr>
          <p:cNvPr id="8" name="text-59"/>
          <p:cNvSpPr txBox="1"/>
          <p:nvPr/>
        </p:nvSpPr>
        <p:spPr>
          <a:xfrm>
            <a:off x="868680" y="3264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출력</a:t>
            </a:r>
            <a:endParaRPr lang="en-US" sz="1600" dirty="0"/>
          </a:p>
        </p:txBody>
      </p:sp>
      <p:sp>
        <p:nvSpPr>
          <p:cNvPr id="9" name="text-60"/>
          <p:cNvSpPr txBox="1"/>
          <p:nvPr/>
        </p:nvSpPr>
        <p:spPr>
          <a:xfrm>
            <a:off x="1737360" y="32644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벡터</a:t>
            </a:r>
            <a:endParaRPr lang="en-US" sz="1600" dirty="0"/>
          </a:p>
        </p:txBody>
      </p:sp>
      <p:sp>
        <p:nvSpPr>
          <p:cNvPr id="10" name="text-61"/>
          <p:cNvSpPr txBox="1"/>
          <p:nvPr/>
        </p:nvSpPr>
        <p:spPr>
          <a:xfrm>
            <a:off x="868680" y="383133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용도</a:t>
            </a:r>
            <a:endParaRPr lang="en-US" sz="1600" dirty="0"/>
          </a:p>
        </p:txBody>
      </p:sp>
      <p:sp>
        <p:nvSpPr>
          <p:cNvPr id="11" name="text-62"/>
          <p:cNvSpPr txBox="1"/>
          <p:nvPr/>
        </p:nvSpPr>
        <p:spPr>
          <a:xfrm>
            <a:off x="1737360" y="38313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검색 · zero-shot 분류 · 유사도</a:t>
            </a:r>
            <a:endParaRPr lang="en-US" sz="1600" dirty="0"/>
          </a:p>
        </p:txBody>
      </p:sp>
      <p:sp>
        <p:nvSpPr>
          <p:cNvPr id="12" name="card-63"/>
          <p:cNvSpPr/>
          <p:nvPr/>
        </p:nvSpPr>
        <p:spPr>
          <a:xfrm>
            <a:off x="6172200" y="1828800"/>
            <a:ext cx="53492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3" name="text-64"/>
          <p:cNvSpPr txBox="1"/>
          <p:nvPr/>
        </p:nvSpPr>
        <p:spPr>
          <a:xfrm>
            <a:off x="649224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생성형 VLM</a:t>
            </a:r>
            <a:endParaRPr lang="en-US" sz="2000" dirty="0"/>
          </a:p>
        </p:txBody>
      </p:sp>
      <p:sp>
        <p:nvSpPr>
          <p:cNvPr id="14" name="text-65"/>
          <p:cNvSpPr txBox="1"/>
          <p:nvPr/>
        </p:nvSpPr>
        <p:spPr>
          <a:xfrm>
            <a:off x="6492240" y="269748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예시</a:t>
            </a:r>
            <a:endParaRPr lang="en-US" sz="1600" dirty="0"/>
          </a:p>
        </p:txBody>
      </p:sp>
      <p:sp>
        <p:nvSpPr>
          <p:cNvPr id="15" name="text-66"/>
          <p:cNvSpPr txBox="1"/>
          <p:nvPr/>
        </p:nvSpPr>
        <p:spPr>
          <a:xfrm>
            <a:off x="7360920" y="2697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LLaVA, PaliGemma, SmolVLM</a:t>
            </a:r>
            <a:endParaRPr lang="en-US" sz="1600" dirty="0"/>
          </a:p>
        </p:txBody>
      </p:sp>
      <p:sp>
        <p:nvSpPr>
          <p:cNvPr id="16" name="text-67"/>
          <p:cNvSpPr txBox="1"/>
          <p:nvPr/>
        </p:nvSpPr>
        <p:spPr>
          <a:xfrm>
            <a:off x="6492240" y="3264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출력</a:t>
            </a:r>
            <a:endParaRPr lang="en-US" sz="1600" dirty="0"/>
          </a:p>
        </p:txBody>
      </p:sp>
      <p:sp>
        <p:nvSpPr>
          <p:cNvPr id="17" name="text-68"/>
          <p:cNvSpPr txBox="1"/>
          <p:nvPr/>
        </p:nvSpPr>
        <p:spPr>
          <a:xfrm>
            <a:off x="7360920" y="32644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텍스트</a:t>
            </a:r>
            <a:endParaRPr lang="en-US" sz="1600" dirty="0"/>
          </a:p>
        </p:txBody>
      </p:sp>
      <p:sp>
        <p:nvSpPr>
          <p:cNvPr id="18" name="text-69"/>
          <p:cNvSpPr txBox="1"/>
          <p:nvPr/>
        </p:nvSpPr>
        <p:spPr>
          <a:xfrm>
            <a:off x="6492240" y="383133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용도</a:t>
            </a:r>
            <a:endParaRPr lang="en-US" sz="1600" dirty="0"/>
          </a:p>
        </p:txBody>
      </p:sp>
      <p:sp>
        <p:nvSpPr>
          <p:cNvPr id="19" name="text-70"/>
          <p:cNvSpPr txBox="1"/>
          <p:nvPr/>
        </p:nvSpPr>
        <p:spPr>
          <a:xfrm>
            <a:off x="7360920" y="38313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이미지 QA · 캡셔닝</a:t>
            </a:r>
            <a:endParaRPr lang="en-US" sz="1600" dirty="0"/>
          </a:p>
        </p:txBody>
      </p:sp>
      <p:sp>
        <p:nvSpPr>
          <p:cNvPr id="20" name="card-71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1" name="text-72"/>
          <p:cNvSpPr txBox="1"/>
          <p:nvPr/>
        </p:nvSpPr>
        <p:spPr>
          <a:xfrm>
            <a:off x="86868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포인트  </a:t>
            </a:r>
            <a:r>
              <a:rPr lang="en-US" sz="1600" dirty="0">
                <a:solidFill>
                  <a:schemeClr val="tx1"/>
                </a:solidFill>
              </a:rPr>
              <a:t>생성형 VLM 상당수가 비전 인코더(‘눈’)로 SigLIP을 사용합니다 — PaliGemma, Idefics3 / SmolVLM 등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공동 임베딩 공간 (Joint Embedding Space)</a:t>
            </a:r>
            <a:endParaRPr lang="en-US" sz="3200" dirty="0"/>
          </a:p>
        </p:txBody>
      </p:sp>
      <p:sp>
        <p:nvSpPr>
          <p:cNvPr id="3" name="text-73"/>
          <p:cNvSpPr txBox="1"/>
          <p:nvPr/>
        </p:nvSpPr>
        <p:spPr>
          <a:xfrm>
            <a:off x="548640" y="146304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이미지와 텍스트를 같은 차원의 벡터 공간에 매핑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의미가 같으면 가깝게, 다르면 멀게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유사도 = 두 벡터의 코사인 유사도 (L2 정규화 후 내적)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</a:rPr>
              <a:t>→ 텍스트 질문으로 이미지를 찾을 수 있게 됨</a:t>
            </a:r>
            <a:endParaRPr lang="en-US" sz="1800" dirty="0"/>
          </a:p>
        </p:txBody>
      </p:sp>
      <p:sp>
        <p:nvSpPr>
          <p:cNvPr id="4" name="card-74"/>
          <p:cNvSpPr/>
          <p:nvPr/>
        </p:nvSpPr>
        <p:spPr>
          <a:xfrm>
            <a:off x="6035040" y="1325880"/>
            <a:ext cx="557784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5" name="pairline-75"/>
          <p:cNvSpPr/>
          <p:nvPr/>
        </p:nvSpPr>
        <p:spPr>
          <a:xfrm>
            <a:off x="6858000" y="2011680"/>
            <a:ext cx="9601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dash"/>
          </a:ln>
        </p:spPr>
      </p:sp>
      <p:sp>
        <p:nvSpPr>
          <p:cNvPr id="6" name="dot-76"/>
          <p:cNvSpPr/>
          <p:nvPr/>
        </p:nvSpPr>
        <p:spPr>
          <a:xfrm>
            <a:off x="6675120" y="18745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dot-77"/>
          <p:cNvSpPr/>
          <p:nvPr/>
        </p:nvSpPr>
        <p:spPr>
          <a:xfrm>
            <a:off x="7772400" y="187452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-78"/>
          <p:cNvSpPr txBox="1"/>
          <p:nvPr/>
        </p:nvSpPr>
        <p:spPr>
          <a:xfrm>
            <a:off x="6309360" y="2194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🐶 사진</a:t>
            </a:r>
            <a:endParaRPr lang="en-US" sz="1200" dirty="0"/>
          </a:p>
        </p:txBody>
      </p:sp>
      <p:sp>
        <p:nvSpPr>
          <p:cNvPr id="9" name="text-79"/>
          <p:cNvSpPr txBox="1"/>
          <p:nvPr/>
        </p:nvSpPr>
        <p:spPr>
          <a:xfrm>
            <a:off x="740664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“a photo of a dog”</a:t>
            </a:r>
            <a:endParaRPr lang="en-US" sz="1200" dirty="0"/>
          </a:p>
        </p:txBody>
      </p:sp>
      <p:sp>
        <p:nvSpPr>
          <p:cNvPr id="10" name="pairline-80"/>
          <p:cNvSpPr/>
          <p:nvPr/>
        </p:nvSpPr>
        <p:spPr>
          <a:xfrm>
            <a:off x="8138160" y="3474720"/>
            <a:ext cx="9601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dash"/>
          </a:ln>
        </p:spPr>
      </p:sp>
      <p:sp>
        <p:nvSpPr>
          <p:cNvPr id="11" name="dot-81"/>
          <p:cNvSpPr/>
          <p:nvPr/>
        </p:nvSpPr>
        <p:spPr>
          <a:xfrm>
            <a:off x="7955280" y="333756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dot-82"/>
          <p:cNvSpPr/>
          <p:nvPr/>
        </p:nvSpPr>
        <p:spPr>
          <a:xfrm>
            <a:off x="9052560" y="333756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-83"/>
          <p:cNvSpPr txBox="1"/>
          <p:nvPr/>
        </p:nvSpPr>
        <p:spPr>
          <a:xfrm>
            <a:off x="758952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🐱 사진</a:t>
            </a:r>
            <a:endParaRPr lang="en-US" sz="1200" dirty="0"/>
          </a:p>
        </p:txBody>
      </p:sp>
      <p:sp>
        <p:nvSpPr>
          <p:cNvPr id="14" name="text-84"/>
          <p:cNvSpPr txBox="1"/>
          <p:nvPr/>
        </p:nvSpPr>
        <p:spPr>
          <a:xfrm>
            <a:off x="868680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“a cute cat”</a:t>
            </a:r>
            <a:endParaRPr lang="en-US" sz="1200" dirty="0"/>
          </a:p>
        </p:txBody>
      </p:sp>
      <p:sp>
        <p:nvSpPr>
          <p:cNvPr id="15" name="pairline-85"/>
          <p:cNvSpPr/>
          <p:nvPr/>
        </p:nvSpPr>
        <p:spPr>
          <a:xfrm>
            <a:off x="7040880" y="4937760"/>
            <a:ext cx="9601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dash"/>
          </a:ln>
        </p:spPr>
      </p:sp>
      <p:sp>
        <p:nvSpPr>
          <p:cNvPr id="16" name="dot-86"/>
          <p:cNvSpPr/>
          <p:nvPr/>
        </p:nvSpPr>
        <p:spPr>
          <a:xfrm>
            <a:off x="6858000" y="480060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dot-87"/>
          <p:cNvSpPr/>
          <p:nvPr/>
        </p:nvSpPr>
        <p:spPr>
          <a:xfrm>
            <a:off x="7955280" y="480060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-88"/>
          <p:cNvSpPr txBox="1"/>
          <p:nvPr/>
        </p:nvSpPr>
        <p:spPr>
          <a:xfrm>
            <a:off x="6492240" y="5120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🚗 사진</a:t>
            </a:r>
            <a:endParaRPr lang="en-US" sz="1200" dirty="0"/>
          </a:p>
        </p:txBody>
      </p:sp>
      <p:sp>
        <p:nvSpPr>
          <p:cNvPr id="19" name="text-89"/>
          <p:cNvSpPr txBox="1"/>
          <p:nvPr/>
        </p:nvSpPr>
        <p:spPr>
          <a:xfrm>
            <a:off x="7589520" y="5120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“a red car”</a:t>
            </a:r>
            <a:endParaRPr lang="en-US" sz="1200" dirty="0"/>
          </a:p>
        </p:txBody>
      </p:sp>
      <p:sp>
        <p:nvSpPr>
          <p:cNvPr id="20" name="text-90"/>
          <p:cNvSpPr txBox="1"/>
          <p:nvPr/>
        </p:nvSpPr>
        <p:spPr>
          <a:xfrm>
            <a:off x="969264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● 이미지 임베딩</a:t>
            </a:r>
            <a:endParaRPr lang="en-US" sz="1200" dirty="0"/>
          </a:p>
        </p:txBody>
      </p:sp>
      <p:sp>
        <p:nvSpPr>
          <p:cNvPr id="21" name="text-91"/>
          <p:cNvSpPr txBox="1"/>
          <p:nvPr/>
        </p:nvSpPr>
        <p:spPr>
          <a:xfrm>
            <a:off x="9692640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● 텍스트 임베딩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대조학습 (Contrastive Learning)</a:t>
            </a:r>
            <a:endParaRPr lang="en-US" sz="3200" dirty="0"/>
          </a:p>
        </p:txBody>
      </p:sp>
      <p:sp>
        <p:nvSpPr>
          <p:cNvPr id="3" name="text-92"/>
          <p:cNvSpPr txBox="1"/>
          <p:nvPr/>
        </p:nvSpPr>
        <p:spPr>
          <a:xfrm>
            <a:off x="548640" y="1463040"/>
            <a:ext cx="6035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학습 데이터: 웹에서 수집한 (이미지, 캡션) 쌍 수억~수십억 개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accent5"/>
                </a:solidFill>
              </a:rPr>
              <a:t>Positive  </a:t>
            </a:r>
            <a:r>
              <a:rPr lang="en-US" sz="1700" dirty="0">
                <a:solidFill>
                  <a:schemeClr val="tx1"/>
                </a:solidFill>
              </a:rPr>
              <a:t>짝이 맞는 (이미지 i, 텍스트 i) → 유사도 ↑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accent4"/>
                </a:solidFill>
              </a:rPr>
              <a:t>Negative  </a:t>
            </a:r>
            <a:r>
              <a:rPr lang="en-US" sz="1700" dirty="0">
                <a:solidFill>
                  <a:schemeClr val="tx1"/>
                </a:solidFill>
              </a:rPr>
              <a:t>짝이 아닌 (이미지 i, 텍스트 j≠i) → 유사도 ↓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별도 라벨링 없이 ‘짝 맞추기’만으로 학습 → 대규모 확장 가능</a:t>
            </a:r>
            <a:endParaRPr lang="en-US" sz="1700" dirty="0"/>
          </a:p>
        </p:txBody>
      </p:sp>
      <p:sp>
        <p:nvSpPr>
          <p:cNvPr id="4" name="text-93"/>
          <p:cNvSpPr txBox="1"/>
          <p:nvPr/>
        </p:nvSpPr>
        <p:spPr>
          <a:xfrm>
            <a:off x="7680960" y="1417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T1</a:t>
            </a:r>
            <a:endParaRPr lang="en-US" sz="1400" dirty="0"/>
          </a:p>
        </p:txBody>
      </p:sp>
      <p:sp>
        <p:nvSpPr>
          <p:cNvPr id="5" name="text-94"/>
          <p:cNvSpPr txBox="1"/>
          <p:nvPr/>
        </p:nvSpPr>
        <p:spPr>
          <a:xfrm>
            <a:off x="8458200" y="1417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T2</a:t>
            </a:r>
            <a:endParaRPr lang="en-US" sz="1400" dirty="0"/>
          </a:p>
        </p:txBody>
      </p:sp>
      <p:sp>
        <p:nvSpPr>
          <p:cNvPr id="6" name="text-95"/>
          <p:cNvSpPr txBox="1"/>
          <p:nvPr/>
        </p:nvSpPr>
        <p:spPr>
          <a:xfrm>
            <a:off x="9235440" y="1417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T3</a:t>
            </a:r>
            <a:endParaRPr lang="en-US" sz="1400" dirty="0"/>
          </a:p>
        </p:txBody>
      </p:sp>
      <p:sp>
        <p:nvSpPr>
          <p:cNvPr id="7" name="text-96"/>
          <p:cNvSpPr txBox="1"/>
          <p:nvPr/>
        </p:nvSpPr>
        <p:spPr>
          <a:xfrm>
            <a:off x="10012680" y="1417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T4</a:t>
            </a:r>
            <a:endParaRPr lang="en-US" sz="1400" dirty="0"/>
          </a:p>
        </p:txBody>
      </p:sp>
      <p:sp>
        <p:nvSpPr>
          <p:cNvPr id="8" name="text-97"/>
          <p:cNvSpPr txBox="1"/>
          <p:nvPr/>
        </p:nvSpPr>
        <p:spPr>
          <a:xfrm>
            <a:off x="713232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I1</a:t>
            </a:r>
            <a:endParaRPr lang="en-US" sz="1400" dirty="0"/>
          </a:p>
        </p:txBody>
      </p:sp>
      <p:sp>
        <p:nvSpPr>
          <p:cNvPr id="9" name="text-98"/>
          <p:cNvSpPr txBox="1"/>
          <p:nvPr/>
        </p:nvSpPr>
        <p:spPr>
          <a:xfrm>
            <a:off x="7132320" y="26060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I2</a:t>
            </a:r>
            <a:endParaRPr lang="en-US" sz="1400" dirty="0"/>
          </a:p>
        </p:txBody>
      </p:sp>
      <p:sp>
        <p:nvSpPr>
          <p:cNvPr id="10" name="text-99"/>
          <p:cNvSpPr txBox="1"/>
          <p:nvPr/>
        </p:nvSpPr>
        <p:spPr>
          <a:xfrm>
            <a:off x="7132320" y="33832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I3</a:t>
            </a:r>
            <a:endParaRPr lang="en-US" sz="1400" dirty="0"/>
          </a:p>
        </p:txBody>
      </p:sp>
      <p:sp>
        <p:nvSpPr>
          <p:cNvPr id="11" name="text-100"/>
          <p:cNvSpPr txBox="1"/>
          <p:nvPr/>
        </p:nvSpPr>
        <p:spPr>
          <a:xfrm>
            <a:off x="7132320" y="41605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I4</a:t>
            </a:r>
            <a:endParaRPr lang="en-US" sz="1400" dirty="0"/>
          </a:p>
        </p:txBody>
      </p:sp>
      <p:sp>
        <p:nvSpPr>
          <p:cNvPr id="12" name="cell-101"/>
          <p:cNvSpPr/>
          <p:nvPr/>
        </p:nvSpPr>
        <p:spPr>
          <a:xfrm>
            <a:off x="7680960" y="1828800"/>
            <a:ext cx="777240" cy="777240"/>
          </a:xfrm>
          <a:prstGeom prst="rect">
            <a:avLst/>
          </a:prstGeom>
          <a:solidFill>
            <a:schemeClr val="accent5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-102"/>
          <p:cNvSpPr txBox="1"/>
          <p:nvPr/>
        </p:nvSpPr>
        <p:spPr>
          <a:xfrm>
            <a:off x="768096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4" name="cell-103"/>
          <p:cNvSpPr/>
          <p:nvPr/>
        </p:nvSpPr>
        <p:spPr>
          <a:xfrm>
            <a:off x="8458200" y="182880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-104"/>
          <p:cNvSpPr txBox="1"/>
          <p:nvPr/>
        </p:nvSpPr>
        <p:spPr>
          <a:xfrm>
            <a:off x="845820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16" name="cell-105"/>
          <p:cNvSpPr/>
          <p:nvPr/>
        </p:nvSpPr>
        <p:spPr>
          <a:xfrm>
            <a:off x="9235440" y="182880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-106"/>
          <p:cNvSpPr txBox="1"/>
          <p:nvPr/>
        </p:nvSpPr>
        <p:spPr>
          <a:xfrm>
            <a:off x="923544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18" name="cell-107"/>
          <p:cNvSpPr/>
          <p:nvPr/>
        </p:nvSpPr>
        <p:spPr>
          <a:xfrm>
            <a:off x="10012680" y="182880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-108"/>
          <p:cNvSpPr txBox="1"/>
          <p:nvPr/>
        </p:nvSpPr>
        <p:spPr>
          <a:xfrm>
            <a:off x="1001268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20" name="cell-109"/>
          <p:cNvSpPr/>
          <p:nvPr/>
        </p:nvSpPr>
        <p:spPr>
          <a:xfrm>
            <a:off x="7680960" y="260604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text-110"/>
          <p:cNvSpPr txBox="1"/>
          <p:nvPr/>
        </p:nvSpPr>
        <p:spPr>
          <a:xfrm>
            <a:off x="7680960" y="2606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22" name="cell-111"/>
          <p:cNvSpPr/>
          <p:nvPr/>
        </p:nvSpPr>
        <p:spPr>
          <a:xfrm>
            <a:off x="8458200" y="2606040"/>
            <a:ext cx="777240" cy="777240"/>
          </a:xfrm>
          <a:prstGeom prst="rect">
            <a:avLst/>
          </a:prstGeom>
          <a:solidFill>
            <a:schemeClr val="accent5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3" name="text-112"/>
          <p:cNvSpPr txBox="1"/>
          <p:nvPr/>
        </p:nvSpPr>
        <p:spPr>
          <a:xfrm>
            <a:off x="8458200" y="2606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24" name="cell-113"/>
          <p:cNvSpPr/>
          <p:nvPr/>
        </p:nvSpPr>
        <p:spPr>
          <a:xfrm>
            <a:off x="9235440" y="260604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-114"/>
          <p:cNvSpPr txBox="1"/>
          <p:nvPr/>
        </p:nvSpPr>
        <p:spPr>
          <a:xfrm>
            <a:off x="9235440" y="2606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26" name="cell-115"/>
          <p:cNvSpPr/>
          <p:nvPr/>
        </p:nvSpPr>
        <p:spPr>
          <a:xfrm>
            <a:off x="10012680" y="260604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7" name="text-116"/>
          <p:cNvSpPr txBox="1"/>
          <p:nvPr/>
        </p:nvSpPr>
        <p:spPr>
          <a:xfrm>
            <a:off x="10012680" y="2606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28" name="cell-117"/>
          <p:cNvSpPr/>
          <p:nvPr/>
        </p:nvSpPr>
        <p:spPr>
          <a:xfrm>
            <a:off x="7680960" y="338328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text-118"/>
          <p:cNvSpPr txBox="1"/>
          <p:nvPr/>
        </p:nvSpPr>
        <p:spPr>
          <a:xfrm>
            <a:off x="7680960" y="3383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30" name="cell-119"/>
          <p:cNvSpPr/>
          <p:nvPr/>
        </p:nvSpPr>
        <p:spPr>
          <a:xfrm>
            <a:off x="8458200" y="338328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1" name="text-120"/>
          <p:cNvSpPr txBox="1"/>
          <p:nvPr/>
        </p:nvSpPr>
        <p:spPr>
          <a:xfrm>
            <a:off x="8458200" y="3383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32" name="cell-121"/>
          <p:cNvSpPr/>
          <p:nvPr/>
        </p:nvSpPr>
        <p:spPr>
          <a:xfrm>
            <a:off x="9235440" y="3383280"/>
            <a:ext cx="777240" cy="777240"/>
          </a:xfrm>
          <a:prstGeom prst="rect">
            <a:avLst/>
          </a:prstGeom>
          <a:solidFill>
            <a:schemeClr val="accent5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3" name="text-122"/>
          <p:cNvSpPr txBox="1"/>
          <p:nvPr/>
        </p:nvSpPr>
        <p:spPr>
          <a:xfrm>
            <a:off x="9235440" y="3383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34" name="cell-123"/>
          <p:cNvSpPr/>
          <p:nvPr/>
        </p:nvSpPr>
        <p:spPr>
          <a:xfrm>
            <a:off x="10012680" y="338328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5" name="text-124"/>
          <p:cNvSpPr txBox="1"/>
          <p:nvPr/>
        </p:nvSpPr>
        <p:spPr>
          <a:xfrm>
            <a:off x="10012680" y="3383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36" name="cell-125"/>
          <p:cNvSpPr/>
          <p:nvPr/>
        </p:nvSpPr>
        <p:spPr>
          <a:xfrm>
            <a:off x="7680960" y="416052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7" name="text-126"/>
          <p:cNvSpPr txBox="1"/>
          <p:nvPr/>
        </p:nvSpPr>
        <p:spPr>
          <a:xfrm>
            <a:off x="7680960" y="4160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38" name="cell-127"/>
          <p:cNvSpPr/>
          <p:nvPr/>
        </p:nvSpPr>
        <p:spPr>
          <a:xfrm>
            <a:off x="8458200" y="416052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9" name="text-128"/>
          <p:cNvSpPr txBox="1"/>
          <p:nvPr/>
        </p:nvSpPr>
        <p:spPr>
          <a:xfrm>
            <a:off x="8458200" y="4160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40" name="cell-129"/>
          <p:cNvSpPr/>
          <p:nvPr/>
        </p:nvSpPr>
        <p:spPr>
          <a:xfrm>
            <a:off x="9235440" y="4160520"/>
            <a:ext cx="777240" cy="777240"/>
          </a:xfrm>
          <a:prstGeom prst="rect">
            <a:avLst/>
          </a:prstGeom>
          <a:solidFill>
            <a:schemeClr val="accent4">
              <a:alpha val="15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41" name="text-130"/>
          <p:cNvSpPr txBox="1"/>
          <p:nvPr/>
        </p:nvSpPr>
        <p:spPr>
          <a:xfrm>
            <a:off x="9235440" y="4160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−</a:t>
            </a:r>
            <a:endParaRPr lang="en-US" sz="1800" dirty="0"/>
          </a:p>
        </p:txBody>
      </p:sp>
      <p:sp>
        <p:nvSpPr>
          <p:cNvPr id="42" name="cell-131"/>
          <p:cNvSpPr/>
          <p:nvPr/>
        </p:nvSpPr>
        <p:spPr>
          <a:xfrm>
            <a:off x="10012680" y="4160520"/>
            <a:ext cx="777240" cy="777240"/>
          </a:xfrm>
          <a:prstGeom prst="rect">
            <a:avLst/>
          </a:prstGeom>
          <a:solidFill>
            <a:schemeClr val="accent5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43" name="text-132"/>
          <p:cNvSpPr txBox="1"/>
          <p:nvPr/>
        </p:nvSpPr>
        <p:spPr>
          <a:xfrm>
            <a:off x="10012680" y="4160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44" name="text-133"/>
          <p:cNvSpPr txBox="1"/>
          <p:nvPr/>
        </p:nvSpPr>
        <p:spPr>
          <a:xfrm>
            <a:off x="6675120" y="5120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배치 크기 B=4 예시: 대각선 B개 = positive, 나머지 B²−B개 = negative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CLIP의 방식: Softmax(InfoNCE) 손실</a:t>
            </a:r>
            <a:endParaRPr lang="en-US" sz="3200" dirty="0"/>
          </a:p>
        </p:txBody>
      </p:sp>
      <p:sp>
        <p:nvSpPr>
          <p:cNvPr id="3" name="text-134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CLIP (OpenAI, 2021): 이미지 인코더 + 텍스트 인코더, 약 4억 쌍으로 학습. 유사도 행렬의 각 행/열에 Softmax → “B개 후보 중 정답 1개 고르기” (B-way 분류)</a:t>
            </a:r>
            <a:endParaRPr lang="en-US" sz="1600" dirty="0"/>
          </a:p>
        </p:txBody>
      </p:sp>
      <p:sp>
        <p:nvSpPr>
          <p:cNvPr id="4" name="card-135"/>
          <p:cNvSpPr/>
          <p:nvPr/>
        </p:nvSpPr>
        <p:spPr>
          <a:xfrm>
            <a:off x="548640" y="210312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5" name="text-136"/>
          <p:cNvSpPr txBox="1"/>
          <p:nvPr/>
        </p:nvSpPr>
        <p:spPr>
          <a:xfrm>
            <a:off x="868680" y="21031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 = −(1/2B) Σᵢ [ log( e^(t·xᵢ·yᵢ) / Σⱼ e^(t·xᵢ·yⱼ) )  +  log( e^(t·xᵢ·yᵢ) / Σⱼ e^(t·xⱼ·yᵢ) ) ]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이미지→텍스트 방향                         텍스트→이미지 방향  (두 방향 각각 정규화)</a:t>
            </a:r>
            <a:endParaRPr lang="en-US" sz="1800" dirty="0"/>
          </a:p>
        </p:txBody>
      </p:sp>
      <p:sp>
        <p:nvSpPr>
          <p:cNvPr id="6" name="card-137"/>
          <p:cNvSpPr/>
          <p:nvPr/>
        </p:nvSpPr>
        <p:spPr>
          <a:xfrm>
            <a:off x="548640" y="36118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7" name="badge-138"/>
          <p:cNvSpPr/>
          <p:nvPr/>
        </p:nvSpPr>
        <p:spPr>
          <a:xfrm>
            <a:off x="822960" y="3840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text-139"/>
          <p:cNvSpPr txBox="1"/>
          <p:nvPr/>
        </p:nvSpPr>
        <p:spPr>
          <a:xfrm>
            <a:off x="82296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-140"/>
          <p:cNvSpPr txBox="1"/>
          <p:nvPr/>
        </p:nvSpPr>
        <p:spPr>
          <a:xfrm>
            <a:off x="1371600" y="3840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배치 전체가 필요</a:t>
            </a:r>
            <a:endParaRPr lang="en-US" sz="1700" dirty="0"/>
          </a:p>
        </p:txBody>
      </p:sp>
      <p:sp>
        <p:nvSpPr>
          <p:cNvPr id="10" name="text-141"/>
          <p:cNvSpPr txBox="1"/>
          <p:nvPr/>
        </p:nvSpPr>
        <p:spPr>
          <a:xfrm>
            <a:off x="822960" y="443484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분모(정규화)에 배치 전체가 들어감 → 여러 GPU에 흩어진 임베딩을 모두 모아(all-gather) B×B 전체 행렬 계산 → 메모리·통신 부담</a:t>
            </a:r>
            <a:endParaRPr lang="en-US" sz="1400" dirty="0"/>
          </a:p>
        </p:txBody>
      </p:sp>
      <p:sp>
        <p:nvSpPr>
          <p:cNvPr id="11" name="card-142"/>
          <p:cNvSpPr/>
          <p:nvPr/>
        </p:nvSpPr>
        <p:spPr>
          <a:xfrm>
            <a:off x="4297680" y="36118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12" name="badge-143"/>
          <p:cNvSpPr/>
          <p:nvPr/>
        </p:nvSpPr>
        <p:spPr>
          <a:xfrm>
            <a:off x="4572000" y="3840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text-144"/>
          <p:cNvSpPr txBox="1"/>
          <p:nvPr/>
        </p:nvSpPr>
        <p:spPr>
          <a:xfrm>
            <a:off x="45720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4" name="text-145"/>
          <p:cNvSpPr txBox="1"/>
          <p:nvPr/>
        </p:nvSpPr>
        <p:spPr>
          <a:xfrm>
            <a:off x="5120640" y="3840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매우 큰 배치 필요</a:t>
            </a:r>
            <a:endParaRPr lang="en-US" sz="1700" dirty="0"/>
          </a:p>
        </p:txBody>
      </p:sp>
      <p:sp>
        <p:nvSpPr>
          <p:cNvPr id="15" name="text-146"/>
          <p:cNvSpPr txBox="1"/>
          <p:nvPr/>
        </p:nvSpPr>
        <p:spPr>
          <a:xfrm>
            <a:off x="4572000" y="443484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좋은 성능을 내려면 아주 큰 배치가 필요 (CLIP은 32k)</a:t>
            </a:r>
            <a:endParaRPr lang="en-US" sz="1400" dirty="0"/>
          </a:p>
        </p:txBody>
      </p:sp>
      <p:sp>
        <p:nvSpPr>
          <p:cNvPr id="16" name="card-147"/>
          <p:cNvSpPr/>
          <p:nvPr/>
        </p:nvSpPr>
        <p:spPr>
          <a:xfrm>
            <a:off x="8046720" y="36118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17" name="badge-148"/>
          <p:cNvSpPr/>
          <p:nvPr/>
        </p:nvSpPr>
        <p:spPr>
          <a:xfrm>
            <a:off x="8321040" y="3840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-149"/>
          <p:cNvSpPr txBox="1"/>
          <p:nvPr/>
        </p:nvSpPr>
        <p:spPr>
          <a:xfrm>
            <a:off x="832104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9" name="text-150"/>
          <p:cNvSpPr txBox="1"/>
          <p:nvPr/>
        </p:nvSpPr>
        <p:spPr>
          <a:xfrm>
            <a:off x="8869680" y="3840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추가 연산</a:t>
            </a:r>
            <a:endParaRPr lang="en-US" sz="1700" dirty="0"/>
          </a:p>
        </p:txBody>
      </p:sp>
      <p:sp>
        <p:nvSpPr>
          <p:cNvPr id="20" name="text-151"/>
          <p:cNvSpPr txBox="1"/>
          <p:nvPr/>
        </p:nvSpPr>
        <p:spPr>
          <a:xfrm>
            <a:off x="8321040" y="443484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수치 안정성을 위해 최댓값 빼기 등 추가 처리가 필요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SigLIP 소개</a:t>
            </a:r>
            <a:endParaRPr lang="en-US" sz="3200" dirty="0"/>
          </a:p>
        </p:txBody>
      </p:sp>
      <p:sp>
        <p:nvSpPr>
          <p:cNvPr id="3" name="text-15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Sigmoid Loss for Language Image Pre-Training</a:t>
            </a:r>
            <a:endParaRPr lang="en-US" sz="2000" dirty="0"/>
          </a:p>
        </p:txBody>
      </p:sp>
      <p:sp>
        <p:nvSpPr>
          <p:cNvPr id="4" name="text-153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Zhai et al., Google DeepMind · ICCV 2023 · arXiv:2303.15343</a:t>
            </a:r>
            <a:endParaRPr lang="en-US" sz="1400" dirty="0"/>
          </a:p>
        </p:txBody>
      </p:sp>
      <p:sp>
        <p:nvSpPr>
          <p:cNvPr id="5" name="box-154"/>
          <p:cNvSpPr/>
          <p:nvPr/>
        </p:nvSpPr>
        <p:spPr>
          <a:xfrm>
            <a:off x="1097280" y="2651760"/>
            <a:ext cx="3291840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/>
        </p:spPr>
      </p:sp>
      <p:sp>
        <p:nvSpPr>
          <p:cNvPr id="6" name="text-155"/>
          <p:cNvSpPr txBox="1"/>
          <p:nvPr/>
        </p:nvSpPr>
        <p:spPr>
          <a:xfrm>
            <a:off x="1097280" y="26517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Softmax</a:t>
            </a:r>
            <a:endParaRPr lang="en-US" sz="2800" dirty="0"/>
          </a:p>
        </p:txBody>
      </p:sp>
      <p:sp>
        <p:nvSpPr>
          <p:cNvPr id="7" name="arrow-156"/>
          <p:cNvSpPr/>
          <p:nvPr/>
        </p:nvSpPr>
        <p:spPr>
          <a:xfrm>
            <a:off x="4663440" y="3246120"/>
            <a:ext cx="2651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8" name="box-157"/>
          <p:cNvSpPr/>
          <p:nvPr/>
        </p:nvSpPr>
        <p:spPr>
          <a:xfrm>
            <a:off x="7589520" y="2651760"/>
            <a:ext cx="3291840" cy="118872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/>
        </p:spPr>
      </p:sp>
      <p:sp>
        <p:nvSpPr>
          <p:cNvPr id="9" name="text-158"/>
          <p:cNvSpPr txBox="1"/>
          <p:nvPr/>
        </p:nvSpPr>
        <p:spPr>
          <a:xfrm>
            <a:off x="7589520" y="26517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Sigmoid</a:t>
            </a:r>
            <a:endParaRPr lang="en-US" sz="2800" dirty="0"/>
          </a:p>
        </p:txBody>
      </p:sp>
      <p:sp>
        <p:nvSpPr>
          <p:cNvPr id="10" name="text-159"/>
          <p:cNvSpPr txBox="1"/>
          <p:nvPr/>
        </p:nvSpPr>
        <p:spPr>
          <a:xfrm>
            <a:off x="82296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CLIP: 행마다 ‘정답 1개 고르기’</a:t>
            </a:r>
            <a:endParaRPr lang="en-US" sz="1400" dirty="0"/>
          </a:p>
        </p:txBody>
      </p:sp>
      <p:sp>
        <p:nvSpPr>
          <p:cNvPr id="11" name="text-160"/>
          <p:cNvSpPr txBox="1"/>
          <p:nvPr/>
        </p:nvSpPr>
        <p:spPr>
          <a:xfrm>
            <a:off x="731520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SigLIP: 쌍마다 ‘짝인가? 예/아니오’</a:t>
            </a:r>
            <a:endParaRPr lang="en-US" sz="1400" dirty="0"/>
          </a:p>
        </p:txBody>
      </p:sp>
      <p:sp>
        <p:nvSpPr>
          <p:cNvPr id="12" name="card-161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3" name="text-162"/>
          <p:cNvSpPr txBox="1"/>
          <p:nvPr/>
        </p:nvSpPr>
        <p:spPr>
          <a:xfrm>
            <a:off x="868680" y="47091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핵심 한 줄  </a:t>
            </a:r>
            <a:r>
              <a:rPr lang="en-US" sz="1700" dirty="0">
                <a:solidFill>
                  <a:schemeClr val="tx1"/>
                </a:solidFill>
              </a:rPr>
              <a:t>구조는 CLIP과 거의 동일(듀얼 인코더), 손실 함수만 바꿨는데 효율과 성능이 좋아졌다. 모든 (이미지, 텍스트) 쌍을 독립적인 이진 분류로 학습한다.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SigLIP 구조: 듀얼 인코더 (Two-Tower)</a:t>
            </a:r>
            <a:endParaRPr lang="en-US" sz="3200" dirty="0"/>
          </a:p>
        </p:txBody>
      </p:sp>
      <p:sp>
        <p:nvSpPr>
          <p:cNvPr id="3" name="box-163"/>
          <p:cNvSpPr/>
          <p:nvPr/>
        </p:nvSpPr>
        <p:spPr>
          <a:xfrm>
            <a:off x="548640" y="1463040"/>
            <a:ext cx="118872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4" name="text-164"/>
          <p:cNvSpPr txBox="1"/>
          <p:nvPr/>
        </p:nvSpPr>
        <p:spPr>
          <a:xfrm>
            <a:off x="548640" y="14630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이미지</a:t>
            </a:r>
            <a:endParaRPr lang="en-US" sz="1500" dirty="0"/>
          </a:p>
        </p:txBody>
      </p:sp>
      <p:sp>
        <p:nvSpPr>
          <p:cNvPr id="5" name="arrow-165"/>
          <p:cNvSpPr/>
          <p:nvPr/>
        </p:nvSpPr>
        <p:spPr>
          <a:xfrm>
            <a:off x="1783080" y="180594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box-166"/>
          <p:cNvSpPr/>
          <p:nvPr/>
        </p:nvSpPr>
        <p:spPr>
          <a:xfrm>
            <a:off x="2194560" y="146304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7" name="text-167"/>
          <p:cNvSpPr txBox="1"/>
          <p:nvPr/>
        </p:nvSpPr>
        <p:spPr>
          <a:xfrm>
            <a:off x="2194560" y="14630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ViT 이미지 인코더</a:t>
            </a:r>
            <a:endParaRPr lang="en-US" sz="1400" dirty="0"/>
          </a:p>
        </p:txBody>
      </p:sp>
      <p:sp>
        <p:nvSpPr>
          <p:cNvPr id="8" name="arrow-168"/>
          <p:cNvSpPr/>
          <p:nvPr/>
        </p:nvSpPr>
        <p:spPr>
          <a:xfrm>
            <a:off x="4892040" y="180594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box-169"/>
          <p:cNvSpPr/>
          <p:nvPr/>
        </p:nvSpPr>
        <p:spPr>
          <a:xfrm>
            <a:off x="5303520" y="1463040"/>
            <a:ext cx="201168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10" name="text-170"/>
          <p:cNvSpPr txBox="1"/>
          <p:nvPr/>
        </p:nvSpPr>
        <p:spPr>
          <a:xfrm>
            <a:off x="5303520" y="14630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풀링 + 선형 투영</a:t>
            </a:r>
            <a:endParaRPr lang="en-US" sz="1300" dirty="0"/>
          </a:p>
        </p:txBody>
      </p:sp>
      <p:sp>
        <p:nvSpPr>
          <p:cNvPr id="11" name="arrow-171"/>
          <p:cNvSpPr/>
          <p:nvPr/>
        </p:nvSpPr>
        <p:spPr>
          <a:xfrm>
            <a:off x="7360920" y="180594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ox-172"/>
          <p:cNvSpPr/>
          <p:nvPr/>
        </p:nvSpPr>
        <p:spPr>
          <a:xfrm>
            <a:off x="7772400" y="1463040"/>
            <a:ext cx="18288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13" name="text-173"/>
          <p:cNvSpPr txBox="1"/>
          <p:nvPr/>
        </p:nvSpPr>
        <p:spPr>
          <a:xfrm>
            <a:off x="777240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L2 정규화 → xᵢ</a:t>
            </a:r>
            <a:endParaRPr lang="en-US" sz="1300" dirty="0"/>
          </a:p>
        </p:txBody>
      </p:sp>
      <p:sp>
        <p:nvSpPr>
          <p:cNvPr id="14" name="box-174"/>
          <p:cNvSpPr/>
          <p:nvPr/>
        </p:nvSpPr>
        <p:spPr>
          <a:xfrm>
            <a:off x="548640" y="2514600"/>
            <a:ext cx="118872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/>
        </p:spPr>
      </p:sp>
      <p:sp>
        <p:nvSpPr>
          <p:cNvPr id="15" name="text-175"/>
          <p:cNvSpPr txBox="1"/>
          <p:nvPr/>
        </p:nvSpPr>
        <p:spPr>
          <a:xfrm>
            <a:off x="548640" y="25146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텍스트</a:t>
            </a:r>
            <a:endParaRPr lang="en-US" sz="1500" dirty="0"/>
          </a:p>
        </p:txBody>
      </p:sp>
      <p:sp>
        <p:nvSpPr>
          <p:cNvPr id="16" name="arrow-176"/>
          <p:cNvSpPr/>
          <p:nvPr/>
        </p:nvSpPr>
        <p:spPr>
          <a:xfrm>
            <a:off x="1783080" y="285750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box-177"/>
          <p:cNvSpPr/>
          <p:nvPr/>
        </p:nvSpPr>
        <p:spPr>
          <a:xfrm>
            <a:off x="2194560" y="25146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/>
        </p:spPr>
      </p:sp>
      <p:sp>
        <p:nvSpPr>
          <p:cNvPr id="18" name="text-178"/>
          <p:cNvSpPr txBox="1"/>
          <p:nvPr/>
        </p:nvSpPr>
        <p:spPr>
          <a:xfrm>
            <a:off x="2194560" y="25146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Transformer 텍스트 인코더</a:t>
            </a:r>
            <a:endParaRPr lang="en-US" sz="1400" dirty="0"/>
          </a:p>
        </p:txBody>
      </p:sp>
      <p:sp>
        <p:nvSpPr>
          <p:cNvPr id="19" name="arrow-179"/>
          <p:cNvSpPr/>
          <p:nvPr/>
        </p:nvSpPr>
        <p:spPr>
          <a:xfrm>
            <a:off x="4892040" y="285750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ox-180"/>
          <p:cNvSpPr/>
          <p:nvPr/>
        </p:nvSpPr>
        <p:spPr>
          <a:xfrm>
            <a:off x="5303520" y="2514600"/>
            <a:ext cx="201168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21" name="text-181"/>
          <p:cNvSpPr txBox="1"/>
          <p:nvPr/>
        </p:nvSpPr>
        <p:spPr>
          <a:xfrm>
            <a:off x="5303520" y="25146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풀링 + 선형 투영</a:t>
            </a:r>
            <a:endParaRPr lang="en-US" sz="1300" dirty="0"/>
          </a:p>
        </p:txBody>
      </p:sp>
      <p:sp>
        <p:nvSpPr>
          <p:cNvPr id="22" name="arrow-182"/>
          <p:cNvSpPr/>
          <p:nvPr/>
        </p:nvSpPr>
        <p:spPr>
          <a:xfrm>
            <a:off x="7360920" y="285750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box-183"/>
          <p:cNvSpPr/>
          <p:nvPr/>
        </p:nvSpPr>
        <p:spPr>
          <a:xfrm>
            <a:off x="7772400" y="2514600"/>
            <a:ext cx="18288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24" name="text-184"/>
          <p:cNvSpPr txBox="1"/>
          <p:nvPr/>
        </p:nvSpPr>
        <p:spPr>
          <a:xfrm>
            <a:off x="7772400" y="25146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L2 정규화 → yⱼ</a:t>
            </a:r>
            <a:endParaRPr lang="en-US" sz="1300" dirty="0"/>
          </a:p>
        </p:txBody>
      </p:sp>
      <p:sp>
        <p:nvSpPr>
          <p:cNvPr id="25" name="join-a"/>
          <p:cNvSpPr/>
          <p:nvPr/>
        </p:nvSpPr>
        <p:spPr>
          <a:xfrm>
            <a:off x="9646920" y="1805940"/>
            <a:ext cx="365760" cy="52578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26" name="join-b"/>
          <p:cNvSpPr/>
          <p:nvPr/>
        </p:nvSpPr>
        <p:spPr>
          <a:xfrm flipV="1">
            <a:off x="9646920" y="2331720"/>
            <a:ext cx="365760" cy="52578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27" name="box-185"/>
          <p:cNvSpPr/>
          <p:nvPr/>
        </p:nvSpPr>
        <p:spPr>
          <a:xfrm>
            <a:off x="10012680" y="187452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/>
        </p:spPr>
      </p:sp>
      <p:sp>
        <p:nvSpPr>
          <p:cNvPr id="28" name="text-186"/>
          <p:cNvSpPr txBox="1"/>
          <p:nvPr/>
        </p:nvSpPr>
        <p:spPr>
          <a:xfrm>
            <a:off x="10012680" y="18745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t·x·y + 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→ Sigmoid Loss</a:t>
            </a:r>
            <a:endParaRPr lang="en-US" sz="1300" dirty="0"/>
          </a:p>
        </p:txBody>
      </p:sp>
      <p:sp>
        <p:nvSpPr>
          <p:cNvPr id="29" name="text-187"/>
          <p:cNvSpPr txBox="1"/>
          <p:nvPr/>
        </p:nvSpPr>
        <p:spPr>
          <a:xfrm>
            <a:off x="548640" y="3520440"/>
            <a:ext cx="6583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두 인코더가 완전히 분리 → 이미지·텍스트를 따로 계산 가능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이미지 인코더: Vision Transformer — 이미지를 패치(예: 16×16)로 잘라 토큰 시퀀스로 처리, MAP(Multihead Attention Pooling)으로 하나의 벡터로 요약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텍스트 인코더: Transformer, 최대 길이 64 토큰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학습 가능한 스칼라: 온도 t, 바이어스 b (12번 슬라이드)</a:t>
            </a:r>
            <a:endParaRPr lang="en-US" sz="1500" dirty="0"/>
          </a:p>
        </p:txBody>
      </p:sp>
      <p:sp>
        <p:nvSpPr>
          <p:cNvPr id="30" name="card-188"/>
          <p:cNvSpPr/>
          <p:nvPr/>
        </p:nvSpPr>
        <p:spPr>
          <a:xfrm>
            <a:off x="7498080" y="3520440"/>
            <a:ext cx="41148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31" name="text-189"/>
          <p:cNvSpPr txBox="1"/>
          <p:nvPr/>
        </p:nvSpPr>
        <p:spPr>
          <a:xfrm>
            <a:off x="77724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모델 이름 읽는 법</a:t>
            </a:r>
            <a:endParaRPr lang="en-US" sz="1600" dirty="0"/>
          </a:p>
        </p:txBody>
      </p:sp>
      <p:sp>
        <p:nvSpPr>
          <p:cNvPr id="32" name="text-190"/>
          <p:cNvSpPr txBox="1"/>
          <p:nvPr/>
        </p:nvSpPr>
        <p:spPr>
          <a:xfrm>
            <a:off x="7772400" y="4069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google/siglip-base-patch16-224</a:t>
            </a:r>
            <a:endParaRPr lang="en-US" sz="1300" dirty="0"/>
          </a:p>
        </p:txBody>
      </p:sp>
      <p:sp>
        <p:nvSpPr>
          <p:cNvPr id="33" name="text-191"/>
          <p:cNvSpPr txBox="1"/>
          <p:nvPr/>
        </p:nvSpPr>
        <p:spPr>
          <a:xfrm>
            <a:off x="7772400" y="452628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base = 모델 크기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patch16 = 패치 크기 16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224 = 입력 해상도 224×224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so400m = 형태 최적화한 약 4억 파라미터 ViT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Sigmoid Loss 수식</a:t>
            </a:r>
            <a:endParaRPr lang="en-US" sz="3200" dirty="0"/>
          </a:p>
        </p:txBody>
      </p:sp>
      <p:sp>
        <p:nvSpPr>
          <p:cNvPr id="3" name="card-192"/>
          <p:cNvSpPr/>
          <p:nvPr/>
        </p:nvSpPr>
        <p:spPr>
          <a:xfrm>
            <a:off x="548640" y="132588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/>
        </p:spPr>
      </p:sp>
      <p:sp>
        <p:nvSpPr>
          <p:cNvPr id="4" name="text-193"/>
          <p:cNvSpPr txBox="1"/>
          <p:nvPr/>
        </p:nvSpPr>
        <p:spPr>
          <a:xfrm>
            <a:off x="868680" y="1325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 = −(1/|B|) Σᵢ Σⱼ log σ( zᵢⱼ · ( t·xᵢ·yⱼ + b ) )</a:t>
            </a:r>
            <a:endParaRPr lang="en-US" sz="2600" dirty="0"/>
          </a:p>
        </p:txBody>
      </p:sp>
      <p:sp>
        <p:nvSpPr>
          <p:cNvPr id="5" name="text-194"/>
          <p:cNvSpPr txBox="1"/>
          <p:nvPr/>
        </p:nvSpPr>
        <p:spPr>
          <a:xfrm>
            <a:off x="731520" y="2788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xᵢ</a:t>
            </a:r>
            <a:endParaRPr lang="en-US" sz="2000" dirty="0"/>
          </a:p>
        </p:txBody>
      </p:sp>
      <p:sp>
        <p:nvSpPr>
          <p:cNvPr id="6" name="text-195"/>
          <p:cNvSpPr txBox="1"/>
          <p:nvPr/>
        </p:nvSpPr>
        <p:spPr>
          <a:xfrm>
            <a:off x="1600200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i번째 이미지 임베딩 (L2 정규화)</a:t>
            </a:r>
            <a:endParaRPr lang="en-US" sz="1600" dirty="0"/>
          </a:p>
        </p:txBody>
      </p:sp>
      <p:sp>
        <p:nvSpPr>
          <p:cNvPr id="7" name="text-196"/>
          <p:cNvSpPr txBox="1"/>
          <p:nvPr/>
        </p:nvSpPr>
        <p:spPr>
          <a:xfrm>
            <a:off x="731520" y="33558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yⱼ</a:t>
            </a:r>
            <a:endParaRPr lang="en-US" sz="2000" dirty="0"/>
          </a:p>
        </p:txBody>
      </p:sp>
      <p:sp>
        <p:nvSpPr>
          <p:cNvPr id="8" name="text-197"/>
          <p:cNvSpPr txBox="1"/>
          <p:nvPr/>
        </p:nvSpPr>
        <p:spPr>
          <a:xfrm>
            <a:off x="1600200" y="33558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j번째 텍스트 임베딩 (L2 정규화)</a:t>
            </a:r>
            <a:endParaRPr lang="en-US" sz="1600" dirty="0"/>
          </a:p>
        </p:txBody>
      </p:sp>
      <p:sp>
        <p:nvSpPr>
          <p:cNvPr id="9" name="text-198"/>
          <p:cNvSpPr txBox="1"/>
          <p:nvPr/>
        </p:nvSpPr>
        <p:spPr>
          <a:xfrm>
            <a:off x="731520" y="39227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zᵢⱼ</a:t>
            </a:r>
            <a:endParaRPr lang="en-US" sz="2000" dirty="0"/>
          </a:p>
        </p:txBody>
      </p:sp>
      <p:sp>
        <p:nvSpPr>
          <p:cNvPr id="10" name="text-199"/>
          <p:cNvSpPr txBox="1"/>
          <p:nvPr/>
        </p:nvSpPr>
        <p:spPr>
          <a:xfrm>
            <a:off x="1600200" y="3922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 (i=j, 짝 맞음) / −1 (i≠j, 짝 아님)</a:t>
            </a:r>
            <a:endParaRPr lang="en-US" sz="1600" dirty="0"/>
          </a:p>
        </p:txBody>
      </p:sp>
      <p:sp>
        <p:nvSpPr>
          <p:cNvPr id="11" name="text-200"/>
          <p:cNvSpPr txBox="1"/>
          <p:nvPr/>
        </p:nvSpPr>
        <p:spPr>
          <a:xfrm>
            <a:off x="731520" y="44897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</a:t>
            </a:r>
            <a:endParaRPr lang="en-US" sz="2000" dirty="0"/>
          </a:p>
        </p:txBody>
      </p:sp>
      <p:sp>
        <p:nvSpPr>
          <p:cNvPr id="12" name="text-201"/>
          <p:cNvSpPr txBox="1"/>
          <p:nvPr/>
        </p:nvSpPr>
        <p:spPr>
          <a:xfrm>
            <a:off x="1600200" y="44897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시그모이드 → 각 칸의 ‘짝일 확률’</a:t>
            </a:r>
            <a:endParaRPr lang="en-US" sz="1600" dirty="0"/>
          </a:p>
        </p:txBody>
      </p:sp>
      <p:sp>
        <p:nvSpPr>
          <p:cNvPr id="13" name="card-202"/>
          <p:cNvSpPr/>
          <p:nvPr/>
        </p:nvSpPr>
        <p:spPr>
          <a:xfrm>
            <a:off x="6675120" y="2788920"/>
            <a:ext cx="4937760" cy="219456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4" name="text-203"/>
          <p:cNvSpPr txBox="1"/>
          <p:nvPr/>
        </p:nvSpPr>
        <p:spPr>
          <a:xfrm>
            <a:off x="6949440" y="27889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각 칸이 독립된 로지스틱 회귀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(이진 분류) 문제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배치 전체 합으로 나누는 정규화 항이 없음 ← 모든 장점의 출발점</a:t>
            </a:r>
            <a:endParaRPr lang="en-US" sz="1700" dirty="0"/>
          </a:p>
        </p:txBody>
      </p:sp>
      <p:sp>
        <p:nvSpPr>
          <p:cNvPr id="15" name="text-204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CLIP은 행 단위로 “누가 정답인가”를 고르고, SigLIP은 칸 하나하나에 “이 둘이 짝인가”를 예/아니오로 답한다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Softmax vs Sigmoid: 숫자로 보는 직관</a:t>
            </a:r>
            <a:endParaRPr lang="en-US" sz="3200" dirty="0"/>
          </a:p>
        </p:txBody>
      </p:sp>
      <p:sp>
        <p:nvSpPr>
          <p:cNvPr id="3" name="text-20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이미지 I1의 유사도 점수(로짓)가  T1(정답): 5.0 · T2: 4.8 · T3: −2.0  일 때</a:t>
            </a:r>
            <a:endParaRPr lang="en-US" sz="1600" dirty="0"/>
          </a:p>
        </p:txBody>
      </p:sp>
      <p:graphicFrame>
        <p:nvGraphicFramePr>
          <p:cNvPr id="12" name="exampl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T1 (정답)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T3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Softmax (행 정규화)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0.55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Sigmoid (칸별 독립)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0.99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0.99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0.12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206"/>
          <p:cNvSpPr txBox="1"/>
          <p:nvPr/>
        </p:nvSpPr>
        <p:spPr>
          <a:xfrm>
            <a:off x="548640" y="3657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※ Sigmoid 값은 바이어스 b=0 기준 단순 예시. 실제 SigLIP은 b가 음수로 학습되어 짝이 아닌 쌍은 0 근처로 내려감</a:t>
            </a:r>
            <a:endParaRPr lang="en-US" sz="1200" dirty="0"/>
          </a:p>
        </p:txBody>
      </p:sp>
      <p:sp>
        <p:nvSpPr>
          <p:cNvPr id="6" name="card-207"/>
          <p:cNvSpPr/>
          <p:nvPr/>
        </p:nvSpPr>
        <p:spPr>
          <a:xfrm>
            <a:off x="7315200" y="1737360"/>
            <a:ext cx="42976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7" name="text-208"/>
          <p:cNvSpPr txBox="1"/>
          <p:nvPr/>
        </p:nvSpPr>
        <p:spPr>
          <a:xfrm>
            <a:off x="758952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Softmax</a:t>
            </a:r>
            <a:endParaRPr lang="en-US" sz="1600" dirty="0"/>
          </a:p>
        </p:txBody>
      </p:sp>
      <p:sp>
        <p:nvSpPr>
          <p:cNvPr id="8" name="text-209"/>
          <p:cNvSpPr txBox="1"/>
          <p:nvPr/>
        </p:nvSpPr>
        <p:spPr>
          <a:xfrm>
            <a:off x="7589520" y="22402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확률의 합이 1 → 상대 점수. “T1이 T2보다 조금 낫다”만 알려줌</a:t>
            </a:r>
            <a:endParaRPr lang="en-US" sz="1400" dirty="0"/>
          </a:p>
        </p:txBody>
      </p:sp>
      <p:sp>
        <p:nvSpPr>
          <p:cNvPr id="9" name="card-210"/>
          <p:cNvSpPr/>
          <p:nvPr/>
        </p:nvSpPr>
        <p:spPr>
          <a:xfrm>
            <a:off x="7315200" y="3154680"/>
            <a:ext cx="42976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0" name="text-211"/>
          <p:cNvSpPr txBox="1"/>
          <p:nvPr/>
        </p:nvSpPr>
        <p:spPr>
          <a:xfrm>
            <a:off x="7589520" y="3291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Sigmoid</a:t>
            </a:r>
            <a:endParaRPr lang="en-US" sz="1600" dirty="0"/>
          </a:p>
        </p:txBody>
      </p:sp>
      <p:sp>
        <p:nvSpPr>
          <p:cNvPr id="11" name="text-212"/>
          <p:cNvSpPr txBox="1"/>
          <p:nvPr/>
        </p:nvSpPr>
        <p:spPr>
          <a:xfrm>
            <a:off x="758952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각 칸이 절대 점수. T2가 실제로 비슷한 캡션이면 둘 다 높을 수 있음</a:t>
            </a:r>
            <a:endParaRPr lang="en-US" sz="1400" dirty="0"/>
          </a:p>
        </p:txBody>
      </p:sp>
      <p:sp>
        <p:nvSpPr>
          <p:cNvPr id="12" name="card-213"/>
          <p:cNvSpPr/>
          <p:nvPr/>
        </p:nvSpPr>
        <p:spPr>
          <a:xfrm>
            <a:off x="7315200" y="4572000"/>
            <a:ext cx="42976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3" name="text-214"/>
          <p:cNvSpPr txBox="1"/>
          <p:nvPr/>
        </p:nvSpPr>
        <p:spPr>
          <a:xfrm>
            <a:off x="7589520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그래서</a:t>
            </a:r>
            <a:endParaRPr lang="en-US" sz="1600" dirty="0"/>
          </a:p>
        </p:txBody>
      </p:sp>
      <p:sp>
        <p:nvSpPr>
          <p:cNvPr id="14" name="text-215"/>
          <p:cNvSpPr txBox="1"/>
          <p:nvPr/>
        </p:nvSpPr>
        <p:spPr>
          <a:xfrm>
            <a:off x="7589520" y="50749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Sigmoid 학습은 T2를 직접 낮추는 신호를 주고, 배치 구성에 덜 의존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온도(t)와 바이어스(b) — 왜 b가 필요한가</a:t>
            </a:r>
            <a:endParaRPr lang="en-US" sz="3200" dirty="0"/>
          </a:p>
        </p:txBody>
      </p:sp>
      <p:sp>
        <p:nvSpPr>
          <p:cNvPr id="3" name="card-216"/>
          <p:cNvSpPr/>
          <p:nvPr/>
        </p:nvSpPr>
        <p:spPr>
          <a:xfrm>
            <a:off x="548640" y="1371600"/>
            <a:ext cx="30175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4" name="text-217"/>
          <p:cNvSpPr txBox="1"/>
          <p:nvPr/>
        </p:nvSpPr>
        <p:spPr>
          <a:xfrm>
            <a:off x="777240" y="1554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= exp(t′)</a:t>
            </a:r>
            <a:endParaRPr lang="en-US" sz="3200" dirty="0"/>
          </a:p>
        </p:txBody>
      </p:sp>
      <p:sp>
        <p:nvSpPr>
          <p:cNvPr id="5" name="text-218"/>
          <p:cNvSpPr txBox="1"/>
          <p:nvPr/>
        </p:nvSpPr>
        <p:spPr>
          <a:xfrm>
            <a:off x="777240" y="2377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초기값 t′ = log 10</a:t>
            </a:r>
            <a:endParaRPr lang="en-US" sz="1400" dirty="0"/>
          </a:p>
        </p:txBody>
      </p:sp>
      <p:sp>
        <p:nvSpPr>
          <p:cNvPr id="6" name="text-219"/>
          <p:cNvSpPr txBox="1"/>
          <p:nvPr/>
        </p:nvSpPr>
        <p:spPr>
          <a:xfrm>
            <a:off x="777240" y="2788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점수의 스케일 조절 (CLIP에도 있음)</a:t>
            </a:r>
            <a:endParaRPr lang="en-US" sz="1400" dirty="0"/>
          </a:p>
        </p:txBody>
      </p:sp>
      <p:sp>
        <p:nvSpPr>
          <p:cNvPr id="7" name="card-220"/>
          <p:cNvSpPr/>
          <p:nvPr/>
        </p:nvSpPr>
        <p:spPr>
          <a:xfrm>
            <a:off x="3840480" y="1371600"/>
            <a:ext cx="30175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text-221"/>
          <p:cNvSpPr txBox="1"/>
          <p:nvPr/>
        </p:nvSpPr>
        <p:spPr>
          <a:xfrm>
            <a:off x="4069080" y="1554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 = −10</a:t>
            </a:r>
            <a:endParaRPr lang="en-US" sz="3200" dirty="0"/>
          </a:p>
        </p:txBody>
      </p:sp>
      <p:sp>
        <p:nvSpPr>
          <p:cNvPr id="9" name="text-222"/>
          <p:cNvSpPr txBox="1"/>
          <p:nvPr/>
        </p:nvSpPr>
        <p:spPr>
          <a:xfrm>
            <a:off x="4069080" y="2377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초기값</a:t>
            </a:r>
            <a:endParaRPr lang="en-US" sz="1400" dirty="0"/>
          </a:p>
        </p:txBody>
      </p:sp>
      <p:sp>
        <p:nvSpPr>
          <p:cNvPr id="10" name="text-223"/>
          <p:cNvSpPr txBox="1"/>
          <p:nvPr/>
        </p:nvSpPr>
        <p:spPr>
          <a:xfrm>
            <a:off x="4069080" y="2788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SigLIP에서 새로 추가된 학습 파라미터</a:t>
            </a:r>
            <a:endParaRPr lang="en-US" sz="1400" dirty="0"/>
          </a:p>
        </p:txBody>
      </p:sp>
      <p:sp>
        <p:nvSpPr>
          <p:cNvPr id="11" name="card-224"/>
          <p:cNvSpPr/>
          <p:nvPr/>
        </p:nvSpPr>
        <p:spPr>
          <a:xfrm>
            <a:off x="7223760" y="1371600"/>
            <a:ext cx="4389120" cy="2377440"/>
          </a:xfrm>
          <a:prstGeom prst="roundRect">
            <a:avLst>
              <a:gd name="adj" fmla="val 461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12" name="text-225"/>
          <p:cNvSpPr txBox="1"/>
          <p:nvPr/>
        </p:nvSpPr>
        <p:spPr>
          <a:xfrm>
            <a:off x="7498080" y="15544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1 : 32,000</a:t>
            </a:r>
            <a:endParaRPr lang="en-US" sz="4000" dirty="0"/>
          </a:p>
        </p:txBody>
      </p:sp>
      <p:sp>
        <p:nvSpPr>
          <p:cNvPr id="13" name="text-226"/>
          <p:cNvSpPr txBox="1"/>
          <p:nvPr/>
        </p:nvSpPr>
        <p:spPr>
          <a:xfrm>
            <a:off x="7498080" y="246888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배치 32k일 때 짝 1개당 짝 아닌 쌍의 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(positive B개 vs negative B²−B개)</a:t>
            </a:r>
            <a:endParaRPr lang="en-US" sz="1400" dirty="0"/>
          </a:p>
        </p:txBody>
      </p:sp>
      <p:sp>
        <p:nvSpPr>
          <p:cNvPr id="14" name="text-227"/>
          <p:cNvSpPr txBox="1"/>
          <p:nvPr/>
        </p:nvSpPr>
        <p:spPr>
          <a:xfrm>
            <a:off x="548640" y="406908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불균형 문제  </a:t>
            </a:r>
            <a:r>
              <a:rPr lang="en-US" sz="1600" dirty="0">
                <a:solidFill>
                  <a:schemeClr val="tx1"/>
                </a:solidFill>
              </a:rPr>
              <a:t>negative가 압도적으로 많아, 학습 초기에 거대한 음성 손실이 생겨 학습이 흔들림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3"/>
                </a:solidFill>
              </a:rPr>
              <a:t>b = −10의 역할  </a:t>
            </a:r>
            <a:r>
              <a:rPr lang="en-US" sz="1600" dirty="0">
                <a:solidFill>
                  <a:schemeClr val="tx1"/>
                </a:solidFill>
              </a:rPr>
              <a:t>처음부터 “대부분 짝이 아니다”에서 출발 → 초반 손실 폭주를 막음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5"/>
                </a:solidFill>
              </a:rPr>
              <a:t>결과  </a:t>
            </a:r>
            <a:r>
              <a:rPr lang="en-US" sz="1600" dirty="0">
                <a:solidFill>
                  <a:schemeClr val="tx1"/>
                </a:solidFill>
              </a:rPr>
              <a:t>학습이 안정적이고, 출력이 실제 ‘짝일 확률’처럼 보정(calibrated)됨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장점 ① 효율성 — 메모리 &amp; 분산 학습</a:t>
            </a:r>
            <a:endParaRPr lang="en-US" sz="3200" dirty="0"/>
          </a:p>
        </p:txBody>
      </p:sp>
      <p:sp>
        <p:nvSpPr>
          <p:cNvPr id="3" name="card-228"/>
          <p:cNvSpPr/>
          <p:nvPr/>
        </p:nvSpPr>
        <p:spPr>
          <a:xfrm>
            <a:off x="548640" y="1325880"/>
            <a:ext cx="338328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text-229"/>
          <p:cNvSpPr txBox="1"/>
          <p:nvPr/>
        </p:nvSpPr>
        <p:spPr>
          <a:xfrm>
            <a:off x="777240" y="1463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Softmax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모든 장치의 임베딩을 모아 B×B 전체 행렬로 정규화</a:t>
            </a:r>
            <a:endParaRPr lang="en-US" sz="1600" dirty="0"/>
          </a:p>
        </p:txBody>
      </p:sp>
      <p:sp>
        <p:nvSpPr>
          <p:cNvPr id="5" name="card-230"/>
          <p:cNvSpPr/>
          <p:nvPr/>
        </p:nvSpPr>
        <p:spPr>
          <a:xfrm>
            <a:off x="548640" y="2926080"/>
            <a:ext cx="3383280" cy="1417320"/>
          </a:xfrm>
          <a:prstGeom prst="roundRect">
            <a:avLst>
              <a:gd name="adj" fmla="val 774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6" name="text-231"/>
          <p:cNvSpPr txBox="1"/>
          <p:nvPr/>
        </p:nvSpPr>
        <p:spPr>
          <a:xfrm>
            <a:off x="777240" y="30632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Sigmoid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칸끼리 독립 → 장치별 블록만 계산하는 ‘청크’ 구현</a:t>
            </a:r>
            <a:endParaRPr lang="en-US" sz="1600" dirty="0"/>
          </a:p>
        </p:txBody>
      </p:sp>
      <p:sp>
        <p:nvSpPr>
          <p:cNvPr id="7" name="text-232"/>
          <p:cNvSpPr txBox="1"/>
          <p:nvPr/>
        </p:nvSpPr>
        <p:spPr>
          <a:xfrm>
            <a:off x="548640" y="45720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장치당 메모리  </a:t>
            </a:r>
            <a:r>
              <a:rPr lang="en-US" sz="1600" b="1" dirty="0">
                <a:solidFill>
                  <a:schemeClr val="accent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O(B²) → O(b²)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 = 장치당 배치 크기</a:t>
            </a:r>
            <a:endParaRPr lang="en-US" sz="1600" dirty="0"/>
          </a:p>
        </p:txBody>
      </p:sp>
      <p:sp>
        <p:nvSpPr>
          <p:cNvPr id="8" name="text-233"/>
          <p:cNvSpPr txBox="1"/>
          <p:nvPr/>
        </p:nvSpPr>
        <p:spPr>
          <a:xfrm>
            <a:off x="4251960" y="173736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장치1</a:t>
            </a:r>
            <a:endParaRPr lang="en-US" sz="1200" dirty="0"/>
          </a:p>
        </p:txBody>
      </p:sp>
      <p:sp>
        <p:nvSpPr>
          <p:cNvPr id="9" name="text-234"/>
          <p:cNvSpPr txBox="1"/>
          <p:nvPr/>
        </p:nvSpPr>
        <p:spPr>
          <a:xfrm>
            <a:off x="4983480" y="13716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T1</a:t>
            </a:r>
            <a:endParaRPr lang="en-US" sz="1200" dirty="0"/>
          </a:p>
        </p:txBody>
      </p:sp>
      <p:sp>
        <p:nvSpPr>
          <p:cNvPr id="10" name="text-235"/>
          <p:cNvSpPr txBox="1"/>
          <p:nvPr/>
        </p:nvSpPr>
        <p:spPr>
          <a:xfrm>
            <a:off x="4251960" y="251460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장치2</a:t>
            </a:r>
            <a:endParaRPr lang="en-US" sz="1200" dirty="0"/>
          </a:p>
        </p:txBody>
      </p:sp>
      <p:sp>
        <p:nvSpPr>
          <p:cNvPr id="11" name="text-236"/>
          <p:cNvSpPr txBox="1"/>
          <p:nvPr/>
        </p:nvSpPr>
        <p:spPr>
          <a:xfrm>
            <a:off x="5760720" y="13716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T2</a:t>
            </a:r>
            <a:endParaRPr lang="en-US" sz="1200" dirty="0"/>
          </a:p>
        </p:txBody>
      </p:sp>
      <p:sp>
        <p:nvSpPr>
          <p:cNvPr id="12" name="text-237"/>
          <p:cNvSpPr txBox="1"/>
          <p:nvPr/>
        </p:nvSpPr>
        <p:spPr>
          <a:xfrm>
            <a:off x="4251960" y="329184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장치3</a:t>
            </a:r>
            <a:endParaRPr lang="en-US" sz="1200" dirty="0"/>
          </a:p>
        </p:txBody>
      </p:sp>
      <p:sp>
        <p:nvSpPr>
          <p:cNvPr id="13" name="text-238"/>
          <p:cNvSpPr txBox="1"/>
          <p:nvPr/>
        </p:nvSpPr>
        <p:spPr>
          <a:xfrm>
            <a:off x="6537960" y="13716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T3</a:t>
            </a:r>
            <a:endParaRPr lang="en-US" sz="1200" dirty="0"/>
          </a:p>
        </p:txBody>
      </p:sp>
      <p:sp>
        <p:nvSpPr>
          <p:cNvPr id="14" name="chunk-239"/>
          <p:cNvSpPr/>
          <p:nvPr/>
        </p:nvSpPr>
        <p:spPr>
          <a:xfrm>
            <a:off x="4983480" y="1737360"/>
            <a:ext cx="777240" cy="77724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-240"/>
          <p:cNvSpPr txBox="1"/>
          <p:nvPr/>
        </p:nvSpPr>
        <p:spPr>
          <a:xfrm>
            <a:off x="498348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6" name="chunk-241"/>
          <p:cNvSpPr/>
          <p:nvPr/>
        </p:nvSpPr>
        <p:spPr>
          <a:xfrm>
            <a:off x="5760720" y="1737360"/>
            <a:ext cx="777240" cy="777240"/>
          </a:xfrm>
          <a:prstGeom prst="rect">
            <a:avLst/>
          </a:prstGeom>
          <a:solidFill>
            <a:schemeClr val="accent1">
              <a:alpha val="70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-242"/>
          <p:cNvSpPr txBox="1"/>
          <p:nvPr/>
        </p:nvSpPr>
        <p:spPr>
          <a:xfrm>
            <a:off x="576072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chunk-243"/>
          <p:cNvSpPr/>
          <p:nvPr/>
        </p:nvSpPr>
        <p:spPr>
          <a:xfrm>
            <a:off x="6537960" y="1737360"/>
            <a:ext cx="777240" cy="777240"/>
          </a:xfrm>
          <a:prstGeom prst="rect">
            <a:avLst/>
          </a:prstGeom>
          <a:solidFill>
            <a:schemeClr val="accent2">
              <a:alpha val="70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-244"/>
          <p:cNvSpPr txBox="1"/>
          <p:nvPr/>
        </p:nvSpPr>
        <p:spPr>
          <a:xfrm>
            <a:off x="653796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chunk-245"/>
          <p:cNvSpPr/>
          <p:nvPr/>
        </p:nvSpPr>
        <p:spPr>
          <a:xfrm>
            <a:off x="4983480" y="2514600"/>
            <a:ext cx="777240" cy="777240"/>
          </a:xfrm>
          <a:prstGeom prst="rect">
            <a:avLst/>
          </a:prstGeom>
          <a:solidFill>
            <a:schemeClr val="accent2">
              <a:alpha val="70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text-246"/>
          <p:cNvSpPr txBox="1"/>
          <p:nvPr/>
        </p:nvSpPr>
        <p:spPr>
          <a:xfrm>
            <a:off x="4983480" y="2514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chunk-247"/>
          <p:cNvSpPr/>
          <p:nvPr/>
        </p:nvSpPr>
        <p:spPr>
          <a:xfrm>
            <a:off x="5760720" y="2514600"/>
            <a:ext cx="777240" cy="77724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3" name="text-248"/>
          <p:cNvSpPr txBox="1"/>
          <p:nvPr/>
        </p:nvSpPr>
        <p:spPr>
          <a:xfrm>
            <a:off x="5760720" y="2514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chunk-249"/>
          <p:cNvSpPr/>
          <p:nvPr/>
        </p:nvSpPr>
        <p:spPr>
          <a:xfrm>
            <a:off x="6537960" y="2514600"/>
            <a:ext cx="777240" cy="777240"/>
          </a:xfrm>
          <a:prstGeom prst="rect">
            <a:avLst/>
          </a:prstGeom>
          <a:solidFill>
            <a:schemeClr val="accent1">
              <a:alpha val="70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-250"/>
          <p:cNvSpPr txBox="1"/>
          <p:nvPr/>
        </p:nvSpPr>
        <p:spPr>
          <a:xfrm>
            <a:off x="6537960" y="2514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6" name="chunk-251"/>
          <p:cNvSpPr/>
          <p:nvPr/>
        </p:nvSpPr>
        <p:spPr>
          <a:xfrm>
            <a:off x="4983480" y="3291840"/>
            <a:ext cx="777240" cy="777240"/>
          </a:xfrm>
          <a:prstGeom prst="rect">
            <a:avLst/>
          </a:prstGeom>
          <a:solidFill>
            <a:schemeClr val="accent1">
              <a:alpha val="70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7" name="text-252"/>
          <p:cNvSpPr txBox="1"/>
          <p:nvPr/>
        </p:nvSpPr>
        <p:spPr>
          <a:xfrm>
            <a:off x="49834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chunk-253"/>
          <p:cNvSpPr/>
          <p:nvPr/>
        </p:nvSpPr>
        <p:spPr>
          <a:xfrm>
            <a:off x="5760720" y="3291840"/>
            <a:ext cx="777240" cy="777240"/>
          </a:xfrm>
          <a:prstGeom prst="rect">
            <a:avLst/>
          </a:prstGeom>
          <a:solidFill>
            <a:schemeClr val="accent2">
              <a:alpha val="70000"/>
            </a:schemeClr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text-254"/>
          <p:cNvSpPr txBox="1"/>
          <p:nvPr/>
        </p:nvSpPr>
        <p:spPr>
          <a:xfrm>
            <a:off x="576072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chunk-255"/>
          <p:cNvSpPr/>
          <p:nvPr/>
        </p:nvSpPr>
        <p:spPr>
          <a:xfrm>
            <a:off x="6537960" y="3291840"/>
            <a:ext cx="777240" cy="77724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1" name="text-256"/>
          <p:cNvSpPr txBox="1"/>
          <p:nvPr/>
        </p:nvSpPr>
        <p:spPr>
          <a:xfrm>
            <a:off x="653796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2" name="text-257"/>
          <p:cNvSpPr txBox="1"/>
          <p:nvPr/>
        </p:nvSpPr>
        <p:spPr>
          <a:xfrm>
            <a:off x="4206240" y="42519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① 자기 블록으로 손실 계산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② 텍스트 임베딩을 옆 장치로 넘김(permute)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③ 반복 후 손실만 합산</a:t>
            </a:r>
            <a:endParaRPr lang="en-US" sz="1400" dirty="0"/>
          </a:p>
        </p:txBody>
      </p:sp>
      <p:sp>
        <p:nvSpPr>
          <p:cNvPr id="33" name="card-258"/>
          <p:cNvSpPr/>
          <p:nvPr/>
        </p:nvSpPr>
        <p:spPr>
          <a:xfrm>
            <a:off x="7772400" y="1325880"/>
            <a:ext cx="3840480" cy="4663440"/>
          </a:xfrm>
          <a:prstGeom prst="roundRect">
            <a:avLst>
              <a:gd name="adj" fmla="val 2857"/>
            </a:avLst>
          </a:prstGeom>
          <a:solidFill>
            <a:schemeClr val="tx1"/>
          </a:solidFill>
          <a:ln/>
        </p:spPr>
      </p:sp>
      <p:sp>
        <p:nvSpPr>
          <p:cNvPr id="34" name="text-259"/>
          <p:cNvSpPr txBox="1"/>
          <p:nvPr/>
        </p:nvSpPr>
        <p:spPr>
          <a:xfrm>
            <a:off x="804672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논문 사례: SigLiT</a:t>
            </a:r>
            <a:endParaRPr lang="en-US" sz="1400" dirty="0"/>
          </a:p>
        </p:txBody>
      </p:sp>
      <p:sp>
        <p:nvSpPr>
          <p:cNvPr id="35" name="text-260"/>
          <p:cNvSpPr txBox="1"/>
          <p:nvPr/>
        </p:nvSpPr>
        <p:spPr>
          <a:xfrm>
            <a:off x="804672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이미지 인코더 고정, 텍스트 인코더만 학습</a:t>
            </a:r>
            <a:endParaRPr lang="en-US" sz="1200" dirty="0"/>
          </a:p>
        </p:txBody>
      </p:sp>
      <p:sp>
        <p:nvSpPr>
          <p:cNvPr id="36" name="text-261"/>
          <p:cNvSpPr txBox="1"/>
          <p:nvPr/>
        </p:nvSpPr>
        <p:spPr>
          <a:xfrm>
            <a:off x="804672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84.5%</a:t>
            </a:r>
            <a:endParaRPr lang="en-US" sz="3200" dirty="0"/>
          </a:p>
        </p:txBody>
      </p:sp>
      <p:sp>
        <p:nvSpPr>
          <p:cNvPr id="37" name="text-262"/>
          <p:cNvSpPr txBox="1"/>
          <p:nvPr/>
        </p:nvSpPr>
        <p:spPr>
          <a:xfrm>
            <a:off x="8046720" y="3017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ImageNet zero-shot 정확도</a:t>
            </a:r>
            <a:endParaRPr lang="en-US" sz="1200" dirty="0"/>
          </a:p>
        </p:txBody>
      </p:sp>
      <p:sp>
        <p:nvSpPr>
          <p:cNvPr id="38" name="text-263"/>
          <p:cNvSpPr txBox="1"/>
          <p:nvPr/>
        </p:nvSpPr>
        <p:spPr>
          <a:xfrm>
            <a:off x="8046720" y="3566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TPUv4 4개 · 2일</a:t>
            </a:r>
            <a:endParaRPr lang="en-US" sz="2400" dirty="0"/>
          </a:p>
        </p:txBody>
      </p:sp>
      <p:sp>
        <p:nvSpPr>
          <p:cNvPr id="39" name="text-264"/>
          <p:cNvSpPr txBox="1"/>
          <p:nvPr/>
        </p:nvSpPr>
        <p:spPr>
          <a:xfrm>
            <a:off x="8046720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학습에 쓴 자원</a:t>
            </a:r>
            <a:endParaRPr lang="en-US" sz="1200" dirty="0"/>
          </a:p>
        </p:txBody>
      </p:sp>
      <p:sp>
        <p:nvSpPr>
          <p:cNvPr id="40" name="text-265"/>
          <p:cNvSpPr txBox="1"/>
          <p:nvPr/>
        </p:nvSpPr>
        <p:spPr>
          <a:xfrm>
            <a:off x="804672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1M</a:t>
            </a:r>
            <a:endParaRPr lang="en-US" sz="3200" dirty="0"/>
          </a:p>
        </p:txBody>
      </p:sp>
      <p:sp>
        <p:nvSpPr>
          <p:cNvPr id="41" name="text-266"/>
          <p:cNvSpPr txBox="1"/>
          <p:nvPr/>
        </p:nvSpPr>
        <p:spPr>
          <a:xfrm>
            <a:off x="8046720" y="5394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실험해 본 최대 배치 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장점 ② 성능 — 배치 크기 실험이 말해주는 것</a:t>
            </a:r>
            <a:endParaRPr lang="en-US" sz="3200" dirty="0"/>
          </a:p>
        </p:txBody>
      </p:sp>
      <p:sp>
        <p:nvSpPr>
          <p:cNvPr id="3" name="card-267"/>
          <p:cNvSpPr/>
          <p:nvPr/>
        </p:nvSpPr>
        <p:spPr>
          <a:xfrm>
            <a:off x="548640" y="141732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badge-268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-269"/>
          <p:cNvSpPr txBox="1"/>
          <p:nvPr/>
        </p:nvSpPr>
        <p:spPr>
          <a:xfrm>
            <a:off x="868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-270"/>
          <p:cNvSpPr txBox="1"/>
          <p:nvPr/>
        </p:nvSpPr>
        <p:spPr>
          <a:xfrm>
            <a:off x="868680" y="2468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작은 배치에서 우세</a:t>
            </a:r>
            <a:endParaRPr lang="en-US" sz="2100" dirty="0"/>
          </a:p>
        </p:txBody>
      </p:sp>
      <p:sp>
        <p:nvSpPr>
          <p:cNvPr id="7" name="text-271"/>
          <p:cNvSpPr txBox="1"/>
          <p:nvPr/>
        </p:nvSpPr>
        <p:spPr>
          <a:xfrm>
            <a:off x="868680" y="310896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4k~16k 같은 작은 배치에서 Softmax보다 확실히 좋은 성능</a:t>
            </a:r>
            <a:endParaRPr lang="en-US" sz="1600" dirty="0"/>
          </a:p>
        </p:txBody>
      </p:sp>
      <p:sp>
        <p:nvSpPr>
          <p:cNvPr id="8" name="card-272"/>
          <p:cNvSpPr/>
          <p:nvPr/>
        </p:nvSpPr>
        <p:spPr>
          <a:xfrm>
            <a:off x="4297680" y="141732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badge-273"/>
          <p:cNvSpPr/>
          <p:nvPr/>
        </p:nvSpPr>
        <p:spPr>
          <a:xfrm>
            <a:off x="461772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-274"/>
          <p:cNvSpPr txBox="1"/>
          <p:nvPr/>
        </p:nvSpPr>
        <p:spPr>
          <a:xfrm>
            <a:off x="46177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-275"/>
          <p:cNvSpPr txBox="1"/>
          <p:nvPr/>
        </p:nvSpPr>
        <p:spPr>
          <a:xfrm>
            <a:off x="4617720" y="2468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약 32k에서 포화</a:t>
            </a:r>
            <a:endParaRPr lang="en-US" sz="2100" dirty="0"/>
          </a:p>
        </p:txBody>
      </p:sp>
      <p:sp>
        <p:nvSpPr>
          <p:cNvPr id="12" name="text-276"/>
          <p:cNvSpPr txBox="1"/>
          <p:nvPr/>
        </p:nvSpPr>
        <p:spPr>
          <a:xfrm>
            <a:off x="4617720" y="310896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배치를 키우면 둘의 차이는 줄고, 1M까지 키워도 추가 이득은 거의 없음 → ‘무조건 큰 배치’가 정답은 아니다</a:t>
            </a:r>
            <a:endParaRPr lang="en-US" sz="1600" dirty="0"/>
          </a:p>
        </p:txBody>
      </p:sp>
      <p:sp>
        <p:nvSpPr>
          <p:cNvPr id="13" name="card-277"/>
          <p:cNvSpPr/>
          <p:nvPr/>
        </p:nvSpPr>
        <p:spPr>
          <a:xfrm>
            <a:off x="8046720" y="141732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badge-278"/>
          <p:cNvSpPr/>
          <p:nvPr/>
        </p:nvSpPr>
        <p:spPr>
          <a:xfrm>
            <a:off x="836676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-279"/>
          <p:cNvSpPr txBox="1"/>
          <p:nvPr/>
        </p:nvSpPr>
        <p:spPr>
          <a:xfrm>
            <a:off x="83667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-280"/>
          <p:cNvSpPr txBox="1"/>
          <p:nvPr/>
        </p:nvSpPr>
        <p:spPr>
          <a:xfrm>
            <a:off x="8366760" y="2468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노이즈에 강함</a:t>
            </a:r>
            <a:endParaRPr lang="en-US" sz="2100" dirty="0"/>
          </a:p>
        </p:txBody>
      </p:sp>
      <p:sp>
        <p:nvSpPr>
          <p:cNvPr id="17" name="text-281"/>
          <p:cNvSpPr txBox="1"/>
          <p:nvPr/>
        </p:nvSpPr>
        <p:spPr>
          <a:xfrm>
            <a:off x="8366760" y="310896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웹 데이터엔 엉뚱한 캡션이 많음. 노이즈를 인위로 넣은 실험에서 Softmax보다 성능 저하가 적음</a:t>
            </a:r>
            <a:endParaRPr lang="en-US" sz="1600" dirty="0"/>
          </a:p>
        </p:txBody>
      </p:sp>
      <p:sp>
        <p:nvSpPr>
          <p:cNvPr id="18" name="text-282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→ 우리처럼 작은 자원으로 파인튜닝할 때도 Sigmoid 손실이 유리할 수 있음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한눈에 비교: CLIP vs SigLIP</a:t>
            </a:r>
            <a:endParaRPr lang="en-US" sz="3200" dirty="0"/>
          </a:p>
        </p:txBody>
      </p:sp>
      <p:graphicFrame>
        <p:nvGraphicFramePr>
          <p:cNvPr id="16" name="compa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CLIP (Softmax)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SigLIP (Sigmoid)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학습 문제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B-way 다중 분류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B²개 이진 분류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정규화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행/열 전체 필요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불필요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방향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이미지→텍스트, 텍스트→이미지 2번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대칭이라 1번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메모리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전체 B×B 행렬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장치별 블록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작은 배치 성능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높음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출력 해석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상대 확률 (합 = 1)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쌍별 절대 확률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추가 파라미터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온도 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온도 t + 바이어스 b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SigLIP이 이미지-텍스트 검색에 적합한 이유</a:t>
            </a:r>
            <a:endParaRPr lang="en-US" sz="3200" dirty="0"/>
          </a:p>
        </p:txBody>
      </p:sp>
      <p:sp>
        <p:nvSpPr>
          <p:cNvPr id="3" name="badge-283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-284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285"/>
          <p:cNvSpPr txBox="1"/>
          <p:nvPr/>
        </p:nvSpPr>
        <p:spPr>
          <a:xfrm>
            <a:off x="1234440" y="12984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듀얼 인코더 → 미리 인덱싱</a:t>
            </a:r>
            <a:endParaRPr lang="en-US" sz="1700" dirty="0"/>
          </a:p>
        </p:txBody>
      </p:sp>
      <p:sp>
        <p:nvSpPr>
          <p:cNvPr id="6" name="text-286"/>
          <p:cNvSpPr txBox="1"/>
          <p:nvPr/>
        </p:nvSpPr>
        <p:spPr>
          <a:xfrm>
            <a:off x="1234440" y="16642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이미지 임베딩은 오프라인에서 한 번만 계산해 FAISS/Chroma에 저장. 질의 시엔 텍스트 1개만 인코딩 → 빠른 근사 최근접 탐색(ANN)</a:t>
            </a:r>
            <a:endParaRPr lang="en-US" sz="1300" dirty="0"/>
          </a:p>
        </p:txBody>
      </p:sp>
      <p:sp>
        <p:nvSpPr>
          <p:cNvPr id="7" name="badge-287"/>
          <p:cNvSpPr/>
          <p:nvPr/>
        </p:nvSpPr>
        <p:spPr>
          <a:xfrm>
            <a:off x="548640" y="23134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-288"/>
          <p:cNvSpPr txBox="1"/>
          <p:nvPr/>
        </p:nvSpPr>
        <p:spPr>
          <a:xfrm>
            <a:off x="548640" y="2313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289"/>
          <p:cNvSpPr txBox="1"/>
          <p:nvPr/>
        </p:nvSpPr>
        <p:spPr>
          <a:xfrm>
            <a:off x="1234440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공동 임베딩 공간</a:t>
            </a:r>
            <a:endParaRPr lang="en-US" sz="1700" dirty="0"/>
          </a:p>
        </p:txBody>
      </p:sp>
      <p:sp>
        <p:nvSpPr>
          <p:cNvPr id="10" name="text-290"/>
          <p:cNvSpPr txBox="1"/>
          <p:nvPr/>
        </p:nvSpPr>
        <p:spPr>
          <a:xfrm>
            <a:off x="1234440" y="2606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텍스트→이미지, 이미지→텍스트, 이미지→이미지 검색을 같은 인덱스로</a:t>
            </a:r>
            <a:endParaRPr lang="en-US" sz="1300" dirty="0"/>
          </a:p>
        </p:txBody>
      </p:sp>
      <p:sp>
        <p:nvSpPr>
          <p:cNvPr id="11" name="badge-291"/>
          <p:cNvSpPr/>
          <p:nvPr/>
        </p:nvSpPr>
        <p:spPr>
          <a:xfrm>
            <a:off x="548640" y="325526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-292"/>
          <p:cNvSpPr txBox="1"/>
          <p:nvPr/>
        </p:nvSpPr>
        <p:spPr>
          <a:xfrm>
            <a:off x="548640" y="3255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293"/>
          <p:cNvSpPr txBox="1"/>
          <p:nvPr/>
        </p:nvSpPr>
        <p:spPr>
          <a:xfrm>
            <a:off x="1234440" y="31821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쌍별 독립 점수</a:t>
            </a:r>
            <a:endParaRPr lang="en-US" sz="1700" dirty="0"/>
          </a:p>
        </p:txBody>
      </p:sp>
      <p:sp>
        <p:nvSpPr>
          <p:cNvPr id="14" name="text-294"/>
          <p:cNvSpPr txBox="1"/>
          <p:nvPr/>
        </p:nvSpPr>
        <p:spPr>
          <a:xfrm>
            <a:off x="1234440" y="354787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‘이 이미지가 질의와 관련 있을 확률’로 해석 가능 → 임계값 필터링이 쉬움</a:t>
            </a:r>
            <a:endParaRPr lang="en-US" sz="1300" dirty="0"/>
          </a:p>
        </p:txBody>
      </p:sp>
      <p:sp>
        <p:nvSpPr>
          <p:cNvPr id="15" name="badge-295"/>
          <p:cNvSpPr/>
          <p:nvPr/>
        </p:nvSpPr>
        <p:spPr>
          <a:xfrm>
            <a:off x="548640" y="419709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-296"/>
          <p:cNvSpPr txBox="1"/>
          <p:nvPr/>
        </p:nvSpPr>
        <p:spPr>
          <a:xfrm>
            <a:off x="54864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-297"/>
          <p:cNvSpPr txBox="1"/>
          <p:nvPr/>
        </p:nvSpPr>
        <p:spPr>
          <a:xfrm>
            <a:off x="1234440" y="412394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고품질 임베딩</a:t>
            </a:r>
            <a:endParaRPr lang="en-US" sz="1700" dirty="0"/>
          </a:p>
        </p:txBody>
      </p:sp>
      <p:sp>
        <p:nvSpPr>
          <p:cNvPr id="18" name="text-298"/>
          <p:cNvSpPr txBox="1"/>
          <p:nvPr/>
        </p:nvSpPr>
        <p:spPr>
          <a:xfrm>
            <a:off x="1234440" y="448970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작은 배치·노이즈에도 강하게 학습 → 공개 체크포인트 성능이 좋음</a:t>
            </a:r>
            <a:endParaRPr lang="en-US" sz="1300" dirty="0"/>
          </a:p>
        </p:txBody>
      </p:sp>
      <p:sp>
        <p:nvSpPr>
          <p:cNvPr id="19" name="badge-299"/>
          <p:cNvSpPr/>
          <p:nvPr/>
        </p:nvSpPr>
        <p:spPr>
          <a:xfrm>
            <a:off x="548640" y="5138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-300"/>
          <p:cNvSpPr txBox="1"/>
          <p:nvPr/>
        </p:nvSpPr>
        <p:spPr>
          <a:xfrm>
            <a:off x="548640" y="5138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-301"/>
          <p:cNvSpPr txBox="1"/>
          <p:nvPr/>
        </p:nvSpPr>
        <p:spPr>
          <a:xfrm>
            <a:off x="1234440" y="506577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다양한 공개 모델</a:t>
            </a:r>
            <a:endParaRPr lang="en-US" sz="1700" dirty="0"/>
          </a:p>
        </p:txBody>
      </p:sp>
      <p:sp>
        <p:nvSpPr>
          <p:cNvPr id="22" name="text-302"/>
          <p:cNvSpPr txBox="1"/>
          <p:nvPr/>
        </p:nvSpPr>
        <p:spPr>
          <a:xfrm>
            <a:off x="1234440" y="543153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base부터 so400m, 다국어 버전까지 Hugging Face에서 바로 사용</a:t>
            </a:r>
            <a:endParaRPr lang="en-US" sz="1300" dirty="0"/>
          </a:p>
        </p:txBody>
      </p:sp>
      <p:sp>
        <p:nvSpPr>
          <p:cNvPr id="23" name="card-303"/>
          <p:cNvSpPr/>
          <p:nvPr/>
        </p:nvSpPr>
        <p:spPr>
          <a:xfrm>
            <a:off x="7406640" y="1325880"/>
            <a:ext cx="4206240" cy="4343400"/>
          </a:xfrm>
          <a:prstGeom prst="roundRect">
            <a:avLst>
              <a:gd name="adj" fmla="val 2609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4" name="text-304"/>
          <p:cNvSpPr txBox="1"/>
          <p:nvPr/>
        </p:nvSpPr>
        <p:spPr>
          <a:xfrm>
            <a:off x="768096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3주차와 연결</a:t>
            </a:r>
            <a:endParaRPr lang="en-US" sz="1600" dirty="0"/>
          </a:p>
        </p:txBody>
      </p:sp>
      <p:sp>
        <p:nvSpPr>
          <p:cNvPr id="25" name="box-305"/>
          <p:cNvSpPr/>
          <p:nvPr/>
        </p:nvSpPr>
        <p:spPr>
          <a:xfrm>
            <a:off x="7680960" y="2011680"/>
            <a:ext cx="365760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/>
        </p:spPr>
      </p:sp>
      <p:sp>
        <p:nvSpPr>
          <p:cNvPr id="26" name="text-306"/>
          <p:cNvSpPr txBox="1"/>
          <p:nvPr/>
        </p:nvSpPr>
        <p:spPr>
          <a:xfrm>
            <a:off x="7680960" y="20116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Bi-encoder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빠르게 후보 추출</a:t>
            </a:r>
            <a:endParaRPr lang="en-US" sz="1400" dirty="0"/>
          </a:p>
        </p:txBody>
      </p:sp>
      <p:sp>
        <p:nvSpPr>
          <p:cNvPr id="27" name="text-307"/>
          <p:cNvSpPr txBox="1"/>
          <p:nvPr/>
        </p:nvSpPr>
        <p:spPr>
          <a:xfrm>
            <a:off x="768096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↓</a:t>
            </a:r>
            <a:endParaRPr lang="en-US" sz="1800" dirty="0"/>
          </a:p>
        </p:txBody>
      </p:sp>
      <p:sp>
        <p:nvSpPr>
          <p:cNvPr id="28" name="box-308"/>
          <p:cNvSpPr/>
          <p:nvPr/>
        </p:nvSpPr>
        <p:spPr>
          <a:xfrm>
            <a:off x="7680960" y="3337560"/>
            <a:ext cx="365760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/>
        </p:spPr>
      </p:sp>
      <p:sp>
        <p:nvSpPr>
          <p:cNvPr id="29" name="text-309"/>
          <p:cNvSpPr txBox="1"/>
          <p:nvPr/>
        </p:nvSpPr>
        <p:spPr>
          <a:xfrm>
            <a:off x="7680960" y="33375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Cross-encoder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정밀하게 재정렬</a:t>
            </a:r>
            <a:endParaRPr lang="en-US" sz="1400" dirty="0"/>
          </a:p>
        </p:txBody>
      </p:sp>
      <p:sp>
        <p:nvSpPr>
          <p:cNvPr id="30" name="text-310"/>
          <p:cNvSpPr txBox="1"/>
          <p:nvPr/>
        </p:nvSpPr>
        <p:spPr>
          <a:xfrm>
            <a:off x="7680960" y="434340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SigLIP = Bi-encoder 역할. 이미지를 미리 벡터DB에 넣어두고 텍스트로 빠르게 찾는 5주차 구조가 가능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실습 ① 모델 로드 &amp; 이미지 임베딩 추출</a:t>
            </a:r>
            <a:endParaRPr lang="en-US" sz="3200" dirty="0"/>
          </a:p>
        </p:txBody>
      </p:sp>
      <p:sp>
        <p:nvSpPr>
          <p:cNvPr id="3" name="codebg-311"/>
          <p:cNvSpPr/>
          <p:nvPr/>
        </p:nvSpPr>
        <p:spPr>
          <a:xfrm>
            <a:off x="548640" y="1280160"/>
            <a:ext cx="7589520" cy="4754880"/>
          </a:xfrm>
          <a:prstGeom prst="roundRect">
            <a:avLst>
              <a:gd name="adj" fmla="val 1923"/>
            </a:avLst>
          </a:prstGeom>
          <a:solidFill>
            <a:schemeClr val="tx1"/>
          </a:solidFill>
          <a:ln/>
        </p:spPr>
      </p:sp>
      <p:sp>
        <p:nvSpPr>
          <p:cNvPr id="4" name="text-312"/>
          <p:cNvSpPr txBox="1"/>
          <p:nvPr/>
        </p:nvSpPr>
        <p:spPr>
          <a:xfrm>
            <a:off x="777240" y="1463040"/>
            <a:ext cx="7132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torch, requests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PIL import Image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transformers import AutoModel, AutoProcessor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ckpt = "google/siglip-base-patch16-224"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AutoModel.from_pretrained(ckpt).eval()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processor = AutoProcessor.from_pretrained(ckpt)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= "http://images.cocodataset.org/val2017/000000039769.jpg"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 = Image.open(requests.get(url, stream=True).raw)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 = processor(images=image, return_tensors="pt")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torch.no_grad():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image_emb = model.get_image_features(**inputs)</a:t>
            </a: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(1, 768)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image_emb = image_emb / image_emb.norm(dim=-1, keepdim=True)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print(image_emb.shape)</a:t>
            </a:r>
            <a:endParaRPr lang="en-US" sz="1300" dirty="0"/>
          </a:p>
        </p:txBody>
      </p:sp>
      <p:sp>
        <p:nvSpPr>
          <p:cNvPr id="5" name="card-313"/>
          <p:cNvSpPr/>
          <p:nvPr/>
        </p:nvSpPr>
        <p:spPr>
          <a:xfrm>
            <a:off x="8412480" y="1280160"/>
            <a:ext cx="3200400" cy="475488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6" name="text-314"/>
          <p:cNvSpPr txBox="1"/>
          <p:nvPr/>
        </p:nvSpPr>
        <p:spPr>
          <a:xfrm>
            <a:off x="864108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포인트</a:t>
            </a:r>
            <a:endParaRPr lang="en-US" sz="1600" dirty="0"/>
          </a:p>
        </p:txBody>
      </p:sp>
      <p:sp>
        <p:nvSpPr>
          <p:cNvPr id="7" name="text-315"/>
          <p:cNvSpPr txBox="1"/>
          <p:nvPr/>
        </p:nvSpPr>
        <p:spPr>
          <a:xfrm>
            <a:off x="8641080" y="1920240"/>
            <a:ext cx="27889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get_image_features: 이미지 → 임베딩 벡터 (base 기준 768차원)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 쓸 땐 L2 정규화 후 저장 → 내적 = 코사인 유사도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eval() + no_grad()로 추론 모드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실습 ② 텍스트 임베딩 &amp; 이미지-텍스트 매칭</a:t>
            </a:r>
            <a:endParaRPr lang="en-US" sz="3200" dirty="0"/>
          </a:p>
        </p:txBody>
      </p:sp>
      <p:sp>
        <p:nvSpPr>
          <p:cNvPr id="3" name="codebg-316"/>
          <p:cNvSpPr/>
          <p:nvPr/>
        </p:nvSpPr>
        <p:spPr>
          <a:xfrm>
            <a:off x="548640" y="1280160"/>
            <a:ext cx="6949440" cy="4023360"/>
          </a:xfrm>
          <a:prstGeom prst="roundRect">
            <a:avLst>
              <a:gd name="adj" fmla="val 2273"/>
            </a:avLst>
          </a:prstGeom>
          <a:solidFill>
            <a:schemeClr val="tx1"/>
          </a:solidFill>
          <a:ln/>
        </p:spPr>
      </p:sp>
      <p:sp>
        <p:nvSpPr>
          <p:cNvPr id="4" name="text-317"/>
          <p:cNvSpPr txBox="1"/>
          <p:nvPr/>
        </p:nvSpPr>
        <p:spPr>
          <a:xfrm>
            <a:off x="777240" y="1463040"/>
            <a:ext cx="6492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texts = ["a photo of 2 cats", "a photo of a dog",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"a photo of a car"]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 = processor(text=texts, images=image,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padding="max_length",</a:t>
            </a: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★ 필수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return_tensors="pt")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torch.no_grad():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outputs = model(**inputs)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probs = torch.sigmoid(outputs.logits_per_image)</a:t>
            </a: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★ softmax 아님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t, p in zip(texts, probs[0]):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print(f"{p:.1%}  {t}")</a:t>
            </a:r>
            <a:endParaRPr lang="en-US" sz="1300" dirty="0"/>
          </a:p>
        </p:txBody>
      </p:sp>
      <p:sp>
        <p:nvSpPr>
          <p:cNvPr id="5" name="text-318"/>
          <p:cNvSpPr txBox="1"/>
          <p:nvPr/>
        </p:nvSpPr>
        <p:spPr>
          <a:xfrm>
            <a:off x="7818120" y="1280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CLIP 코드를 그대로 쓰면 틀리는 부분</a:t>
            </a:r>
            <a:endParaRPr lang="en-US" sz="1700" dirty="0"/>
          </a:p>
        </p:txBody>
      </p:sp>
      <p:sp>
        <p:nvSpPr>
          <p:cNvPr id="6" name="card-319"/>
          <p:cNvSpPr/>
          <p:nvPr/>
        </p:nvSpPr>
        <p:spPr>
          <a:xfrm>
            <a:off x="7818120" y="1828800"/>
            <a:ext cx="3794760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7" name="text-320"/>
          <p:cNvSpPr txBox="1"/>
          <p:nvPr/>
        </p:nvSpPr>
        <p:spPr>
          <a:xfrm>
            <a:off x="8046720" y="1938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padding="max_length"</a:t>
            </a:r>
            <a:endParaRPr lang="en-US" sz="1400" dirty="0"/>
          </a:p>
        </p:txBody>
      </p:sp>
      <p:sp>
        <p:nvSpPr>
          <p:cNvPr id="8" name="text-321"/>
          <p:cNvSpPr txBox="1"/>
          <p:nvPr/>
        </p:nvSpPr>
        <p:spPr>
          <a:xfrm>
            <a:off x="8046720" y="230428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학습 때처럼 64 토큰으로 패딩. 안 하면 결과가 이상하게 나옴</a:t>
            </a:r>
            <a:endParaRPr lang="en-US" sz="1300" dirty="0"/>
          </a:p>
        </p:txBody>
      </p:sp>
      <p:sp>
        <p:nvSpPr>
          <p:cNvPr id="9" name="card-322"/>
          <p:cNvSpPr/>
          <p:nvPr/>
        </p:nvSpPr>
        <p:spPr>
          <a:xfrm>
            <a:off x="7818120" y="3017520"/>
            <a:ext cx="3794760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10" name="text-323"/>
          <p:cNvSpPr txBox="1"/>
          <p:nvPr/>
        </p:nvSpPr>
        <p:spPr>
          <a:xfrm>
            <a:off x="8046720" y="31272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torch.sigmoid</a:t>
            </a:r>
            <a:endParaRPr lang="en-US" sz="1400" dirty="0"/>
          </a:p>
        </p:txBody>
      </p:sp>
      <p:sp>
        <p:nvSpPr>
          <p:cNvPr id="11" name="text-324"/>
          <p:cNvSpPr txBox="1"/>
          <p:nvPr/>
        </p:nvSpPr>
        <p:spPr>
          <a:xfrm>
            <a:off x="8046720" y="349300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캡션별 확률의 합이 1이 아님 — 정상</a:t>
            </a:r>
            <a:endParaRPr lang="en-US" sz="1300" dirty="0"/>
          </a:p>
        </p:txBody>
      </p:sp>
      <p:sp>
        <p:nvSpPr>
          <p:cNvPr id="12" name="card-325"/>
          <p:cNvSpPr/>
          <p:nvPr/>
        </p:nvSpPr>
        <p:spPr>
          <a:xfrm>
            <a:off x="7818120" y="4206240"/>
            <a:ext cx="3794760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13" name="text-326"/>
          <p:cNvSpPr txBox="1"/>
          <p:nvPr/>
        </p:nvSpPr>
        <p:spPr>
          <a:xfrm>
            <a:off x="8046720" y="43159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프롬프트 형태</a:t>
            </a:r>
            <a:endParaRPr lang="en-US" sz="1400" dirty="0"/>
          </a:p>
        </p:txBody>
      </p:sp>
      <p:sp>
        <p:nvSpPr>
          <p:cNvPr id="14" name="text-327"/>
          <p:cNvSpPr txBox="1"/>
          <p:nvPr/>
        </p:nvSpPr>
        <p:spPr>
          <a:xfrm>
            <a:off x="8046720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“This is a photo of …” / “a photo of …”가 잘 동작</a:t>
            </a:r>
            <a:endParaRPr lang="en-US" sz="1300" dirty="0"/>
          </a:p>
        </p:txBody>
      </p:sp>
      <p:sp>
        <p:nvSpPr>
          <p:cNvPr id="15" name="card-328"/>
          <p:cNvSpPr/>
          <p:nvPr/>
        </p:nvSpPr>
        <p:spPr>
          <a:xfrm>
            <a:off x="548640" y="5486400"/>
            <a:ext cx="694944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16" name="text-329"/>
          <p:cNvSpPr txBox="1"/>
          <p:nvPr/>
        </p:nvSpPr>
        <p:spPr>
          <a:xfrm>
            <a:off x="777240" y="54864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model(**inputs) 한 번으로 이미지·텍스트 임베딩과 유사도(logits_per_image)를 함께 얻음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실습 ③ 여러 이미지 배치 임베딩 — 5주차 준비</a:t>
            </a:r>
            <a:endParaRPr lang="en-US" sz="3200" dirty="0"/>
          </a:p>
        </p:txBody>
      </p:sp>
      <p:sp>
        <p:nvSpPr>
          <p:cNvPr id="3" name="codebg-330"/>
          <p:cNvSpPr/>
          <p:nvPr/>
        </p:nvSpPr>
        <p:spPr>
          <a:xfrm>
            <a:off x="548640" y="1234440"/>
            <a:ext cx="7863840" cy="4892040"/>
          </a:xfrm>
          <a:prstGeom prst="roundRect">
            <a:avLst>
              <a:gd name="adj" fmla="val 1869"/>
            </a:avLst>
          </a:prstGeom>
          <a:solidFill>
            <a:schemeClr val="tx1"/>
          </a:solidFill>
          <a:ln/>
        </p:spPr>
      </p:sp>
      <p:sp>
        <p:nvSpPr>
          <p:cNvPr id="4" name="text-331"/>
          <p:cNvSpPr txBox="1"/>
          <p:nvPr/>
        </p:nvSpPr>
        <p:spPr>
          <a:xfrm>
            <a:off x="777240" y="1417320"/>
            <a:ext cx="7406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pathlib import Path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paths = sorted(Path("images").glob("*.jpg"))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embs = 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range(0, len(paths), 32):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batch = [Image.open(p).convert("RGB") for p in paths[i:i+32]]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inputs = processor(images=batch, return_tensors="pt")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with torch.no_grad():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= model.get_image_features(**inputs)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embs.append(torch.nn.functional.normalize(e, dim=-1).numpy())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image_embs = np.concatenate(embs)</a:t>
            </a: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(N, 768)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np.save("image_embs.npy", image_embs)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텍스트 질의로 간단 검색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processor(text=["a cat sleeping on a sofa"],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padding="max_length", return_tensors="pt")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torch.no_grad():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q_emb = torch.nn.functional.normalize(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model.get_text_features(**q), dim=-1).numpy()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top5 = (image_embs @ q_emb.T).squeeze().argsort()[::-1][:5]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print([paths[i].name for i in top5])</a:t>
            </a:r>
            <a:endParaRPr lang="en-US" sz="1100" dirty="0"/>
          </a:p>
        </p:txBody>
      </p:sp>
      <p:sp>
        <p:nvSpPr>
          <p:cNvPr id="5" name="card-332"/>
          <p:cNvSpPr/>
          <p:nvPr/>
        </p:nvSpPr>
        <p:spPr>
          <a:xfrm>
            <a:off x="8686800" y="1234440"/>
            <a:ext cx="2926080" cy="4892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6" name="box-333"/>
          <p:cNvSpPr/>
          <p:nvPr/>
        </p:nvSpPr>
        <p:spPr>
          <a:xfrm>
            <a:off x="8961120" y="1508760"/>
            <a:ext cx="23774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7" name="text-334"/>
          <p:cNvSpPr txBox="1"/>
          <p:nvPr/>
        </p:nvSpPr>
        <p:spPr>
          <a:xfrm>
            <a:off x="8961120" y="1508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이미지 폴더</a:t>
            </a:r>
            <a:endParaRPr lang="en-US" sz="1400" dirty="0"/>
          </a:p>
        </p:txBody>
      </p:sp>
      <p:sp>
        <p:nvSpPr>
          <p:cNvPr id="8" name="text-335"/>
          <p:cNvSpPr txBox="1"/>
          <p:nvPr/>
        </p:nvSpPr>
        <p:spPr>
          <a:xfrm>
            <a:off x="896112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box-336"/>
          <p:cNvSpPr/>
          <p:nvPr/>
        </p:nvSpPr>
        <p:spPr>
          <a:xfrm>
            <a:off x="8961120" y="2468880"/>
            <a:ext cx="2377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0" name="text-337"/>
          <p:cNvSpPr txBox="1"/>
          <p:nvPr/>
        </p:nvSpPr>
        <p:spPr>
          <a:xfrm>
            <a:off x="896112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image_embs.npy</a:t>
            </a:r>
            <a:endParaRPr lang="en-US" sz="1300" dirty="0"/>
          </a:p>
        </p:txBody>
      </p:sp>
      <p:sp>
        <p:nvSpPr>
          <p:cNvPr id="11" name="text-338"/>
          <p:cNvSpPr txBox="1"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box-339"/>
          <p:cNvSpPr/>
          <p:nvPr/>
        </p:nvSpPr>
        <p:spPr>
          <a:xfrm>
            <a:off x="89611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3" name="text-340"/>
          <p:cNvSpPr txBox="1"/>
          <p:nvPr/>
        </p:nvSpPr>
        <p:spPr>
          <a:xfrm>
            <a:off x="89611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5주차: FAISS/Chroma 인덱싱</a:t>
            </a:r>
            <a:endParaRPr lang="en-US" sz="1300" dirty="0"/>
          </a:p>
        </p:txBody>
      </p:sp>
      <p:sp>
        <p:nvSpPr>
          <p:cNvPr id="14" name="text-341"/>
          <p:cNvSpPr txBox="1"/>
          <p:nvPr/>
        </p:nvSpPr>
        <p:spPr>
          <a:xfrm>
            <a:off x="8961120" y="443484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GPU 사용 시 model.to("cuda"), 입력도 .to("cuda")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더 알아보기 — 모델 선택 &amp; SigLIP 2</a:t>
            </a:r>
            <a:endParaRPr lang="en-US" sz="3200" dirty="0"/>
          </a:p>
        </p:txBody>
      </p:sp>
      <p:graphicFrame>
        <p:nvGraphicFramePr>
          <p:cNvPr id="21" name="mode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834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체크포인트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특징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google/siglip-base-patch16-224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가볍고 빠름, 실습용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google/siglip-so400m-patch14-384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고성능·고해상도(384), 생성형 VLM 비전 인코더로 많이 사용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google/siglip-base-patch16-256-multilingual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다국어 지원 (한국어 질의 실험용)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google/siglip2-base-patch16-224 등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SigLIP 2 (2025)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3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card-342"/>
          <p:cNvSpPr/>
          <p:nvPr/>
        </p:nvSpPr>
        <p:spPr>
          <a:xfrm>
            <a:off x="7589520" y="1325880"/>
            <a:ext cx="4023360" cy="4663440"/>
          </a:xfrm>
          <a:prstGeom prst="roundRect">
            <a:avLst>
              <a:gd name="adj" fmla="val 2727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5" name="text-343"/>
          <p:cNvSpPr txBox="1"/>
          <p:nvPr/>
        </p:nvSpPr>
        <p:spPr>
          <a:xfrm>
            <a:off x="78638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SigLIP 2 주요 변화</a:t>
            </a:r>
            <a:endParaRPr lang="en-US" sz="1800" dirty="0"/>
          </a:p>
        </p:txBody>
      </p:sp>
      <p:sp>
        <p:nvSpPr>
          <p:cNvPr id="6" name="text-344"/>
          <p:cNvSpPr txBox="1"/>
          <p:nvPr/>
        </p:nvSpPr>
        <p:spPr>
          <a:xfrm>
            <a:off x="7863840" y="2011680"/>
            <a:ext cx="3566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Sigmoid loss 유지 + 캡셔닝 디코더 손실(LocCa), 자기 증류, 마스크 예측 추가 → 위치 정보·밀집(dense) 특징 향상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다국어 데이터로 학습 → 다국어 검색 성능 향상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NaFlex 변형: 원본 종횡비를 유지하며 다양한 해상도 입력</a:t>
            </a:r>
            <a:endParaRPr lang="en-US" sz="1400" dirty="0"/>
          </a:p>
        </p:txBody>
      </p:sp>
      <p:sp>
        <p:nvSpPr>
          <p:cNvPr id="7" name="text-345"/>
          <p:cNvSpPr txBox="1"/>
          <p:nvPr/>
        </p:nvSpPr>
        <p:spPr>
          <a:xfrm>
            <a:off x="548640" y="4983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한국어 질의가 필요하면 multilingual / SigLIP 2 모델을 비교해보기 → 5주차 실험 거리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핵심 3줄 요약</a:t>
            </a:r>
            <a:endParaRPr lang="en-US" sz="3400" dirty="0"/>
          </a:p>
        </p:txBody>
      </p:sp>
      <p:sp>
        <p:nvSpPr>
          <p:cNvPr id="3" name="badge-346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-347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348"/>
          <p:cNvSpPr txBox="1"/>
          <p:nvPr/>
        </p:nvSpPr>
        <p:spPr>
          <a:xfrm>
            <a:off x="1691640" y="16459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SigLIP = CLIP 구조 + Softmax 대신 Sigmoid 손실</a:t>
            </a:r>
            <a:endParaRPr lang="en-US" sz="2400" dirty="0"/>
          </a:p>
        </p:txBody>
      </p:sp>
      <p:sp>
        <p:nvSpPr>
          <p:cNvPr id="6" name="text-349"/>
          <p:cNvSpPr txBox="1"/>
          <p:nvPr/>
        </p:nvSpPr>
        <p:spPr>
          <a:xfrm>
            <a:off x="1691640" y="2240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쌍별 이진 분류</a:t>
            </a:r>
            <a:endParaRPr lang="en-US" sz="1800" dirty="0"/>
          </a:p>
        </p:txBody>
      </p:sp>
      <p:sp>
        <p:nvSpPr>
          <p:cNvPr id="7" name="badge-350"/>
          <p:cNvSpPr/>
          <p:nvPr/>
        </p:nvSpPr>
        <p:spPr>
          <a:xfrm>
            <a:off x="731520" y="32004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-351"/>
          <p:cNvSpPr txBox="1"/>
          <p:nvPr/>
        </p:nvSpPr>
        <p:spPr>
          <a:xfrm>
            <a:off x="731520" y="3200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352"/>
          <p:cNvSpPr txBox="1"/>
          <p:nvPr/>
        </p:nvSpPr>
        <p:spPr>
          <a:xfrm>
            <a:off x="1691640" y="310896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배치 전체 정규화가 사라짐</a:t>
            </a:r>
            <a:endParaRPr lang="en-US" sz="2400" dirty="0"/>
          </a:p>
        </p:txBody>
      </p:sp>
      <p:sp>
        <p:nvSpPr>
          <p:cNvPr id="10" name="text-353"/>
          <p:cNvSpPr txBox="1"/>
          <p:nvPr/>
        </p:nvSpPr>
        <p:spPr>
          <a:xfrm>
            <a:off x="169164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메모리 효율 ↑ · 작은 배치 성능 ↑ · 노이즈에 강함</a:t>
            </a:r>
            <a:endParaRPr lang="en-US" sz="1800" dirty="0"/>
          </a:p>
        </p:txBody>
      </p:sp>
      <p:sp>
        <p:nvSpPr>
          <p:cNvPr id="11" name="badge-354"/>
          <p:cNvSpPr/>
          <p:nvPr/>
        </p:nvSpPr>
        <p:spPr>
          <a:xfrm>
            <a:off x="731520" y="46634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-355"/>
          <p:cNvSpPr txBox="1"/>
          <p:nvPr/>
        </p:nvSpPr>
        <p:spPr>
          <a:xfrm>
            <a:off x="731520" y="4663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356"/>
          <p:cNvSpPr txBox="1"/>
          <p:nvPr/>
        </p:nvSpPr>
        <p:spPr>
          <a:xfrm>
            <a:off x="1691640" y="45720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듀얼 인코더 + 공동 임베딩 공간</a:t>
            </a:r>
            <a:endParaRPr lang="en-US" sz="2400" dirty="0"/>
          </a:p>
        </p:txBody>
      </p:sp>
      <p:sp>
        <p:nvSpPr>
          <p:cNvPr id="14" name="text-357"/>
          <p:cNvSpPr txBox="1"/>
          <p:nvPr/>
        </p:nvSpPr>
        <p:spPr>
          <a:xfrm>
            <a:off x="1691640" y="51663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미리 인덱싱하는 대규모 이미지 검색에 적합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토론 질문</a:t>
            </a:r>
            <a:endParaRPr lang="en-US" sz="3200" dirty="0"/>
          </a:p>
        </p:txBody>
      </p:sp>
      <p:sp>
        <p:nvSpPr>
          <p:cNvPr id="3" name="card-358"/>
          <p:cNvSpPr/>
          <p:nvPr/>
        </p:nvSpPr>
        <p:spPr>
          <a:xfrm>
            <a:off x="548640" y="137160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badge-359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-360"/>
          <p:cNvSpPr txBox="1"/>
          <p:nvPr/>
        </p:nvSpPr>
        <p:spPr>
          <a:xfrm>
            <a:off x="82296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Q1</a:t>
            </a:r>
            <a:endParaRPr lang="en-US" sz="1600" dirty="0"/>
          </a:p>
        </p:txBody>
      </p:sp>
      <p:sp>
        <p:nvSpPr>
          <p:cNvPr id="6" name="text-361"/>
          <p:cNvSpPr txBox="1"/>
          <p:nvPr/>
        </p:nvSpPr>
        <p:spPr>
          <a:xfrm>
            <a:off x="1645920" y="164592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Sigmoid 확률을 그대로 검색 결과 필터링 임계값으로 써도 될까? 몇으로 잡아야 할까?</a:t>
            </a:r>
            <a:endParaRPr lang="en-US" sz="1600" dirty="0"/>
          </a:p>
        </p:txBody>
      </p:sp>
      <p:sp>
        <p:nvSpPr>
          <p:cNvPr id="7" name="card-362"/>
          <p:cNvSpPr/>
          <p:nvPr/>
        </p:nvSpPr>
        <p:spPr>
          <a:xfrm>
            <a:off x="6172200" y="137160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badge-363"/>
          <p:cNvSpPr/>
          <p:nvPr/>
        </p:nvSpPr>
        <p:spPr>
          <a:xfrm>
            <a:off x="6446520" y="164592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-364"/>
          <p:cNvSpPr txBox="1"/>
          <p:nvPr/>
        </p:nvSpPr>
        <p:spPr>
          <a:xfrm>
            <a:off x="644652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Q2</a:t>
            </a:r>
            <a:endParaRPr lang="en-US" sz="1600" dirty="0"/>
          </a:p>
        </p:txBody>
      </p:sp>
      <p:sp>
        <p:nvSpPr>
          <p:cNvPr id="10" name="text-365"/>
          <p:cNvSpPr txBox="1"/>
          <p:nvPr/>
        </p:nvSpPr>
        <p:spPr>
          <a:xfrm>
            <a:off x="7269480" y="164592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텍스트 RAG의 Reranking(cross-encoder)처럼 이미지 검색에도 재정렬 단계를 붙인다면 무엇을 쓸 수 있을까? (예: 생성형 VLM으로 재평가)</a:t>
            </a:r>
            <a:endParaRPr lang="en-US" sz="1600" dirty="0"/>
          </a:p>
        </p:txBody>
      </p:sp>
      <p:sp>
        <p:nvSpPr>
          <p:cNvPr id="11" name="card-366"/>
          <p:cNvSpPr/>
          <p:nvPr/>
        </p:nvSpPr>
        <p:spPr>
          <a:xfrm>
            <a:off x="548640" y="374904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2" name="badge-367"/>
          <p:cNvSpPr/>
          <p:nvPr/>
        </p:nvSpPr>
        <p:spPr>
          <a:xfrm>
            <a:off x="822960" y="40233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-368"/>
          <p:cNvSpPr txBox="1"/>
          <p:nvPr/>
        </p:nvSpPr>
        <p:spPr>
          <a:xfrm>
            <a:off x="822960" y="4023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Q3</a:t>
            </a:r>
            <a:endParaRPr lang="en-US" sz="1600" dirty="0"/>
          </a:p>
        </p:txBody>
      </p:sp>
      <p:sp>
        <p:nvSpPr>
          <p:cNvPr id="14" name="text-369"/>
          <p:cNvSpPr txBox="1"/>
          <p:nvPr/>
        </p:nvSpPr>
        <p:spPr>
          <a:xfrm>
            <a:off x="1645920" y="402336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한국어 질의를 영어로 번역해서 넣는 것 vs 다국어 모델을 쓰는 것, 어느 쪽이 나을까?</a:t>
            </a:r>
            <a:endParaRPr lang="en-US" sz="1600" dirty="0"/>
          </a:p>
        </p:txBody>
      </p:sp>
      <p:sp>
        <p:nvSpPr>
          <p:cNvPr id="15" name="card-370"/>
          <p:cNvSpPr/>
          <p:nvPr/>
        </p:nvSpPr>
        <p:spPr>
          <a:xfrm>
            <a:off x="6172200" y="3749040"/>
            <a:ext cx="5349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badge-371"/>
          <p:cNvSpPr/>
          <p:nvPr/>
        </p:nvSpPr>
        <p:spPr>
          <a:xfrm>
            <a:off x="6446520" y="40233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-372"/>
          <p:cNvSpPr txBox="1"/>
          <p:nvPr/>
        </p:nvSpPr>
        <p:spPr>
          <a:xfrm>
            <a:off x="6446520" y="4023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Q4</a:t>
            </a:r>
            <a:endParaRPr lang="en-US" sz="1600" dirty="0"/>
          </a:p>
        </p:txBody>
      </p:sp>
      <p:sp>
        <p:nvSpPr>
          <p:cNvPr id="18" name="text-373"/>
          <p:cNvSpPr txBox="1"/>
          <p:nvPr/>
        </p:nvSpPr>
        <p:spPr>
          <a:xfrm>
            <a:off x="7269480" y="402336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배치가 32k에서 포화된다는 결과는 우리가 파인튜닝할 때 어떤 의미가 있을까?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참고자료</a:t>
            </a:r>
            <a:endParaRPr lang="en-US" sz="3200" dirty="0"/>
          </a:p>
        </p:txBody>
      </p:sp>
      <p:sp>
        <p:nvSpPr>
          <p:cNvPr id="3" name="badge-374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" name="text-375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376"/>
          <p:cNvSpPr txBox="1"/>
          <p:nvPr/>
        </p:nvSpPr>
        <p:spPr>
          <a:xfrm>
            <a:off x="1188720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Zhai et al., Sigmoid Loss for Language Image Pre-Training, ICCV 2023</a:t>
            </a:r>
            <a:endParaRPr lang="en-US" sz="1600" dirty="0"/>
          </a:p>
        </p:txBody>
      </p:sp>
      <p:sp>
        <p:nvSpPr>
          <p:cNvPr id="6" name="text-377"/>
          <p:cNvSpPr txBox="1"/>
          <p:nvPr/>
        </p:nvSpPr>
        <p:spPr>
          <a:xfrm>
            <a:off x="1188720" y="17556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3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https://arxiv.org/abs/2303.15343</a:t>
            </a:r>
            <a:endParaRPr lang="en-US" sz="1300" dirty="0"/>
          </a:p>
        </p:txBody>
      </p:sp>
      <p:sp>
        <p:nvSpPr>
          <p:cNvPr id="7" name="badge-378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text-379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380"/>
          <p:cNvSpPr txBox="1"/>
          <p:nvPr/>
        </p:nvSpPr>
        <p:spPr>
          <a:xfrm>
            <a:off x="1188720" y="22402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Tschannen et al., SigLIP 2, 2025</a:t>
            </a:r>
            <a:endParaRPr lang="en-US" sz="1600" dirty="0"/>
          </a:p>
        </p:txBody>
      </p:sp>
      <p:sp>
        <p:nvSpPr>
          <p:cNvPr id="10" name="text-381"/>
          <p:cNvSpPr txBox="1"/>
          <p:nvPr/>
        </p:nvSpPr>
        <p:spPr>
          <a:xfrm>
            <a:off x="1188720" y="26243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3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https://arxiv.org/abs/2502.14786</a:t>
            </a:r>
            <a:endParaRPr lang="en-US" sz="1300" dirty="0"/>
          </a:p>
        </p:txBody>
      </p:sp>
      <p:sp>
        <p:nvSpPr>
          <p:cNvPr id="11" name="badge-382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text-383"/>
          <p:cNvSpPr txBox="1"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384"/>
          <p:cNvSpPr txBox="1"/>
          <p:nvPr/>
        </p:nvSpPr>
        <p:spPr>
          <a:xfrm>
            <a:off x="1188720" y="31089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Radford et al., CLIP, 2021</a:t>
            </a:r>
            <a:endParaRPr lang="en-US" sz="1600" dirty="0"/>
          </a:p>
        </p:txBody>
      </p:sp>
      <p:sp>
        <p:nvSpPr>
          <p:cNvPr id="14" name="text-385"/>
          <p:cNvSpPr txBox="1"/>
          <p:nvPr/>
        </p:nvSpPr>
        <p:spPr>
          <a:xfrm>
            <a:off x="1188720" y="349300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3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https://arxiv.org/abs/2103.00020</a:t>
            </a:r>
            <a:endParaRPr lang="en-US" sz="1300" dirty="0"/>
          </a:p>
        </p:txBody>
      </p:sp>
      <p:sp>
        <p:nvSpPr>
          <p:cNvPr id="15" name="badge-386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text-387"/>
          <p:cNvSpPr txBox="1"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-388"/>
          <p:cNvSpPr txBox="1"/>
          <p:nvPr/>
        </p:nvSpPr>
        <p:spPr>
          <a:xfrm>
            <a:off x="1188720" y="3977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Hugging Face Blog — Vision Language Models Explained</a:t>
            </a:r>
            <a:endParaRPr lang="en-US" sz="1600" dirty="0"/>
          </a:p>
        </p:txBody>
      </p:sp>
      <p:sp>
        <p:nvSpPr>
          <p:cNvPr id="18" name="text-389"/>
          <p:cNvSpPr txBox="1"/>
          <p:nvPr/>
        </p:nvSpPr>
        <p:spPr>
          <a:xfrm>
            <a:off x="1188720" y="436168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3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https://huggingface.co/blog/vlms</a:t>
            </a:r>
            <a:endParaRPr lang="en-US" sz="1300" dirty="0"/>
          </a:p>
        </p:txBody>
      </p:sp>
      <p:sp>
        <p:nvSpPr>
          <p:cNvPr id="19" name="badge-390"/>
          <p:cNvSpPr/>
          <p:nvPr/>
        </p:nvSpPr>
        <p:spPr>
          <a:xfrm>
            <a:off x="548640" y="493776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text-391"/>
          <p:cNvSpPr txBox="1"/>
          <p:nvPr/>
        </p:nvSpPr>
        <p:spPr>
          <a:xfrm>
            <a:off x="5486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-392"/>
          <p:cNvSpPr txBox="1"/>
          <p:nvPr/>
        </p:nvSpPr>
        <p:spPr>
          <a:xfrm>
            <a:off x="1188720" y="4846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Hugging Face SigLIP 문서</a:t>
            </a:r>
            <a:endParaRPr lang="en-US" sz="1600" dirty="0"/>
          </a:p>
        </p:txBody>
      </p:sp>
      <p:sp>
        <p:nvSpPr>
          <p:cNvPr id="22" name="text-393"/>
          <p:cNvSpPr txBox="1"/>
          <p:nvPr/>
        </p:nvSpPr>
        <p:spPr>
          <a:xfrm>
            <a:off x="1188720" y="523036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3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https://huggingface.co/docs/transformers/model_doc/siglip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— 예상 질문 &amp; 답변 (1/2)</a:t>
            </a:r>
            <a:endParaRPr lang="en-US" sz="3200" dirty="0"/>
          </a:p>
        </p:txBody>
      </p:sp>
      <p:sp>
        <p:nvSpPr>
          <p:cNvPr id="3" name="card-394"/>
          <p:cNvSpPr/>
          <p:nvPr/>
        </p:nvSpPr>
        <p:spPr>
          <a:xfrm>
            <a:off x="548640" y="132588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badge-395"/>
          <p:cNvSpPr/>
          <p:nvPr/>
        </p:nvSpPr>
        <p:spPr>
          <a:xfrm>
            <a:off x="777240" y="15270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-396"/>
          <p:cNvSpPr txBox="1"/>
          <p:nvPr/>
        </p:nvSpPr>
        <p:spPr>
          <a:xfrm>
            <a:off x="777240" y="1527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Q1</a:t>
            </a:r>
            <a:endParaRPr lang="en-US" sz="1600" dirty="0"/>
          </a:p>
        </p:txBody>
      </p:sp>
      <p:sp>
        <p:nvSpPr>
          <p:cNvPr id="6" name="text-397"/>
          <p:cNvSpPr txBox="1"/>
          <p:nvPr/>
        </p:nvSpPr>
        <p:spPr>
          <a:xfrm>
            <a:off x="1554480" y="15087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SigLIP은 CLIP과 구조가 같은데 왜 성능이 더 좋나요?</a:t>
            </a:r>
            <a:endParaRPr lang="en-US" sz="1700" dirty="0"/>
          </a:p>
        </p:txBody>
      </p:sp>
      <p:sp>
        <p:nvSpPr>
          <p:cNvPr id="7" name="text-398"/>
          <p:cNvSpPr txBox="1"/>
          <p:nvPr/>
        </p:nvSpPr>
        <p:spPr>
          <a:xfrm>
            <a:off x="1554480" y="19659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손실 함수 차이입니다. Softmax는 배치 안 상대 비교라 배치가 작으면 negative가 부족해 학습 신호가 약하고, Sigmoid는 모든 쌍에 독립적인 신호를 줘서 작은 배치에서도 잘 학습됩니다. 큰 배치(32k 근처)에서는 차이가 줄어듭니다.</a:t>
            </a:r>
            <a:endParaRPr lang="en-US" sz="1400" dirty="0"/>
          </a:p>
        </p:txBody>
      </p:sp>
      <p:sp>
        <p:nvSpPr>
          <p:cNvPr id="8" name="card-399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9" name="badge-400"/>
          <p:cNvSpPr/>
          <p:nvPr/>
        </p:nvSpPr>
        <p:spPr>
          <a:xfrm>
            <a:off x="777240" y="31272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-401"/>
          <p:cNvSpPr txBox="1"/>
          <p:nvPr/>
        </p:nvSpPr>
        <p:spPr>
          <a:xfrm>
            <a:off x="777240" y="3127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Q2</a:t>
            </a:r>
            <a:endParaRPr lang="en-US" sz="1600" dirty="0"/>
          </a:p>
        </p:txBody>
      </p:sp>
      <p:sp>
        <p:nvSpPr>
          <p:cNvPr id="11" name="text-402"/>
          <p:cNvSpPr txBox="1"/>
          <p:nvPr/>
        </p:nvSpPr>
        <p:spPr>
          <a:xfrm>
            <a:off x="1554480" y="31089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negative가 압도적으로 많은데 불균형 문제는 없나요?</a:t>
            </a:r>
            <a:endParaRPr lang="en-US" sz="1700" dirty="0"/>
          </a:p>
        </p:txBody>
      </p:sp>
      <p:sp>
        <p:nvSpPr>
          <p:cNvPr id="12" name="text-403"/>
          <p:cNvSpPr txBox="1"/>
          <p:nvPr/>
        </p:nvSpPr>
        <p:spPr>
          <a:xfrm>
            <a:off x="1554480" y="35661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그래서 바이어스 b(초기값 −10)를 둡니다. 초기에 “대부분 짝이 아니다”에서 출발하도록 해서 불균형으로 인한 큰 초기 손실을 막습니다.</a:t>
            </a:r>
            <a:endParaRPr lang="en-US" sz="1400" dirty="0"/>
          </a:p>
        </p:txBody>
      </p:sp>
      <p:sp>
        <p:nvSpPr>
          <p:cNvPr id="13" name="card-404"/>
          <p:cNvSpPr/>
          <p:nvPr/>
        </p:nvSpPr>
        <p:spPr>
          <a:xfrm>
            <a:off x="548640" y="452628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4" name="badge-405"/>
          <p:cNvSpPr/>
          <p:nvPr/>
        </p:nvSpPr>
        <p:spPr>
          <a:xfrm>
            <a:off x="777240" y="47274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-406"/>
          <p:cNvSpPr txBox="1"/>
          <p:nvPr/>
        </p:nvSpPr>
        <p:spPr>
          <a:xfrm>
            <a:off x="777240" y="4727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Q3</a:t>
            </a:r>
            <a:endParaRPr lang="en-US" sz="1600" dirty="0"/>
          </a:p>
        </p:txBody>
      </p:sp>
      <p:sp>
        <p:nvSpPr>
          <p:cNvPr id="16" name="text-407"/>
          <p:cNvSpPr txBox="1"/>
          <p:nvPr/>
        </p:nvSpPr>
        <p:spPr>
          <a:xfrm>
            <a:off x="1554480" y="47091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추론(검색)할 때도 Sigmoid를 써야 하나요?</a:t>
            </a:r>
            <a:endParaRPr lang="en-US" sz="1700" dirty="0"/>
          </a:p>
        </p:txBody>
      </p:sp>
      <p:sp>
        <p:nvSpPr>
          <p:cNvPr id="17" name="text-408"/>
          <p:cNvSpPr txBox="1"/>
          <p:nvPr/>
        </p:nvSpPr>
        <p:spPr>
          <a:xfrm>
            <a:off x="1554480" y="51663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순위만 필요하면 정규화된 임베딩의 내적(코사인 유사도)으로 충분합니다. Sigmoid는 단조 함수라 순위가 바뀌지 않습니다. 확률값(예: 필터링 임계값)이 필요할 때만 sigmoid(t·sim + b)를 적용하면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— 예상 질문 &amp; 답변 (2/2)</a:t>
            </a:r>
            <a:endParaRPr lang="en-US" sz="3200" dirty="0"/>
          </a:p>
        </p:txBody>
      </p:sp>
      <p:sp>
        <p:nvSpPr>
          <p:cNvPr id="3" name="card-409"/>
          <p:cNvSpPr/>
          <p:nvPr/>
        </p:nvSpPr>
        <p:spPr>
          <a:xfrm>
            <a:off x="548640" y="132588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badge-410"/>
          <p:cNvSpPr/>
          <p:nvPr/>
        </p:nvSpPr>
        <p:spPr>
          <a:xfrm>
            <a:off x="777240" y="15270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-411"/>
          <p:cNvSpPr txBox="1"/>
          <p:nvPr/>
        </p:nvSpPr>
        <p:spPr>
          <a:xfrm>
            <a:off x="777240" y="1527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Q4</a:t>
            </a:r>
            <a:endParaRPr lang="en-US" sz="1600" dirty="0"/>
          </a:p>
        </p:txBody>
      </p:sp>
      <p:sp>
        <p:nvSpPr>
          <p:cNvPr id="6" name="text-412"/>
          <p:cNvSpPr txBox="1"/>
          <p:nvPr/>
        </p:nvSpPr>
        <p:spPr>
          <a:xfrm>
            <a:off x="1554480" y="15087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왜 padding="max_length"가 필수인가요?</a:t>
            </a:r>
            <a:endParaRPr lang="en-US" sz="1700" dirty="0"/>
          </a:p>
        </p:txBody>
      </p:sp>
      <p:sp>
        <p:nvSpPr>
          <p:cNvPr id="7" name="text-413"/>
          <p:cNvSpPr txBox="1"/>
          <p:nvPr/>
        </p:nvSpPr>
        <p:spPr>
          <a:xfrm>
            <a:off x="1554480" y="19659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학습 시 텍스트를 항상 64 토큰으로 패딩한 상태로 학습했기 때문입니다. 다른 방식으로 패딩하면 텍스트 임베딩 분포가 달라져 성능이 떨어집니다.</a:t>
            </a:r>
            <a:endParaRPr lang="en-US" sz="1400" dirty="0"/>
          </a:p>
        </p:txBody>
      </p:sp>
      <p:sp>
        <p:nvSpPr>
          <p:cNvPr id="8" name="card-414"/>
          <p:cNvSpPr/>
          <p:nvPr/>
        </p:nvSpPr>
        <p:spPr>
          <a:xfrm>
            <a:off x="548640" y="292608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9" name="badge-415"/>
          <p:cNvSpPr/>
          <p:nvPr/>
        </p:nvSpPr>
        <p:spPr>
          <a:xfrm>
            <a:off x="777240" y="312724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-416"/>
          <p:cNvSpPr txBox="1"/>
          <p:nvPr/>
        </p:nvSpPr>
        <p:spPr>
          <a:xfrm>
            <a:off x="777240" y="3127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Q5</a:t>
            </a:r>
            <a:endParaRPr lang="en-US" sz="1600" dirty="0"/>
          </a:p>
        </p:txBody>
      </p:sp>
      <p:sp>
        <p:nvSpPr>
          <p:cNvPr id="11" name="text-417"/>
          <p:cNvSpPr txBox="1"/>
          <p:nvPr/>
        </p:nvSpPr>
        <p:spPr>
          <a:xfrm>
            <a:off x="1554480" y="31089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캡션을 만들어 텍스트 임베딩으로 검색하는 것과 뭐가 다른가요?</a:t>
            </a:r>
            <a:endParaRPr lang="en-US" sz="1700" dirty="0"/>
          </a:p>
        </p:txBody>
      </p:sp>
      <p:sp>
        <p:nvSpPr>
          <p:cNvPr id="12" name="text-418"/>
          <p:cNvSpPr txBox="1"/>
          <p:nvPr/>
        </p:nvSpPr>
        <p:spPr>
          <a:xfrm>
            <a:off x="1554480" y="35661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캡션 방식은 캡션 생성 단계에서 정보가 손실되고 비용이 큽니다. SigLIP은 이미지 자체를 임베딩하므로 캡션에 안 적힌 시각 정보(색, 구도, 분위기)도 검색에 반영됩니다. 6주차에서 두 방식을 결합하는 것도 가능합니다.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AG SigLIP">
  <a:themeElements>
    <a:clrScheme name="DRAG SigLIP">
      <a:dk1>
        <a:srgbClr val="1B1F3B"/>
      </a:dk1>
      <a:lt1>
        <a:srgbClr val="FFFFFF"/>
      </a:lt1>
      <a:dk2>
        <a:srgbClr val="4A5175"/>
      </a:dk2>
      <a:lt2>
        <a:srgbClr val="F1F3F9"/>
      </a:lt2>
      <a:accent1>
        <a:srgbClr val="0F766E"/>
      </a:accent1>
      <a:accent2>
        <a:srgbClr val="B45309"/>
      </a:accent2>
      <a:accent3>
        <a:srgbClr val="4F46E5"/>
      </a:accent3>
      <a:accent4>
        <a:srgbClr val="B91C1C"/>
      </a:accent4>
      <a:accent5>
        <a:srgbClr val="15803D"/>
      </a:accent5>
      <a:accent6>
        <a:srgbClr val="94A3B8"/>
      </a:accent6>
      <a:hlink>
        <a:srgbClr val="4F46E5"/>
      </a:hlink>
      <a:folHlink>
        <a:srgbClr val="6D28D9"/>
      </a:folHlink>
    </a:clrScheme>
    <a:fontScheme name="DRAG SigLIP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SigLIP — Sigmoid Loss로 학습하는 비전-언어 임베딩</dc:title>
  <dc:subject>PptxGenJS Presentation</dc:subject>
  <dc:creator>김가은</dc:creator>
  <cp:lastModifiedBy>김가은</cp:lastModifiedBy>
  <cp:revision>1</cp:revision>
  <dcterms:created xsi:type="dcterms:W3CDTF">2026-10-04T07:05:12Z</dcterms:created>
  <dcterms:modified xsi:type="dcterms:W3CDTF">2026-10-04T07:05:12Z</dcterms:modified>
</cp:coreProperties>
</file>